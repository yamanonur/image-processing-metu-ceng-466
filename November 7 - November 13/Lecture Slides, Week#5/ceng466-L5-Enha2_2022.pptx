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55" r:id="rId1"/>
  </p:sldMasterIdLst>
  <p:notesMasterIdLst>
    <p:notesMasterId r:id="rId71"/>
  </p:notesMasterIdLst>
  <p:handoutMasterIdLst>
    <p:handoutMasterId r:id="rId72"/>
  </p:handoutMasterIdLst>
  <p:sldIdLst>
    <p:sldId id="364" r:id="rId2"/>
    <p:sldId id="493" r:id="rId3"/>
    <p:sldId id="429" r:id="rId4"/>
    <p:sldId id="267" r:id="rId5"/>
    <p:sldId id="454" r:id="rId6"/>
    <p:sldId id="442" r:id="rId7"/>
    <p:sldId id="494" r:id="rId8"/>
    <p:sldId id="487" r:id="rId9"/>
    <p:sldId id="281" r:id="rId10"/>
    <p:sldId id="282" r:id="rId11"/>
    <p:sldId id="486" r:id="rId12"/>
    <p:sldId id="495" r:id="rId13"/>
    <p:sldId id="378" r:id="rId14"/>
    <p:sldId id="461" r:id="rId15"/>
    <p:sldId id="427" r:id="rId16"/>
    <p:sldId id="426" r:id="rId17"/>
    <p:sldId id="428" r:id="rId18"/>
    <p:sldId id="422" r:id="rId19"/>
    <p:sldId id="423" r:id="rId20"/>
    <p:sldId id="424" r:id="rId21"/>
    <p:sldId id="425" r:id="rId22"/>
    <p:sldId id="503" r:id="rId23"/>
    <p:sldId id="489" r:id="rId24"/>
    <p:sldId id="446" r:id="rId25"/>
    <p:sldId id="447" r:id="rId26"/>
    <p:sldId id="483" r:id="rId27"/>
    <p:sldId id="484" r:id="rId28"/>
    <p:sldId id="488" r:id="rId29"/>
    <p:sldId id="496" r:id="rId30"/>
    <p:sldId id="449" r:id="rId31"/>
    <p:sldId id="448" r:id="rId32"/>
    <p:sldId id="439" r:id="rId33"/>
    <p:sldId id="450" r:id="rId34"/>
    <p:sldId id="360" r:id="rId35"/>
    <p:sldId id="498" r:id="rId36"/>
    <p:sldId id="499" r:id="rId37"/>
    <p:sldId id="497" r:id="rId38"/>
    <p:sldId id="361" r:id="rId39"/>
    <p:sldId id="504" r:id="rId40"/>
    <p:sldId id="490" r:id="rId41"/>
    <p:sldId id="343" r:id="rId42"/>
    <p:sldId id="373" r:id="rId43"/>
    <p:sldId id="362" r:id="rId44"/>
    <p:sldId id="374" r:id="rId45"/>
    <p:sldId id="500" r:id="rId46"/>
    <p:sldId id="344" r:id="rId47"/>
    <p:sldId id="345" r:id="rId48"/>
    <p:sldId id="491" r:id="rId49"/>
    <p:sldId id="492" r:id="rId50"/>
    <p:sldId id="346" r:id="rId51"/>
    <p:sldId id="347" r:id="rId52"/>
    <p:sldId id="337" r:id="rId53"/>
    <p:sldId id="354" r:id="rId54"/>
    <p:sldId id="348" r:id="rId55"/>
    <p:sldId id="349" r:id="rId56"/>
    <p:sldId id="350" r:id="rId57"/>
    <p:sldId id="351" r:id="rId58"/>
    <p:sldId id="474" r:id="rId59"/>
    <p:sldId id="501" r:id="rId60"/>
    <p:sldId id="352" r:id="rId61"/>
    <p:sldId id="502" r:id="rId62"/>
    <p:sldId id="353" r:id="rId63"/>
    <p:sldId id="338" r:id="rId64"/>
    <p:sldId id="339" r:id="rId65"/>
    <p:sldId id="315" r:id="rId66"/>
    <p:sldId id="340" r:id="rId67"/>
    <p:sldId id="314" r:id="rId68"/>
    <p:sldId id="476" r:id="rId69"/>
    <p:sldId id="505" r:id="rId7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529" autoAdjust="0"/>
  </p:normalViewPr>
  <p:slideViewPr>
    <p:cSldViewPr snapToGrid="0">
      <p:cViewPr>
        <p:scale>
          <a:sx n="91" d="100"/>
          <a:sy n="91" d="100"/>
        </p:scale>
        <p:origin x="1183" y="46"/>
      </p:cViewPr>
      <p:guideLst>
        <p:guide orient="horz" pos="4297"/>
        <p:guide pos="2880"/>
      </p:guideLst>
    </p:cSldViewPr>
  </p:slideViewPr>
  <p:outlineViewPr>
    <p:cViewPr>
      <p:scale>
        <a:sx n="33" d="100"/>
        <a:sy n="33" d="100"/>
      </p:scale>
      <p:origin x="54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-339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8-12T16:16:10.767" idx="1">
    <p:pos x="10" y="10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72FF42-ABE5-CF42-82E6-C28F2E3AC5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CEF65-13CB-D149-AA11-9746945DAF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4B4CCB2-3E23-6141-AB53-A847888DFFD2}" type="datetimeFigureOut">
              <a:rPr lang="tr-TR" altLang="tr-TR"/>
              <a:pPr>
                <a:defRPr/>
              </a:pPr>
              <a:t>22.10.2022</a:t>
            </a:fld>
            <a:endParaRPr lang="tr-TR" alt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1C87B-EAB3-B945-BB3A-D7BB8A38B0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154B8-414D-8643-8204-02D4AC88CB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AB330A1-1C29-3C45-A441-6086A61D0CBF}" type="slidenum">
              <a:rPr lang="uk-UA" altLang="tr-TR"/>
              <a:pPr>
                <a:defRPr/>
              </a:pPr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457110C-75EA-6547-BA3D-C76321D4EE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E66E843-18A6-8845-B7C0-A58BB8CBF4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C8D5F8D-E738-5D47-91FD-958E289A32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5003C933-7493-F04C-933A-DF3F179A518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A44B7ADB-0E49-1D40-9D57-CB45587DC5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18515FA9-3CC8-9945-ADF4-60DD5069E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69BCBEA-419F-B042-897D-0253288B6EC8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13E2AAAE-4151-694A-9CA8-E02AE2F08E1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fld id="{258AC22F-3CFE-F643-8B60-3F7E9DB1676E}" type="slidenum">
              <a:rPr lang="en-US" altLang="tr-TR" sz="1200"/>
              <a:pPr algn="r"/>
              <a:t>3</a:t>
            </a:fld>
            <a:endParaRPr lang="en-US" altLang="tr-TR" sz="120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7469848-D68A-AA42-806C-CB48543613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BE4410C-CBD7-D440-B7D6-8BAADC173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76586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04D6576A-A53C-C543-8B8D-41949C6A2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2131D341-C53E-B844-A52F-D45BDF0E0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tr-TR" altLang="tr-TR"/>
              <a:t>İnferior temporal gyrus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6E9D4775-3F88-FF48-ACEE-FBC4D20497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91BA716-6FA2-3345-8BDD-1B970720C5BB}" type="slidenum">
              <a:rPr lang="tr-TR" altLang="tr-TR" sz="1200" smtClean="0"/>
              <a:pPr/>
              <a:t>4</a:t>
            </a:fld>
            <a:endParaRPr lang="tr-TR" altLang="tr-TR" sz="1200"/>
          </a:p>
        </p:txBody>
      </p:sp>
    </p:spTree>
    <p:extLst>
      <p:ext uri="{BB962C8B-B14F-4D97-AF65-F5344CB8AC3E}">
        <p14:creationId xmlns:p14="http://schemas.microsoft.com/office/powerpoint/2010/main" val="3801637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AAF98284-AA26-9C48-A4E1-A1CEF90BA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CBABC59-F449-D846-BF19-548397DFA4AE}" type="slidenum">
              <a:rPr lang="en-US" altLang="tr-TR" sz="1200" smtClean="0"/>
              <a:pPr/>
              <a:t>6</a:t>
            </a:fld>
            <a:endParaRPr lang="en-US" altLang="tr-TR" sz="12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D342106-FF2E-4E49-8B38-0E52BEAA8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BDBEFBA-168F-5842-88B1-FF8E2953B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23965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4F44D882-5F67-6B41-9EA0-EA4CF7BE46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5A0D663-6ADA-B940-B159-DA4ADD714E14}" type="slidenum">
              <a:rPr lang="en-US" altLang="tr-TR" sz="1200" smtClean="0"/>
              <a:pPr/>
              <a:t>15</a:t>
            </a:fld>
            <a:endParaRPr lang="en-US" altLang="tr-TR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4629BA92-14BE-6549-9524-1D1E7DE1D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74F8ECB-E9C3-BF4A-B5E8-814F9B7D6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85631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9C34A13-8671-374A-A0EC-7406A35BE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D1F8D6C-9BCA-EE49-ACDF-88C2C1C4F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66837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1B23F608-9EB2-8345-A5FB-F3F4E944D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A3EDFA37-59A0-7145-BFAA-41ADA686E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775823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59C828E4-E8C3-F84B-AFBF-00FC3C2E3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97BAC647-97E3-8D40-A444-C8B510707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3180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8E3218D9-DC31-2343-810B-52C96B32D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803F8A3-B4DF-B54C-89C6-AD1A9665F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432410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F7F5BBFC-4DB7-414C-919C-7AADA226D0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DF2A22FE-E05E-B146-B82E-B20182DCE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679323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07B4F054-DF2D-A743-9815-19A4106CB1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7855B100-001D-DA4A-B7C1-D1CCE74B8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052320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C25C7493-BFCB-F748-8BF1-37E5B5D063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F36FBF3-56B4-DF47-BAD8-625DF240BEED}" type="slidenum">
              <a:rPr lang="en-US" altLang="tr-TR" sz="1200" smtClean="0"/>
              <a:pPr/>
              <a:t>24</a:t>
            </a:fld>
            <a:endParaRPr lang="en-US" altLang="tr-TR" sz="12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365A741F-A6B7-6A40-A8C0-4D741B3FA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BC04EA26-A260-574E-BD68-047AEBC82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946568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9858EAE0-153A-4E42-A5DB-6A1B9C429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AB5EB61-A426-E249-B271-CD71646B9DB2}" type="slidenum">
              <a:rPr lang="en-US" altLang="tr-TR" sz="1200" smtClean="0"/>
              <a:pPr/>
              <a:t>25</a:t>
            </a:fld>
            <a:endParaRPr lang="en-US" altLang="tr-TR" sz="12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26573B29-8ED2-FE4D-8120-4264522AFD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0AE7821-2757-654D-8E3C-8DBBB6784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202266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9879677F-D51F-5445-925F-FD44ED10AD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E424C0E-B5C5-0241-9E6E-F2C972652694}" type="slidenum">
              <a:rPr lang="en-US" altLang="tr-TR" sz="1200" smtClean="0"/>
              <a:pPr/>
              <a:t>30</a:t>
            </a:fld>
            <a:endParaRPr lang="en-US" altLang="tr-TR" sz="12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55C10972-EAE8-D146-8FE7-C15A638A88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1226B2C-48E8-0841-BD5F-FE3E19EB9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37865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52C65C5D-5711-0F46-976A-D6AC10010D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3E0A6B6-DC9B-3343-B568-9E1E66EA01C1}" type="slidenum">
              <a:rPr lang="en-US" altLang="tr-TR" sz="1200" smtClean="0"/>
              <a:pPr/>
              <a:t>31</a:t>
            </a:fld>
            <a:endParaRPr lang="en-US" altLang="tr-TR" sz="12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67663C1D-33F5-B741-B07F-C01EE52B87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E0C2090-39F0-144D-B627-E709AB00E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560442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BCBEA-419F-B042-897D-0253288B6EC8}" type="slidenum">
              <a:rPr lang="en-US" altLang="tr-TR" smtClean="0"/>
              <a:pPr>
                <a:defRPr/>
              </a:pPr>
              <a:t>32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665256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>
            <a:extLst>
              <a:ext uri="{FF2B5EF4-FFF2-40B4-BE49-F238E27FC236}">
                <a16:creationId xmlns:a16="http://schemas.microsoft.com/office/drawing/2014/main" id="{4966D803-B6BF-3C42-BDAE-EA6323D25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2" name="Notes Placeholder 2">
            <a:extLst>
              <a:ext uri="{FF2B5EF4-FFF2-40B4-BE49-F238E27FC236}">
                <a16:creationId xmlns:a16="http://schemas.microsoft.com/office/drawing/2014/main" id="{D54F7EB4-F5C7-C943-9210-11A264496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  <p:sp>
        <p:nvSpPr>
          <p:cNvPr id="102403" name="Slide Number Placeholder 3">
            <a:extLst>
              <a:ext uri="{FF2B5EF4-FFF2-40B4-BE49-F238E27FC236}">
                <a16:creationId xmlns:a16="http://schemas.microsoft.com/office/drawing/2014/main" id="{FE5D84ED-B090-EC4B-AA0C-FE40848D8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52B0CE-E14D-064A-9F32-1D03B4E4196C}" type="slidenum">
              <a:rPr lang="en-US" altLang="tr-TR" smtClean="0"/>
              <a:pPr>
                <a:spcBef>
                  <a:spcPct val="0"/>
                </a:spcBef>
              </a:pPr>
              <a:t>47</a:t>
            </a:fld>
            <a:endParaRPr lang="en-US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4C59-0243-D043-B702-05D80223F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483C8-57C4-8541-BDD1-B816C4EF1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5252C-2E2A-7146-8F67-BC59856B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C7474-23E9-9848-A383-068AE195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77498-59EA-0E42-9C93-C4DCE6B8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8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5A63-7DD4-AA48-BEE7-8111EEA5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56DB9-2BC2-8347-B675-C03D728E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5150B-C6F7-1A44-B184-5308FF7F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8EB24-F509-C448-A176-4A44CED5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6743E-1C10-E848-8352-A7AA8986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3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E302-9F18-C84B-9DEF-972230A1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8C68B-93DF-6A4C-A384-5549469E0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0091F-DA4E-484B-B87D-71E94619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EA194-4DE2-3C4A-AD73-38E2CAC7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D679-3D24-9440-A2F7-691F7ACD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F979-2D04-2341-9A58-121BC986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DFB0-27DC-A34B-9D30-B92F8C28D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446F3-CC79-9D4D-9C21-2F5585FDB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D5EB1-5A36-C24B-8B13-C59ADBB6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F7C3A-B0F1-5C4A-AC88-1044D802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C9230-B86A-B842-8055-021A1950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7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EA690-DFC6-844B-BE7B-5DD4E029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37A6A-9994-5B47-A4AE-6E4482B12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D4F5B-19BD-1448-8772-67E77FD78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ACDC35-2BBD-2A4E-94E3-D2E36CE70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055EC-8967-764C-B8EF-D7F6690C8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DB0E1-994D-3C49-9CBA-5E39E90F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DC10D-5A50-0147-808D-2C2C0819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6F35F-E864-8641-B97A-EA488364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7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8655-EBD8-FB49-91F0-AF05709C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75FD6-1177-E14A-B46E-4CB1B4E2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2748D-6845-254D-B1C7-B60AD9AF8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AB79-E14E-3C4A-8EBF-EB7D4BCC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3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1CF93-E76D-E342-B97A-0EEBDFAE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CCB5D-9361-974F-8F0E-2C508F2E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F87DF-1637-2049-B437-D72D61C6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C31D-E222-CF49-AA37-0FFE6183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6D947-3012-4047-BE7B-2FF7B14BC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6908F-0E99-6E4E-BB93-B0F8DAE63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1A1A8-49F1-C845-95A3-C041941A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CD7E2-AED9-BD45-B351-1298780E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D8D12-5FDF-8745-AFD9-3B325182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B2DF-68DE-9F45-BCFD-065D4C7C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5E79E-B035-124C-8E8E-CB55BDD04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D1BEA-8BFC-014A-A9CD-5F3EF6FE5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18CEC-3909-C145-BF06-9ECAF4BE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9BACA-87B5-9442-989F-ED839CCC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1068F-D208-714E-8F09-FF24402D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3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F19F-33CF-3747-9BEE-019B6FC8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15399-8EE5-2240-A429-65613FD7B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049AD-4938-1C47-9DC9-85E76EF7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1BEA6-CF18-3D4A-8DDA-F4BFED7E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FB745-8473-CF4F-81C0-43000F72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7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223F4-133B-BB42-931A-746B92E4E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426BB-1DDB-2244-8442-0AEF1C2F0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CD72C-B726-314F-9A56-E9CBFDFC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93850-A7DD-4B46-BAB2-748DA330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F4728-A089-7F4A-B4F5-13F21A42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54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8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9EC6D-0C38-C44E-8EAC-2F466789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E85E3-CCE9-9C4E-A81B-5AC82BCF9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0C131-327D-3D45-B5E7-8592BC0BB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51CEB-1D12-224D-BA32-714154AB3590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5A5EB-C85F-C14E-B1F0-31C42DF2E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CCBB9-A84A-2B4F-85CF-C47FF495D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2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omments" Target="../comments/comment1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tags" Target="../tags/tag3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tags" Target="../tags/tag2.xml"/><Relationship Id="rId16" Type="http://schemas.openxmlformats.org/officeDocument/2006/relationships/image" Target="../media/image49.png"/><Relationship Id="rId1" Type="http://schemas.openxmlformats.org/officeDocument/2006/relationships/tags" Target="../tags/tag1.xml"/><Relationship Id="rId6" Type="http://schemas.openxmlformats.org/officeDocument/2006/relationships/notesSlide" Target="../notesSlides/notesSlide15.xml"/><Relationship Id="rId11" Type="http://schemas.openxmlformats.org/officeDocument/2006/relationships/image" Target="../media/image44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tags" Target="../tags/tag4.xml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iff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iff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iff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80.png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tiff"/><Relationship Id="rId4" Type="http://schemas.openxmlformats.org/officeDocument/2006/relationships/image" Target="../media/image3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tif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7CE0B376-A3B6-A440-8D08-490A7669C15E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tr-TR" altLang="tr-TR" dirty="0" err="1"/>
              <a:t>Week</a:t>
            </a:r>
            <a:r>
              <a:rPr lang="tr-TR" altLang="tr-TR" dirty="0"/>
              <a:t> 5:</a:t>
            </a:r>
            <a:r>
              <a:rPr lang="en-US" altLang="tr-TR" dirty="0"/>
              <a:t> </a:t>
            </a:r>
            <a:r>
              <a:rPr lang="tr-TR" altLang="tr-TR" dirty="0" err="1"/>
              <a:t>Spatial</a:t>
            </a:r>
            <a:r>
              <a:rPr lang="tr-TR" altLang="tr-TR" dirty="0"/>
              <a:t> </a:t>
            </a:r>
            <a:r>
              <a:rPr lang="tr-TR" altLang="tr-TR" dirty="0" err="1"/>
              <a:t>Filters</a:t>
            </a:r>
            <a:r>
              <a:rPr lang="tr-TR" altLang="tr-TR" dirty="0"/>
              <a:t> </a:t>
            </a:r>
            <a:r>
              <a:rPr lang="tr-TR" altLang="tr-TR" dirty="0" err="1"/>
              <a:t>for</a:t>
            </a:r>
            <a:r>
              <a:rPr lang="tr-TR" altLang="tr-TR" dirty="0"/>
              <a:t> Image Enhancement</a:t>
            </a:r>
          </a:p>
        </p:txBody>
      </p:sp>
      <p:sp>
        <p:nvSpPr>
          <p:cNvPr id="4098" name="Subtitle 2">
            <a:extLst>
              <a:ext uri="{FF2B5EF4-FFF2-40B4-BE49-F238E27FC236}">
                <a16:creationId xmlns:a16="http://schemas.microsoft.com/office/drawing/2014/main" id="{67847083-A745-6D4D-867E-D41F48B9EB9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143000" y="3606703"/>
            <a:ext cx="6858000" cy="1655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2800" dirty="0"/>
              <a:t>Hazal </a:t>
            </a:r>
            <a:r>
              <a:rPr lang="tr-TR" altLang="tr-TR" sz="2800" dirty="0" err="1"/>
              <a:t>Mogultay</a:t>
            </a:r>
            <a:r>
              <a:rPr lang="tr-TR" altLang="tr-TR" sz="2800" dirty="0"/>
              <a:t> </a:t>
            </a:r>
            <a:r>
              <a:rPr lang="tr-TR" altLang="tr-TR" sz="2800" dirty="0" err="1"/>
              <a:t>and</a:t>
            </a:r>
            <a:r>
              <a:rPr lang="tr-TR" altLang="tr-TR" sz="2800" dirty="0"/>
              <a:t> Fatoş Tunay Yarman Vural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A0D4-C499-884A-A642-2F434614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Enhancement in Space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256D-1125-3540-BC0C-07784FFB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operations</a:t>
            </a:r>
          </a:p>
          <a:p>
            <a:pPr lvl="1"/>
            <a:r>
              <a:rPr lang="en-US" dirty="0"/>
              <a:t>Gray scale transform</a:t>
            </a:r>
          </a:p>
          <a:p>
            <a:pPr lvl="1"/>
            <a:r>
              <a:rPr lang="en-US" dirty="0"/>
              <a:t>Bit plane slicing</a:t>
            </a:r>
          </a:p>
          <a:p>
            <a:pPr lvl="1"/>
            <a:r>
              <a:rPr lang="en-US" dirty="0"/>
              <a:t>Histogram equalization</a:t>
            </a:r>
          </a:p>
          <a:p>
            <a:pPr lvl="1"/>
            <a:r>
              <a:rPr lang="en-US" dirty="0"/>
              <a:t>Histogram specification</a:t>
            </a:r>
          </a:p>
          <a:p>
            <a:r>
              <a:rPr lang="en-US" dirty="0">
                <a:solidFill>
                  <a:srgbClr val="FF0000"/>
                </a:solidFill>
              </a:rPr>
              <a:t>Spatial Filtering: Convolution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Smoothing filters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Sharpening filters</a:t>
            </a:r>
          </a:p>
        </p:txBody>
      </p:sp>
    </p:spTree>
    <p:extLst>
      <p:ext uri="{BB962C8B-B14F-4D97-AF65-F5344CB8AC3E}">
        <p14:creationId xmlns:p14="http://schemas.microsoft.com/office/powerpoint/2010/main" val="80471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CD5E-A0DF-7949-8D53-1A1EFE54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What is image filtering?</a:t>
            </a:r>
            <a:endParaRPr lang="tr-TR" dirty="0"/>
          </a:p>
        </p:txBody>
      </p:sp>
      <p:sp>
        <p:nvSpPr>
          <p:cNvPr id="7170" name="Text Box 5">
            <a:extLst>
              <a:ext uri="{FF2B5EF4-FFF2-40B4-BE49-F238E27FC236}">
                <a16:creationId xmlns:a16="http://schemas.microsoft.com/office/drawing/2014/main" id="{5B308A33-8E7B-3D4F-9B42-FB9090A89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286" y="2184796"/>
            <a:ext cx="10287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100" dirty="0"/>
              <a:t>f(</a:t>
            </a:r>
            <a:r>
              <a:rPr kumimoji="1" lang="en-US" altLang="tr-TR" sz="2100" dirty="0" err="1"/>
              <a:t>x,y</a:t>
            </a:r>
            <a:r>
              <a:rPr kumimoji="1" lang="en-US" altLang="tr-TR" sz="2100" dirty="0"/>
              <a:t>)</a:t>
            </a:r>
          </a:p>
        </p:txBody>
      </p:sp>
      <p:sp>
        <p:nvSpPr>
          <p:cNvPr id="7171" name="Text Box 7">
            <a:extLst>
              <a:ext uri="{FF2B5EF4-FFF2-40B4-BE49-F238E27FC236}">
                <a16:creationId xmlns:a16="http://schemas.microsoft.com/office/drawing/2014/main" id="{258EC840-4112-BF45-9C7E-2E90634DC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009" y="2171701"/>
            <a:ext cx="83548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100" dirty="0"/>
              <a:t>g(</a:t>
            </a:r>
            <a:r>
              <a:rPr kumimoji="1" lang="en-US" altLang="tr-TR" sz="2100" dirty="0" err="1"/>
              <a:t>x,y</a:t>
            </a:r>
            <a:r>
              <a:rPr kumimoji="1" lang="en-US" altLang="tr-TR" sz="2100" dirty="0"/>
              <a:t>)</a:t>
            </a:r>
          </a:p>
        </p:txBody>
      </p:sp>
      <p:sp>
        <p:nvSpPr>
          <p:cNvPr id="7179" name="Text Box 16">
            <a:extLst>
              <a:ext uri="{FF2B5EF4-FFF2-40B4-BE49-F238E27FC236}">
                <a16:creationId xmlns:a16="http://schemas.microsoft.com/office/drawing/2014/main" id="{98651968-23D4-A24D-866D-F1A6F18A2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1" y="4171950"/>
            <a:ext cx="9284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 dirty="0"/>
              <a:t>filtering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D92782-11E4-0B49-A2EE-B680F5127B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143"/>
          <a:stretch/>
        </p:blipFill>
        <p:spPr>
          <a:xfrm>
            <a:off x="810526" y="2561035"/>
            <a:ext cx="2610221" cy="25288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223FB3-03C5-CE40-A8B3-1290B13BA6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83" r="31715"/>
          <a:stretch/>
        </p:blipFill>
        <p:spPr>
          <a:xfrm>
            <a:off x="6017167" y="2636726"/>
            <a:ext cx="3037115" cy="2707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52D081-7B7B-B14C-B902-ADA1FB5BF898}"/>
              </a:ext>
            </a:extLst>
          </p:cNvPr>
          <p:cNvSpPr/>
          <p:nvPr/>
        </p:nvSpPr>
        <p:spPr>
          <a:xfrm>
            <a:off x="4016829" y="3371850"/>
            <a:ext cx="1404257" cy="1208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Filter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7B9D69E4-A153-E045-AB4B-798AD68A9732}"/>
              </a:ext>
            </a:extLst>
          </p:cNvPr>
          <p:cNvSpPr/>
          <p:nvPr/>
        </p:nvSpPr>
        <p:spPr>
          <a:xfrm>
            <a:off x="3286551" y="3990718"/>
            <a:ext cx="726196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3B96A18-96FE-E24A-93B2-121AEEC39F0F}"/>
              </a:ext>
            </a:extLst>
          </p:cNvPr>
          <p:cNvSpPr/>
          <p:nvPr/>
        </p:nvSpPr>
        <p:spPr>
          <a:xfrm>
            <a:off x="5421086" y="3968251"/>
            <a:ext cx="726196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3863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3">
            <a:extLst>
              <a:ext uri="{FF2B5EF4-FFF2-40B4-BE49-F238E27FC236}">
                <a16:creationId xmlns:a16="http://schemas.microsoft.com/office/drawing/2014/main" id="{80C06003-C457-A444-A210-E8B14F007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929" y="2346059"/>
            <a:ext cx="2608305" cy="2336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Content Placeholder 4">
            <a:extLst>
              <a:ext uri="{FF2B5EF4-FFF2-40B4-BE49-F238E27FC236}">
                <a16:creationId xmlns:a16="http://schemas.microsoft.com/office/drawing/2014/main" id="{D2C890AB-111E-2449-9B5A-086729074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38" y="2346059"/>
            <a:ext cx="4191356" cy="232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TextBox 2">
            <a:extLst>
              <a:ext uri="{FF2B5EF4-FFF2-40B4-BE49-F238E27FC236}">
                <a16:creationId xmlns:a16="http://schemas.microsoft.com/office/drawing/2014/main" id="{BA66EFBB-389E-2849-8C2C-5CE2CE23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97" y="4906298"/>
            <a:ext cx="24325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3000" dirty="0"/>
              <a:t>Natural </a:t>
            </a:r>
            <a:r>
              <a:rPr lang="tr-TR" altLang="tr-TR" sz="3000" dirty="0" err="1"/>
              <a:t>Vision</a:t>
            </a:r>
            <a:endParaRPr lang="tr-TR" altLang="tr-TR" sz="3000" dirty="0"/>
          </a:p>
        </p:txBody>
      </p:sp>
      <p:sp>
        <p:nvSpPr>
          <p:cNvPr id="39941" name="TextBox 6">
            <a:extLst>
              <a:ext uri="{FF2B5EF4-FFF2-40B4-BE49-F238E27FC236}">
                <a16:creationId xmlns:a16="http://schemas.microsoft.com/office/drawing/2014/main" id="{4774B41A-3377-3949-9606-7865EE2F1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004" y="4957804"/>
            <a:ext cx="281724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3000" dirty="0" err="1"/>
              <a:t>Computer</a:t>
            </a:r>
            <a:r>
              <a:rPr lang="tr-TR" altLang="tr-TR" sz="3000" dirty="0"/>
              <a:t> </a:t>
            </a:r>
            <a:r>
              <a:rPr lang="tr-TR" altLang="tr-TR" sz="3000" dirty="0" err="1"/>
              <a:t>Vision</a:t>
            </a:r>
            <a:endParaRPr lang="tr-TR" altLang="tr-TR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174F27-130D-BE45-A520-F5DCB37C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8439665" cy="1690086"/>
          </a:xfrm>
        </p:spPr>
        <p:txBody>
          <a:bodyPr/>
          <a:lstStyle/>
          <a:p>
            <a:r>
              <a:rPr lang="en-US" dirty="0"/>
              <a:t>Human brain hierarchically unifies the signals to create meaning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92FF5D-848F-AC40-8F15-392E13F36199}"/>
                  </a:ext>
                </a:extLst>
              </p:cNvPr>
              <p:cNvSpPr txBox="1"/>
              <p:nvPr/>
            </p:nvSpPr>
            <p:spPr>
              <a:xfrm>
                <a:off x="3027405" y="6054811"/>
                <a:ext cx="25046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        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92FF5D-848F-AC40-8F15-392E13F3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405" y="6054811"/>
                <a:ext cx="2504660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2AD062-E040-8D47-87F7-F4D165290EEB}"/>
              </a:ext>
            </a:extLst>
          </p:cNvPr>
          <p:cNvCxnSpPr/>
          <p:nvPr/>
        </p:nvCxnSpPr>
        <p:spPr bwMode="auto">
          <a:xfrm>
            <a:off x="4361935" y="6339016"/>
            <a:ext cx="593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6533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6D6387-E660-6445-B8DE-369189AC6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266" y="568411"/>
            <a:ext cx="7364626" cy="184115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How do we unify signals to extract meanings, algorithmically?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1063ADF-A910-8045-B519-4C8EEC44F6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74045" y="3683795"/>
            <a:ext cx="2246710" cy="93106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2475">
                <a:solidFill>
                  <a:srgbClr val="C00000"/>
                </a:solidFill>
              </a:rPr>
              <a:t>FİLTERİNG</a:t>
            </a:r>
          </a:p>
        </p:txBody>
      </p:sp>
      <p:pic>
        <p:nvPicPr>
          <p:cNvPr id="41987" name="Picture 5">
            <a:extLst>
              <a:ext uri="{FF2B5EF4-FFF2-40B4-BE49-F238E27FC236}">
                <a16:creationId xmlns:a16="http://schemas.microsoft.com/office/drawing/2014/main" id="{6F09D11D-5AA5-7D4E-8FF4-54055EEA9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1" y="2659858"/>
            <a:ext cx="2874169" cy="257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86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ACA109BB-D03B-654D-800A-44923CED1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0236"/>
            <a:ext cx="78867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Linear Filters: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106" name="Rectangle 3">
                <a:extLst>
                  <a:ext uri="{FF2B5EF4-FFF2-40B4-BE49-F238E27FC236}">
                    <a16:creationId xmlns:a16="http://schemas.microsoft.com/office/drawing/2014/main" id="{43F00C09-1662-6047-A91C-2BC3FBED6B0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530567" y="3227689"/>
                <a:ext cx="8387801" cy="2917251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  <a:normAutofit fontScale="62500" lnSpcReduction="20000"/>
              </a:bodyPr>
              <a:lstStyle/>
              <a:p>
                <a:endParaRPr lang="en-US" altLang="tr-TR" dirty="0"/>
              </a:p>
              <a:p>
                <a:pPr marL="460375" indent="-460375"/>
                <a:r>
                  <a:rPr lang="en-US" altLang="tr-TR" sz="3800" dirty="0"/>
                  <a:t>Correlation:       </a:t>
                </a:r>
              </a:p>
              <a:p>
                <a:pPr marL="0" indent="0">
                  <a:buNone/>
                </a:pPr>
                <a:r>
                  <a:rPr lang="en-US" altLang="tr-TR" sz="3800" dirty="0"/>
                  <a:t> </a:t>
                </a:r>
                <a:endParaRPr lang="en-US" sz="3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)⋆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)=∑​∑​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altLang="tr-TR" sz="3800" dirty="0"/>
              </a:p>
              <a:p>
                <a:endParaRPr lang="en-US" altLang="tr-TR" sz="3800" dirty="0"/>
              </a:p>
              <a:p>
                <a:pPr marL="460375" indent="-460375"/>
                <a:r>
                  <a:rPr lang="en-US" altLang="tr-TR" sz="3800" dirty="0"/>
                  <a:t>Convolution:  </a:t>
                </a:r>
              </a:p>
              <a:p>
                <a:pPr marL="0" indent="0">
                  <a:buNone/>
                </a:pPr>
                <a:r>
                  <a:rPr lang="en-US" altLang="tr-TR" sz="3800" dirty="0"/>
                  <a:t>    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)=∑​∑​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n-US" altLang="tr-TR" sz="3800" dirty="0"/>
              </a:p>
              <a:p>
                <a:pPr lvl="1">
                  <a:buFontTx/>
                  <a:buNone/>
                </a:pPr>
                <a:endParaRPr lang="en-US" altLang="tr-TR" dirty="0"/>
              </a:p>
            </p:txBody>
          </p:sp>
        </mc:Choice>
        <mc:Fallback>
          <p:sp>
            <p:nvSpPr>
              <p:cNvPr id="47106" name="Rectangle 3">
                <a:extLst>
                  <a:ext uri="{FF2B5EF4-FFF2-40B4-BE49-F238E27FC236}">
                    <a16:creationId xmlns:a16="http://schemas.microsoft.com/office/drawing/2014/main" id="{43F00C09-1662-6047-A91C-2BC3FBED6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30567" y="3227689"/>
                <a:ext cx="8387801" cy="2917251"/>
              </a:xfrm>
              <a:blipFill>
                <a:blip r:embed="rId3"/>
                <a:stretch>
                  <a:fillRect l="-1235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9" name="TextBox 1">
            <a:extLst>
              <a:ext uri="{FF2B5EF4-FFF2-40B4-BE49-F238E27FC236}">
                <a16:creationId xmlns:a16="http://schemas.microsoft.com/office/drawing/2014/main" id="{DCA6261F-95AE-824C-B718-E485FD340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260" y="3114888"/>
            <a:ext cx="261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1800" dirty="0"/>
              <a:t>-</a:t>
            </a:r>
          </a:p>
        </p:txBody>
      </p:sp>
      <p:sp>
        <p:nvSpPr>
          <p:cNvPr id="47110" name="TextBox 7">
            <a:extLst>
              <a:ext uri="{FF2B5EF4-FFF2-40B4-BE49-F238E27FC236}">
                <a16:creationId xmlns:a16="http://schemas.microsoft.com/office/drawing/2014/main" id="{BCDE38FF-F027-A24D-A589-027F47E4B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78" y="3128837"/>
            <a:ext cx="261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1800" dirty="0"/>
              <a:t>-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A70D673-A87C-064A-94D3-E6EBEF3AF2E9}"/>
              </a:ext>
            </a:extLst>
          </p:cNvPr>
          <p:cNvGrpSpPr>
            <a:grpSpLocks/>
          </p:cNvGrpSpPr>
          <p:nvPr/>
        </p:nvGrpSpPr>
        <p:grpSpPr bwMode="auto">
          <a:xfrm>
            <a:off x="2448859" y="1857677"/>
            <a:ext cx="4378305" cy="893762"/>
            <a:chOff x="2465388" y="1354138"/>
            <a:chExt cx="4378305" cy="8937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7">
                  <a:extLst>
                    <a:ext uri="{FF2B5EF4-FFF2-40B4-BE49-F238E27FC236}">
                      <a16:creationId xmlns:a16="http://schemas.microsoft.com/office/drawing/2014/main" id="{D41134AE-3C08-6A49-894B-490348B9FC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2088" y="1354138"/>
                  <a:ext cx="120533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9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>
                    <a:solidFill>
                      <a:srgbClr val="003366"/>
                    </a:solidFill>
                  </a:endParaRPr>
                </a:p>
              </p:txBody>
            </p:sp>
          </mc:Choice>
          <mc:Fallback>
            <p:sp>
              <p:nvSpPr>
                <p:cNvPr id="9" name="TextBox 7">
                  <a:extLst>
                    <a:ext uri="{FF2B5EF4-FFF2-40B4-BE49-F238E27FC236}">
                      <a16:creationId xmlns:a16="http://schemas.microsoft.com/office/drawing/2014/main" id="{D41134AE-3C08-6A49-894B-490348B9F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32088" y="1354138"/>
                  <a:ext cx="1205330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505" b="-21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8">
                  <a:extLst>
                    <a:ext uri="{FF2B5EF4-FFF2-40B4-BE49-F238E27FC236}">
                      <a16:creationId xmlns:a16="http://schemas.microsoft.com/office/drawing/2014/main" id="{9266203B-5479-7C40-8BEF-CDF288E424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24513" y="1363663"/>
                  <a:ext cx="121918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9pPr>
                </a:lstStyle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>
                    <a:solidFill>
                      <a:srgbClr val="003366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8">
                  <a:extLst>
                    <a:ext uri="{FF2B5EF4-FFF2-40B4-BE49-F238E27FC236}">
                      <a16:creationId xmlns:a16="http://schemas.microsoft.com/office/drawing/2014/main" id="{9266203B-5479-7C40-8BEF-CDF288E42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24513" y="1363663"/>
                  <a:ext cx="121918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973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41CE79E-EEE1-6E48-98EC-D378C5CC26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263" y="1354138"/>
                  <a:ext cx="1571625" cy="89376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en-US" b="1" dirty="0">
                    <a:solidFill>
                      <a:srgbClr val="003366"/>
                    </a:solidFill>
                    <a:latin typeface="Calibri" pitchFamily="-65" charset="0"/>
                  </a:endParaRPr>
                </a:p>
              </p:txBody>
            </p:sp>
          </mc:Choice>
          <mc:Fallback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41CE79E-EEE1-6E48-98EC-D378C5CC26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1263" y="1354138"/>
                  <a:ext cx="1571625" cy="89376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ED90EE1-E502-C940-8737-705C3EAAA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65388" y="1830388"/>
              <a:ext cx="1293812" cy="1587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BFF31A0-8D5E-1647-9CD4-FDEFC038B6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24475" y="1781175"/>
              <a:ext cx="12954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412110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A6B3-93E6-334D-9567-EDAD2885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8A19-F5B5-454C-A019-BC5E11306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</a:t>
            </a:r>
            <a:r>
              <a:rPr lang="en-US" sz="2400" dirty="0"/>
              <a:t> is a </a:t>
            </a:r>
            <a:r>
              <a:rPr lang="en-US" sz="2400" dirty="0" err="1"/>
              <a:t>NxM</a:t>
            </a:r>
            <a:r>
              <a:rPr lang="en-US" sz="2400" dirty="0"/>
              <a:t> matrix, called filter, kernel, mask, window</a:t>
            </a:r>
          </a:p>
          <a:p>
            <a:r>
              <a:rPr lang="en-US" sz="2400" dirty="0"/>
              <a:t>How to select entries?</a:t>
            </a:r>
          </a:p>
          <a:p>
            <a:r>
              <a:rPr lang="en-US" sz="2400" dirty="0"/>
              <a:t>How to select size?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566FBB-6C04-D348-B0E2-062AE8220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81646"/>
              </p:ext>
            </p:extLst>
          </p:nvPr>
        </p:nvGraphicFramePr>
        <p:xfrm>
          <a:off x="1255278" y="3564453"/>
          <a:ext cx="1594799" cy="1731942"/>
        </p:xfrm>
        <a:graphic>
          <a:graphicData uri="http://schemas.openxmlformats.org/drawingml/2006/table">
            <a:tbl>
              <a:tblPr/>
              <a:tblGrid>
                <a:gridCol w="53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622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6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6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7">
            <a:extLst>
              <a:ext uri="{FF2B5EF4-FFF2-40B4-BE49-F238E27FC236}">
                <a16:creationId xmlns:a16="http://schemas.microsoft.com/office/drawing/2014/main" id="{CC28B89C-501D-9D41-B21D-E197DD59B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3"/>
          <a:stretch/>
        </p:blipFill>
        <p:spPr bwMode="auto">
          <a:xfrm>
            <a:off x="4713181" y="2872111"/>
            <a:ext cx="3802169" cy="34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030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251B-4BC1-DE46-9F0B-B92DB9E7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n-US" dirty="0"/>
              <a:t>Select the origin for image and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9C85-53A1-9146-8762-438B2A70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2E3DEC4C-FBDB-9B45-B125-FE5BA9AED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2" t="7384" r="18492" b="10826"/>
          <a:stretch>
            <a:fillRect/>
          </a:stretch>
        </p:blipFill>
        <p:spPr bwMode="auto">
          <a:xfrm>
            <a:off x="6175437" y="3172217"/>
            <a:ext cx="1763712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1">
            <a:extLst>
              <a:ext uri="{FF2B5EF4-FFF2-40B4-BE49-F238E27FC236}">
                <a16:creationId xmlns:a16="http://schemas.microsoft.com/office/drawing/2014/main" id="{8584130E-84F2-B24B-99E3-C6B8ECBDD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2" t="7384" r="18492" b="11105"/>
          <a:stretch>
            <a:fillRect/>
          </a:stretch>
        </p:blipFill>
        <p:spPr bwMode="auto">
          <a:xfrm>
            <a:off x="795399" y="2932504"/>
            <a:ext cx="213360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ADC654B9-9299-BC44-B95B-F3DF4BFFC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38863"/>
              </p:ext>
            </p:extLst>
          </p:nvPr>
        </p:nvGraphicFramePr>
        <p:xfrm>
          <a:off x="3240149" y="3883417"/>
          <a:ext cx="30003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0" name="Equation" r:id="rId5" imgW="152400" imgH="139700" progId="Equation.3">
                  <p:embed/>
                </p:oleObj>
              </mc:Choice>
              <mc:Fallback>
                <p:oleObj name="Equation" r:id="rId5" imgW="152400" imgH="139700" progId="Equation.3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149" y="3883417"/>
                        <a:ext cx="300038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D3C0D1-19BA-8642-BFC8-EFB528A42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76861"/>
              </p:ext>
            </p:extLst>
          </p:nvPr>
        </p:nvGraphicFramePr>
        <p:xfrm>
          <a:off x="3808474" y="3611954"/>
          <a:ext cx="1081088" cy="1081089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16">
                <a:extLst>
                  <a:ext uri="{FF2B5EF4-FFF2-40B4-BE49-F238E27FC236}">
                    <a16:creationId xmlns:a16="http://schemas.microsoft.com/office/drawing/2014/main" id="{8916766E-7F63-FE46-AFDE-8CF6749C01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2624" y="5261367"/>
                <a:ext cx="113800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003366"/>
                  </a:solidFill>
                </a:endParaRPr>
              </a:p>
            </p:txBody>
          </p:sp>
        </mc:Choice>
        <mc:Fallback>
          <p:sp>
            <p:nvSpPr>
              <p:cNvPr id="8" name="TextBox 16">
                <a:extLst>
                  <a:ext uri="{FF2B5EF4-FFF2-40B4-BE49-F238E27FC236}">
                    <a16:creationId xmlns:a16="http://schemas.microsoft.com/office/drawing/2014/main" id="{8916766E-7F63-FE46-AFDE-8CF6749C0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2624" y="5261367"/>
                <a:ext cx="1138004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17">
                <a:extLst>
                  <a:ext uri="{FF2B5EF4-FFF2-40B4-BE49-F238E27FC236}">
                    <a16:creationId xmlns:a16="http://schemas.microsoft.com/office/drawing/2014/main" id="{1B3E34B9-11DE-2B4F-B535-507DA98FE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3262" y="5166117"/>
                <a:ext cx="113582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003366"/>
                  </a:solidFill>
                </a:endParaRPr>
              </a:p>
            </p:txBody>
          </p:sp>
        </mc:Choice>
        <mc:Fallback>
          <p:sp>
            <p:nvSpPr>
              <p:cNvPr id="9" name="TextBox 17">
                <a:extLst>
                  <a:ext uri="{FF2B5EF4-FFF2-40B4-BE49-F238E27FC236}">
                    <a16:creationId xmlns:a16="http://schemas.microsoft.com/office/drawing/2014/main" id="{1B3E34B9-11DE-2B4F-B535-507DA98FE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3262" y="5166117"/>
                <a:ext cx="1135824" cy="461665"/>
              </a:xfrm>
              <a:prstGeom prst="rect">
                <a:avLst/>
              </a:prstGeom>
              <a:blipFill>
                <a:blip r:embed="rId8"/>
                <a:stretch>
                  <a:fillRect b="-19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18">
                <a:extLst>
                  <a:ext uri="{FF2B5EF4-FFF2-40B4-BE49-F238E27FC236}">
                    <a16:creationId xmlns:a16="http://schemas.microsoft.com/office/drawing/2014/main" id="{D6F69624-7DA1-A149-A81A-BAA11F1365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5187" y="5285179"/>
                <a:ext cx="11518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003366"/>
                  </a:solidFill>
                </a:endParaRPr>
              </a:p>
            </p:txBody>
          </p:sp>
        </mc:Choice>
        <mc:Fallback>
          <p:sp>
            <p:nvSpPr>
              <p:cNvPr id="10" name="TextBox 18">
                <a:extLst>
                  <a:ext uri="{FF2B5EF4-FFF2-40B4-BE49-F238E27FC236}">
                    <a16:creationId xmlns:a16="http://schemas.microsoft.com/office/drawing/2014/main" id="{D6F69624-7DA1-A149-A81A-BAA11F136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5187" y="5285179"/>
                <a:ext cx="1151854" cy="461665"/>
              </a:xfrm>
              <a:prstGeom prst="rect">
                <a:avLst/>
              </a:prstGeom>
              <a:blipFill>
                <a:blip r:embed="rId9"/>
                <a:stretch>
                  <a:fillRect b="-19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9">
            <a:extLst>
              <a:ext uri="{FF2B5EF4-FFF2-40B4-BE49-F238E27FC236}">
                <a16:creationId xmlns:a16="http://schemas.microsoft.com/office/drawing/2014/main" id="{222F03C4-F8ED-5B4A-9C7D-B540D319B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262" y="3818329"/>
            <a:ext cx="352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>
                <a:solidFill>
                  <a:srgbClr val="003366"/>
                </a:solidFill>
              </a:rPr>
              <a:t>=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73CB0D0-40FF-EB40-B282-3C9F66E14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00698"/>
              </p:ext>
            </p:extLst>
          </p:nvPr>
        </p:nvGraphicFramePr>
        <p:xfrm>
          <a:off x="798574" y="2934092"/>
          <a:ext cx="2127250" cy="2209800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163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83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59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83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0B9A14-7F18-AA4D-87B7-65D7268F7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396358"/>
              </p:ext>
            </p:extLst>
          </p:nvPr>
        </p:nvGraphicFramePr>
        <p:xfrm>
          <a:off x="5878574" y="2884879"/>
          <a:ext cx="2360613" cy="2324104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-50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40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-88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-34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-41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41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264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-175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-71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349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-224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-120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360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-217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-134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04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241300" y="25082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1.1. Convolution with averaging filters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BAEF19A-AA93-4382-B915-67855BE713D7}" type="slidenum">
              <a:rPr lang="en-US" smtClean="0">
                <a:solidFill>
                  <a:srgbClr val="003366"/>
                </a:solidFill>
              </a:rPr>
              <a:pPr/>
              <a:t>9</a:t>
            </a:fld>
            <a:endParaRPr lang="en-US">
              <a:solidFill>
                <a:srgbClr val="003366"/>
              </a:solidFill>
            </a:endParaRP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574675" y="5589588"/>
            <a:ext cx="7993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1/9.(10x1 + 11x1 + 10x1 + 9x1 + 10x1 + 11x1 + 10x1 + 9x1 + 10x1) = </a:t>
            </a:r>
          </a:p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                                                   1/9.( 90) = 10</a:t>
            </a:r>
          </a:p>
        </p:txBody>
      </p:sp>
      <p:grpSp>
        <p:nvGrpSpPr>
          <p:cNvPr id="17415" name="Group 144"/>
          <p:cNvGrpSpPr>
            <a:grpSpLocks/>
          </p:cNvGrpSpPr>
          <p:nvPr/>
        </p:nvGrpSpPr>
        <p:grpSpPr bwMode="auto">
          <a:xfrm>
            <a:off x="660400" y="1368425"/>
            <a:ext cx="3048000" cy="2895600"/>
            <a:chOff x="416" y="862"/>
            <a:chExt cx="1920" cy="1824"/>
          </a:xfrm>
        </p:grpSpPr>
        <p:grpSp>
          <p:nvGrpSpPr>
            <p:cNvPr id="17488" name="Group 6"/>
            <p:cNvGrpSpPr>
              <a:grpSpLocks/>
            </p:cNvGrpSpPr>
            <p:nvPr/>
          </p:nvGrpSpPr>
          <p:grpSpPr bwMode="auto">
            <a:xfrm>
              <a:off x="416" y="862"/>
              <a:ext cx="960" cy="912"/>
              <a:chOff x="1248" y="2784"/>
              <a:chExt cx="960" cy="912"/>
            </a:xfrm>
          </p:grpSpPr>
          <p:sp>
            <p:nvSpPr>
              <p:cNvPr id="17545" name="Rectangle 7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6" name="Line 8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Line 9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Line 10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Line 11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89" name="Group 12"/>
            <p:cNvGrpSpPr>
              <a:grpSpLocks/>
            </p:cNvGrpSpPr>
            <p:nvPr/>
          </p:nvGrpSpPr>
          <p:grpSpPr bwMode="auto">
            <a:xfrm>
              <a:off x="1376" y="1774"/>
              <a:ext cx="960" cy="912"/>
              <a:chOff x="1248" y="2784"/>
              <a:chExt cx="960" cy="912"/>
            </a:xfrm>
          </p:grpSpPr>
          <p:sp>
            <p:nvSpPr>
              <p:cNvPr id="17540" name="Rectangle 13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1" name="Line 14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Line 15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Line 16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Line 17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90" name="Group 18"/>
            <p:cNvGrpSpPr>
              <a:grpSpLocks/>
            </p:cNvGrpSpPr>
            <p:nvPr/>
          </p:nvGrpSpPr>
          <p:grpSpPr bwMode="auto">
            <a:xfrm>
              <a:off x="416" y="1774"/>
              <a:ext cx="960" cy="912"/>
              <a:chOff x="1248" y="2784"/>
              <a:chExt cx="960" cy="912"/>
            </a:xfrm>
          </p:grpSpPr>
          <p:sp>
            <p:nvSpPr>
              <p:cNvPr id="17535" name="Rectangle 19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36" name="Line 20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Line 21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Line 22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Line 23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91" name="Group 24"/>
            <p:cNvGrpSpPr>
              <a:grpSpLocks/>
            </p:cNvGrpSpPr>
            <p:nvPr/>
          </p:nvGrpSpPr>
          <p:grpSpPr bwMode="auto">
            <a:xfrm>
              <a:off x="1376" y="862"/>
              <a:ext cx="960" cy="912"/>
              <a:chOff x="1248" y="2784"/>
              <a:chExt cx="960" cy="912"/>
            </a:xfrm>
          </p:grpSpPr>
          <p:sp>
            <p:nvSpPr>
              <p:cNvPr id="17530" name="Rectangle 25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31" name="Line 26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Line 27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Line 28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Line 29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086" name="Text Box 30"/>
            <p:cNvSpPr txBox="1">
              <a:spLocks noChangeArrowheads="1"/>
            </p:cNvSpPr>
            <p:nvPr/>
          </p:nvSpPr>
          <p:spPr bwMode="auto">
            <a:xfrm>
              <a:off x="440" y="870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87" name="Text Box 31"/>
            <p:cNvSpPr txBox="1">
              <a:spLocks noChangeArrowheads="1"/>
            </p:cNvSpPr>
            <p:nvPr/>
          </p:nvSpPr>
          <p:spPr bwMode="auto">
            <a:xfrm>
              <a:off x="776" y="869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088" name="Text Box 32"/>
            <p:cNvSpPr txBox="1">
              <a:spLocks noChangeArrowheads="1"/>
            </p:cNvSpPr>
            <p:nvPr/>
          </p:nvSpPr>
          <p:spPr bwMode="auto">
            <a:xfrm>
              <a:off x="1087" y="869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89" name="Text Box 33"/>
            <p:cNvSpPr txBox="1">
              <a:spLocks noChangeArrowheads="1"/>
            </p:cNvSpPr>
            <p:nvPr/>
          </p:nvSpPr>
          <p:spPr bwMode="auto">
            <a:xfrm>
              <a:off x="483" y="1158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090" name="Text Box 34"/>
            <p:cNvSpPr txBox="1">
              <a:spLocks noChangeArrowheads="1"/>
            </p:cNvSpPr>
            <p:nvPr/>
          </p:nvSpPr>
          <p:spPr bwMode="auto">
            <a:xfrm>
              <a:off x="760" y="11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1" name="Text Box 35"/>
            <p:cNvSpPr txBox="1">
              <a:spLocks noChangeArrowheads="1"/>
            </p:cNvSpPr>
            <p:nvPr/>
          </p:nvSpPr>
          <p:spPr bwMode="auto">
            <a:xfrm>
              <a:off x="1102" y="115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092" name="Text Box 36"/>
            <p:cNvSpPr txBox="1">
              <a:spLocks noChangeArrowheads="1"/>
            </p:cNvSpPr>
            <p:nvPr/>
          </p:nvSpPr>
          <p:spPr bwMode="auto">
            <a:xfrm>
              <a:off x="440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3" name="Text Box 37"/>
            <p:cNvSpPr txBox="1">
              <a:spLocks noChangeArrowheads="1"/>
            </p:cNvSpPr>
            <p:nvPr/>
          </p:nvSpPr>
          <p:spPr bwMode="auto">
            <a:xfrm>
              <a:off x="803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094" name="Text Box 38"/>
            <p:cNvSpPr txBox="1">
              <a:spLocks noChangeArrowheads="1"/>
            </p:cNvSpPr>
            <p:nvPr/>
          </p:nvSpPr>
          <p:spPr bwMode="auto">
            <a:xfrm>
              <a:off x="1086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5" name="Text Box 39"/>
            <p:cNvSpPr txBox="1">
              <a:spLocks noChangeArrowheads="1"/>
            </p:cNvSpPr>
            <p:nvPr/>
          </p:nvSpPr>
          <p:spPr bwMode="auto">
            <a:xfrm>
              <a:off x="1443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096" name="Text Box 40"/>
            <p:cNvSpPr txBox="1">
              <a:spLocks noChangeArrowheads="1"/>
            </p:cNvSpPr>
            <p:nvPr/>
          </p:nvSpPr>
          <p:spPr bwMode="auto">
            <a:xfrm>
              <a:off x="760" y="2062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7" name="Text Box 41"/>
            <p:cNvSpPr txBox="1">
              <a:spLocks noChangeArrowheads="1"/>
            </p:cNvSpPr>
            <p:nvPr/>
          </p:nvSpPr>
          <p:spPr bwMode="auto">
            <a:xfrm>
              <a:off x="1384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8" name="Text Box 42"/>
            <p:cNvSpPr txBox="1">
              <a:spLocks noChangeArrowheads="1"/>
            </p:cNvSpPr>
            <p:nvPr/>
          </p:nvSpPr>
          <p:spPr bwMode="auto">
            <a:xfrm>
              <a:off x="1770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2</a:t>
              </a:r>
            </a:p>
          </p:txBody>
        </p:sp>
        <p:sp>
          <p:nvSpPr>
            <p:cNvPr id="173099" name="Text Box 43"/>
            <p:cNvSpPr txBox="1">
              <a:spLocks noChangeArrowheads="1"/>
            </p:cNvSpPr>
            <p:nvPr/>
          </p:nvSpPr>
          <p:spPr bwMode="auto">
            <a:xfrm>
              <a:off x="1770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0" name="Text Box 44"/>
            <p:cNvSpPr txBox="1">
              <a:spLocks noChangeArrowheads="1"/>
            </p:cNvSpPr>
            <p:nvPr/>
          </p:nvSpPr>
          <p:spPr bwMode="auto">
            <a:xfrm>
              <a:off x="1427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01" name="Text Box 45"/>
            <p:cNvSpPr txBox="1">
              <a:spLocks noChangeArrowheads="1"/>
            </p:cNvSpPr>
            <p:nvPr/>
          </p:nvSpPr>
          <p:spPr bwMode="auto">
            <a:xfrm>
              <a:off x="1129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2" name="Text Box 46"/>
            <p:cNvSpPr txBox="1">
              <a:spLocks noChangeArrowheads="1"/>
            </p:cNvSpPr>
            <p:nvPr/>
          </p:nvSpPr>
          <p:spPr bwMode="auto">
            <a:xfrm>
              <a:off x="1427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03" name="Text Box 47"/>
            <p:cNvSpPr txBox="1">
              <a:spLocks noChangeArrowheads="1"/>
            </p:cNvSpPr>
            <p:nvPr/>
          </p:nvSpPr>
          <p:spPr bwMode="auto">
            <a:xfrm>
              <a:off x="803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4" name="Text Box 48"/>
            <p:cNvSpPr txBox="1">
              <a:spLocks noChangeArrowheads="1"/>
            </p:cNvSpPr>
            <p:nvPr/>
          </p:nvSpPr>
          <p:spPr bwMode="auto">
            <a:xfrm>
              <a:off x="483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5" name="Text Box 49"/>
            <p:cNvSpPr txBox="1">
              <a:spLocks noChangeArrowheads="1"/>
            </p:cNvSpPr>
            <p:nvPr/>
          </p:nvSpPr>
          <p:spPr bwMode="auto">
            <a:xfrm>
              <a:off x="1130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6" name="Text Box 50"/>
            <p:cNvSpPr txBox="1">
              <a:spLocks noChangeArrowheads="1"/>
            </p:cNvSpPr>
            <p:nvPr/>
          </p:nvSpPr>
          <p:spPr bwMode="auto">
            <a:xfrm>
              <a:off x="1427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7" name="Text Box 51"/>
            <p:cNvSpPr txBox="1">
              <a:spLocks noChangeArrowheads="1"/>
            </p:cNvSpPr>
            <p:nvPr/>
          </p:nvSpPr>
          <p:spPr bwMode="auto">
            <a:xfrm>
              <a:off x="1770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08" name="Text Box 52"/>
            <p:cNvSpPr txBox="1">
              <a:spLocks noChangeArrowheads="1"/>
            </p:cNvSpPr>
            <p:nvPr/>
          </p:nvSpPr>
          <p:spPr bwMode="auto">
            <a:xfrm>
              <a:off x="2067" y="1484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09" name="Text Box 53"/>
            <p:cNvSpPr txBox="1">
              <a:spLocks noChangeArrowheads="1"/>
            </p:cNvSpPr>
            <p:nvPr/>
          </p:nvSpPr>
          <p:spPr bwMode="auto">
            <a:xfrm>
              <a:off x="1712" y="2062"/>
              <a:ext cx="3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99</a:t>
              </a:r>
            </a:p>
          </p:txBody>
        </p:sp>
        <p:sp>
          <p:nvSpPr>
            <p:cNvPr id="173110" name="Text Box 54"/>
            <p:cNvSpPr txBox="1">
              <a:spLocks noChangeArrowheads="1"/>
            </p:cNvSpPr>
            <p:nvPr/>
          </p:nvSpPr>
          <p:spPr bwMode="auto">
            <a:xfrm>
              <a:off x="1727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11" name="Text Box 55"/>
            <p:cNvSpPr txBox="1">
              <a:spLocks noChangeArrowheads="1"/>
            </p:cNvSpPr>
            <p:nvPr/>
          </p:nvSpPr>
          <p:spPr bwMode="auto">
            <a:xfrm>
              <a:off x="760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12" name="Text Box 56"/>
            <p:cNvSpPr txBox="1">
              <a:spLocks noChangeArrowheads="1"/>
            </p:cNvSpPr>
            <p:nvPr/>
          </p:nvSpPr>
          <p:spPr bwMode="auto">
            <a:xfrm>
              <a:off x="2024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3" name="Text Box 57"/>
            <p:cNvSpPr txBox="1">
              <a:spLocks noChangeArrowheads="1"/>
            </p:cNvSpPr>
            <p:nvPr/>
          </p:nvSpPr>
          <p:spPr bwMode="auto">
            <a:xfrm>
              <a:off x="2067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14" name="Text Box 58"/>
            <p:cNvSpPr txBox="1">
              <a:spLocks noChangeArrowheads="1"/>
            </p:cNvSpPr>
            <p:nvPr/>
          </p:nvSpPr>
          <p:spPr bwMode="auto">
            <a:xfrm>
              <a:off x="1770" y="11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15" name="Text Box 59"/>
            <p:cNvSpPr txBox="1">
              <a:spLocks noChangeArrowheads="1"/>
            </p:cNvSpPr>
            <p:nvPr/>
          </p:nvSpPr>
          <p:spPr bwMode="auto">
            <a:xfrm>
              <a:off x="2067" y="869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16" name="Text Box 60"/>
            <p:cNvSpPr txBox="1">
              <a:spLocks noChangeArrowheads="1"/>
            </p:cNvSpPr>
            <p:nvPr/>
          </p:nvSpPr>
          <p:spPr bwMode="auto">
            <a:xfrm>
              <a:off x="1400" y="2357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7" name="Text Box 61"/>
            <p:cNvSpPr txBox="1">
              <a:spLocks noChangeArrowheads="1"/>
            </p:cNvSpPr>
            <p:nvPr/>
          </p:nvSpPr>
          <p:spPr bwMode="auto">
            <a:xfrm>
              <a:off x="1102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8" name="Text Box 62"/>
            <p:cNvSpPr txBox="1">
              <a:spLocks noChangeArrowheads="1"/>
            </p:cNvSpPr>
            <p:nvPr/>
          </p:nvSpPr>
          <p:spPr bwMode="auto">
            <a:xfrm>
              <a:off x="456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9" name="Text Box 63"/>
            <p:cNvSpPr txBox="1">
              <a:spLocks noChangeArrowheads="1"/>
            </p:cNvSpPr>
            <p:nvPr/>
          </p:nvSpPr>
          <p:spPr bwMode="auto">
            <a:xfrm>
              <a:off x="2024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20" name="Text Box 64"/>
            <p:cNvSpPr txBox="1">
              <a:spLocks noChangeArrowheads="1"/>
            </p:cNvSpPr>
            <p:nvPr/>
          </p:nvSpPr>
          <p:spPr bwMode="auto">
            <a:xfrm>
              <a:off x="2008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21" name="Text Box 65"/>
            <p:cNvSpPr txBox="1">
              <a:spLocks noChangeArrowheads="1"/>
            </p:cNvSpPr>
            <p:nvPr/>
          </p:nvSpPr>
          <p:spPr bwMode="auto">
            <a:xfrm>
              <a:off x="440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8" name="Rectangle 66"/>
            <p:cNvSpPr>
              <a:spLocks noChangeArrowheads="1"/>
            </p:cNvSpPr>
            <p:nvPr/>
          </p:nvSpPr>
          <p:spPr bwMode="auto">
            <a:xfrm>
              <a:off x="752" y="1157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29" name="Rectangle 67"/>
            <p:cNvSpPr>
              <a:spLocks noChangeArrowheads="1"/>
            </p:cNvSpPr>
            <p:nvPr/>
          </p:nvSpPr>
          <p:spPr bwMode="auto">
            <a:xfrm>
              <a:off x="416" y="862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3124" name="Text Box 68"/>
          <p:cNvSpPr txBox="1">
            <a:spLocks noChangeArrowheads="1"/>
          </p:cNvSpPr>
          <p:nvPr/>
        </p:nvSpPr>
        <p:spPr bwMode="auto">
          <a:xfrm>
            <a:off x="179388" y="2349500"/>
            <a:ext cx="350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</a:t>
            </a:r>
          </a:p>
        </p:txBody>
      </p:sp>
      <p:grpSp>
        <p:nvGrpSpPr>
          <p:cNvPr id="17417" name="Group 143"/>
          <p:cNvGrpSpPr>
            <a:grpSpLocks/>
          </p:cNvGrpSpPr>
          <p:nvPr/>
        </p:nvGrpSpPr>
        <p:grpSpPr bwMode="auto">
          <a:xfrm>
            <a:off x="3911600" y="3894138"/>
            <a:ext cx="1524000" cy="1447800"/>
            <a:chOff x="2464" y="2453"/>
            <a:chExt cx="960" cy="912"/>
          </a:xfrm>
        </p:grpSpPr>
        <p:grpSp>
          <p:nvGrpSpPr>
            <p:cNvPr id="17473" name="Group 70"/>
            <p:cNvGrpSpPr>
              <a:grpSpLocks/>
            </p:cNvGrpSpPr>
            <p:nvPr/>
          </p:nvGrpSpPr>
          <p:grpSpPr bwMode="auto">
            <a:xfrm>
              <a:off x="2464" y="2453"/>
              <a:ext cx="960" cy="912"/>
              <a:chOff x="1248" y="2784"/>
              <a:chExt cx="960" cy="912"/>
            </a:xfrm>
          </p:grpSpPr>
          <p:sp>
            <p:nvSpPr>
              <p:cNvPr id="17483" name="Rectangle 71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84" name="Line 72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5" name="Line 73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6" name="Line 74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7" name="Line 75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132" name="Text Box 76"/>
            <p:cNvSpPr txBox="1">
              <a:spLocks noChangeArrowheads="1"/>
            </p:cNvSpPr>
            <p:nvPr/>
          </p:nvSpPr>
          <p:spPr bwMode="auto">
            <a:xfrm>
              <a:off x="2542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3" name="Text Box 77"/>
            <p:cNvSpPr txBox="1">
              <a:spLocks noChangeArrowheads="1"/>
            </p:cNvSpPr>
            <p:nvPr/>
          </p:nvSpPr>
          <p:spPr bwMode="auto">
            <a:xfrm>
              <a:off x="2859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4" name="Text Box 78"/>
            <p:cNvSpPr txBox="1">
              <a:spLocks noChangeArrowheads="1"/>
            </p:cNvSpPr>
            <p:nvPr/>
          </p:nvSpPr>
          <p:spPr bwMode="auto">
            <a:xfrm>
              <a:off x="2859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5" name="Text Box 79"/>
            <p:cNvSpPr txBox="1">
              <a:spLocks noChangeArrowheads="1"/>
            </p:cNvSpPr>
            <p:nvPr/>
          </p:nvSpPr>
          <p:spPr bwMode="auto">
            <a:xfrm>
              <a:off x="2542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6" name="Text Box 80"/>
            <p:cNvSpPr txBox="1">
              <a:spLocks noChangeArrowheads="1"/>
            </p:cNvSpPr>
            <p:nvPr/>
          </p:nvSpPr>
          <p:spPr bwMode="auto">
            <a:xfrm>
              <a:off x="2859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7" name="Text Box 81"/>
            <p:cNvSpPr txBox="1">
              <a:spLocks noChangeArrowheads="1"/>
            </p:cNvSpPr>
            <p:nvPr/>
          </p:nvSpPr>
          <p:spPr bwMode="auto">
            <a:xfrm>
              <a:off x="3177" y="306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8" name="Text Box 82"/>
            <p:cNvSpPr txBox="1">
              <a:spLocks noChangeArrowheads="1"/>
            </p:cNvSpPr>
            <p:nvPr/>
          </p:nvSpPr>
          <p:spPr bwMode="auto">
            <a:xfrm>
              <a:off x="3177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9" name="Text Box 83"/>
            <p:cNvSpPr txBox="1">
              <a:spLocks noChangeArrowheads="1"/>
            </p:cNvSpPr>
            <p:nvPr/>
          </p:nvSpPr>
          <p:spPr bwMode="auto">
            <a:xfrm>
              <a:off x="3177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40" name="Text Box 84"/>
            <p:cNvSpPr txBox="1">
              <a:spLocks noChangeArrowheads="1"/>
            </p:cNvSpPr>
            <p:nvPr/>
          </p:nvSpPr>
          <p:spPr bwMode="auto">
            <a:xfrm>
              <a:off x="2542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173141" name="Text Box 85"/>
          <p:cNvSpPr txBox="1">
            <a:spLocks noChangeArrowheads="1"/>
          </p:cNvSpPr>
          <p:nvPr/>
        </p:nvSpPr>
        <p:spPr bwMode="auto">
          <a:xfrm>
            <a:off x="4368800" y="328453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</a:t>
            </a:r>
          </a:p>
        </p:txBody>
      </p:sp>
      <p:sp>
        <p:nvSpPr>
          <p:cNvPr id="17419" name="Line 86"/>
          <p:cNvSpPr>
            <a:spLocks noChangeShapeType="1"/>
          </p:cNvSpPr>
          <p:nvPr/>
        </p:nvSpPr>
        <p:spPr bwMode="auto">
          <a:xfrm>
            <a:off x="971550" y="1773238"/>
            <a:ext cx="360363" cy="38877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87"/>
          <p:cNvSpPr>
            <a:spLocks noChangeShapeType="1"/>
          </p:cNvSpPr>
          <p:nvPr/>
        </p:nvSpPr>
        <p:spPr bwMode="auto">
          <a:xfrm flipH="1">
            <a:off x="1692275" y="4221163"/>
            <a:ext cx="2303463" cy="1439862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421" name="Group 145"/>
          <p:cNvGrpSpPr>
            <a:grpSpLocks/>
          </p:cNvGrpSpPr>
          <p:nvPr/>
        </p:nvGrpSpPr>
        <p:grpSpPr bwMode="auto">
          <a:xfrm>
            <a:off x="5707063" y="1341438"/>
            <a:ext cx="3048000" cy="2895600"/>
            <a:chOff x="3595" y="845"/>
            <a:chExt cx="1920" cy="1824"/>
          </a:xfrm>
        </p:grpSpPr>
        <p:grpSp>
          <p:nvGrpSpPr>
            <p:cNvPr id="17426" name="Group 89"/>
            <p:cNvGrpSpPr>
              <a:grpSpLocks/>
            </p:cNvGrpSpPr>
            <p:nvPr/>
          </p:nvGrpSpPr>
          <p:grpSpPr bwMode="auto">
            <a:xfrm>
              <a:off x="3595" y="845"/>
              <a:ext cx="960" cy="912"/>
              <a:chOff x="1248" y="2784"/>
              <a:chExt cx="960" cy="912"/>
            </a:xfrm>
          </p:grpSpPr>
          <p:sp>
            <p:nvSpPr>
              <p:cNvPr id="17468" name="Rectangle 90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9" name="Line 91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0" name="Line 9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1" name="Line 93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2" name="Line 94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7" name="Group 95"/>
            <p:cNvGrpSpPr>
              <a:grpSpLocks/>
            </p:cNvGrpSpPr>
            <p:nvPr/>
          </p:nvGrpSpPr>
          <p:grpSpPr bwMode="auto">
            <a:xfrm>
              <a:off x="4555" y="1757"/>
              <a:ext cx="960" cy="912"/>
              <a:chOff x="1248" y="2784"/>
              <a:chExt cx="960" cy="912"/>
            </a:xfrm>
          </p:grpSpPr>
          <p:sp>
            <p:nvSpPr>
              <p:cNvPr id="17463" name="Rectangle 96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4" name="Line 97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5" name="Line 98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Line 99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Line 100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8" name="Group 101"/>
            <p:cNvGrpSpPr>
              <a:grpSpLocks/>
            </p:cNvGrpSpPr>
            <p:nvPr/>
          </p:nvGrpSpPr>
          <p:grpSpPr bwMode="auto">
            <a:xfrm>
              <a:off x="3595" y="1757"/>
              <a:ext cx="960" cy="912"/>
              <a:chOff x="1248" y="2784"/>
              <a:chExt cx="960" cy="912"/>
            </a:xfrm>
          </p:grpSpPr>
          <p:sp>
            <p:nvSpPr>
              <p:cNvPr id="17458" name="Rectangle 102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9" name="Line 103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0" name="Line 104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1" name="Line 105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Line 106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9" name="Group 107"/>
            <p:cNvGrpSpPr>
              <a:grpSpLocks/>
            </p:cNvGrpSpPr>
            <p:nvPr/>
          </p:nvGrpSpPr>
          <p:grpSpPr bwMode="auto">
            <a:xfrm>
              <a:off x="4555" y="845"/>
              <a:ext cx="960" cy="912"/>
              <a:chOff x="1248" y="2784"/>
              <a:chExt cx="960" cy="912"/>
            </a:xfrm>
          </p:grpSpPr>
          <p:sp>
            <p:nvSpPr>
              <p:cNvPr id="17453" name="Rectangle 10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4" name="Line 109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5" name="Line 110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6" name="Line 111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7" name="Line 112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169" name="Text Box 113"/>
            <p:cNvSpPr txBox="1">
              <a:spLocks noChangeArrowheads="1"/>
            </p:cNvSpPr>
            <p:nvPr/>
          </p:nvSpPr>
          <p:spPr bwMode="auto">
            <a:xfrm>
              <a:off x="3640" y="860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0" name="Text Box 114"/>
            <p:cNvSpPr txBox="1">
              <a:spLocks noChangeArrowheads="1"/>
            </p:cNvSpPr>
            <p:nvPr/>
          </p:nvSpPr>
          <p:spPr bwMode="auto">
            <a:xfrm>
              <a:off x="3979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1" name="Text Box 115"/>
            <p:cNvSpPr txBox="1">
              <a:spLocks noChangeArrowheads="1"/>
            </p:cNvSpPr>
            <p:nvPr/>
          </p:nvSpPr>
          <p:spPr bwMode="auto">
            <a:xfrm>
              <a:off x="4267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2" name="Text Box 116"/>
            <p:cNvSpPr txBox="1">
              <a:spLocks noChangeArrowheads="1"/>
            </p:cNvSpPr>
            <p:nvPr/>
          </p:nvSpPr>
          <p:spPr bwMode="auto">
            <a:xfrm>
              <a:off x="3640" y="1181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3" name="Text Box 117"/>
            <p:cNvSpPr txBox="1">
              <a:spLocks noChangeArrowheads="1"/>
            </p:cNvSpPr>
            <p:nvPr/>
          </p:nvSpPr>
          <p:spPr bwMode="auto">
            <a:xfrm>
              <a:off x="3931" y="1133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75" name="Text Box 119"/>
            <p:cNvSpPr txBox="1">
              <a:spLocks noChangeArrowheads="1"/>
            </p:cNvSpPr>
            <p:nvPr/>
          </p:nvSpPr>
          <p:spPr bwMode="auto">
            <a:xfrm>
              <a:off x="3640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6" name="Text Box 120"/>
            <p:cNvSpPr txBox="1">
              <a:spLocks noChangeArrowheads="1"/>
            </p:cNvSpPr>
            <p:nvPr/>
          </p:nvSpPr>
          <p:spPr bwMode="auto">
            <a:xfrm>
              <a:off x="4603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7" name="Text Box 121"/>
            <p:cNvSpPr txBox="1">
              <a:spLocks noChangeArrowheads="1"/>
            </p:cNvSpPr>
            <p:nvPr/>
          </p:nvSpPr>
          <p:spPr bwMode="auto">
            <a:xfrm>
              <a:off x="3979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8" name="Text Box 122"/>
            <p:cNvSpPr txBox="1">
              <a:spLocks noChangeArrowheads="1"/>
            </p:cNvSpPr>
            <p:nvPr/>
          </p:nvSpPr>
          <p:spPr bwMode="auto">
            <a:xfrm>
              <a:off x="3640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9" name="Text Box 123"/>
            <p:cNvSpPr txBox="1">
              <a:spLocks noChangeArrowheads="1"/>
            </p:cNvSpPr>
            <p:nvPr/>
          </p:nvSpPr>
          <p:spPr bwMode="auto">
            <a:xfrm>
              <a:off x="431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0" name="Text Box 124"/>
            <p:cNvSpPr txBox="1">
              <a:spLocks noChangeArrowheads="1"/>
            </p:cNvSpPr>
            <p:nvPr/>
          </p:nvSpPr>
          <p:spPr bwMode="auto">
            <a:xfrm>
              <a:off x="4921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1" name="Text Box 125"/>
            <p:cNvSpPr txBox="1">
              <a:spLocks noChangeArrowheads="1"/>
            </p:cNvSpPr>
            <p:nvPr/>
          </p:nvSpPr>
          <p:spPr bwMode="auto">
            <a:xfrm>
              <a:off x="5245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2" name="Text Box 126"/>
            <p:cNvSpPr txBox="1">
              <a:spLocks noChangeArrowheads="1"/>
            </p:cNvSpPr>
            <p:nvPr/>
          </p:nvSpPr>
          <p:spPr bwMode="auto">
            <a:xfrm>
              <a:off x="4921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3" name="Text Box 127"/>
            <p:cNvSpPr txBox="1">
              <a:spLocks noChangeArrowheads="1"/>
            </p:cNvSpPr>
            <p:nvPr/>
          </p:nvSpPr>
          <p:spPr bwMode="auto">
            <a:xfrm>
              <a:off x="5245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4" name="Text Box 128"/>
            <p:cNvSpPr txBox="1">
              <a:spLocks noChangeArrowheads="1"/>
            </p:cNvSpPr>
            <p:nvPr/>
          </p:nvSpPr>
          <p:spPr bwMode="auto">
            <a:xfrm>
              <a:off x="5245" y="11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5" name="Text Box 129"/>
            <p:cNvSpPr txBox="1">
              <a:spLocks noChangeArrowheads="1"/>
            </p:cNvSpPr>
            <p:nvPr/>
          </p:nvSpPr>
          <p:spPr bwMode="auto">
            <a:xfrm>
              <a:off x="5245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6" name="Text Box 130"/>
            <p:cNvSpPr txBox="1">
              <a:spLocks noChangeArrowheads="1"/>
            </p:cNvSpPr>
            <p:nvPr/>
          </p:nvSpPr>
          <p:spPr bwMode="auto">
            <a:xfrm>
              <a:off x="4603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7" name="Text Box 131"/>
            <p:cNvSpPr txBox="1">
              <a:spLocks noChangeArrowheads="1"/>
            </p:cNvSpPr>
            <p:nvPr/>
          </p:nvSpPr>
          <p:spPr bwMode="auto">
            <a:xfrm>
              <a:off x="3640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8" name="Text Box 132"/>
            <p:cNvSpPr txBox="1">
              <a:spLocks noChangeArrowheads="1"/>
            </p:cNvSpPr>
            <p:nvPr/>
          </p:nvSpPr>
          <p:spPr bwMode="auto">
            <a:xfrm>
              <a:off x="5245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9" name="Text Box 133"/>
            <p:cNvSpPr txBox="1">
              <a:spLocks noChangeArrowheads="1"/>
            </p:cNvSpPr>
            <p:nvPr/>
          </p:nvSpPr>
          <p:spPr bwMode="auto">
            <a:xfrm>
              <a:off x="524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90" name="Text Box 134"/>
            <p:cNvSpPr txBox="1">
              <a:spLocks noChangeArrowheads="1"/>
            </p:cNvSpPr>
            <p:nvPr/>
          </p:nvSpPr>
          <p:spPr bwMode="auto">
            <a:xfrm>
              <a:off x="3640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451" name="Rectangle 135"/>
            <p:cNvSpPr>
              <a:spLocks noChangeArrowheads="1"/>
            </p:cNvSpPr>
            <p:nvPr/>
          </p:nvSpPr>
          <p:spPr bwMode="auto">
            <a:xfrm>
              <a:off x="3931" y="1133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Rectangle 136"/>
            <p:cNvSpPr>
              <a:spLocks noChangeArrowheads="1"/>
            </p:cNvSpPr>
            <p:nvPr/>
          </p:nvSpPr>
          <p:spPr bwMode="auto">
            <a:xfrm>
              <a:off x="3595" y="845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3193" name="Text Box 137"/>
          <p:cNvSpPr txBox="1">
            <a:spLocks noChangeArrowheads="1"/>
          </p:cNvSpPr>
          <p:nvPr/>
        </p:nvSpPr>
        <p:spPr bwMode="auto">
          <a:xfrm>
            <a:off x="3203575" y="4508500"/>
            <a:ext cx="66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</a:t>
            </a:r>
          </a:p>
        </p:txBody>
      </p:sp>
      <p:sp>
        <p:nvSpPr>
          <p:cNvPr id="173194" name="Text Box 138"/>
          <p:cNvSpPr txBox="1">
            <a:spLocks noChangeArrowheads="1"/>
          </p:cNvSpPr>
          <p:nvPr/>
        </p:nvSpPr>
        <p:spPr bwMode="auto">
          <a:xfrm>
            <a:off x="5076825" y="2349500"/>
            <a:ext cx="427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</a:t>
            </a:r>
          </a:p>
        </p:txBody>
      </p:sp>
      <p:sp>
        <p:nvSpPr>
          <p:cNvPr id="17424" name="Line 139"/>
          <p:cNvSpPr>
            <a:spLocks noChangeShapeType="1"/>
          </p:cNvSpPr>
          <p:nvPr/>
        </p:nvSpPr>
        <p:spPr bwMode="auto">
          <a:xfrm flipV="1">
            <a:off x="6156325" y="2276475"/>
            <a:ext cx="360363" cy="3673475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Text Box 147"/>
          <p:cNvSpPr txBox="1">
            <a:spLocks noChangeArrowheads="1"/>
          </p:cNvSpPr>
          <p:nvPr/>
        </p:nvSpPr>
        <p:spPr bwMode="auto">
          <a:xfrm>
            <a:off x="5427663" y="6249988"/>
            <a:ext cx="3429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 dirty="0">
                <a:solidFill>
                  <a:srgbClr val="003366"/>
                </a:solidFill>
              </a:rPr>
              <a:t>Adapted from Octavia Camps, Penn State</a:t>
            </a:r>
            <a:endParaRPr lang="en-US" sz="12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56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Convolution with averaging filters</a:t>
            </a: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574675" y="5589588"/>
            <a:ext cx="7993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1/9.(10x1 + 9x1 + 11x1 + 9x1 + 99x1 + 11x1 + 11x1 + 10x1 + 10x1) = </a:t>
            </a:r>
          </a:p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                                                  1/9.( 180) = 20</a:t>
            </a:r>
          </a:p>
        </p:txBody>
      </p:sp>
      <p:sp>
        <p:nvSpPr>
          <p:cNvPr id="175171" name="Text Box 67"/>
          <p:cNvSpPr txBox="1">
            <a:spLocks noChangeArrowheads="1"/>
          </p:cNvSpPr>
          <p:nvPr/>
        </p:nvSpPr>
        <p:spPr bwMode="auto">
          <a:xfrm>
            <a:off x="179388" y="2349500"/>
            <a:ext cx="350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</a:t>
            </a:r>
          </a:p>
        </p:txBody>
      </p:sp>
      <p:grpSp>
        <p:nvGrpSpPr>
          <p:cNvPr id="18440" name="Group 68"/>
          <p:cNvGrpSpPr>
            <a:grpSpLocks/>
          </p:cNvGrpSpPr>
          <p:nvPr/>
        </p:nvGrpSpPr>
        <p:grpSpPr bwMode="auto">
          <a:xfrm>
            <a:off x="3911600" y="3894138"/>
            <a:ext cx="1524000" cy="1447800"/>
            <a:chOff x="2464" y="2453"/>
            <a:chExt cx="960" cy="912"/>
          </a:xfrm>
        </p:grpSpPr>
        <p:grpSp>
          <p:nvGrpSpPr>
            <p:cNvPr id="18559" name="Group 69"/>
            <p:cNvGrpSpPr>
              <a:grpSpLocks/>
            </p:cNvGrpSpPr>
            <p:nvPr/>
          </p:nvGrpSpPr>
          <p:grpSpPr bwMode="auto">
            <a:xfrm>
              <a:off x="2464" y="2453"/>
              <a:ext cx="960" cy="912"/>
              <a:chOff x="1248" y="2784"/>
              <a:chExt cx="960" cy="912"/>
            </a:xfrm>
          </p:grpSpPr>
          <p:sp>
            <p:nvSpPr>
              <p:cNvPr id="18569" name="Rectangle 70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70" name="Line 71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Line 7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Line 73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Line 74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179" name="Text Box 75"/>
            <p:cNvSpPr txBox="1">
              <a:spLocks noChangeArrowheads="1"/>
            </p:cNvSpPr>
            <p:nvPr/>
          </p:nvSpPr>
          <p:spPr bwMode="auto">
            <a:xfrm>
              <a:off x="2542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0" name="Text Box 76"/>
            <p:cNvSpPr txBox="1">
              <a:spLocks noChangeArrowheads="1"/>
            </p:cNvSpPr>
            <p:nvPr/>
          </p:nvSpPr>
          <p:spPr bwMode="auto">
            <a:xfrm>
              <a:off x="2859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1" name="Text Box 77"/>
            <p:cNvSpPr txBox="1">
              <a:spLocks noChangeArrowheads="1"/>
            </p:cNvSpPr>
            <p:nvPr/>
          </p:nvSpPr>
          <p:spPr bwMode="auto">
            <a:xfrm>
              <a:off x="2859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2" name="Text Box 78"/>
            <p:cNvSpPr txBox="1">
              <a:spLocks noChangeArrowheads="1"/>
            </p:cNvSpPr>
            <p:nvPr/>
          </p:nvSpPr>
          <p:spPr bwMode="auto">
            <a:xfrm>
              <a:off x="2542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3" name="Text Box 79"/>
            <p:cNvSpPr txBox="1">
              <a:spLocks noChangeArrowheads="1"/>
            </p:cNvSpPr>
            <p:nvPr/>
          </p:nvSpPr>
          <p:spPr bwMode="auto">
            <a:xfrm>
              <a:off x="2859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4" name="Text Box 80"/>
            <p:cNvSpPr txBox="1">
              <a:spLocks noChangeArrowheads="1"/>
            </p:cNvSpPr>
            <p:nvPr/>
          </p:nvSpPr>
          <p:spPr bwMode="auto">
            <a:xfrm>
              <a:off x="3177" y="306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5" name="Text Box 81"/>
            <p:cNvSpPr txBox="1">
              <a:spLocks noChangeArrowheads="1"/>
            </p:cNvSpPr>
            <p:nvPr/>
          </p:nvSpPr>
          <p:spPr bwMode="auto">
            <a:xfrm>
              <a:off x="3177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6" name="Text Box 82"/>
            <p:cNvSpPr txBox="1">
              <a:spLocks noChangeArrowheads="1"/>
            </p:cNvSpPr>
            <p:nvPr/>
          </p:nvSpPr>
          <p:spPr bwMode="auto">
            <a:xfrm>
              <a:off x="3177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7" name="Text Box 83"/>
            <p:cNvSpPr txBox="1">
              <a:spLocks noChangeArrowheads="1"/>
            </p:cNvSpPr>
            <p:nvPr/>
          </p:nvSpPr>
          <p:spPr bwMode="auto">
            <a:xfrm>
              <a:off x="2542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175188" name="Text Box 84"/>
          <p:cNvSpPr txBox="1">
            <a:spLocks noChangeArrowheads="1"/>
          </p:cNvSpPr>
          <p:nvPr/>
        </p:nvSpPr>
        <p:spPr bwMode="auto">
          <a:xfrm>
            <a:off x="4368800" y="328453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</a:t>
            </a:r>
          </a:p>
        </p:txBody>
      </p:sp>
      <p:sp>
        <p:nvSpPr>
          <p:cNvPr id="18442" name="Line 85"/>
          <p:cNvSpPr>
            <a:spLocks noChangeShapeType="1"/>
          </p:cNvSpPr>
          <p:nvPr/>
        </p:nvSpPr>
        <p:spPr bwMode="auto">
          <a:xfrm flipH="1">
            <a:off x="1331913" y="3214688"/>
            <a:ext cx="941387" cy="244633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86"/>
          <p:cNvSpPr>
            <a:spLocks noChangeShapeType="1"/>
          </p:cNvSpPr>
          <p:nvPr/>
        </p:nvSpPr>
        <p:spPr bwMode="auto">
          <a:xfrm flipH="1">
            <a:off x="1692275" y="4221163"/>
            <a:ext cx="2303463" cy="1439862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44" name="Group 203"/>
          <p:cNvGrpSpPr>
            <a:grpSpLocks/>
          </p:cNvGrpSpPr>
          <p:nvPr/>
        </p:nvGrpSpPr>
        <p:grpSpPr bwMode="auto">
          <a:xfrm>
            <a:off x="5707063" y="1341438"/>
            <a:ext cx="3048000" cy="2895600"/>
            <a:chOff x="3595" y="845"/>
            <a:chExt cx="1920" cy="1824"/>
          </a:xfrm>
        </p:grpSpPr>
        <p:grpSp>
          <p:nvGrpSpPr>
            <p:cNvPr id="18512" name="Group 88"/>
            <p:cNvGrpSpPr>
              <a:grpSpLocks/>
            </p:cNvGrpSpPr>
            <p:nvPr/>
          </p:nvGrpSpPr>
          <p:grpSpPr bwMode="auto">
            <a:xfrm>
              <a:off x="3595" y="845"/>
              <a:ext cx="960" cy="912"/>
              <a:chOff x="1248" y="2784"/>
              <a:chExt cx="960" cy="912"/>
            </a:xfrm>
          </p:grpSpPr>
          <p:sp>
            <p:nvSpPr>
              <p:cNvPr id="18554" name="Rectangle 89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5" name="Line 90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6" name="Line 91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7" name="Line 92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8" name="Line 93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13" name="Group 94"/>
            <p:cNvGrpSpPr>
              <a:grpSpLocks/>
            </p:cNvGrpSpPr>
            <p:nvPr/>
          </p:nvGrpSpPr>
          <p:grpSpPr bwMode="auto">
            <a:xfrm>
              <a:off x="4555" y="1757"/>
              <a:ext cx="960" cy="912"/>
              <a:chOff x="1248" y="2784"/>
              <a:chExt cx="960" cy="912"/>
            </a:xfrm>
          </p:grpSpPr>
          <p:sp>
            <p:nvSpPr>
              <p:cNvPr id="18549" name="Rectangle 95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0" name="Line 96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1" name="Line 97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2" name="Line 98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3" name="Line 99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14" name="Group 100"/>
            <p:cNvGrpSpPr>
              <a:grpSpLocks/>
            </p:cNvGrpSpPr>
            <p:nvPr/>
          </p:nvGrpSpPr>
          <p:grpSpPr bwMode="auto">
            <a:xfrm>
              <a:off x="3595" y="1757"/>
              <a:ext cx="960" cy="912"/>
              <a:chOff x="1248" y="2784"/>
              <a:chExt cx="960" cy="912"/>
            </a:xfrm>
          </p:grpSpPr>
          <p:sp>
            <p:nvSpPr>
              <p:cNvPr id="18544" name="Rectangle 101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45" name="Line 102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Line 103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Line 104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8" name="Line 105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15" name="Group 106"/>
            <p:cNvGrpSpPr>
              <a:grpSpLocks/>
            </p:cNvGrpSpPr>
            <p:nvPr/>
          </p:nvGrpSpPr>
          <p:grpSpPr bwMode="auto">
            <a:xfrm>
              <a:off x="4555" y="845"/>
              <a:ext cx="960" cy="912"/>
              <a:chOff x="1248" y="2784"/>
              <a:chExt cx="960" cy="912"/>
            </a:xfrm>
          </p:grpSpPr>
          <p:sp>
            <p:nvSpPr>
              <p:cNvPr id="18539" name="Rectangle 107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40" name="Line 108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1" name="Line 109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2" name="Line 110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Line 111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216" name="Text Box 112"/>
            <p:cNvSpPr txBox="1">
              <a:spLocks noChangeArrowheads="1"/>
            </p:cNvSpPr>
            <p:nvPr/>
          </p:nvSpPr>
          <p:spPr bwMode="auto">
            <a:xfrm>
              <a:off x="3640" y="860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17" name="Text Box 113"/>
            <p:cNvSpPr txBox="1">
              <a:spLocks noChangeArrowheads="1"/>
            </p:cNvSpPr>
            <p:nvPr/>
          </p:nvSpPr>
          <p:spPr bwMode="auto">
            <a:xfrm>
              <a:off x="3979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18" name="Text Box 114"/>
            <p:cNvSpPr txBox="1">
              <a:spLocks noChangeArrowheads="1"/>
            </p:cNvSpPr>
            <p:nvPr/>
          </p:nvSpPr>
          <p:spPr bwMode="auto">
            <a:xfrm>
              <a:off x="4267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19" name="Text Box 115"/>
            <p:cNvSpPr txBox="1">
              <a:spLocks noChangeArrowheads="1"/>
            </p:cNvSpPr>
            <p:nvPr/>
          </p:nvSpPr>
          <p:spPr bwMode="auto">
            <a:xfrm>
              <a:off x="3640" y="1181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0" name="Text Box 116"/>
            <p:cNvSpPr txBox="1">
              <a:spLocks noChangeArrowheads="1"/>
            </p:cNvSpPr>
            <p:nvPr/>
          </p:nvSpPr>
          <p:spPr bwMode="auto">
            <a:xfrm>
              <a:off x="4895" y="2037"/>
              <a:ext cx="3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20</a:t>
              </a:r>
            </a:p>
          </p:txBody>
        </p:sp>
        <p:sp>
          <p:nvSpPr>
            <p:cNvPr id="175221" name="Text Box 117"/>
            <p:cNvSpPr txBox="1">
              <a:spLocks noChangeArrowheads="1"/>
            </p:cNvSpPr>
            <p:nvPr/>
          </p:nvSpPr>
          <p:spPr bwMode="auto">
            <a:xfrm>
              <a:off x="3640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2" name="Text Box 118"/>
            <p:cNvSpPr txBox="1">
              <a:spLocks noChangeArrowheads="1"/>
            </p:cNvSpPr>
            <p:nvPr/>
          </p:nvSpPr>
          <p:spPr bwMode="auto">
            <a:xfrm>
              <a:off x="4603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3" name="Text Box 119"/>
            <p:cNvSpPr txBox="1">
              <a:spLocks noChangeArrowheads="1"/>
            </p:cNvSpPr>
            <p:nvPr/>
          </p:nvSpPr>
          <p:spPr bwMode="auto">
            <a:xfrm>
              <a:off x="3979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4" name="Text Box 120"/>
            <p:cNvSpPr txBox="1">
              <a:spLocks noChangeArrowheads="1"/>
            </p:cNvSpPr>
            <p:nvPr/>
          </p:nvSpPr>
          <p:spPr bwMode="auto">
            <a:xfrm>
              <a:off x="3640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5" name="Text Box 121"/>
            <p:cNvSpPr txBox="1">
              <a:spLocks noChangeArrowheads="1"/>
            </p:cNvSpPr>
            <p:nvPr/>
          </p:nvSpPr>
          <p:spPr bwMode="auto">
            <a:xfrm>
              <a:off x="431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6" name="Text Box 122"/>
            <p:cNvSpPr txBox="1">
              <a:spLocks noChangeArrowheads="1"/>
            </p:cNvSpPr>
            <p:nvPr/>
          </p:nvSpPr>
          <p:spPr bwMode="auto">
            <a:xfrm>
              <a:off x="4927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7" name="Text Box 123"/>
            <p:cNvSpPr txBox="1">
              <a:spLocks noChangeArrowheads="1"/>
            </p:cNvSpPr>
            <p:nvPr/>
          </p:nvSpPr>
          <p:spPr bwMode="auto">
            <a:xfrm>
              <a:off x="5245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8" name="Text Box 124"/>
            <p:cNvSpPr txBox="1">
              <a:spLocks noChangeArrowheads="1"/>
            </p:cNvSpPr>
            <p:nvPr/>
          </p:nvSpPr>
          <p:spPr bwMode="auto">
            <a:xfrm>
              <a:off x="4927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9" name="Text Box 125"/>
            <p:cNvSpPr txBox="1">
              <a:spLocks noChangeArrowheads="1"/>
            </p:cNvSpPr>
            <p:nvPr/>
          </p:nvSpPr>
          <p:spPr bwMode="auto">
            <a:xfrm>
              <a:off x="5245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0" name="Text Box 126"/>
            <p:cNvSpPr txBox="1">
              <a:spLocks noChangeArrowheads="1"/>
            </p:cNvSpPr>
            <p:nvPr/>
          </p:nvSpPr>
          <p:spPr bwMode="auto">
            <a:xfrm>
              <a:off x="5245" y="11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1" name="Text Box 127"/>
            <p:cNvSpPr txBox="1">
              <a:spLocks noChangeArrowheads="1"/>
            </p:cNvSpPr>
            <p:nvPr/>
          </p:nvSpPr>
          <p:spPr bwMode="auto">
            <a:xfrm>
              <a:off x="5245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2" name="Text Box 128"/>
            <p:cNvSpPr txBox="1">
              <a:spLocks noChangeArrowheads="1"/>
            </p:cNvSpPr>
            <p:nvPr/>
          </p:nvSpPr>
          <p:spPr bwMode="auto">
            <a:xfrm>
              <a:off x="4603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3" name="Text Box 129"/>
            <p:cNvSpPr txBox="1">
              <a:spLocks noChangeArrowheads="1"/>
            </p:cNvSpPr>
            <p:nvPr/>
          </p:nvSpPr>
          <p:spPr bwMode="auto">
            <a:xfrm>
              <a:off x="3640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4" name="Text Box 130"/>
            <p:cNvSpPr txBox="1">
              <a:spLocks noChangeArrowheads="1"/>
            </p:cNvSpPr>
            <p:nvPr/>
          </p:nvSpPr>
          <p:spPr bwMode="auto">
            <a:xfrm>
              <a:off x="5245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5" name="Text Box 131"/>
            <p:cNvSpPr txBox="1">
              <a:spLocks noChangeArrowheads="1"/>
            </p:cNvSpPr>
            <p:nvPr/>
          </p:nvSpPr>
          <p:spPr bwMode="auto">
            <a:xfrm>
              <a:off x="524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6" name="Text Box 132"/>
            <p:cNvSpPr txBox="1">
              <a:spLocks noChangeArrowheads="1"/>
            </p:cNvSpPr>
            <p:nvPr/>
          </p:nvSpPr>
          <p:spPr bwMode="auto">
            <a:xfrm>
              <a:off x="3640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8537" name="Rectangle 133"/>
            <p:cNvSpPr>
              <a:spLocks noChangeArrowheads="1"/>
            </p:cNvSpPr>
            <p:nvPr/>
          </p:nvSpPr>
          <p:spPr bwMode="auto">
            <a:xfrm>
              <a:off x="4887" y="2037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8" name="Rectangle 134"/>
            <p:cNvSpPr>
              <a:spLocks noChangeArrowheads="1"/>
            </p:cNvSpPr>
            <p:nvPr/>
          </p:nvSpPr>
          <p:spPr bwMode="auto">
            <a:xfrm>
              <a:off x="4551" y="1753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5239" name="Text Box 135"/>
          <p:cNvSpPr txBox="1">
            <a:spLocks noChangeArrowheads="1"/>
          </p:cNvSpPr>
          <p:nvPr/>
        </p:nvSpPr>
        <p:spPr bwMode="auto">
          <a:xfrm>
            <a:off x="3203575" y="4508500"/>
            <a:ext cx="66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</a:t>
            </a:r>
          </a:p>
        </p:txBody>
      </p:sp>
      <p:sp>
        <p:nvSpPr>
          <p:cNvPr id="175240" name="Text Box 136"/>
          <p:cNvSpPr txBox="1">
            <a:spLocks noChangeArrowheads="1"/>
          </p:cNvSpPr>
          <p:nvPr/>
        </p:nvSpPr>
        <p:spPr bwMode="auto">
          <a:xfrm>
            <a:off x="5076825" y="2349500"/>
            <a:ext cx="427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</a:t>
            </a:r>
          </a:p>
        </p:txBody>
      </p:sp>
      <p:sp>
        <p:nvSpPr>
          <p:cNvPr id="18447" name="Line 137"/>
          <p:cNvSpPr>
            <a:spLocks noChangeShapeType="1"/>
          </p:cNvSpPr>
          <p:nvPr/>
        </p:nvSpPr>
        <p:spPr bwMode="auto">
          <a:xfrm flipV="1">
            <a:off x="6156325" y="3706813"/>
            <a:ext cx="1855788" cy="224313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48" name="Group 201"/>
          <p:cNvGrpSpPr>
            <a:grpSpLocks/>
          </p:cNvGrpSpPr>
          <p:nvPr/>
        </p:nvGrpSpPr>
        <p:grpSpPr bwMode="auto">
          <a:xfrm>
            <a:off x="660400" y="1368425"/>
            <a:ext cx="3051175" cy="2898775"/>
            <a:chOff x="416" y="862"/>
            <a:chExt cx="1922" cy="1826"/>
          </a:xfrm>
        </p:grpSpPr>
        <p:grpSp>
          <p:nvGrpSpPr>
            <p:cNvPr id="18450" name="Group 139"/>
            <p:cNvGrpSpPr>
              <a:grpSpLocks/>
            </p:cNvGrpSpPr>
            <p:nvPr/>
          </p:nvGrpSpPr>
          <p:grpSpPr bwMode="auto">
            <a:xfrm>
              <a:off x="416" y="862"/>
              <a:ext cx="960" cy="912"/>
              <a:chOff x="1248" y="2784"/>
              <a:chExt cx="960" cy="912"/>
            </a:xfrm>
          </p:grpSpPr>
          <p:sp>
            <p:nvSpPr>
              <p:cNvPr id="18507" name="Rectangle 140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8" name="Line 141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9" name="Line 14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0" name="Line 143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1" name="Line 144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51" name="Group 145"/>
            <p:cNvGrpSpPr>
              <a:grpSpLocks/>
            </p:cNvGrpSpPr>
            <p:nvPr/>
          </p:nvGrpSpPr>
          <p:grpSpPr bwMode="auto">
            <a:xfrm>
              <a:off x="1376" y="1774"/>
              <a:ext cx="960" cy="912"/>
              <a:chOff x="1248" y="2784"/>
              <a:chExt cx="960" cy="912"/>
            </a:xfrm>
          </p:grpSpPr>
          <p:sp>
            <p:nvSpPr>
              <p:cNvPr id="18502" name="Rectangle 146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3" name="Line 147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4" name="Line 148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5" name="Line 149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6" name="Line 150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52" name="Group 151"/>
            <p:cNvGrpSpPr>
              <a:grpSpLocks/>
            </p:cNvGrpSpPr>
            <p:nvPr/>
          </p:nvGrpSpPr>
          <p:grpSpPr bwMode="auto">
            <a:xfrm>
              <a:off x="416" y="1774"/>
              <a:ext cx="960" cy="912"/>
              <a:chOff x="1248" y="2784"/>
              <a:chExt cx="960" cy="912"/>
            </a:xfrm>
          </p:grpSpPr>
          <p:sp>
            <p:nvSpPr>
              <p:cNvPr id="18497" name="Rectangle 152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8" name="Line 153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9" name="Line 154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0" name="Line 155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1" name="Line 156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53" name="Group 157"/>
            <p:cNvGrpSpPr>
              <a:grpSpLocks/>
            </p:cNvGrpSpPr>
            <p:nvPr/>
          </p:nvGrpSpPr>
          <p:grpSpPr bwMode="auto">
            <a:xfrm>
              <a:off x="1376" y="862"/>
              <a:ext cx="960" cy="912"/>
              <a:chOff x="1248" y="2784"/>
              <a:chExt cx="960" cy="912"/>
            </a:xfrm>
          </p:grpSpPr>
          <p:sp>
            <p:nvSpPr>
              <p:cNvPr id="18492" name="Rectangle 15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3" name="Line 159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4" name="Line 160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5" name="Line 161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6" name="Line 162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267" name="Text Box 163"/>
            <p:cNvSpPr txBox="1">
              <a:spLocks noChangeArrowheads="1"/>
            </p:cNvSpPr>
            <p:nvPr/>
          </p:nvSpPr>
          <p:spPr bwMode="auto">
            <a:xfrm>
              <a:off x="440" y="870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68" name="Text Box 164"/>
            <p:cNvSpPr txBox="1">
              <a:spLocks noChangeArrowheads="1"/>
            </p:cNvSpPr>
            <p:nvPr/>
          </p:nvSpPr>
          <p:spPr bwMode="auto">
            <a:xfrm>
              <a:off x="776" y="869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69" name="Text Box 165"/>
            <p:cNvSpPr txBox="1">
              <a:spLocks noChangeArrowheads="1"/>
            </p:cNvSpPr>
            <p:nvPr/>
          </p:nvSpPr>
          <p:spPr bwMode="auto">
            <a:xfrm>
              <a:off x="1087" y="869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0" name="Text Box 166"/>
            <p:cNvSpPr txBox="1">
              <a:spLocks noChangeArrowheads="1"/>
            </p:cNvSpPr>
            <p:nvPr/>
          </p:nvSpPr>
          <p:spPr bwMode="auto">
            <a:xfrm>
              <a:off x="483" y="1158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71" name="Text Box 167"/>
            <p:cNvSpPr txBox="1">
              <a:spLocks noChangeArrowheads="1"/>
            </p:cNvSpPr>
            <p:nvPr/>
          </p:nvSpPr>
          <p:spPr bwMode="auto">
            <a:xfrm>
              <a:off x="760" y="11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2" name="Text Box 168"/>
            <p:cNvSpPr txBox="1">
              <a:spLocks noChangeArrowheads="1"/>
            </p:cNvSpPr>
            <p:nvPr/>
          </p:nvSpPr>
          <p:spPr bwMode="auto">
            <a:xfrm>
              <a:off x="1102" y="115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73" name="Text Box 169"/>
            <p:cNvSpPr txBox="1">
              <a:spLocks noChangeArrowheads="1"/>
            </p:cNvSpPr>
            <p:nvPr/>
          </p:nvSpPr>
          <p:spPr bwMode="auto">
            <a:xfrm>
              <a:off x="440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4" name="Text Box 170"/>
            <p:cNvSpPr txBox="1">
              <a:spLocks noChangeArrowheads="1"/>
            </p:cNvSpPr>
            <p:nvPr/>
          </p:nvSpPr>
          <p:spPr bwMode="auto">
            <a:xfrm>
              <a:off x="803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75" name="Text Box 171"/>
            <p:cNvSpPr txBox="1">
              <a:spLocks noChangeArrowheads="1"/>
            </p:cNvSpPr>
            <p:nvPr/>
          </p:nvSpPr>
          <p:spPr bwMode="auto">
            <a:xfrm>
              <a:off x="1086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6" name="Text Box 172"/>
            <p:cNvSpPr txBox="1">
              <a:spLocks noChangeArrowheads="1"/>
            </p:cNvSpPr>
            <p:nvPr/>
          </p:nvSpPr>
          <p:spPr bwMode="auto">
            <a:xfrm>
              <a:off x="1443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77" name="Text Box 173"/>
            <p:cNvSpPr txBox="1">
              <a:spLocks noChangeArrowheads="1"/>
            </p:cNvSpPr>
            <p:nvPr/>
          </p:nvSpPr>
          <p:spPr bwMode="auto">
            <a:xfrm>
              <a:off x="760" y="2062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8" name="Text Box 174"/>
            <p:cNvSpPr txBox="1">
              <a:spLocks noChangeArrowheads="1"/>
            </p:cNvSpPr>
            <p:nvPr/>
          </p:nvSpPr>
          <p:spPr bwMode="auto">
            <a:xfrm>
              <a:off x="1384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9" name="Text Box 175"/>
            <p:cNvSpPr txBox="1">
              <a:spLocks noChangeArrowheads="1"/>
            </p:cNvSpPr>
            <p:nvPr/>
          </p:nvSpPr>
          <p:spPr bwMode="auto">
            <a:xfrm>
              <a:off x="1770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2</a:t>
              </a:r>
            </a:p>
          </p:txBody>
        </p:sp>
        <p:sp>
          <p:nvSpPr>
            <p:cNvPr id="175280" name="Text Box 176"/>
            <p:cNvSpPr txBox="1">
              <a:spLocks noChangeArrowheads="1"/>
            </p:cNvSpPr>
            <p:nvPr/>
          </p:nvSpPr>
          <p:spPr bwMode="auto">
            <a:xfrm>
              <a:off x="1770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1" name="Text Box 177"/>
            <p:cNvSpPr txBox="1">
              <a:spLocks noChangeArrowheads="1"/>
            </p:cNvSpPr>
            <p:nvPr/>
          </p:nvSpPr>
          <p:spPr bwMode="auto">
            <a:xfrm>
              <a:off x="1427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82" name="Text Box 178"/>
            <p:cNvSpPr txBox="1">
              <a:spLocks noChangeArrowheads="1"/>
            </p:cNvSpPr>
            <p:nvPr/>
          </p:nvSpPr>
          <p:spPr bwMode="auto">
            <a:xfrm>
              <a:off x="1129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3" name="Text Box 179"/>
            <p:cNvSpPr txBox="1">
              <a:spLocks noChangeArrowheads="1"/>
            </p:cNvSpPr>
            <p:nvPr/>
          </p:nvSpPr>
          <p:spPr bwMode="auto">
            <a:xfrm>
              <a:off x="1427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84" name="Text Box 180"/>
            <p:cNvSpPr txBox="1">
              <a:spLocks noChangeArrowheads="1"/>
            </p:cNvSpPr>
            <p:nvPr/>
          </p:nvSpPr>
          <p:spPr bwMode="auto">
            <a:xfrm>
              <a:off x="803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5" name="Text Box 181"/>
            <p:cNvSpPr txBox="1">
              <a:spLocks noChangeArrowheads="1"/>
            </p:cNvSpPr>
            <p:nvPr/>
          </p:nvSpPr>
          <p:spPr bwMode="auto">
            <a:xfrm>
              <a:off x="483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6" name="Text Box 182"/>
            <p:cNvSpPr txBox="1">
              <a:spLocks noChangeArrowheads="1"/>
            </p:cNvSpPr>
            <p:nvPr/>
          </p:nvSpPr>
          <p:spPr bwMode="auto">
            <a:xfrm>
              <a:off x="1130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7" name="Text Box 183"/>
            <p:cNvSpPr txBox="1">
              <a:spLocks noChangeArrowheads="1"/>
            </p:cNvSpPr>
            <p:nvPr/>
          </p:nvSpPr>
          <p:spPr bwMode="auto">
            <a:xfrm>
              <a:off x="1427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8" name="Text Box 184"/>
            <p:cNvSpPr txBox="1">
              <a:spLocks noChangeArrowheads="1"/>
            </p:cNvSpPr>
            <p:nvPr/>
          </p:nvSpPr>
          <p:spPr bwMode="auto">
            <a:xfrm>
              <a:off x="1770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89" name="Text Box 185"/>
            <p:cNvSpPr txBox="1">
              <a:spLocks noChangeArrowheads="1"/>
            </p:cNvSpPr>
            <p:nvPr/>
          </p:nvSpPr>
          <p:spPr bwMode="auto">
            <a:xfrm>
              <a:off x="2067" y="1484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90" name="Text Box 186"/>
            <p:cNvSpPr txBox="1">
              <a:spLocks noChangeArrowheads="1"/>
            </p:cNvSpPr>
            <p:nvPr/>
          </p:nvSpPr>
          <p:spPr bwMode="auto">
            <a:xfrm>
              <a:off x="1712" y="2062"/>
              <a:ext cx="3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99</a:t>
              </a:r>
            </a:p>
          </p:txBody>
        </p:sp>
        <p:sp>
          <p:nvSpPr>
            <p:cNvPr id="175291" name="Text Box 187"/>
            <p:cNvSpPr txBox="1">
              <a:spLocks noChangeArrowheads="1"/>
            </p:cNvSpPr>
            <p:nvPr/>
          </p:nvSpPr>
          <p:spPr bwMode="auto">
            <a:xfrm>
              <a:off x="1727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92" name="Text Box 188"/>
            <p:cNvSpPr txBox="1">
              <a:spLocks noChangeArrowheads="1"/>
            </p:cNvSpPr>
            <p:nvPr/>
          </p:nvSpPr>
          <p:spPr bwMode="auto">
            <a:xfrm>
              <a:off x="760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93" name="Text Box 189"/>
            <p:cNvSpPr txBox="1">
              <a:spLocks noChangeArrowheads="1"/>
            </p:cNvSpPr>
            <p:nvPr/>
          </p:nvSpPr>
          <p:spPr bwMode="auto">
            <a:xfrm>
              <a:off x="2024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94" name="Text Box 190"/>
            <p:cNvSpPr txBox="1">
              <a:spLocks noChangeArrowheads="1"/>
            </p:cNvSpPr>
            <p:nvPr/>
          </p:nvSpPr>
          <p:spPr bwMode="auto">
            <a:xfrm>
              <a:off x="2067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95" name="Text Box 191"/>
            <p:cNvSpPr txBox="1">
              <a:spLocks noChangeArrowheads="1"/>
            </p:cNvSpPr>
            <p:nvPr/>
          </p:nvSpPr>
          <p:spPr bwMode="auto">
            <a:xfrm>
              <a:off x="1770" y="11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96" name="Text Box 192"/>
            <p:cNvSpPr txBox="1">
              <a:spLocks noChangeArrowheads="1"/>
            </p:cNvSpPr>
            <p:nvPr/>
          </p:nvSpPr>
          <p:spPr bwMode="auto">
            <a:xfrm>
              <a:off x="2067" y="869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97" name="Text Box 193"/>
            <p:cNvSpPr txBox="1">
              <a:spLocks noChangeArrowheads="1"/>
            </p:cNvSpPr>
            <p:nvPr/>
          </p:nvSpPr>
          <p:spPr bwMode="auto">
            <a:xfrm>
              <a:off x="1400" y="2357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98" name="Text Box 194"/>
            <p:cNvSpPr txBox="1">
              <a:spLocks noChangeArrowheads="1"/>
            </p:cNvSpPr>
            <p:nvPr/>
          </p:nvSpPr>
          <p:spPr bwMode="auto">
            <a:xfrm>
              <a:off x="1102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99" name="Text Box 195"/>
            <p:cNvSpPr txBox="1">
              <a:spLocks noChangeArrowheads="1"/>
            </p:cNvSpPr>
            <p:nvPr/>
          </p:nvSpPr>
          <p:spPr bwMode="auto">
            <a:xfrm>
              <a:off x="456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300" name="Text Box 196"/>
            <p:cNvSpPr txBox="1">
              <a:spLocks noChangeArrowheads="1"/>
            </p:cNvSpPr>
            <p:nvPr/>
          </p:nvSpPr>
          <p:spPr bwMode="auto">
            <a:xfrm>
              <a:off x="2024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301" name="Text Box 197"/>
            <p:cNvSpPr txBox="1">
              <a:spLocks noChangeArrowheads="1"/>
            </p:cNvSpPr>
            <p:nvPr/>
          </p:nvSpPr>
          <p:spPr bwMode="auto">
            <a:xfrm>
              <a:off x="2008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302" name="Text Box 198"/>
            <p:cNvSpPr txBox="1">
              <a:spLocks noChangeArrowheads="1"/>
            </p:cNvSpPr>
            <p:nvPr/>
          </p:nvSpPr>
          <p:spPr bwMode="auto">
            <a:xfrm>
              <a:off x="440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8490" name="Rectangle 199"/>
            <p:cNvSpPr>
              <a:spLocks noChangeArrowheads="1"/>
            </p:cNvSpPr>
            <p:nvPr/>
          </p:nvSpPr>
          <p:spPr bwMode="auto">
            <a:xfrm>
              <a:off x="1707" y="2058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Rectangle 200"/>
            <p:cNvSpPr>
              <a:spLocks noChangeArrowheads="1"/>
            </p:cNvSpPr>
            <p:nvPr/>
          </p:nvSpPr>
          <p:spPr bwMode="auto">
            <a:xfrm>
              <a:off x="1378" y="1776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49" name="Text Box 204"/>
          <p:cNvSpPr txBox="1">
            <a:spLocks noChangeArrowheads="1"/>
          </p:cNvSpPr>
          <p:nvPr/>
        </p:nvSpPr>
        <p:spPr bwMode="auto">
          <a:xfrm>
            <a:off x="5427663" y="6249988"/>
            <a:ext cx="3429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>
                <a:solidFill>
                  <a:srgbClr val="003366"/>
                </a:solidFill>
              </a:rPr>
              <a:t>Adapted from Octavia Camps, Penn State</a:t>
            </a:r>
            <a:endParaRPr lang="en-US" sz="120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776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75463" y="258512"/>
            <a:ext cx="8229600" cy="1143000"/>
          </a:xfrm>
        </p:spPr>
        <p:txBody>
          <a:bodyPr/>
          <a:lstStyle/>
          <a:p>
            <a:r>
              <a:rPr lang="en-US" dirty="0"/>
              <a:t>Practical implementation of Convolution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careful about indices, image borders and padding during implementation.</a:t>
            </a:r>
          </a:p>
        </p:txBody>
      </p:sp>
      <p:sp>
        <p:nvSpPr>
          <p:cNvPr id="14344" name="TextBox 7"/>
          <p:cNvSpPr txBox="1">
            <a:spLocks noChangeArrowheads="1"/>
          </p:cNvSpPr>
          <p:nvPr/>
        </p:nvSpPr>
        <p:spPr bwMode="auto">
          <a:xfrm>
            <a:off x="2701925" y="5271294"/>
            <a:ext cx="3729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dirty="0">
                <a:solidFill>
                  <a:srgbClr val="003366"/>
                </a:solidFill>
              </a:rPr>
              <a:t>Border padding examples.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863" y="2735065"/>
            <a:ext cx="1890713" cy="190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263" y="2735065"/>
            <a:ext cx="1899235" cy="190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863" y="2735064"/>
            <a:ext cx="1903996" cy="190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457200" y="2735065"/>
            <a:ext cx="1890713" cy="1908779"/>
            <a:chOff x="381000" y="2971800"/>
            <a:chExt cx="1890713" cy="1908779"/>
          </a:xfrm>
        </p:grpSpPr>
        <p:sp>
          <p:nvSpPr>
            <p:cNvPr id="13" name="Rectangle 12"/>
            <p:cNvSpPr/>
            <p:nvPr/>
          </p:nvSpPr>
          <p:spPr>
            <a:xfrm>
              <a:off x="381000" y="2971800"/>
              <a:ext cx="1890713" cy="19087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3366"/>
                </a:solidFill>
              </a:endParaRPr>
            </a:p>
          </p:txBody>
        </p:sp>
        <p:pic>
          <p:nvPicPr>
            <p:cNvPr id="14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02" t="10207" r="9659" b="10255"/>
            <a:stretch/>
          </p:blipFill>
          <p:spPr bwMode="auto">
            <a:xfrm>
              <a:off x="570653" y="3170486"/>
              <a:ext cx="1511405" cy="1511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" name="TextBox 14"/>
          <p:cNvSpPr txBox="1"/>
          <p:nvPr/>
        </p:nvSpPr>
        <p:spPr>
          <a:xfrm>
            <a:off x="646853" y="4643844"/>
            <a:ext cx="151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2516" y="4643844"/>
            <a:ext cx="167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fixed/clamp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63" y="4634616"/>
            <a:ext cx="189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periodic/wrap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3863" y="4635303"/>
            <a:ext cx="2147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reflected/mirror</a:t>
            </a:r>
          </a:p>
        </p:txBody>
      </p:sp>
      <p:sp>
        <p:nvSpPr>
          <p:cNvPr id="20" name="Text Box 147"/>
          <p:cNvSpPr txBox="1">
            <a:spLocks noChangeArrowheads="1"/>
          </p:cNvSpPr>
          <p:nvPr/>
        </p:nvSpPr>
        <p:spPr bwMode="auto">
          <a:xfrm>
            <a:off x="5427663" y="6249988"/>
            <a:ext cx="3429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 dirty="0">
                <a:solidFill>
                  <a:srgbClr val="003366"/>
                </a:solidFill>
              </a:rPr>
              <a:t>Adapted from CSE 455, U of Washington</a:t>
            </a:r>
            <a:endParaRPr lang="en-US" sz="12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44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2CD3-FD69-E44D-B7C0-E24D1A22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convolution </a:t>
            </a:r>
            <a:r>
              <a:rPr lang="en-US" dirty="0" err="1"/>
              <a:t>realy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84F2-E46F-7646-BFBE-2D2809AD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67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D80792-FB59-F04F-BFFA-328E2592E888}"/>
              </a:ext>
            </a:extLst>
          </p:cNvPr>
          <p:cNvSpPr txBox="1"/>
          <p:nvPr/>
        </p:nvSpPr>
        <p:spPr>
          <a:xfrm>
            <a:off x="1456135" y="1862138"/>
            <a:ext cx="6305550" cy="419100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Convolution 2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40D0DDBB-81F7-2B4C-A0EF-C38D54A0C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392" y="3549254"/>
            <a:ext cx="630555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itle 5">
            <a:extLst>
              <a:ext uri="{FF2B5EF4-FFF2-40B4-BE49-F238E27FC236}">
                <a16:creationId xmlns:a16="http://schemas.microsoft.com/office/drawing/2014/main" id="{E8AA1BE2-6626-4947-9893-9B8AC3E18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8410" y="274637"/>
            <a:ext cx="8118389" cy="186308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One-dimensional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b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particular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instance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 of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95343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4">
            <a:extLst>
              <a:ext uri="{FF2B5EF4-FFF2-40B4-BE49-F238E27FC236}">
                <a16:creationId xmlns:a16="http://schemas.microsoft.com/office/drawing/2014/main" id="{C076634E-C593-3642-8570-BDF0D2D08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93" y="3299254"/>
            <a:ext cx="6495402" cy="204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4" name="Title 1">
            <a:extLst>
              <a:ext uri="{FF2B5EF4-FFF2-40B4-BE49-F238E27FC236}">
                <a16:creationId xmlns:a16="http://schemas.microsoft.com/office/drawing/2014/main" id="{9324FE51-1163-E647-925A-00820D435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43697" y="370703"/>
            <a:ext cx="7892732" cy="195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One-dimensional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b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endParaRPr lang="tr-TR" altLang="tr-T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41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B5F03A96-3E70-6E43-8559-7B4E10FBC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214" y="354488"/>
            <a:ext cx="819096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4000" dirty="0">
                <a:latin typeface="+mj-lt"/>
              </a:rPr>
              <a:t>Convolution operation measures the similarity between the image and mask</a:t>
            </a:r>
          </a:p>
        </p:txBody>
      </p:sp>
      <p:pic>
        <p:nvPicPr>
          <p:cNvPr id="51202" name="Picture 13">
            <a:extLst>
              <a:ext uri="{FF2B5EF4-FFF2-40B4-BE49-F238E27FC236}">
                <a16:creationId xmlns:a16="http://schemas.microsoft.com/office/drawing/2014/main" id="{C67A6E6C-60CD-9744-B461-AD500EE68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14" y="2714631"/>
            <a:ext cx="2936536" cy="234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1203" name="Picture 14">
            <a:extLst>
              <a:ext uri="{FF2B5EF4-FFF2-40B4-BE49-F238E27FC236}">
                <a16:creationId xmlns:a16="http://schemas.microsoft.com/office/drawing/2014/main" id="{E9543753-0D6C-104B-AD1B-D60726EF1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943350"/>
            <a:ext cx="800100" cy="63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1204" name="Picture 15">
            <a:extLst>
              <a:ext uri="{FF2B5EF4-FFF2-40B4-BE49-F238E27FC236}">
                <a16:creationId xmlns:a16="http://schemas.microsoft.com/office/drawing/2014/main" id="{98E135C9-B463-7940-AE2B-20D0091A4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2714632"/>
            <a:ext cx="3010538" cy="240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1205" name="Text Box 16">
            <a:extLst>
              <a:ext uri="{FF2B5EF4-FFF2-40B4-BE49-F238E27FC236}">
                <a16:creationId xmlns:a16="http://schemas.microsoft.com/office/drawing/2014/main" id="{1D999D96-2E8E-4547-879A-9A14A506A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444" y="4088606"/>
            <a:ext cx="3145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/>
              <a:t>=</a:t>
            </a:r>
          </a:p>
        </p:txBody>
      </p:sp>
      <p:sp>
        <p:nvSpPr>
          <p:cNvPr id="51206" name="TextBox 1">
            <a:extLst>
              <a:ext uri="{FF2B5EF4-FFF2-40B4-BE49-F238E27FC236}">
                <a16:creationId xmlns:a16="http://schemas.microsoft.com/office/drawing/2014/main" id="{FE7B74E9-6643-4B4D-8C12-C2F46D5BA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1717" y="3542111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/>
              <a:t>mask</a:t>
            </a:r>
          </a:p>
        </p:txBody>
      </p:sp>
    </p:spTree>
    <p:extLst>
      <p:ext uri="{BB962C8B-B14F-4D97-AF65-F5344CB8AC3E}">
        <p14:creationId xmlns:p14="http://schemas.microsoft.com/office/powerpoint/2010/main" val="218266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79CBB3FD-BDAD-CA4A-9875-5E316707F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90832" y="634828"/>
            <a:ext cx="7210168" cy="12186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Application : TV Remote Control by Normalized correlation</a:t>
            </a: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4C1139CE-A3AF-8D4E-A8C7-E0B1BC685A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8"/>
          <a:stretch/>
        </p:blipFill>
        <p:spPr bwMode="auto">
          <a:xfrm>
            <a:off x="1671108" y="2292439"/>
            <a:ext cx="5801784" cy="38845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0203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392C3209-65FC-BA44-8EF6-53696E564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/>
              <a:t>Application: TV Remote Control</a:t>
            </a:r>
          </a:p>
        </p:txBody>
      </p:sp>
      <p:pic>
        <p:nvPicPr>
          <p:cNvPr id="53250" name="Picture 2">
            <a:extLst>
              <a:ext uri="{FF2B5EF4-FFF2-40B4-BE49-F238E27FC236}">
                <a16:creationId xmlns:a16="http://schemas.microsoft.com/office/drawing/2014/main" id="{72B79220-489D-8B44-915A-A0CB711F45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96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A9307633-1673-6B4D-A592-26DD6E6CC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43100" y="1257300"/>
            <a:ext cx="60579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F8FF7269-D060-FA43-8F14-FD08055F51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0928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9E03919B-98A5-D94B-B27E-07C533BDB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7350" y="1314450"/>
            <a:ext cx="634365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BF804A59-0DC6-4C49-9A84-75908F9241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821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84BAB259-8160-4245-A584-788E9D1D4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7350" y="1314450"/>
            <a:ext cx="634365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59394" name="Picture 2">
            <a:extLst>
              <a:ext uri="{FF2B5EF4-FFF2-40B4-BE49-F238E27FC236}">
                <a16:creationId xmlns:a16="http://schemas.microsoft.com/office/drawing/2014/main" id="{0887C3D6-9D12-C947-9DD7-9587720E8D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396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3CC45615-4F97-7C41-A116-1CCC7626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7350" y="1314450"/>
            <a:ext cx="634365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41658703-6BDB-3B48-8B6D-ED39CA3F31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18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16A6-4D3B-450D-9593-B682118B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Quiz#4  Convolute the following 256x256 image with a 3x3 averaging mask:</a:t>
            </a:r>
            <a:endParaRPr lang="tr-T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E5735-CD87-4708-BDD9-EA8BF23F9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𝑓𝑜𝑟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𝑎𝑙𝑙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∈[0,128]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𝑓𝑜𝑟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𝑎𝑙𝑙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𝑎𝑛𝑑𝑥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    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E5735-CD87-4708-BDD9-EA8BF23F9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91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E054-BF03-1745-B6F2-FB5D0AB1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08ED7-C245-BF42-B02A-2A0B5B1A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Smoothing Filters</a:t>
            </a:r>
          </a:p>
          <a:p>
            <a:pPr lvl="1"/>
            <a:r>
              <a:rPr lang="en-US" dirty="0"/>
              <a:t>Averaging filters</a:t>
            </a:r>
          </a:p>
          <a:p>
            <a:pPr lvl="1"/>
            <a:r>
              <a:rPr lang="en-US" dirty="0"/>
              <a:t>Gaussian filters</a:t>
            </a:r>
          </a:p>
          <a:p>
            <a:pPr lvl="1"/>
            <a:r>
              <a:rPr lang="en-US" dirty="0"/>
              <a:t>Median Filters</a:t>
            </a:r>
          </a:p>
          <a:p>
            <a:r>
              <a:rPr lang="en-US" dirty="0"/>
              <a:t>2. Sharpening Filters</a:t>
            </a:r>
          </a:p>
          <a:p>
            <a:pPr lvl="1"/>
            <a:r>
              <a:rPr lang="en-US" dirty="0"/>
              <a:t>Roberts</a:t>
            </a:r>
          </a:p>
          <a:p>
            <a:pPr lvl="1"/>
            <a:r>
              <a:rPr lang="en-US" dirty="0"/>
              <a:t>Prewitt</a:t>
            </a:r>
          </a:p>
          <a:p>
            <a:pPr lvl="1"/>
            <a:r>
              <a:rPr lang="en-US" dirty="0"/>
              <a:t>Sobel</a:t>
            </a:r>
          </a:p>
          <a:p>
            <a:pPr lvl="1"/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556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E4E67F2-3287-254D-B173-88B2E7E3C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1.1. Smoothing Filters: Averaging</a:t>
            </a:r>
          </a:p>
        </p:txBody>
      </p:sp>
      <p:pic>
        <p:nvPicPr>
          <p:cNvPr id="73730" name="Picture 4" descr="gonzalez_p192">
            <a:extLst>
              <a:ext uri="{FF2B5EF4-FFF2-40B4-BE49-F238E27FC236}">
                <a16:creationId xmlns:a16="http://schemas.microsoft.com/office/drawing/2014/main" id="{D93D249B-E92E-1D4F-872C-C78AC129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45819" r="11029"/>
          <a:stretch>
            <a:fillRect/>
          </a:stretch>
        </p:blipFill>
        <p:spPr bwMode="auto">
          <a:xfrm>
            <a:off x="5394722" y="3799285"/>
            <a:ext cx="2628816" cy="228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5" descr="gonzalez_p192">
            <a:extLst>
              <a:ext uri="{FF2B5EF4-FFF2-40B4-BE49-F238E27FC236}">
                <a16:creationId xmlns:a16="http://schemas.microsoft.com/office/drawing/2014/main" id="{EEAD87F3-3CD9-074A-A7AE-9E6BEC336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0" r="57739" b="61513"/>
          <a:stretch>
            <a:fillRect/>
          </a:stretch>
        </p:blipFill>
        <p:spPr bwMode="auto">
          <a:xfrm>
            <a:off x="628650" y="4343855"/>
            <a:ext cx="1668789" cy="149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Picture 6" descr="gonzalez_p192">
            <a:extLst>
              <a:ext uri="{FF2B5EF4-FFF2-40B4-BE49-F238E27FC236}">
                <a16:creationId xmlns:a16="http://schemas.microsoft.com/office/drawing/2014/main" id="{DF8FEAA2-DC12-C048-8252-68A080587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61" b="57848"/>
          <a:stretch>
            <a:fillRect/>
          </a:stretch>
        </p:blipFill>
        <p:spPr bwMode="auto">
          <a:xfrm>
            <a:off x="2886003" y="3970734"/>
            <a:ext cx="2106290" cy="186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Text Box 9">
            <a:extLst>
              <a:ext uri="{FF2B5EF4-FFF2-40B4-BE49-F238E27FC236}">
                <a16:creationId xmlns:a16="http://schemas.microsoft.com/office/drawing/2014/main" id="{6B21F797-D906-9141-A73F-1D5AB8DB7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67" y="1231106"/>
            <a:ext cx="7253652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kumimoji="1" lang="en-US" altLang="tr-TR" sz="2800" dirty="0"/>
              <a:t> </a:t>
            </a:r>
            <a:r>
              <a:rPr kumimoji="1" lang="en-US" altLang="tr-TR" b="1" dirty="0">
                <a:latin typeface="+mj-lt"/>
              </a:rPr>
              <a:t>Idea: R</a:t>
            </a:r>
            <a:r>
              <a:rPr kumimoji="1" lang="en-US" altLang="tr-TR" dirty="0">
                <a:latin typeface="+mj-lt"/>
              </a:rPr>
              <a:t>eplace each pixel by the average of its </a:t>
            </a:r>
            <a:r>
              <a:rPr kumimoji="1" lang="en-US" altLang="tr-TR" dirty="0">
                <a:solidFill>
                  <a:srgbClr val="FF0000"/>
                </a:solidFill>
                <a:latin typeface="+mj-lt"/>
              </a:rPr>
              <a:t>neighbors.</a:t>
            </a:r>
          </a:p>
          <a:p>
            <a:pPr>
              <a:buFontTx/>
              <a:buChar char="•"/>
            </a:pPr>
            <a:r>
              <a:rPr kumimoji="1" lang="en-US" altLang="tr-TR" dirty="0">
                <a:latin typeface="+mj-lt"/>
              </a:rPr>
              <a:t> Useful for reducing noise and unimportant details.</a:t>
            </a:r>
          </a:p>
          <a:p>
            <a:pPr>
              <a:buFontTx/>
              <a:buChar char="•"/>
            </a:pPr>
            <a:r>
              <a:rPr kumimoji="1" lang="en-US" altLang="tr-TR" dirty="0">
                <a:latin typeface="+mj-lt"/>
              </a:rPr>
              <a:t>The size of the mask controls the amount of smoothing.</a:t>
            </a:r>
          </a:p>
        </p:txBody>
      </p:sp>
    </p:spTree>
    <p:extLst>
      <p:ext uri="{BB962C8B-B14F-4D97-AF65-F5344CB8AC3E}">
        <p14:creationId xmlns:p14="http://schemas.microsoft.com/office/powerpoint/2010/main" val="1173344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E71223A9-4683-ED4C-846B-BC58BA52C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449865"/>
            <a:ext cx="8229600" cy="8369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 dirty="0"/>
              <a:t>Output of Averaging filters: </a:t>
            </a:r>
            <a:r>
              <a:rPr lang="en-US" sz="3600" dirty="0"/>
              <a:t>Removes noise while blurs.</a:t>
            </a:r>
            <a:br>
              <a:rPr lang="en-US" sz="3600" dirty="0"/>
            </a:br>
            <a:endParaRPr lang="en-US" altLang="tr-TR" dirty="0"/>
          </a:p>
        </p:txBody>
      </p:sp>
      <p:pic>
        <p:nvPicPr>
          <p:cNvPr id="75779" name="Picture 4" descr="gonzalez_p193">
            <a:extLst>
              <a:ext uri="{FF2B5EF4-FFF2-40B4-BE49-F238E27FC236}">
                <a16:creationId xmlns:a16="http://schemas.microsoft.com/office/drawing/2014/main" id="{8B962182-B118-114E-9A33-949CB2555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35638" r="4167" b="31686"/>
          <a:stretch>
            <a:fillRect/>
          </a:stretch>
        </p:blipFill>
        <p:spPr bwMode="auto">
          <a:xfrm>
            <a:off x="4802434" y="2301022"/>
            <a:ext cx="3667146" cy="1838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5" descr="gonzalez_p193">
            <a:extLst>
              <a:ext uri="{FF2B5EF4-FFF2-40B4-BE49-F238E27FC236}">
                <a16:creationId xmlns:a16="http://schemas.microsoft.com/office/drawing/2014/main" id="{D2C91B29-0C65-A940-876B-F2D9CABFC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" t="1546" r="4256" b="63834"/>
          <a:stretch>
            <a:fillRect/>
          </a:stretch>
        </p:blipFill>
        <p:spPr bwMode="auto">
          <a:xfrm>
            <a:off x="888642" y="2222441"/>
            <a:ext cx="3626208" cy="188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1" name="Picture 6" descr="gonzalez_p193">
            <a:extLst>
              <a:ext uri="{FF2B5EF4-FFF2-40B4-BE49-F238E27FC236}">
                <a16:creationId xmlns:a16="http://schemas.microsoft.com/office/drawing/2014/main" id="{9AE78916-2C23-B84F-AC46-84316985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" t="68314" r="4082"/>
          <a:stretch>
            <a:fillRect/>
          </a:stretch>
        </p:blipFill>
        <p:spPr bwMode="auto">
          <a:xfrm>
            <a:off x="2488184" y="4695170"/>
            <a:ext cx="3804123" cy="184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Text Box 7">
            <a:extLst>
              <a:ext uri="{FF2B5EF4-FFF2-40B4-BE49-F238E27FC236}">
                <a16:creationId xmlns:a16="http://schemas.microsoft.com/office/drawing/2014/main" id="{7A46950B-7EDC-D842-8FE8-F6234075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224" y="1667075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3x3</a:t>
            </a:r>
          </a:p>
        </p:txBody>
      </p:sp>
      <p:sp>
        <p:nvSpPr>
          <p:cNvPr id="75783" name="Text Box 8">
            <a:extLst>
              <a:ext uri="{FF2B5EF4-FFF2-40B4-BE49-F238E27FC236}">
                <a16:creationId xmlns:a16="http://schemas.microsoft.com/office/drawing/2014/main" id="{505E47FF-2C7A-7E4C-865C-EE9FF6C8B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503" y="1667075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5x5</a:t>
            </a:r>
          </a:p>
        </p:txBody>
      </p:sp>
      <p:sp>
        <p:nvSpPr>
          <p:cNvPr id="75784" name="Text Box 9">
            <a:extLst>
              <a:ext uri="{FF2B5EF4-FFF2-40B4-BE49-F238E27FC236}">
                <a16:creationId xmlns:a16="http://schemas.microsoft.com/office/drawing/2014/main" id="{72E5716B-0127-0E44-9EB0-BA190E9EF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782" y="1745656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7x7</a:t>
            </a:r>
          </a:p>
        </p:txBody>
      </p:sp>
      <p:sp>
        <p:nvSpPr>
          <p:cNvPr id="75785" name="Text Box 10">
            <a:extLst>
              <a:ext uri="{FF2B5EF4-FFF2-40B4-BE49-F238E27FC236}">
                <a16:creationId xmlns:a16="http://schemas.microsoft.com/office/drawing/2014/main" id="{7D7D94D1-FC9D-0640-9FDC-207FB2243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958" y="4186818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15x15</a:t>
            </a:r>
          </a:p>
        </p:txBody>
      </p:sp>
      <p:sp>
        <p:nvSpPr>
          <p:cNvPr id="75786" name="Text Box 11">
            <a:extLst>
              <a:ext uri="{FF2B5EF4-FFF2-40B4-BE49-F238E27FC236}">
                <a16:creationId xmlns:a16="http://schemas.microsoft.com/office/drawing/2014/main" id="{465B510C-683A-2D49-B91E-F294641E3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171950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/>
              <a:t>25x25</a:t>
            </a:r>
          </a:p>
        </p:txBody>
      </p:sp>
      <p:sp>
        <p:nvSpPr>
          <p:cNvPr id="75787" name="Text Box 12">
            <a:extLst>
              <a:ext uri="{FF2B5EF4-FFF2-40B4-BE49-F238E27FC236}">
                <a16:creationId xmlns:a16="http://schemas.microsoft.com/office/drawing/2014/main" id="{93BA8A92-9DEB-4849-A776-AAAED14E5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468" y="1699221"/>
            <a:ext cx="13003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2584643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>
            <a:extLst>
              <a:ext uri="{FF2B5EF4-FFF2-40B4-BE49-F238E27FC236}">
                <a16:creationId xmlns:a16="http://schemas.microsoft.com/office/drawing/2014/main" id="{B5EC5C26-4526-884D-9240-F8E448458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422" y="1100327"/>
            <a:ext cx="3737832" cy="556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82E9EE-C221-984C-8505-39701F47D247}"/>
              </a:ext>
            </a:extLst>
          </p:cNvPr>
          <p:cNvSpPr txBox="1"/>
          <p:nvPr/>
        </p:nvSpPr>
        <p:spPr>
          <a:xfrm>
            <a:off x="803190" y="493812"/>
            <a:ext cx="809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Averaging with a filter size 3x3, 5x5, 9x9, 15x15, 35x35</a:t>
            </a:r>
          </a:p>
        </p:txBody>
      </p:sp>
    </p:spTree>
    <p:extLst>
      <p:ext uri="{BB962C8B-B14F-4D97-AF65-F5344CB8AC3E}">
        <p14:creationId xmlns:p14="http://schemas.microsoft.com/office/powerpoint/2010/main" val="4062627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90F9CFB0-4D5C-0D45-8598-19F0EB223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22" y="2395470"/>
            <a:ext cx="8187525" cy="294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31280606-C622-1341-80F3-0FDE2EF2C542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485900" y="989411"/>
            <a:ext cx="6172200" cy="854869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tr-TR" sz="2800" kern="0" dirty="0"/>
              <a:t>Image enhancement with averaging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3826ED0B-AD4F-9C43-892A-D45EB7EE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641666"/>
            <a:ext cx="6362700" cy="65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588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1.2.Gaussian Filters for Smoothing</a:t>
            </a: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5D00398-B7F0-4BD6-A862-6F7762B1B5D5}" type="slidenum">
              <a:rPr lang="en-US" smtClean="0">
                <a:solidFill>
                  <a:srgbClr val="003366"/>
                </a:solidFill>
              </a:rPr>
              <a:pPr/>
              <a:t>28</a:t>
            </a:fld>
            <a:endParaRPr lang="en-US" dirty="0">
              <a:solidFill>
                <a:srgbClr val="003366"/>
              </a:solidFill>
            </a:endParaRPr>
          </a:p>
        </p:txBody>
      </p:sp>
      <p:pic>
        <p:nvPicPr>
          <p:cNvPr id="2458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725613"/>
            <a:ext cx="4714875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45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r="1645"/>
          <a:stretch>
            <a:fillRect/>
          </a:stretch>
        </p:blipFill>
        <p:spPr bwMode="auto">
          <a:xfrm>
            <a:off x="4572000" y="2205038"/>
            <a:ext cx="4321175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5292725" y="3429000"/>
            <a:ext cx="31892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sz="2000">
                <a:solidFill>
                  <a:srgbClr val="003366"/>
                </a:solidFill>
              </a:rPr>
              <a:t>A weighted average that weighs pixels at its center much more strongly than its boundaries.</a:t>
            </a:r>
            <a:endParaRPr lang="en-US" sz="2000">
              <a:solidFill>
                <a:srgbClr val="003366"/>
              </a:solidFill>
            </a:endParaRP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1116013" y="5373688"/>
            <a:ext cx="378488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800" dirty="0">
                <a:solidFill>
                  <a:srgbClr val="003366"/>
                </a:solidFill>
              </a:rPr>
              <a:t>2D Gaussian filter.</a:t>
            </a:r>
          </a:p>
          <a:p>
            <a:r>
              <a:rPr lang="en-US" sz="2800" b="1" dirty="0">
                <a:solidFill>
                  <a:srgbClr val="003366"/>
                </a:solidFill>
                <a:latin typeface="Symbol" pitchFamily="2" charset="2"/>
              </a:rPr>
              <a:t>s</a:t>
            </a:r>
            <a:r>
              <a:rPr lang="en-US" sz="2800" dirty="0">
                <a:solidFill>
                  <a:srgbClr val="003366"/>
                </a:solidFill>
              </a:rPr>
              <a:t> is standard deviation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5427663" y="61658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>
                <a:solidFill>
                  <a:srgbClr val="003366"/>
                </a:solidFill>
              </a:rPr>
              <a:t>Adapted from Martial Hebert, CMU</a:t>
            </a:r>
            <a:endParaRPr lang="en-US" sz="120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770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14DB-AFDE-4C43-9FDF-4B7B59F8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sample and quantize the Gaussian function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AC0E187-B2FC-4943-88F1-255F54A07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725613"/>
            <a:ext cx="4007857" cy="305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B935AC2B-54CE-0749-9B08-A77F0CAB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930" y="1977091"/>
            <a:ext cx="2572420" cy="28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B9BD5384-5325-1B4B-B2D2-183E3FEF5796}"/>
              </a:ext>
            </a:extLst>
          </p:cNvPr>
          <p:cNvSpPr/>
          <p:nvPr/>
        </p:nvSpPr>
        <p:spPr>
          <a:xfrm>
            <a:off x="4572000" y="3251837"/>
            <a:ext cx="1287887" cy="1481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65F09-6371-C441-B37A-271E3EEB887F}"/>
              </a:ext>
            </a:extLst>
          </p:cNvPr>
          <p:cNvSpPr/>
          <p:nvPr/>
        </p:nvSpPr>
        <p:spPr>
          <a:xfrm>
            <a:off x="4184070" y="2420840"/>
            <a:ext cx="21465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sample and quantize </a:t>
            </a:r>
          </a:p>
        </p:txBody>
      </p:sp>
    </p:spTree>
    <p:extLst>
      <p:ext uri="{BB962C8B-B14F-4D97-AF65-F5344CB8AC3E}">
        <p14:creationId xmlns:p14="http://schemas.microsoft.com/office/powerpoint/2010/main" val="1266641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BBA50F15-831A-6148-BF53-04B483E8C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1.2. Sampling and quantization of the filter</a:t>
            </a:r>
          </a:p>
        </p:txBody>
      </p:sp>
      <p:pic>
        <p:nvPicPr>
          <p:cNvPr id="79874" name="Picture 5">
            <a:extLst>
              <a:ext uri="{FF2B5EF4-FFF2-40B4-BE49-F238E27FC236}">
                <a16:creationId xmlns:a16="http://schemas.microsoft.com/office/drawing/2014/main" id="{9360C648-31DA-C447-8A5A-29570EDF0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019" y="3387555"/>
            <a:ext cx="3886200" cy="306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9876" name="Picture 4">
            <a:extLst>
              <a:ext uri="{FF2B5EF4-FFF2-40B4-BE49-F238E27FC236}">
                <a16:creationId xmlns:a16="http://schemas.microsoft.com/office/drawing/2014/main" id="{318558C4-4D54-A04C-92C9-64AE24AEE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5" y="3055383"/>
            <a:ext cx="3638149" cy="31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Text Box 12">
            <a:extLst>
              <a:ext uri="{FF2B5EF4-FFF2-40B4-BE49-F238E27FC236}">
                <a16:creationId xmlns:a16="http://schemas.microsoft.com/office/drawing/2014/main" id="{73E0320C-9E50-C240-9866-69B2EF452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371540"/>
            <a:ext cx="788669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dirty="0">
                <a:latin typeface="+mn-lt"/>
              </a:rPr>
              <a:t>Depends 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tr-TR" dirty="0">
                <a:latin typeface="+mn-lt"/>
              </a:rPr>
              <a:t>Allowable mask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tr-TR" dirty="0" err="1">
                <a:latin typeface="+mn-lt"/>
              </a:rPr>
              <a:t>Standart</a:t>
            </a:r>
            <a:r>
              <a:rPr kumimoji="1" lang="en-US" altLang="tr-TR" dirty="0">
                <a:latin typeface="+mn-lt"/>
              </a:rPr>
              <a:t> deviation </a:t>
            </a:r>
            <a:r>
              <a:rPr kumimoji="1" lang="el-GR" altLang="tr-TR" b="1" dirty="0">
                <a:latin typeface="+mn-lt"/>
                <a:cs typeface="Times New Roman" panose="02020603050405020304" pitchFamily="18" charset="0"/>
              </a:rPr>
              <a:t>σ </a:t>
            </a:r>
            <a:r>
              <a:rPr kumimoji="1" lang="en-US" altLang="tr-TR" b="1" dirty="0">
                <a:latin typeface="+mn-lt"/>
                <a:cs typeface="Times New Roman" panose="02020603050405020304" pitchFamily="18" charset="0"/>
              </a:rPr>
              <a:t>, which determines the degree of smoothing</a:t>
            </a:r>
            <a:endParaRPr kumimoji="1" lang="en-US" altLang="tr-TR" dirty="0">
              <a:latin typeface="+mn-lt"/>
            </a:endParaRPr>
          </a:p>
        </p:txBody>
      </p:sp>
      <p:sp>
        <p:nvSpPr>
          <p:cNvPr id="79879" name="Rectangle 1">
            <a:extLst>
              <a:ext uri="{FF2B5EF4-FFF2-40B4-BE49-F238E27FC236}">
                <a16:creationId xmlns:a16="http://schemas.microsoft.com/office/drawing/2014/main" id="{BF03B9B6-7B65-D84B-B7E1-5BB2BD459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3047" y="2793773"/>
            <a:ext cx="7601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l-GR" altLang="tr-TR" sz="2800" dirty="0">
                <a:cs typeface="Times New Roman" panose="02020603050405020304" pitchFamily="18" charset="0"/>
              </a:rPr>
              <a:t>σ</a:t>
            </a:r>
            <a:r>
              <a:rPr kumimoji="1" lang="en-US" altLang="tr-TR" sz="2800" dirty="0">
                <a:cs typeface="Times New Roman" panose="02020603050405020304" pitchFamily="18" charset="0"/>
              </a:rPr>
              <a:t>=3</a:t>
            </a:r>
            <a:endParaRPr kumimoji="1" lang="en-US" altLang="tr-TR" sz="2800" dirty="0"/>
          </a:p>
        </p:txBody>
      </p:sp>
    </p:spTree>
    <p:extLst>
      <p:ext uri="{BB962C8B-B14F-4D97-AF65-F5344CB8AC3E}">
        <p14:creationId xmlns:p14="http://schemas.microsoft.com/office/powerpoint/2010/main" val="2594054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E9B4922A-B04A-3945-A1C9-F691193D4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1.2. Gaussian Filters for Smoothing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A66DB9DE-A64D-ED45-8DD3-79C0499B0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1" y="1087395"/>
            <a:ext cx="8280572" cy="46276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2400" b="1" dirty="0"/>
              <a:t>Idea: </a:t>
            </a:r>
            <a:r>
              <a:rPr lang="en-US" altLang="tr-TR" sz="2400" dirty="0"/>
              <a:t>replace each pixel by a weighted average of its neighbors </a:t>
            </a:r>
          </a:p>
          <a:p>
            <a:r>
              <a:rPr lang="en-US" altLang="tr-TR" sz="2400" dirty="0"/>
              <a:t>Mask weights are computed by sampling a Gaussian function</a:t>
            </a:r>
          </a:p>
          <a:p>
            <a:endParaRPr lang="en-US" altLang="tr-TR" dirty="0"/>
          </a:p>
          <a:p>
            <a:endParaRPr lang="en-US" altLang="tr-TR" dirty="0"/>
          </a:p>
          <a:p>
            <a:endParaRPr lang="en-US" altLang="tr-TR" dirty="0"/>
          </a:p>
          <a:p>
            <a:endParaRPr lang="en-US" altLang="tr-TR" dirty="0"/>
          </a:p>
        </p:txBody>
      </p:sp>
      <p:pic>
        <p:nvPicPr>
          <p:cNvPr id="77828" name="Picture 7">
            <a:extLst>
              <a:ext uri="{FF2B5EF4-FFF2-40B4-BE49-F238E27FC236}">
                <a16:creationId xmlns:a16="http://schemas.microsoft.com/office/drawing/2014/main" id="{389C3F63-C2B1-5B4D-B512-DEF931955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03" y="3520679"/>
            <a:ext cx="188952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7829" name="Picture 4">
            <a:extLst>
              <a:ext uri="{FF2B5EF4-FFF2-40B4-BE49-F238E27FC236}">
                <a16:creationId xmlns:a16="http://schemas.microsoft.com/office/drawing/2014/main" id="{C321FC1A-7D2C-6841-BD50-F0123FD4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" t="12544" r="36736" b="64525"/>
          <a:stretch>
            <a:fillRect/>
          </a:stretch>
        </p:blipFill>
        <p:spPr bwMode="auto">
          <a:xfrm>
            <a:off x="1457511" y="3076752"/>
            <a:ext cx="2737247" cy="648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Rectangle 1">
            <a:extLst>
              <a:ext uri="{FF2B5EF4-FFF2-40B4-BE49-F238E27FC236}">
                <a16:creationId xmlns:a16="http://schemas.microsoft.com/office/drawing/2014/main" id="{01663D9D-2CBB-C84C-99C4-A2856238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632" y="5526228"/>
            <a:ext cx="46684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b="1" dirty="0">
                <a:latin typeface="+mj-lt"/>
              </a:rPr>
              <a:t>Note: </a:t>
            </a:r>
            <a:r>
              <a:rPr kumimoji="1" lang="en-US" altLang="tr-TR" dirty="0">
                <a:latin typeface="+mj-lt"/>
              </a:rPr>
              <a:t>weight values decrease with distance from mask center!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27FD29F-1037-2145-9344-AA22F859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45" y="4179095"/>
            <a:ext cx="3436368" cy="2617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3420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C2967B20-9C3F-F041-89AD-8FB13A168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1.2. Gaussian Smoothing - Example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A4E92C3C-58BB-394B-B48A-5D701E87AF0B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2457450"/>
            <a:ext cx="1467421" cy="2541402"/>
            <a:chOff x="7276797" y="2133600"/>
            <a:chExt cx="1956837" cy="3387959"/>
          </a:xfrm>
        </p:grpSpPr>
        <p:grpSp>
          <p:nvGrpSpPr>
            <p:cNvPr id="83990" name="Group 27">
              <a:extLst>
                <a:ext uri="{FF2B5EF4-FFF2-40B4-BE49-F238E27FC236}">
                  <a16:creationId xmlns:a16="http://schemas.microsoft.com/office/drawing/2014/main" id="{5C2D9AC2-72B8-344D-B02C-A79053560E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9531" y="4370614"/>
              <a:ext cx="1804103" cy="1150945"/>
              <a:chOff x="7429531" y="4675414"/>
              <a:chExt cx="1804103" cy="1150945"/>
            </a:xfrm>
          </p:grpSpPr>
          <p:pic>
            <p:nvPicPr>
              <p:cNvPr id="83992" name="Picture 6" descr="C:\snavely\work\teaching\10Fa-CS4670\lectures\lec02\g30.png">
                <a:extLst>
                  <a:ext uri="{FF2B5EF4-FFF2-40B4-BE49-F238E27FC236}">
                    <a16:creationId xmlns:a16="http://schemas.microsoft.com/office/drawing/2014/main" id="{73F9A681-62D6-E645-B4F0-C5F1CA90C1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8728" y="467541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93" name="Picture 18" descr="Edittex">
                <a:extLst>
                  <a:ext uri="{FF2B5EF4-FFF2-40B4-BE49-F238E27FC236}">
                    <a16:creationId xmlns:a16="http://schemas.microsoft.com/office/drawing/2014/main" id="{8C37B391-75C0-8A46-B43B-7B3F50BEB73D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9531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94" name="TextBox 19">
                <a:extLst>
                  <a:ext uri="{FF2B5EF4-FFF2-40B4-BE49-F238E27FC236}">
                    <a16:creationId xmlns:a16="http://schemas.microsoft.com/office/drawing/2014/main" id="{EF02DC3E-A2CB-4542-8387-2CE72A4B2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6570" y="5334000"/>
                <a:ext cx="1577064" cy="492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30 pixels</a:t>
                </a:r>
              </a:p>
            </p:txBody>
          </p:sp>
        </p:grpSp>
        <p:pic>
          <p:nvPicPr>
            <p:cNvPr id="83991" name="Picture 11" descr="C:\snavely\work\teaching\10Fa-CS4670\lectures\lec02\owl30.png">
              <a:extLst>
                <a:ext uri="{FF2B5EF4-FFF2-40B4-BE49-F238E27FC236}">
                  <a16:creationId xmlns:a16="http://schemas.microsoft.com/office/drawing/2014/main" id="{72A58777-E869-FE4D-9B1A-F73AE38B38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6797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3971" name="Picture 12" descr="C:\snavely\work\teaching\10Fa-CS4670\lectures\lec02\owl.png">
            <a:extLst>
              <a:ext uri="{FF2B5EF4-FFF2-40B4-BE49-F238E27FC236}">
                <a16:creationId xmlns:a16="http://schemas.microsoft.com/office/drawing/2014/main" id="{0B00B79A-C043-5B42-A6F9-C5874B7C1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972" y="2457451"/>
            <a:ext cx="1227534" cy="1537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3">
            <a:extLst>
              <a:ext uri="{FF2B5EF4-FFF2-40B4-BE49-F238E27FC236}">
                <a16:creationId xmlns:a16="http://schemas.microsoft.com/office/drawing/2014/main" id="{1296EE9A-A73B-0845-A906-22AF035DEE93}"/>
              </a:ext>
            </a:extLst>
          </p:cNvPr>
          <p:cNvGrpSpPr>
            <a:grpSpLocks/>
          </p:cNvGrpSpPr>
          <p:nvPr/>
        </p:nvGrpSpPr>
        <p:grpSpPr bwMode="auto">
          <a:xfrm>
            <a:off x="2624138" y="2457451"/>
            <a:ext cx="1305312" cy="2541401"/>
            <a:chOff x="1975565" y="2133600"/>
            <a:chExt cx="1738976" cy="3387958"/>
          </a:xfrm>
        </p:grpSpPr>
        <p:grpSp>
          <p:nvGrpSpPr>
            <p:cNvPr id="83985" name="Group 24">
              <a:extLst>
                <a:ext uri="{FF2B5EF4-FFF2-40B4-BE49-F238E27FC236}">
                  <a16:creationId xmlns:a16="http://schemas.microsoft.com/office/drawing/2014/main" id="{6D3B3EF6-E077-CA46-A5BA-1C0135D72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4351564"/>
              <a:ext cx="1504741" cy="1169994"/>
              <a:chOff x="2209800" y="4656364"/>
              <a:chExt cx="1504741" cy="1169994"/>
            </a:xfrm>
          </p:grpSpPr>
          <p:pic>
            <p:nvPicPr>
              <p:cNvPr id="83987" name="Picture 3" descr="C:\snavely\work\teaching\10Fa-CS4670\lectures\lec02\g1.png">
                <a:extLst>
                  <a:ext uri="{FF2B5EF4-FFF2-40B4-BE49-F238E27FC236}">
                    <a16:creationId xmlns:a16="http://schemas.microsoft.com/office/drawing/2014/main" id="{AABC8116-2BE2-5041-94A6-3D751B55AD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65614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88" name="Picture 14" descr="Edittex">
                <a:extLst>
                  <a:ext uri="{FF2B5EF4-FFF2-40B4-BE49-F238E27FC236}">
                    <a16:creationId xmlns:a16="http://schemas.microsoft.com/office/drawing/2014/main" id="{EECEC3A4-B4F5-D545-830E-602B25D2DA2F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3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9800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89" name="TextBox 13">
                <a:extLst>
                  <a:ext uri="{FF2B5EF4-FFF2-40B4-BE49-F238E27FC236}">
                    <a16:creationId xmlns:a16="http://schemas.microsoft.com/office/drawing/2014/main" id="{6D800E2B-EA88-FD49-B50D-06AFCE1DAB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6629" y="5334000"/>
                <a:ext cx="1297912" cy="492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1 pixel</a:t>
                </a:r>
              </a:p>
            </p:txBody>
          </p:sp>
        </p:grpSp>
        <p:pic>
          <p:nvPicPr>
            <p:cNvPr id="83986" name="Picture 13" descr="C:\snavely\work\teaching\10Fa-CS4670\lectures\lec02\owl1.png">
              <a:extLst>
                <a:ext uri="{FF2B5EF4-FFF2-40B4-BE49-F238E27FC236}">
                  <a16:creationId xmlns:a16="http://schemas.microsoft.com/office/drawing/2014/main" id="{4E4B3C6C-0C49-704F-B196-B269366E26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5565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34">
            <a:extLst>
              <a:ext uri="{FF2B5EF4-FFF2-40B4-BE49-F238E27FC236}">
                <a16:creationId xmlns:a16="http://schemas.microsoft.com/office/drawing/2014/main" id="{955AB334-3BA6-0E4C-9167-B011B0258585}"/>
              </a:ext>
            </a:extLst>
          </p:cNvPr>
          <p:cNvGrpSpPr>
            <a:grpSpLocks/>
          </p:cNvGrpSpPr>
          <p:nvPr/>
        </p:nvGrpSpPr>
        <p:grpSpPr bwMode="auto">
          <a:xfrm>
            <a:off x="3950495" y="2457451"/>
            <a:ext cx="1355786" cy="2549783"/>
            <a:chOff x="3742643" y="2133600"/>
            <a:chExt cx="1807969" cy="3399711"/>
          </a:xfrm>
        </p:grpSpPr>
        <p:grpSp>
          <p:nvGrpSpPr>
            <p:cNvPr id="83980" name="Group 25">
              <a:extLst>
                <a:ext uri="{FF2B5EF4-FFF2-40B4-BE49-F238E27FC236}">
                  <a16:creationId xmlns:a16="http://schemas.microsoft.com/office/drawing/2014/main" id="{E0B97205-9AB2-494E-A17E-41644CE7A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2557" y="4351564"/>
              <a:ext cx="1648055" cy="1181747"/>
              <a:chOff x="3902557" y="4656364"/>
              <a:chExt cx="1648055" cy="1181747"/>
            </a:xfrm>
          </p:grpSpPr>
          <p:pic>
            <p:nvPicPr>
              <p:cNvPr id="83982" name="Picture 4" descr="C:\snavely\work\teaching\10Fa-CS4670\lectures\lec02\g5.png">
                <a:extLst>
                  <a:ext uri="{FF2B5EF4-FFF2-40B4-BE49-F238E27FC236}">
                    <a16:creationId xmlns:a16="http://schemas.microsoft.com/office/drawing/2014/main" id="{9EC97BB9-5900-4449-B190-3233BCB50D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4540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83" name="Picture 14" descr="Edittex">
                <a:extLst>
                  <a:ext uri="{FF2B5EF4-FFF2-40B4-BE49-F238E27FC236}">
                    <a16:creationId xmlns:a16="http://schemas.microsoft.com/office/drawing/2014/main" id="{4FD38F7C-04AC-AE4D-B776-4A841837481B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2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2557" y="5431972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84" name="TextBox 15">
                <a:extLst>
                  <a:ext uri="{FF2B5EF4-FFF2-40B4-BE49-F238E27FC236}">
                    <a16:creationId xmlns:a16="http://schemas.microsoft.com/office/drawing/2014/main" id="{95F50D36-0D6F-C345-87E4-83AB20AB6D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9594" y="5345668"/>
                <a:ext cx="142101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5 pixels</a:t>
                </a:r>
              </a:p>
            </p:txBody>
          </p:sp>
        </p:grpSp>
        <p:pic>
          <p:nvPicPr>
            <p:cNvPr id="83981" name="Picture 14" descr="C:\snavely\work\teaching\10Fa-CS4670\lectures\lec02\owl5.png">
              <a:extLst>
                <a:ext uri="{FF2B5EF4-FFF2-40B4-BE49-F238E27FC236}">
                  <a16:creationId xmlns:a16="http://schemas.microsoft.com/office/drawing/2014/main" id="{3CC6E979-8358-D94A-833F-6B3B54169E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643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id="{BA3974B2-529E-9742-88A3-AED75084A51F}"/>
              </a:ext>
            </a:extLst>
          </p:cNvPr>
          <p:cNvGrpSpPr>
            <a:grpSpLocks/>
          </p:cNvGrpSpPr>
          <p:nvPr/>
        </p:nvGrpSpPr>
        <p:grpSpPr bwMode="auto">
          <a:xfrm>
            <a:off x="5275660" y="2457451"/>
            <a:ext cx="1441514" cy="2541401"/>
            <a:chOff x="5509721" y="2133600"/>
            <a:chExt cx="1922291" cy="3387958"/>
          </a:xfrm>
        </p:grpSpPr>
        <p:grpSp>
          <p:nvGrpSpPr>
            <p:cNvPr id="83975" name="Group 26">
              <a:extLst>
                <a:ext uri="{FF2B5EF4-FFF2-40B4-BE49-F238E27FC236}">
                  <a16:creationId xmlns:a16="http://schemas.microsoft.com/office/drawing/2014/main" id="{8320ABDC-E197-6C48-BAD1-2DE6ED07D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7910" y="4351564"/>
              <a:ext cx="1804102" cy="1169994"/>
              <a:chOff x="5627910" y="4656364"/>
              <a:chExt cx="1804102" cy="1169994"/>
            </a:xfrm>
          </p:grpSpPr>
          <p:pic>
            <p:nvPicPr>
              <p:cNvPr id="83977" name="Picture 5" descr="C:\snavely\work\teaching\10Fa-CS4670\lectures\lec02\g10.png">
                <a:extLst>
                  <a:ext uri="{FF2B5EF4-FFF2-40B4-BE49-F238E27FC236}">
                    <a16:creationId xmlns:a16="http://schemas.microsoft.com/office/drawing/2014/main" id="{CD281FCC-9DC4-0F4A-92C9-69061699A6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8024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78" name="Picture 16" descr="Edittex">
                <a:extLst>
                  <a:ext uri="{FF2B5EF4-FFF2-40B4-BE49-F238E27FC236}">
                    <a16:creationId xmlns:a16="http://schemas.microsoft.com/office/drawing/2014/main" id="{15B588B1-30AA-2446-9BFA-164A9713E196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27910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79" name="TextBox 17">
                <a:extLst>
                  <a:ext uri="{FF2B5EF4-FFF2-40B4-BE49-F238E27FC236}">
                    <a16:creationId xmlns:a16="http://schemas.microsoft.com/office/drawing/2014/main" id="{9466299E-2A70-F84A-802D-8B36F6A62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4947" y="5334000"/>
                <a:ext cx="1577065" cy="492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10 pixels</a:t>
                </a:r>
              </a:p>
            </p:txBody>
          </p:sp>
        </p:grpSp>
        <p:pic>
          <p:nvPicPr>
            <p:cNvPr id="83976" name="Picture 15" descr="C:\snavely\work\teaching\10Fa-CS4670\lectures\lec02\owl10.png">
              <a:extLst>
                <a:ext uri="{FF2B5EF4-FFF2-40B4-BE49-F238E27FC236}">
                  <a16:creationId xmlns:a16="http://schemas.microsoft.com/office/drawing/2014/main" id="{AD672A0C-506C-A340-A183-63C0097F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9721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390085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438B0D7D-A9E2-1844-A014-E61E5CCCD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72746" y="271849"/>
            <a:ext cx="6328205" cy="18165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Averaging vs Gaussian Smoothing</a:t>
            </a:r>
          </a:p>
        </p:txBody>
      </p:sp>
      <p:sp>
        <p:nvSpPr>
          <p:cNvPr id="84994" name="TextBox 3">
            <a:extLst>
              <a:ext uri="{FF2B5EF4-FFF2-40B4-BE49-F238E27FC236}">
                <a16:creationId xmlns:a16="http://schemas.microsoft.com/office/drawing/2014/main" id="{A33F34E1-4054-724F-9BF1-640D1A913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124" y="2827616"/>
            <a:ext cx="11421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 dirty="0"/>
              <a:t>Averaging</a:t>
            </a:r>
          </a:p>
        </p:txBody>
      </p:sp>
      <p:sp>
        <p:nvSpPr>
          <p:cNvPr id="84995" name="TextBox 6">
            <a:extLst>
              <a:ext uri="{FF2B5EF4-FFF2-40B4-BE49-F238E27FC236}">
                <a16:creationId xmlns:a16="http://schemas.microsoft.com/office/drawing/2014/main" id="{59288638-7F5B-0441-864D-9C4BB8F13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2245" y="4482466"/>
            <a:ext cx="10310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 dirty="0"/>
              <a:t>Gaussian</a:t>
            </a:r>
          </a:p>
        </p:txBody>
      </p:sp>
      <p:pic>
        <p:nvPicPr>
          <p:cNvPr id="84996" name="Picture 4">
            <a:extLst>
              <a:ext uri="{FF2B5EF4-FFF2-40B4-BE49-F238E27FC236}">
                <a16:creationId xmlns:a16="http://schemas.microsoft.com/office/drawing/2014/main" id="{FD1C1DB6-0EC3-5743-89F2-070203754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7" t="5943" r="9344" b="5702"/>
          <a:stretch>
            <a:fillRect/>
          </a:stretch>
        </p:blipFill>
        <p:spPr bwMode="auto">
          <a:xfrm>
            <a:off x="621407" y="2229513"/>
            <a:ext cx="2751723" cy="234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997" name="Picture 5">
            <a:extLst>
              <a:ext uri="{FF2B5EF4-FFF2-40B4-BE49-F238E27FC236}">
                <a16:creationId xmlns:a16="http://schemas.microsoft.com/office/drawing/2014/main" id="{7E4E0A04-54E5-744F-9C4B-91E4DAFAA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1" t="6430" r="10477" b="5945"/>
          <a:stretch>
            <a:fillRect/>
          </a:stretch>
        </p:blipFill>
        <p:spPr bwMode="auto">
          <a:xfrm>
            <a:off x="3670479" y="958050"/>
            <a:ext cx="3464417" cy="292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998" name="Picture 6">
            <a:extLst>
              <a:ext uri="{FF2B5EF4-FFF2-40B4-BE49-F238E27FC236}">
                <a16:creationId xmlns:a16="http://schemas.microsoft.com/office/drawing/2014/main" id="{D5F7DAC8-DD50-BB41-BC4F-09879EF8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" r="6551"/>
          <a:stretch>
            <a:fillRect/>
          </a:stretch>
        </p:blipFill>
        <p:spPr bwMode="auto">
          <a:xfrm>
            <a:off x="3670479" y="3876315"/>
            <a:ext cx="3464417" cy="2981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3768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53B7542A-3091-D040-8C3D-08D452A33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53792"/>
            <a:ext cx="8229600" cy="8638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1.3 Nonlinear Smoothing Filters: Median Filters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D548BD00-A9B5-2D42-BE45-D5D4FC594B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449294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2400" dirty="0"/>
              <a:t>Find a median value of a given neighborhood.</a:t>
            </a:r>
          </a:p>
          <a:p>
            <a:r>
              <a:rPr lang="en-US" altLang="tr-TR" sz="2400" dirty="0"/>
              <a:t>Assign a pixel the median value of its neighbors</a:t>
            </a:r>
          </a:p>
        </p:txBody>
      </p:sp>
      <p:graphicFrame>
        <p:nvGraphicFramePr>
          <p:cNvPr id="152624" name="Group 48">
            <a:extLst>
              <a:ext uri="{FF2B5EF4-FFF2-40B4-BE49-F238E27FC236}">
                <a16:creationId xmlns:a16="http://schemas.microsoft.com/office/drawing/2014/main" id="{2EFB15AD-DEB3-0041-B960-0435A46E835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848225" y="3419476"/>
          <a:ext cx="1114425" cy="1222773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603" name="Group 27">
            <a:extLst>
              <a:ext uri="{FF2B5EF4-FFF2-40B4-BE49-F238E27FC236}">
                <a16:creationId xmlns:a16="http://schemas.microsoft.com/office/drawing/2014/main" id="{B9F74DF0-3269-F24B-A05E-0088599936A5}"/>
              </a:ext>
            </a:extLst>
          </p:cNvPr>
          <p:cNvGraphicFramePr>
            <a:graphicFrameLocks noGrp="1"/>
          </p:cNvGraphicFramePr>
          <p:nvPr/>
        </p:nvGraphicFramePr>
        <p:xfrm>
          <a:off x="2676526" y="3438526"/>
          <a:ext cx="1102520" cy="1190627"/>
        </p:xfrm>
        <a:graphic>
          <a:graphicData uri="http://schemas.openxmlformats.org/drawingml/2006/table">
            <a:tbl>
              <a:tblPr/>
              <a:tblGrid>
                <a:gridCol w="36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4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175" name="Text Box 67">
            <a:extLst>
              <a:ext uri="{FF2B5EF4-FFF2-40B4-BE49-F238E27FC236}">
                <a16:creationId xmlns:a16="http://schemas.microsoft.com/office/drawing/2014/main" id="{D4F86761-4990-3347-B1DF-DEF9CF0DF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369" y="5126831"/>
            <a:ext cx="17427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tr-TR" sz="1800"/>
              <a:t>0 1 1 2 2 2 2 3 3 </a:t>
            </a:r>
          </a:p>
        </p:txBody>
      </p:sp>
      <p:sp>
        <p:nvSpPr>
          <p:cNvPr id="91176" name="Line 68">
            <a:extLst>
              <a:ext uri="{FF2B5EF4-FFF2-40B4-BE49-F238E27FC236}">
                <a16:creationId xmlns:a16="http://schemas.microsoft.com/office/drawing/2014/main" id="{64399F23-14CE-414C-A0D9-F07645B258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2850" y="5476875"/>
            <a:ext cx="9525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 sz="1800"/>
          </a:p>
        </p:txBody>
      </p:sp>
      <p:sp>
        <p:nvSpPr>
          <p:cNvPr id="91177" name="AutoShape 69">
            <a:extLst>
              <a:ext uri="{FF2B5EF4-FFF2-40B4-BE49-F238E27FC236}">
                <a16:creationId xmlns:a16="http://schemas.microsoft.com/office/drawing/2014/main" id="{6C524A5B-D83D-3545-AF3D-CD8549E7A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3962400"/>
            <a:ext cx="523875" cy="238125"/>
          </a:xfrm>
          <a:prstGeom prst="rightArrow">
            <a:avLst>
              <a:gd name="adj1" fmla="val 50000"/>
              <a:gd name="adj2" fmla="val 5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</p:spTree>
    <p:extLst>
      <p:ext uri="{BB962C8B-B14F-4D97-AF65-F5344CB8AC3E}">
        <p14:creationId xmlns:p14="http://schemas.microsoft.com/office/powerpoint/2010/main" val="2771335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BA90-13F3-574E-A1FA-EB51425A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Filtering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85ECF-4D35-9E47-B0EC-8FDD3FD7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39" y="1785339"/>
            <a:ext cx="6426200" cy="4292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6779E6-0F01-4981-A013-4E0A05029788}"/>
              </a:ext>
            </a:extLst>
          </p:cNvPr>
          <p:cNvSpPr/>
          <p:nvPr/>
        </p:nvSpPr>
        <p:spPr>
          <a:xfrm>
            <a:off x="4757814" y="2112411"/>
            <a:ext cx="498764" cy="356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2795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FB9D-AC11-2F48-870C-F201280F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Filtering removes sand like noise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A591-0C38-2A4B-B9A4-2EC0E3D23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7" y="2012949"/>
            <a:ext cx="7382593" cy="36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70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0FDF7E-CC12-AC40-B8CF-607B9E7E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filter is a nonlinear filter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FC286-8328-B040-8FF4-E7587723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000" dirty="0"/>
              <a:t>Removes sand like noise</a:t>
            </a:r>
          </a:p>
          <a:p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E31BFC8-4B4D-F648-8FE6-433E58965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34" y="2539079"/>
            <a:ext cx="7392036" cy="338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813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5B62B426-0298-BA47-8381-C4897479A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3000"/>
              <a:t>Median filtering breaks the straight lines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E60B971F-3862-364A-9314-4E9FDEB75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1150" y="2085976"/>
            <a:ext cx="6172200" cy="3394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tr-TR" altLang="tr-TR" dirty="0"/>
          </a:p>
        </p:txBody>
      </p:sp>
      <p:graphicFrame>
        <p:nvGraphicFramePr>
          <p:cNvPr id="154701" name="Group 77">
            <a:extLst>
              <a:ext uri="{FF2B5EF4-FFF2-40B4-BE49-F238E27FC236}">
                <a16:creationId xmlns:a16="http://schemas.microsoft.com/office/drawing/2014/main" id="{51AAB580-AA9A-5446-BA85-EA31A2DB1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057088"/>
              </p:ext>
            </p:extLst>
          </p:nvPr>
        </p:nvGraphicFramePr>
        <p:xfrm>
          <a:off x="2472612" y="2819400"/>
          <a:ext cx="1994613" cy="1943100"/>
        </p:xfrm>
        <a:graphic>
          <a:graphicData uri="http://schemas.openxmlformats.org/drawingml/2006/table">
            <a:tbl>
              <a:tblPr/>
              <a:tblGrid>
                <a:gridCol w="39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201" name="Text Box 70">
            <a:extLst>
              <a:ext uri="{FF2B5EF4-FFF2-40B4-BE49-F238E27FC236}">
                <a16:creationId xmlns:a16="http://schemas.microsoft.com/office/drawing/2014/main" id="{0C12A7A3-47F9-CD45-B5AD-C428E787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094" y="390763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92202" name="Text Box 71">
            <a:extLst>
              <a:ext uri="{FF2B5EF4-FFF2-40B4-BE49-F238E27FC236}">
                <a16:creationId xmlns:a16="http://schemas.microsoft.com/office/drawing/2014/main" id="{FFF4DF29-6253-644B-AB50-8C676277D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869" y="2564606"/>
            <a:ext cx="174278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tr-TR" sz="1800" dirty="0"/>
              <a:t>Square filter:</a:t>
            </a:r>
          </a:p>
          <a:p>
            <a:r>
              <a:rPr lang="en-US" altLang="tr-TR" sz="1800" dirty="0"/>
              <a:t>0 0 0 5 5 5 5 5 5 </a:t>
            </a:r>
          </a:p>
          <a:p>
            <a:endParaRPr lang="en-US" altLang="tr-TR" sz="1800" dirty="0"/>
          </a:p>
          <a:p>
            <a:endParaRPr lang="en-US" altLang="tr-TR" sz="1800" dirty="0"/>
          </a:p>
        </p:txBody>
      </p:sp>
      <p:sp>
        <p:nvSpPr>
          <p:cNvPr id="92203" name="AutoShape 72">
            <a:extLst>
              <a:ext uri="{FF2B5EF4-FFF2-40B4-BE49-F238E27FC236}">
                <a16:creationId xmlns:a16="http://schemas.microsoft.com/office/drawing/2014/main" id="{392006AD-7B9E-A94C-B319-7DF0D418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124200"/>
            <a:ext cx="66675" cy="2000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</p:spTree>
    <p:extLst>
      <p:ext uri="{BB962C8B-B14F-4D97-AF65-F5344CB8AC3E}">
        <p14:creationId xmlns:p14="http://schemas.microsoft.com/office/powerpoint/2010/main" val="221344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5B62B426-0298-BA47-8381-C4897479A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3000"/>
              <a:t>Median filtering breaks the straight lines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E60B971F-3862-364A-9314-4E9FDEB75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1150" y="2085976"/>
            <a:ext cx="6172200" cy="3394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tr-TR" altLang="tr-TR" dirty="0"/>
          </a:p>
        </p:txBody>
      </p:sp>
      <p:graphicFrame>
        <p:nvGraphicFramePr>
          <p:cNvPr id="154701" name="Group 77">
            <a:extLst>
              <a:ext uri="{FF2B5EF4-FFF2-40B4-BE49-F238E27FC236}">
                <a16:creationId xmlns:a16="http://schemas.microsoft.com/office/drawing/2014/main" id="{51AAB580-AA9A-5446-BA85-EA31A2DB13A4}"/>
              </a:ext>
            </a:extLst>
          </p:cNvPr>
          <p:cNvGraphicFramePr>
            <a:graphicFrameLocks noGrp="1"/>
          </p:cNvGraphicFramePr>
          <p:nvPr/>
        </p:nvGraphicFramePr>
        <p:xfrm>
          <a:off x="2466975" y="2819400"/>
          <a:ext cx="2000250" cy="1943100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201" name="Text Box 70">
            <a:extLst>
              <a:ext uri="{FF2B5EF4-FFF2-40B4-BE49-F238E27FC236}">
                <a16:creationId xmlns:a16="http://schemas.microsoft.com/office/drawing/2014/main" id="{0C12A7A3-47F9-CD45-B5AD-C428E787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094" y="390763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92202" name="Text Box 71">
            <a:extLst>
              <a:ext uri="{FF2B5EF4-FFF2-40B4-BE49-F238E27FC236}">
                <a16:creationId xmlns:a16="http://schemas.microsoft.com/office/drawing/2014/main" id="{FFF4DF29-6253-644B-AB50-8C676277D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869" y="2564606"/>
            <a:ext cx="174278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tr-TR" sz="1800" dirty="0"/>
              <a:t>Square filter:</a:t>
            </a:r>
          </a:p>
          <a:p>
            <a:r>
              <a:rPr lang="en-US" altLang="tr-TR" sz="1800" dirty="0"/>
              <a:t>0 0 0 5 5 5 5 5 5 </a:t>
            </a:r>
          </a:p>
          <a:p>
            <a:endParaRPr lang="en-US" altLang="tr-TR" sz="1800" dirty="0"/>
          </a:p>
          <a:p>
            <a:endParaRPr lang="en-US" altLang="tr-TR" sz="1800" dirty="0"/>
          </a:p>
          <a:p>
            <a:r>
              <a:rPr lang="en-US" altLang="tr-TR" sz="1800" dirty="0"/>
              <a:t>Cross filter</a:t>
            </a:r>
          </a:p>
          <a:p>
            <a:r>
              <a:rPr lang="en-US" altLang="tr-TR" sz="1800" dirty="0"/>
              <a:t>0 0 0 0 0 5 5 5 5</a:t>
            </a:r>
          </a:p>
        </p:txBody>
      </p:sp>
      <p:sp>
        <p:nvSpPr>
          <p:cNvPr id="92203" name="AutoShape 72">
            <a:extLst>
              <a:ext uri="{FF2B5EF4-FFF2-40B4-BE49-F238E27FC236}">
                <a16:creationId xmlns:a16="http://schemas.microsoft.com/office/drawing/2014/main" id="{392006AD-7B9E-A94C-B319-7DF0D418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124200"/>
            <a:ext cx="66675" cy="2000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92204" name="AutoShape 73">
            <a:extLst>
              <a:ext uri="{FF2B5EF4-FFF2-40B4-BE49-F238E27FC236}">
                <a16:creationId xmlns:a16="http://schemas.microsoft.com/office/drawing/2014/main" id="{A82B2154-09B1-D843-9869-930E4A05E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586" y="4276963"/>
            <a:ext cx="66675" cy="238125"/>
          </a:xfrm>
          <a:prstGeom prst="upArrow">
            <a:avLst>
              <a:gd name="adj1" fmla="val 50000"/>
              <a:gd name="adj2" fmla="val 8928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</p:spTree>
    <p:extLst>
      <p:ext uri="{BB962C8B-B14F-4D97-AF65-F5344CB8AC3E}">
        <p14:creationId xmlns:p14="http://schemas.microsoft.com/office/powerpoint/2010/main" val="712641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04ED-51FB-B745-8F7D-075582A9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Sharpening Filters: Edge detectors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29105B-4A97-CE4E-9BB9-90CD09FCD185}"/>
              </a:ext>
            </a:extLst>
          </p:cNvPr>
          <p:cNvSpPr/>
          <p:nvPr/>
        </p:nvSpPr>
        <p:spPr>
          <a:xfrm>
            <a:off x="1235033" y="3013502"/>
            <a:ext cx="72201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tr-TR" sz="2800" dirty="0">
                <a:latin typeface="+mj-lt"/>
              </a:rPr>
              <a:t>Edges are the pixels where the brightness changes abruptly in some of its neighbors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1797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7" name="Picture 3">
            <a:extLst>
              <a:ext uri="{FF2B5EF4-FFF2-40B4-BE49-F238E27FC236}">
                <a16:creationId xmlns:a16="http://schemas.microsoft.com/office/drawing/2014/main" id="{8E75E102-C2EC-EE49-9E8A-4DFC89214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916113"/>
            <a:ext cx="8008938" cy="384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8" name="Title 4">
            <a:extLst>
              <a:ext uri="{FF2B5EF4-FFF2-40B4-BE49-F238E27FC236}">
                <a16:creationId xmlns:a16="http://schemas.microsoft.com/office/drawing/2014/main" id="{2AE497D9-F3CA-CB43-9E59-C4FACC27780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960539"/>
            <a:ext cx="7886700" cy="730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 sz="4000" dirty="0">
                <a:latin typeface="Verdana" panose="020B0604030504040204" pitchFamily="34" charset="0"/>
              </a:rPr>
              <a:t>EDGE PROFILES </a:t>
            </a:r>
            <a:br>
              <a:rPr lang="en-US" altLang="tr-TR" sz="7200" dirty="0"/>
            </a:br>
            <a:endParaRPr lang="tr-TR" altLang="tr-T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F49142F1-E1D9-AB4C-BD50-E8E24D44BB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828675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4000" dirty="0"/>
              <a:t>Mathematical Representation of </a:t>
            </a:r>
            <a:r>
              <a:rPr lang="tr-TR" altLang="tr-TR" sz="4000" dirty="0"/>
              <a:t> </a:t>
            </a:r>
            <a:r>
              <a:rPr lang="en-US" altLang="tr-TR" sz="4000" dirty="0"/>
              <a:t>E</a:t>
            </a:r>
            <a:r>
              <a:rPr lang="tr-TR" altLang="tr-TR" sz="4000" dirty="0" err="1"/>
              <a:t>dge</a:t>
            </a:r>
            <a:r>
              <a:rPr lang="tr-TR" altLang="tr-TR" sz="4000" dirty="0"/>
              <a:t> </a:t>
            </a:r>
          </a:p>
        </p:txBody>
      </p:sp>
      <p:sp>
        <p:nvSpPr>
          <p:cNvPr id="95234" name="Text Box 4">
            <a:extLst>
              <a:ext uri="{FF2B5EF4-FFF2-40B4-BE49-F238E27FC236}">
                <a16:creationId xmlns:a16="http://schemas.microsoft.com/office/drawing/2014/main" id="{CBE6E5A3-B843-D440-9968-3465221D0C80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458200" cy="23447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altLang="tr-TR" dirty="0"/>
          </a:p>
          <a:p>
            <a:pPr marL="0" indent="0">
              <a:buNone/>
            </a:pPr>
            <a:r>
              <a:rPr lang="en-US" altLang="tr-TR" sz="2800" dirty="0"/>
              <a:t>Edges are defined by</a:t>
            </a:r>
          </a:p>
          <a:p>
            <a:pPr marL="801688" indent="-801688"/>
            <a:r>
              <a:rPr lang="en-US" altLang="tr-TR" sz="2800" dirty="0"/>
              <a:t>Gradient ,</a:t>
            </a:r>
          </a:p>
          <a:p>
            <a:pPr marL="801688" indent="-801688"/>
            <a:r>
              <a:rPr lang="en-US" altLang="tr-TR" sz="2800" dirty="0"/>
              <a:t>Laplacian </a:t>
            </a:r>
          </a:p>
          <a:p>
            <a:pPr marL="0" indent="0">
              <a:buNone/>
            </a:pPr>
            <a:r>
              <a:rPr lang="en-US" altLang="tr-TR" sz="2800" dirty="0"/>
              <a:t>of a two dimensional image function, f(</a:t>
            </a:r>
            <a:r>
              <a:rPr lang="en-US" altLang="tr-TR" sz="2800" dirty="0" err="1"/>
              <a:t>x,y</a:t>
            </a:r>
            <a:r>
              <a:rPr lang="en-US" altLang="tr-TR" sz="2800" dirty="0"/>
              <a:t>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B6618E44-5B80-5E4B-B6B6-F2D91A3C8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723900"/>
            <a:ext cx="8750300" cy="1295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tr-TR" sz="4000" dirty="0"/>
              <a:t>Gradient of continuous functions, f(</a:t>
            </a:r>
            <a:r>
              <a:rPr lang="en-US" altLang="tr-TR" sz="4000" dirty="0" err="1"/>
              <a:t>x,y</a:t>
            </a:r>
            <a:r>
              <a:rPr lang="en-US" altLang="tr-TR" sz="4000" dirty="0"/>
              <a:t>): </a:t>
            </a:r>
            <a:br>
              <a:rPr lang="en-US" altLang="tr-TR" sz="4000" dirty="0"/>
            </a:br>
            <a:r>
              <a:rPr lang="en-US" altLang="tr-TR" sz="4000" dirty="0"/>
              <a:t>F</a:t>
            </a:r>
            <a:r>
              <a:rPr lang="tr-TR" altLang="tr-TR" sz="4000" dirty="0" err="1"/>
              <a:t>irst</a:t>
            </a:r>
            <a:r>
              <a:rPr lang="tr-TR" altLang="tr-TR" sz="4000" dirty="0"/>
              <a:t> </a:t>
            </a:r>
            <a:r>
              <a:rPr lang="tr-TR" altLang="tr-TR" sz="4000" dirty="0" err="1"/>
              <a:t>derivative</a:t>
            </a:r>
            <a:endParaRPr lang="en-US" altLang="tr-T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2" name="Rectangle 3">
                <a:extLst>
                  <a:ext uri="{FF2B5EF4-FFF2-40B4-BE49-F238E27FC236}">
                    <a16:creationId xmlns:a16="http://schemas.microsoft.com/office/drawing/2014/main" id="{786D3AEE-D2FE-F344-AD86-D9C246C467F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57200" y="2374900"/>
                <a:ext cx="8229600" cy="3751263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endParaRPr lang="en-US" altLang="tr-T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tr-TR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tr-TR" sz="2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eqArr>
                                    <m:eqArrPr>
                                      <m:ctrlPr>
                                        <a:rPr lang="en-US" altLang="tr-TR" sz="2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eqArrPr>
                                    <m:e/>
                                    <m:e>
                                      <m:r>
                                        <a:rPr lang="en-US" altLang="tr-TR" sz="2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tr-TR" sz="2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</m:eqArr>
                                </m:num>
                                <m:den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altLang="tr-TR" sz="2800" dirty="0">
                  <a:cs typeface="Times New Roman" panose="02020603050405020304" pitchFamily="18" charset="0"/>
                </a:endParaRPr>
              </a:p>
              <a:p>
                <a:r>
                  <a:rPr lang="en-US" altLang="tr-TR" sz="2800" dirty="0">
                    <a:cs typeface="Times New Roman" panose="02020603050405020304" pitchFamily="18" charset="0"/>
                  </a:rPr>
                  <a:t>Magnitude: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tr-TR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l-GR" altLang="tr-TR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| = ( (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)2 + (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2 )1/2 </m:t>
                      </m:r>
                    </m:oMath>
                  </m:oMathPara>
                </a14:m>
                <a:endParaRPr lang="el-GR" altLang="tr-TR" sz="2800" baseline="30000" dirty="0">
                  <a:cs typeface="Times New Roman" panose="02020603050405020304" pitchFamily="18" charset="0"/>
                </a:endParaRPr>
              </a:p>
              <a:p>
                <a:r>
                  <a:rPr lang="en-US" altLang="tr-TR" sz="2800" dirty="0">
                    <a:cs typeface="Times New Roman" panose="02020603050405020304" pitchFamily="18" charset="0"/>
                  </a:rPr>
                  <a:t>Phase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80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r>
                        <a:rPr lang="en-US" altLang="tr-TR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arctan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altLang="tr-TR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 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 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altLang="tr-TR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𝑟𝑎𝑑𝑖𝑎𝑛𝑠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tr-TR" sz="2800" dirty="0">
                  <a:cs typeface="Times New Roman" panose="02020603050405020304" pitchFamily="18" charset="0"/>
                </a:endParaRPr>
              </a:p>
              <a:p>
                <a:endParaRPr lang="el-GR" altLang="tr-TR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282" name="Rectangle 3">
                <a:extLst>
                  <a:ext uri="{FF2B5EF4-FFF2-40B4-BE49-F238E27FC236}">
                    <a16:creationId xmlns:a16="http://schemas.microsoft.com/office/drawing/2014/main" id="{786D3AEE-D2FE-F344-AD86-D9C246C467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57200" y="2374900"/>
                <a:ext cx="8229600" cy="3751263"/>
              </a:xfrm>
              <a:blipFill>
                <a:blip r:embed="rId3"/>
                <a:stretch>
                  <a:fillRect l="-96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746E8DAD-8B08-AD4B-AE99-9F27B069A7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631064"/>
            <a:ext cx="8432800" cy="114693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tr-TR" altLang="tr-TR" dirty="0" err="1"/>
              <a:t>Laplacian</a:t>
            </a:r>
            <a:r>
              <a:rPr lang="tr-TR" altLang="tr-TR" dirty="0"/>
              <a:t> of </a:t>
            </a:r>
            <a:r>
              <a:rPr lang="en-US" altLang="tr-TR" dirty="0"/>
              <a:t>a </a:t>
            </a:r>
            <a:r>
              <a:rPr lang="tr-TR" altLang="tr-TR" dirty="0" err="1"/>
              <a:t>continuous</a:t>
            </a:r>
            <a:r>
              <a:rPr lang="tr-TR" altLang="tr-TR" dirty="0"/>
              <a:t> </a:t>
            </a:r>
            <a:r>
              <a:rPr lang="tr-TR" altLang="tr-TR" dirty="0" err="1"/>
              <a:t>function</a:t>
            </a:r>
            <a:r>
              <a:rPr lang="en-US" altLang="tr-TR" dirty="0"/>
              <a:t>, f(</a:t>
            </a:r>
            <a:r>
              <a:rPr lang="en-US" altLang="tr-TR" dirty="0" err="1"/>
              <a:t>x,y</a:t>
            </a:r>
            <a:r>
              <a:rPr lang="en-US" altLang="tr-TR" dirty="0"/>
              <a:t>)</a:t>
            </a:r>
            <a:r>
              <a:rPr lang="tr-TR" altLang="tr-TR" dirty="0"/>
              <a:t>:</a:t>
            </a:r>
            <a:br>
              <a:rPr lang="tr-TR" altLang="tr-TR" dirty="0"/>
            </a:br>
            <a:r>
              <a:rPr lang="tr-TR" altLang="tr-TR" dirty="0"/>
              <a:t>Second </a:t>
            </a:r>
            <a:r>
              <a:rPr lang="tr-TR" altLang="tr-TR" dirty="0" err="1"/>
              <a:t>derivative</a:t>
            </a:r>
            <a:endParaRPr lang="tr-TR" alt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30" name="Content Placeholder 2">
                <a:extLst>
                  <a:ext uri="{FF2B5EF4-FFF2-40B4-BE49-F238E27FC236}">
                    <a16:creationId xmlns:a16="http://schemas.microsoft.com/office/drawing/2014/main" id="{D2D8FA14-6E4B-A742-B762-DA406B265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172617" y="2186436"/>
                <a:ext cx="8432800" cy="2893566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 algn="ctr">
                  <a:buNone/>
                </a:pPr>
                <a:r>
                  <a:rPr lang="tr-TR" altLang="tr-TR" sz="3200" dirty="0" err="1">
                    <a:cs typeface="Times New Roman" panose="02020603050405020304" pitchFamily="18" charset="0"/>
                  </a:rPr>
                  <a:t>Invariant</a:t>
                </a:r>
                <a:r>
                  <a:rPr lang="tr-TR" altLang="tr-TR" sz="3200" dirty="0">
                    <a:cs typeface="Times New Roman" panose="02020603050405020304" pitchFamily="18" charset="0"/>
                  </a:rPr>
                  <a:t> </a:t>
                </a:r>
                <a:r>
                  <a:rPr lang="tr-TR" altLang="tr-TR" sz="3200" dirty="0" err="1">
                    <a:cs typeface="Times New Roman" panose="02020603050405020304" pitchFamily="18" charset="0"/>
                  </a:rPr>
                  <a:t>to</a:t>
                </a:r>
                <a:r>
                  <a:rPr lang="tr-TR" altLang="tr-TR" sz="3200" dirty="0">
                    <a:cs typeface="Times New Roman" panose="02020603050405020304" pitchFamily="18" charset="0"/>
                  </a:rPr>
                  <a:t> </a:t>
                </a:r>
                <a:r>
                  <a:rPr lang="tr-TR" altLang="tr-TR" sz="3200" dirty="0" err="1">
                    <a:cs typeface="Times New Roman" panose="02020603050405020304" pitchFamily="18" charset="0"/>
                  </a:rPr>
                  <a:t>rotation</a:t>
                </a:r>
                <a:endParaRPr lang="tr-TR" altLang="tr-TR" sz="32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tr-TR" altLang="tr-TR" sz="32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3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altLang="tr-TR" sz="32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tr-TR" sz="3200" dirty="0">
                  <a:cs typeface="Times New Roman" panose="02020603050405020304" pitchFamily="18" charset="0"/>
                </a:endParaRPr>
              </a:p>
              <a:p>
                <a:endParaRPr lang="tr-TR" altLang="tr-TR" dirty="0"/>
              </a:p>
            </p:txBody>
          </p:sp>
        </mc:Choice>
        <mc:Fallback xmlns="">
          <p:sp>
            <p:nvSpPr>
              <p:cNvPr id="99330" name="Content Placeholder 2">
                <a:extLst>
                  <a:ext uri="{FF2B5EF4-FFF2-40B4-BE49-F238E27FC236}">
                    <a16:creationId xmlns:a16="http://schemas.microsoft.com/office/drawing/2014/main" id="{D2D8FA14-6E4B-A742-B762-DA406B265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2617" y="2186436"/>
                <a:ext cx="8432800" cy="2893566"/>
              </a:xfrm>
              <a:blipFill>
                <a:blip r:embed="rId3"/>
                <a:stretch>
                  <a:fillRect t="-443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F8F765-4360-A840-A035-904162D1F8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 : f(</a:t>
                </a:r>
                <a:r>
                  <a:rPr lang="en-US" dirty="0" err="1"/>
                  <a:t>x,y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f>
                          <m:fPr>
                            <m:ctrlPr>
                              <a:rPr lang="tr-T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tr-TR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F8F765-4360-A840-A035-904162D1F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285F7E-FE7C-134C-87A0-435720F734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39168"/>
          <a:stretch/>
        </p:blipFill>
        <p:spPr>
          <a:xfrm>
            <a:off x="901522" y="2504088"/>
            <a:ext cx="2364078" cy="3303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32B5E7-9836-8246-A562-DE5E7A4C82A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477296" y="1825625"/>
                <a:ext cx="5038054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dirty="0"/>
                  <a:t>Gradient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tr-T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∇</m:t>
                    </m:r>
                  </m:oMath>
                </a14:m>
                <a:r>
                  <a:rPr lang="en-US" altLang="tr-TR" sz="2400" dirty="0">
                    <a:cs typeface="Times New Roman" panose="02020603050405020304" pitchFamily="18" charset="0"/>
                  </a:rPr>
                  <a:t>f(</a:t>
                </a:r>
                <a:r>
                  <a:rPr lang="en-US" altLang="tr-TR" sz="2400" dirty="0" err="1">
                    <a:cs typeface="Times New Roman" panose="02020603050405020304" pitchFamily="18" charset="0"/>
                  </a:rPr>
                  <a:t>x,y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) = [∂f/ ∂x     ∂f/ ∂y]</a:t>
                </a:r>
                <a:r>
                  <a:rPr lang="en-US" altLang="tr-TR" sz="2400" baseline="30000" dirty="0">
                    <a:cs typeface="Times New Roman" panose="02020603050405020304" pitchFamily="18" charset="0"/>
                  </a:rPr>
                  <a:t>T =</a:t>
                </a:r>
              </a:p>
              <a:p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tr-TR" altLang="tr-TR" sz="24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tr-TR" altLang="tr-TR" sz="2400" dirty="0" err="1">
                    <a:cs typeface="Times New Roman" panose="02020603050405020304" pitchFamily="18" charset="0"/>
                  </a:rPr>
                  <a:t>Laplacian</a:t>
                </a:r>
                <a:endParaRPr lang="tr-TR" altLang="tr-TR" sz="24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tr-T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tr-TR" altLang="tr-TR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tr-TR" sz="2400" dirty="0">
                    <a:cs typeface="Times New Roman" panose="02020603050405020304" pitchFamily="18" charset="0"/>
                  </a:rPr>
                  <a:t>f(</a:t>
                </a:r>
                <a:r>
                  <a:rPr lang="en-US" altLang="tr-TR" sz="2400" dirty="0" err="1">
                    <a:cs typeface="Times New Roman" panose="02020603050405020304" pitchFamily="18" charset="0"/>
                  </a:rPr>
                  <a:t>x,y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) = ∂</a:t>
                </a:r>
                <a:r>
                  <a:rPr lang="tr-TR" altLang="tr-TR" sz="24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 f(</a:t>
                </a:r>
                <a:r>
                  <a:rPr lang="en-US" altLang="tr-TR" sz="2400" dirty="0" err="1">
                    <a:cs typeface="Times New Roman" panose="02020603050405020304" pitchFamily="18" charset="0"/>
                  </a:rPr>
                  <a:t>x,y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)/ ∂</a:t>
                </a:r>
                <a:r>
                  <a:rPr lang="tr-TR" altLang="tr-TR" sz="2400" baseline="30000" dirty="0">
                    <a:cs typeface="Times New Roman" panose="02020603050405020304" pitchFamily="18" charset="0"/>
                  </a:rPr>
                  <a:t>2 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x + ∂</a:t>
                </a:r>
                <a:r>
                  <a:rPr lang="tr-TR" altLang="tr-TR" sz="2400" baseline="30000" dirty="0">
                    <a:cs typeface="Times New Roman" panose="02020603050405020304" pitchFamily="18" charset="0"/>
                  </a:rPr>
                  <a:t>2 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f(</a:t>
                </a:r>
                <a:r>
                  <a:rPr lang="en-US" altLang="tr-TR" sz="2400" dirty="0" err="1">
                    <a:cs typeface="Times New Roman" panose="02020603050405020304" pitchFamily="18" charset="0"/>
                  </a:rPr>
                  <a:t>x,y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)/ ∂</a:t>
                </a:r>
                <a:r>
                  <a:rPr lang="tr-TR" altLang="tr-TR" sz="2400" baseline="30000" dirty="0">
                    <a:cs typeface="Times New Roman" panose="02020603050405020304" pitchFamily="18" charset="0"/>
                  </a:rPr>
                  <a:t>2 </a:t>
                </a:r>
                <a:r>
                  <a:rPr lang="en-US" altLang="tr-TR" sz="2400" dirty="0">
                    <a:cs typeface="Times New Roman" panose="02020603050405020304" pitchFamily="18" charset="0"/>
                  </a:rPr>
                  <a:t>y</a:t>
                </a:r>
              </a:p>
              <a:p>
                <a:pPr marL="0" indent="0" algn="ctr">
                  <a:buNone/>
                </a:pPr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32B5E7-9836-8246-A562-DE5E7A4C82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477296" y="1825625"/>
                <a:ext cx="5038054" cy="4351338"/>
              </a:xfrm>
              <a:blipFill>
                <a:blip r:embed="rId4"/>
                <a:stretch>
                  <a:fillRect l="-242" t="-196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141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2">
            <a:extLst>
              <a:ext uri="{FF2B5EF4-FFF2-40B4-BE49-F238E27FC236}">
                <a16:creationId xmlns:a16="http://schemas.microsoft.com/office/drawing/2014/main" id="{61756B20-6793-A142-A9C8-B78062F4C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8" y="503238"/>
            <a:ext cx="5808662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EDGES, GRADIENT AND LAPLACIAN </a:t>
            </a:r>
            <a:endParaRPr lang="en-US" altLang="tr-TR"/>
          </a:p>
        </p:txBody>
      </p:sp>
      <p:pic>
        <p:nvPicPr>
          <p:cNvPr id="100354" name="Picture 3">
            <a:extLst>
              <a:ext uri="{FF2B5EF4-FFF2-40B4-BE49-F238E27FC236}">
                <a16:creationId xmlns:a16="http://schemas.microsoft.com/office/drawing/2014/main" id="{EFCEC606-4713-984E-8D55-F5065925C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762125"/>
            <a:ext cx="628650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7" name="Picture 3">
            <a:extLst>
              <a:ext uri="{FF2B5EF4-FFF2-40B4-BE49-F238E27FC236}">
                <a16:creationId xmlns:a16="http://schemas.microsoft.com/office/drawing/2014/main" id="{1105ED50-3713-754F-859A-DF3197343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1536700"/>
            <a:ext cx="80899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78" name="Title 5">
            <a:extLst>
              <a:ext uri="{FF2B5EF4-FFF2-40B4-BE49-F238E27FC236}">
                <a16:creationId xmlns:a16="http://schemas.microsoft.com/office/drawing/2014/main" id="{9540CCA6-ECA0-CF47-B25F-DA51E44923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tr-TR" altLang="tr-TR" sz="3200">
                <a:solidFill>
                  <a:srgbClr val="FF0000"/>
                </a:solidFill>
                <a:latin typeface="Verdana" panose="020B0604030504040204" pitchFamily="34" charset="0"/>
              </a:rPr>
              <a:t>GRADİENT AND LAPLACIEN OF </a:t>
            </a:r>
            <a:r>
              <a:rPr lang="en-US" altLang="tr-TR" sz="3200">
                <a:solidFill>
                  <a:srgbClr val="FF0000"/>
                </a:solidFill>
                <a:latin typeface="Verdana" panose="020B0604030504040204" pitchFamily="34" charset="0"/>
              </a:rPr>
              <a:t>SMOOT EDGES, NOISY EDGES</a:t>
            </a:r>
            <a:br>
              <a:rPr lang="en-US" altLang="tr-TR" sz="7200"/>
            </a:br>
            <a:endParaRPr lang="tr-TR" altLang="tr-TR"/>
          </a:p>
        </p:txBody>
      </p:sp>
      <p:pic>
        <p:nvPicPr>
          <p:cNvPr id="101380" name="Picture 7">
            <a:extLst>
              <a:ext uri="{FF2B5EF4-FFF2-40B4-BE49-F238E27FC236}">
                <a16:creationId xmlns:a16="http://schemas.microsoft.com/office/drawing/2014/main" id="{CE7CA9D2-3E58-4E49-B8BD-EF0AF169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5956300"/>
            <a:ext cx="59182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C49F-B5B7-DC47-9628-0E5B37C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First </a:t>
            </a:r>
            <a:r>
              <a:rPr lang="tr-TR" b="1" dirty="0" err="1"/>
              <a:t>Difference</a:t>
            </a:r>
            <a:r>
              <a:rPr lang="tr-TR" b="1" dirty="0"/>
              <a:t> </a:t>
            </a:r>
            <a:r>
              <a:rPr lang="tr-TR" b="1" dirty="0" err="1"/>
              <a:t>Operation</a:t>
            </a:r>
            <a:r>
              <a:rPr lang="tr-TR" dirty="0"/>
              <a:t> </a:t>
            </a:r>
            <a:r>
              <a:rPr lang="en-US" dirty="0"/>
              <a:t>A</a:t>
            </a:r>
            <a:r>
              <a:rPr lang="tr-TR" dirty="0" err="1"/>
              <a:t>pproximates</a:t>
            </a:r>
            <a:r>
              <a:rPr lang="tr-TR" dirty="0"/>
              <a:t> 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en-US" dirty="0"/>
              <a:t>D</a:t>
            </a:r>
            <a:r>
              <a:rPr lang="tr-TR" dirty="0" err="1"/>
              <a:t>iscrete</a:t>
            </a:r>
            <a:r>
              <a:rPr lang="tr-TR" dirty="0"/>
              <a:t> </a:t>
            </a:r>
            <a:r>
              <a:rPr lang="en-US" dirty="0"/>
              <a:t>F</a:t>
            </a:r>
            <a:r>
              <a:rPr lang="tr-TR" dirty="0" err="1"/>
              <a:t>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2AB12-F11D-1644-A42D-66528298B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400" dirty="0"/>
                  <a:t>First </a:t>
                </a:r>
                <a:r>
                  <a:rPr lang="tr-TR" sz="2400" dirty="0" err="1"/>
                  <a:t>difference</a:t>
                </a:r>
                <a:r>
                  <a:rPr lang="tr-TR" sz="2400" dirty="0"/>
                  <a:t> in x-</a:t>
                </a:r>
                <a:r>
                  <a:rPr lang="tr-TR" sz="2400" dirty="0" err="1"/>
                  <a:t>direction</a:t>
                </a:r>
                <a:r>
                  <a:rPr lang="tr-TR" sz="2400" dirty="0"/>
                  <a:t>:</a:t>
                </a:r>
              </a:p>
              <a:p>
                <a:pPr marL="0" indent="0">
                  <a:buNone/>
                </a:pPr>
                <a:r>
                  <a:rPr lang="tr-TR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4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400" i="1" baseline="-250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∓1,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tr-TR" sz="2400" dirty="0"/>
              </a:p>
              <a:p>
                <a:r>
                  <a:rPr lang="tr-TR" sz="2400" dirty="0"/>
                  <a:t>First </a:t>
                </a:r>
                <a:r>
                  <a:rPr lang="tr-TR" sz="2400" dirty="0" err="1"/>
                  <a:t>difference</a:t>
                </a:r>
                <a:r>
                  <a:rPr lang="tr-TR" sz="2400" dirty="0"/>
                  <a:t> in y-</a:t>
                </a:r>
                <a:r>
                  <a:rPr lang="tr-TR" sz="2400" dirty="0" err="1"/>
                  <a:t>direction</a:t>
                </a:r>
                <a:r>
                  <a:rPr lang="tr-TR" sz="2400" dirty="0"/>
                  <a:t> </a:t>
                </a:r>
              </a:p>
              <a:p>
                <a:pPr marL="0" indent="0">
                  <a:buNone/>
                </a:pPr>
                <a:r>
                  <a:rPr lang="tr-TR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4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400" i="1" baseline="-25000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∓1)</m:t>
                    </m:r>
                  </m:oMath>
                </a14:m>
                <a:endParaRPr lang="tr-TR" sz="2400" dirty="0"/>
              </a:p>
              <a:p>
                <a:r>
                  <a:rPr lang="tr-TR" sz="2400" dirty="0"/>
                  <a:t>First </a:t>
                </a:r>
                <a:r>
                  <a:rPr lang="tr-TR" sz="2400" dirty="0" err="1"/>
                  <a:t>difference</a:t>
                </a:r>
                <a:r>
                  <a:rPr lang="tr-TR" sz="2400" dirty="0"/>
                  <a:t> in </a:t>
                </a:r>
                <a:r>
                  <a:rPr lang="tr-TR" sz="2400" dirty="0" err="1"/>
                  <a:t>diagonal</a:t>
                </a:r>
                <a:r>
                  <a:rPr lang="tr-TR" sz="2400" dirty="0"/>
                  <a:t> </a:t>
                </a:r>
                <a:r>
                  <a:rPr lang="tr-TR" sz="2400" dirty="0" err="1"/>
                  <a:t>direction</a:t>
                </a:r>
                <a:r>
                  <a:rPr lang="tr-TR" sz="2400" dirty="0"/>
                  <a:t>: </a:t>
                </a:r>
              </a:p>
              <a:p>
                <a:pPr marL="0" indent="0">
                  <a:buNone/>
                </a:pPr>
                <a:r>
                  <a:rPr lang="tr-TR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4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tr-TR" sz="2400" i="1" baseline="-25000" dirty="0" err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tr-TR" sz="24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4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∓1,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∓1).</m:t>
                    </m:r>
                  </m:oMath>
                </a14:m>
                <a:endParaRPr lang="tr-TR" sz="2400" dirty="0"/>
              </a:p>
              <a:p>
                <a:pPr marL="0" indent="0">
                  <a:buNone/>
                </a:pPr>
                <a:br>
                  <a:rPr lang="tr-TR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2AB12-F11D-1644-A42D-66528298B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1816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CEE7-B3A6-B644-80CA-6B15D1B1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convolution to approximate the first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72A38-157E-E94D-9913-7BD1A0CA8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21554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=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8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tr-TR" sz="2800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tr-TR" sz="2800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 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72A38-157E-E94D-9913-7BD1A0CA8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215547" cy="4351338"/>
              </a:xfrm>
              <a:blipFill>
                <a:blip r:embed="rId5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D3C443B-0165-344F-BF59-6BD74D44B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92" b="75058"/>
          <a:stretch/>
        </p:blipFill>
        <p:spPr bwMode="auto">
          <a:xfrm>
            <a:off x="1711973" y="3331342"/>
            <a:ext cx="6355733" cy="25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FE572-2C55-6943-BB9B-6F563FEAFA82}"/>
                  </a:ext>
                </a:extLst>
              </p:cNvPr>
              <p:cNvSpPr txBox="1"/>
              <p:nvPr/>
            </p:nvSpPr>
            <p:spPr>
              <a:xfrm>
                <a:off x="1895759" y="4482033"/>
                <a:ext cx="12856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FE572-2C55-6943-BB9B-6F563FEA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759" y="4482033"/>
                <a:ext cx="1285673" cy="369332"/>
              </a:xfrm>
              <a:prstGeom prst="rect">
                <a:avLst/>
              </a:prstGeom>
              <a:blipFill>
                <a:blip r:embed="rId4"/>
                <a:stretch>
                  <a:fillRect l="-5213" r="-1422" b="-2623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1364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3">
            <a:extLst>
              <a:ext uri="{FF2B5EF4-FFF2-40B4-BE49-F238E27FC236}">
                <a16:creationId xmlns:a16="http://schemas.microsoft.com/office/drawing/2014/main" id="{B5EB56B4-000B-014B-A213-0B8842C85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33" t="24645" b="57786"/>
          <a:stretch/>
        </p:blipFill>
        <p:spPr bwMode="auto">
          <a:xfrm>
            <a:off x="494404" y="2893101"/>
            <a:ext cx="8593501" cy="271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CCBC138-DA5D-4E96-8879-4E32C737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328738" cy="23500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tr-TR" dirty="0">
                <a:latin typeface="Verdana" panose="020B0604030504040204" pitchFamily="34" charset="0"/>
              </a:rPr>
              <a:t>2x2 GRADIENT EDGE MASKS:</a:t>
            </a:r>
            <a:br>
              <a:rPr lang="en-US" altLang="tr-TR" dirty="0">
                <a:latin typeface="Verdana" panose="020B0604030504040204" pitchFamily="34" charset="0"/>
              </a:rPr>
            </a:br>
            <a:br>
              <a:rPr lang="en-US" altLang="tr-TR" dirty="0">
                <a:latin typeface="Verdana" panose="020B0604030504040204" pitchFamily="34" charset="0"/>
              </a:rPr>
            </a:br>
            <a:r>
              <a:rPr lang="en-US" altLang="tr-TR" dirty="0">
                <a:latin typeface="Verdana" panose="020B0604030504040204" pitchFamily="34" charset="0"/>
              </a:rPr>
              <a:t>Approximation in discrete grid Roberts mask for detecting diagonal edges</a:t>
            </a:r>
            <a:endParaRPr lang="tr-TR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>
            <a:extLst>
              <a:ext uri="{FF2B5EF4-FFF2-40B4-BE49-F238E27FC236}">
                <a16:creationId xmlns:a16="http://schemas.microsoft.com/office/drawing/2014/main" id="{6FABC1CB-665A-A444-A545-43F1F73AD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7672" y="503238"/>
            <a:ext cx="4695645" cy="46166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3x3 GRADIENT EDGE MASKS</a:t>
            </a:r>
            <a:endParaRPr lang="en-US" altLang="tr-TR" dirty="0"/>
          </a:p>
        </p:txBody>
      </p:sp>
      <p:pic>
        <p:nvPicPr>
          <p:cNvPr id="104450" name="Picture 3">
            <a:extLst>
              <a:ext uri="{FF2B5EF4-FFF2-40B4-BE49-F238E27FC236}">
                <a16:creationId xmlns:a16="http://schemas.microsoft.com/office/drawing/2014/main" id="{8A314AF1-8A6D-2D46-A43F-4A5555014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1" r="12539" b="7701"/>
          <a:stretch/>
        </p:blipFill>
        <p:spPr bwMode="auto">
          <a:xfrm>
            <a:off x="1514007" y="1552575"/>
            <a:ext cx="5801193" cy="433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3">
            <a:extLst>
              <a:ext uri="{FF2B5EF4-FFF2-40B4-BE49-F238E27FC236}">
                <a16:creationId xmlns:a16="http://schemas.microsoft.com/office/drawing/2014/main" id="{5526B39E-7333-7341-81D8-51C2E08D1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40" y="1865313"/>
            <a:ext cx="7434835" cy="296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B03C2-CAA8-4293-A947-9726B46E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Sobel Edge Detector as a </a:t>
            </a:r>
            <a:r>
              <a:rPr lang="en-US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disxrete</a:t>
            </a: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Gradient Operator</a:t>
            </a:r>
            <a:br>
              <a:rPr lang="en-US" alt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33534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3">
            <a:extLst>
              <a:ext uri="{FF2B5EF4-FFF2-40B4-BE49-F238E27FC236}">
                <a16:creationId xmlns:a16="http://schemas.microsoft.com/office/drawing/2014/main" id="{C88C8E49-D762-7B41-92F4-BD35712E7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1773238"/>
            <a:ext cx="6669582" cy="45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B624F5-E91B-4283-AC90-21DD72FE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58758" cy="1325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Edge Detection by Vertical and Horizontal 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Gradient Operators </a:t>
            </a:r>
            <a:br>
              <a:rPr lang="en-US" alt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08952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3">
            <a:extLst>
              <a:ext uri="{FF2B5EF4-FFF2-40B4-BE49-F238E27FC236}">
                <a16:creationId xmlns:a16="http://schemas.microsoft.com/office/drawing/2014/main" id="{815C55A7-344F-1040-B14B-C00B95A70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1444053"/>
            <a:ext cx="83851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26F2B7-1C07-4A82-BF85-1F74D151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Diagonal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Edge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Detection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by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Vertical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and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Horizontal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Gradient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operators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endParaRPr lang="tr-TR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3">
            <a:extLst>
              <a:ext uri="{FF2B5EF4-FFF2-40B4-BE49-F238E27FC236}">
                <a16:creationId xmlns:a16="http://schemas.microsoft.com/office/drawing/2014/main" id="{A0D70CBC-7D2E-F540-804F-7CC89E2C8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06" y="1564858"/>
            <a:ext cx="816292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DA4B59-984A-4CB1-A4B6-5D0514B1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Edge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detection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after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Smoothing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with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b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Vertical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and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Horizontal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Gradient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filters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endParaRPr lang="tr-TR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>
            <a:extLst>
              <a:ext uri="{FF2B5EF4-FFF2-40B4-BE49-F238E27FC236}">
                <a16:creationId xmlns:a16="http://schemas.microsoft.com/office/drawing/2014/main" id="{1F4C4112-8AEB-6642-98E7-24555CBC6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027" y="500063"/>
            <a:ext cx="6063135" cy="83099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Edge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detection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after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Smoothing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with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</a:p>
          <a:p>
            <a:pPr algn="ctr">
              <a:defRPr/>
            </a:pP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Diagonal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Gradient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filters</a:t>
            </a:r>
            <a:endParaRPr lang="en-US" altLang="tr-TR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pic>
        <p:nvPicPr>
          <p:cNvPr id="107522" name="Picture 3">
            <a:extLst>
              <a:ext uri="{FF2B5EF4-FFF2-40B4-BE49-F238E27FC236}">
                <a16:creationId xmlns:a16="http://schemas.microsoft.com/office/drawing/2014/main" id="{8898EA2E-73D9-8B4E-BAD9-FFCEA923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2308484"/>
            <a:ext cx="8734425" cy="360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F6204B-703C-4FBA-B6EF-B14FC5E7B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645" y="1825625"/>
                <a:ext cx="8845419" cy="4351338"/>
              </a:xfrm>
            </p:spPr>
            <p:txBody>
              <a:bodyPr>
                <a:normAutofit fontScale="55000" lnSpcReduction="20000"/>
              </a:bodyPr>
              <a:lstStyle/>
              <a:p>
                <a:endParaRPr lang="en-US" dirty="0"/>
              </a:p>
              <a:p>
                <a:r>
                  <a:rPr lang="en-US" sz="4500" dirty="0"/>
                  <a:t>Recall </a:t>
                </a:r>
                <a:r>
                  <a:rPr lang="en-US" sz="4500" dirty="0" err="1"/>
                  <a:t>Geadient</a:t>
                </a:r>
                <a:r>
                  <a:rPr lang="en-US" sz="4500" dirty="0"/>
                  <a:t> approximation as first different in x-direction</a:t>
                </a:r>
              </a:p>
              <a:p>
                <a:pPr marL="0" indent="0">
                  <a:buNone/>
                </a:pPr>
                <a:endParaRPr lang="en-US" sz="45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tr-TR" sz="450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tr-TR" sz="4500" i="1" baseline="-25000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​ 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∓1,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4500" dirty="0"/>
              </a:p>
              <a:p>
                <a:pPr marL="0" indent="0">
                  <a:buNone/>
                </a:pPr>
                <a:endParaRPr lang="en-US" sz="4500" dirty="0"/>
              </a:p>
              <a:p>
                <a:r>
                  <a:rPr lang="en-US" sz="4500" dirty="0"/>
                  <a:t>Continuous case Laplacian: </a:t>
                </a:r>
                <a:endParaRPr lang="en-US" altLang="tr-TR" sz="45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45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45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tr-TR" sz="4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tr-TR" sz="4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tr-TR" sz="4500" dirty="0">
                  <a:cs typeface="Times New Roman" panose="02020603050405020304" pitchFamily="18" charset="0"/>
                </a:endParaRPr>
              </a:p>
              <a:p>
                <a:r>
                  <a:rPr lang="en-US" altLang="tr-TR" sz="4500" dirty="0">
                    <a:cs typeface="Times New Roman" panose="02020603050405020304" pitchFamily="18" charset="0"/>
                  </a:rPr>
                  <a:t>Discrete case : </a:t>
                </a:r>
              </a:p>
              <a:p>
                <a:pPr marL="0" indent="0">
                  <a:buNone/>
                </a:pPr>
                <a:endParaRPr lang="en-US" altLang="tr-TR" sz="4500" i="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45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4500" i="1" baseline="3000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en-US" altLang="tr-TR" sz="45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tr-TR" sz="4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−4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45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45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45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tr-TR" sz="4500" dirty="0">
                  <a:cs typeface="Times New Roman" panose="02020603050405020304" pitchFamily="18" charset="0"/>
                </a:endParaRPr>
              </a:p>
              <a:p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F6204B-703C-4FBA-B6EF-B14FC5E7B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645" y="1825625"/>
                <a:ext cx="8845419" cy="4351338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39685E17-9FD9-4FD0-9352-57EE8572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91414" cy="1325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LAPLACIAN MASKS: 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Approximation of second derivative filters</a:t>
            </a:r>
            <a:endParaRPr lang="tr-TR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439-D7EF-43FB-8E84-87E266C2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sz="3600" dirty="0"/>
              <a:t>Sharpening  Filters: Laplace Operator</a:t>
            </a:r>
            <a:endParaRPr lang="tr-TR" dirty="0"/>
          </a:p>
        </p:txBody>
      </p:sp>
      <p:sp>
        <p:nvSpPr>
          <p:cNvPr id="82947" name="Date Placeholder 3">
            <a:extLst>
              <a:ext uri="{FF2B5EF4-FFF2-40B4-BE49-F238E27FC236}">
                <a16:creationId xmlns:a16="http://schemas.microsoft.com/office/drawing/2014/main" id="{1D009E9F-1CE7-0648-A68C-68D5A628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1C2276-62B2-D341-9702-9A32EEF0B028}" type="datetime1">
              <a:rPr lang="en-US" altLang="tr-TR" smtClean="0"/>
              <a:pPr/>
              <a:t>10/22/2022</a:t>
            </a:fld>
            <a:endParaRPr lang="en-US" altLang="tr-TR"/>
          </a:p>
        </p:txBody>
      </p:sp>
      <p:sp>
        <p:nvSpPr>
          <p:cNvPr id="82948" name="Slide Number Placeholder 5">
            <a:extLst>
              <a:ext uri="{FF2B5EF4-FFF2-40B4-BE49-F238E27FC236}">
                <a16:creationId xmlns:a16="http://schemas.microsoft.com/office/drawing/2014/main" id="{2A5785AB-63FA-784E-BA2C-F99A5254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1938FF-F643-1548-ADCB-FC6AF4E67368}" type="slidenum">
              <a:rPr lang="en-US" altLang="tr-TR"/>
              <a:pPr/>
              <a:t>58</a:t>
            </a:fld>
            <a:endParaRPr lang="en-US" altLang="tr-TR"/>
          </a:p>
        </p:txBody>
      </p:sp>
      <p:sp>
        <p:nvSpPr>
          <p:cNvPr id="82950" name="Rectangle 3">
            <a:extLst>
              <a:ext uri="{FF2B5EF4-FFF2-40B4-BE49-F238E27FC236}">
                <a16:creationId xmlns:a16="http://schemas.microsoft.com/office/drawing/2014/main" id="{CAEA273D-CF08-444E-84D6-91CD883D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426745"/>
            <a:ext cx="386954" cy="273844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82951" name="Text Box 4">
            <a:extLst>
              <a:ext uri="{FF2B5EF4-FFF2-40B4-BE49-F238E27FC236}">
                <a16:creationId xmlns:a16="http://schemas.microsoft.com/office/drawing/2014/main" id="{481C1976-B633-974F-90F2-67C159C11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58021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 sz="1800"/>
          </a:p>
        </p:txBody>
      </p:sp>
      <p:pic>
        <p:nvPicPr>
          <p:cNvPr id="82952" name="Picture 12">
            <a:extLst>
              <a:ext uri="{FF2B5EF4-FFF2-40B4-BE49-F238E27FC236}">
                <a16:creationId xmlns:a16="http://schemas.microsoft.com/office/drawing/2014/main" id="{6E5E8524-4E31-D144-9263-B6696E515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80011"/>
            <a:ext cx="3468291" cy="344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3" name="Picture 13">
            <a:extLst>
              <a:ext uri="{FF2B5EF4-FFF2-40B4-BE49-F238E27FC236}">
                <a16:creationId xmlns:a16="http://schemas.microsoft.com/office/drawing/2014/main" id="{2BF12D35-6AAE-4948-89C8-F243DD24B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31" y="2006205"/>
            <a:ext cx="1506141" cy="3420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023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09FF-A3D0-7B49-88C9-A47BBCD4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19838" cy="1325563"/>
          </a:xfrm>
        </p:spPr>
        <p:txBody>
          <a:bodyPr/>
          <a:lstStyle/>
          <a:p>
            <a:r>
              <a:rPr lang="en-US" dirty="0"/>
              <a:t>Laplacian of Gaussian Filters: </a:t>
            </a:r>
            <a:br>
              <a:rPr lang="en-US" dirty="0"/>
            </a:br>
            <a:r>
              <a:rPr lang="en-US" dirty="0"/>
              <a:t>Second derivative of Gaussian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EF7F7-4AE9-E948-A139-19A0219E0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487" y="1825625"/>
                <a:ext cx="860813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Recall Gaussian Function</a:t>
                </a:r>
              </a:p>
              <a:p>
                <a:endParaRPr lang="en-US" sz="2400" dirty="0"/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Laplacian of Gaussian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40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EF7F7-4AE9-E948-A139-19A0219E0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487" y="1825625"/>
                <a:ext cx="8608139" cy="4351338"/>
              </a:xfrm>
              <a:blipFill>
                <a:blip r:embed="rId2"/>
                <a:stretch>
                  <a:fillRect l="-106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8F1A18A4-9DA2-3E44-9F38-787508AEF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r="1645"/>
          <a:stretch>
            <a:fillRect/>
          </a:stretch>
        </p:blipFill>
        <p:spPr bwMode="auto">
          <a:xfrm>
            <a:off x="2060620" y="2308069"/>
            <a:ext cx="4321175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2BCEADD-4BB7-6146-970B-899918DFC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638" y="1517897"/>
            <a:ext cx="2074988" cy="158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B2B9C-07E6-4D4B-B79F-F20B1D45488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8932"/>
          <a:stretch/>
        </p:blipFill>
        <p:spPr>
          <a:xfrm>
            <a:off x="628650" y="4551503"/>
            <a:ext cx="7671243" cy="133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626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3">
            <a:extLst>
              <a:ext uri="{FF2B5EF4-FFF2-40B4-BE49-F238E27FC236}">
                <a16:creationId xmlns:a16="http://schemas.microsoft.com/office/drawing/2014/main" id="{BC6F88CC-EF78-024C-9D23-E795CCB66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770063"/>
            <a:ext cx="6218238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F9134-9F37-4884-9990-6A2D658A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LAPLACIAN of GAUSSIAN EDGE MASKS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Second derivative of the Gaussian function</a:t>
            </a:r>
            <a:endParaRPr lang="tr-TR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0E1B-FC8D-BD40-BC30-D285DAEC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</a:t>
            </a:r>
            <a:r>
              <a:rPr lang="en-US" dirty="0"/>
              <a:t> for 9x9 discrete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F3C1-9A62-3548-B0B6-9BE804D4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95336-D0DE-994F-A3BB-368DDC0A4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76" y="1787976"/>
            <a:ext cx="5371647" cy="44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48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3">
            <a:extLst>
              <a:ext uri="{FF2B5EF4-FFF2-40B4-BE49-F238E27FC236}">
                <a16:creationId xmlns:a16="http://schemas.microsoft.com/office/drawing/2014/main" id="{F062B86B-E26A-E143-B1E3-DD15CDB50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40" y="1472999"/>
            <a:ext cx="4868863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5" name="Picture 4">
            <a:extLst>
              <a:ext uri="{FF2B5EF4-FFF2-40B4-BE49-F238E27FC236}">
                <a16:creationId xmlns:a16="http://schemas.microsoft.com/office/drawing/2014/main" id="{7BFFA21A-4AD2-564F-92A7-0D2FFEAB9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038" y="3421242"/>
            <a:ext cx="49069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E3729B-EA6B-ED4A-AF62-F46621D55CA5}"/>
              </a:ext>
            </a:extLst>
          </p:cNvPr>
          <p:cNvSpPr txBox="1"/>
          <p:nvPr/>
        </p:nvSpPr>
        <p:spPr>
          <a:xfrm>
            <a:off x="4691921" y="1843790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Sobel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42341-956C-5B40-82A5-A8763C142CF7}"/>
              </a:ext>
            </a:extLst>
          </p:cNvPr>
          <p:cNvSpPr txBox="1"/>
          <p:nvPr/>
        </p:nvSpPr>
        <p:spPr>
          <a:xfrm>
            <a:off x="389744" y="4302177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15C47D-8D97-4F59-B312-0672E039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5" y="206887"/>
            <a:ext cx="8678115" cy="1325563"/>
          </a:xfrm>
        </p:spPr>
        <p:txBody>
          <a:bodyPr>
            <a:normAutofit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Edge Detection  in Radiological  Images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41972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3">
            <a:extLst>
              <a:ext uri="{FF2B5EF4-FFF2-40B4-BE49-F238E27FC236}">
                <a16:creationId xmlns:a16="http://schemas.microsoft.com/office/drawing/2014/main" id="{9AE91554-28FF-F24D-BF31-765A5E064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904557"/>
            <a:ext cx="3728256" cy="591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835" name="Picture 4">
            <a:extLst>
              <a:ext uri="{FF2B5EF4-FFF2-40B4-BE49-F238E27FC236}">
                <a16:creationId xmlns:a16="http://schemas.microsoft.com/office/drawing/2014/main" id="{79696A04-EBCE-C145-A878-8CFDFD1DE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4676620"/>
            <a:ext cx="1143000" cy="19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453772-2066-F546-BB36-526758E813D5}"/>
              </a:ext>
            </a:extLst>
          </p:cNvPr>
          <p:cNvSpPr txBox="1"/>
          <p:nvPr/>
        </p:nvSpPr>
        <p:spPr>
          <a:xfrm>
            <a:off x="5876144" y="2428407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Laplacian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93E38-1166-A948-AA51-E1F24E890E1B}"/>
              </a:ext>
            </a:extLst>
          </p:cNvPr>
          <p:cNvSpPr txBox="1"/>
          <p:nvPr/>
        </p:nvSpPr>
        <p:spPr>
          <a:xfrm>
            <a:off x="194872" y="4497049"/>
            <a:ext cx="1953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Original+ Laplacian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ABA7C-79DC-E846-96AC-8CFCCBEA3D63}"/>
              </a:ext>
            </a:extLst>
          </p:cNvPr>
          <p:cNvSpPr txBox="1"/>
          <p:nvPr/>
        </p:nvSpPr>
        <p:spPr>
          <a:xfrm>
            <a:off x="6002111" y="4781862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Sobel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DB132-0117-4AFF-B5FB-19645D20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323" y="80543"/>
            <a:ext cx="9069355" cy="1325563"/>
          </a:xfrm>
        </p:spPr>
        <p:txBody>
          <a:bodyPr>
            <a:normAutofit fontScale="90000"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Image Enhancement with Laplacian and Sobel</a:t>
            </a:r>
            <a:br>
              <a:rPr lang="en-US" altLang="tr-TR" dirty="0"/>
            </a:br>
            <a:endParaRPr lang="tr-TR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3">
            <a:extLst>
              <a:ext uri="{FF2B5EF4-FFF2-40B4-BE49-F238E27FC236}">
                <a16:creationId xmlns:a16="http://schemas.microsoft.com/office/drawing/2014/main" id="{514086E3-2D5E-594F-B8D0-A673BB05A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965" y="1616075"/>
            <a:ext cx="3294062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59" name="Picture 4">
            <a:extLst>
              <a:ext uri="{FF2B5EF4-FFF2-40B4-BE49-F238E27FC236}">
                <a16:creationId xmlns:a16="http://schemas.microsoft.com/office/drawing/2014/main" id="{2F44C569-74C4-844A-B8FC-542D2D0CA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075" y="519112"/>
            <a:ext cx="1158875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01D51-4DC8-9B46-BC75-A9495F207989}"/>
              </a:ext>
            </a:extLst>
          </p:cNvPr>
          <p:cNvSpPr txBox="1"/>
          <p:nvPr/>
        </p:nvSpPr>
        <p:spPr>
          <a:xfrm>
            <a:off x="291600" y="2228671"/>
            <a:ext cx="2826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Sobel+smoothing</a:t>
            </a:r>
            <a:endParaRPr lang="en-US" dirty="0"/>
          </a:p>
          <a:p>
            <a:r>
              <a:rPr lang="en-US" dirty="0"/>
              <a:t>by 5x5 averaging mask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D926D-4F6D-7F46-A64F-CDC9F7FA393F}"/>
              </a:ext>
            </a:extLst>
          </p:cNvPr>
          <p:cNvSpPr txBox="1"/>
          <p:nvPr/>
        </p:nvSpPr>
        <p:spPr>
          <a:xfrm>
            <a:off x="1709678" y="101425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A=(</a:t>
            </a:r>
            <a:r>
              <a:rPr lang="en-US" dirty="0" err="1"/>
              <a:t>Original+Laplacian</a:t>
            </a:r>
            <a:r>
              <a:rPr lang="en-US" dirty="0"/>
              <a:t>).( </a:t>
            </a:r>
            <a:r>
              <a:rPr lang="en-US" dirty="0" err="1"/>
              <a:t>Sobel+smoothing</a:t>
            </a:r>
            <a:r>
              <a:rPr lang="en-US" dirty="0"/>
              <a:t>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DEC868-B66D-E143-BA4D-097F3F02E62F}"/>
              </a:ext>
            </a:extLst>
          </p:cNvPr>
          <p:cNvCxnSpPr>
            <a:cxnSpLocks/>
          </p:cNvCxnSpPr>
          <p:nvPr/>
        </p:nvCxnSpPr>
        <p:spPr>
          <a:xfrm flipH="1">
            <a:off x="6602936" y="1584902"/>
            <a:ext cx="550899" cy="90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2253F7-9709-984A-A6CC-11D14CD0CAA5}"/>
              </a:ext>
            </a:extLst>
          </p:cNvPr>
          <p:cNvSpPr txBox="1"/>
          <p:nvPr/>
        </p:nvSpPr>
        <p:spPr>
          <a:xfrm>
            <a:off x="1736169" y="5310045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O+A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DBAAF-86BB-8541-9D19-6B9E112F5DBB}"/>
              </a:ext>
            </a:extLst>
          </p:cNvPr>
          <p:cNvSpPr txBox="1"/>
          <p:nvPr/>
        </p:nvSpPr>
        <p:spPr>
          <a:xfrm>
            <a:off x="6861967" y="5471409"/>
            <a:ext cx="1526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PLT(O+A)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222F65-A515-46A4-92A3-F7943D5A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9" y="0"/>
            <a:ext cx="9109771" cy="1325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Image Enhancement by Combination of Smoothing, Laplacian, Sobel and PLT </a:t>
            </a:r>
            <a:br>
              <a:rPr lang="en-US" altLang="tr-TR" dirty="0"/>
            </a:br>
            <a:endParaRPr lang="tr-TR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3">
            <a:extLst>
              <a:ext uri="{FF2B5EF4-FFF2-40B4-BE49-F238E27FC236}">
                <a16:creationId xmlns:a16="http://schemas.microsoft.com/office/drawing/2014/main" id="{E698D79C-56EB-B141-8E69-0672DB5FD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1558925"/>
            <a:ext cx="5289550" cy="509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1BA32-E7D2-4786-83E3-90291D76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Image Enhancement with Composite Laplacian Masks</a:t>
            </a:r>
            <a:br>
              <a:rPr lang="en-US" altLang="tr-TR" dirty="0"/>
            </a:br>
            <a:endParaRPr lang="tr-TR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>
            <a:extLst>
              <a:ext uri="{FF2B5EF4-FFF2-40B4-BE49-F238E27FC236}">
                <a16:creationId xmlns:a16="http://schemas.microsoft.com/office/drawing/2014/main" id="{622EC187-8085-024C-AD4F-52BFD8B9C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385763"/>
            <a:ext cx="5651500" cy="82232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tr-TR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algn="ctr">
              <a:defRPr/>
            </a:pP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Image Enhancement with Laplacian</a:t>
            </a:r>
            <a:endParaRPr lang="en-US" altLang="tr-TR"/>
          </a:p>
        </p:txBody>
      </p:sp>
      <p:pic>
        <p:nvPicPr>
          <p:cNvPr id="126978" name="Picture 3">
            <a:extLst>
              <a:ext uri="{FF2B5EF4-FFF2-40B4-BE49-F238E27FC236}">
                <a16:creationId xmlns:a16="http://schemas.microsoft.com/office/drawing/2014/main" id="{3EE3B41C-92FB-3C47-A3B9-3D9CE3BC9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592263"/>
            <a:ext cx="6302375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>
            <a:extLst>
              <a:ext uri="{FF2B5EF4-FFF2-40B4-BE49-F238E27FC236}">
                <a16:creationId xmlns:a16="http://schemas.microsoft.com/office/drawing/2014/main" id="{364BF2C2-19FF-884F-9AF7-A9CC9AE77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782638"/>
            <a:ext cx="3081337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Laplacian Operator</a:t>
            </a:r>
            <a:endParaRPr lang="en-US" altLang="tr-TR"/>
          </a:p>
        </p:txBody>
      </p:sp>
      <p:pic>
        <p:nvPicPr>
          <p:cNvPr id="125954" name="Picture 3">
            <a:extLst>
              <a:ext uri="{FF2B5EF4-FFF2-40B4-BE49-F238E27FC236}">
                <a16:creationId xmlns:a16="http://schemas.microsoft.com/office/drawing/2014/main" id="{9857A269-CB73-684A-A41D-7C250C22A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274" y="1505497"/>
            <a:ext cx="5629275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8F7582-1D13-A749-B33D-7922457C2949}"/>
              </a:ext>
            </a:extLst>
          </p:cNvPr>
          <p:cNvSpPr txBox="1"/>
          <p:nvPr/>
        </p:nvSpPr>
        <p:spPr>
          <a:xfrm>
            <a:off x="6792549" y="5156616"/>
            <a:ext cx="1608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Original+</a:t>
            </a:r>
          </a:p>
          <a:p>
            <a:r>
              <a:rPr lang="en-US" dirty="0" err="1"/>
              <a:t>c.Laplacian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Date Placeholder 3">
            <a:extLst>
              <a:ext uri="{FF2B5EF4-FFF2-40B4-BE49-F238E27FC236}">
                <a16:creationId xmlns:a16="http://schemas.microsoft.com/office/drawing/2014/main" id="{A3F4A188-3775-324E-8A25-D43283F4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C68820A-1126-574E-911A-AA04E8339F73}" type="datetime1">
              <a:rPr lang="en-US" altLang="tr-TR" smtClean="0"/>
              <a:pPr/>
              <a:t>10/22/2022</a:t>
            </a:fld>
            <a:endParaRPr lang="en-US" altLang="tr-TR"/>
          </a:p>
        </p:txBody>
      </p:sp>
      <p:sp>
        <p:nvSpPr>
          <p:cNvPr id="83971" name="Slide Number Placeholder 5">
            <a:extLst>
              <a:ext uri="{FF2B5EF4-FFF2-40B4-BE49-F238E27FC236}">
                <a16:creationId xmlns:a16="http://schemas.microsoft.com/office/drawing/2014/main" id="{6B732440-B3D8-B745-B0B4-9DB29E34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2D60465-916C-074C-8280-129F1014E5D8}" type="slidenum">
              <a:rPr lang="en-US" altLang="tr-TR"/>
              <a:pPr/>
              <a:t>68</a:t>
            </a:fld>
            <a:endParaRPr lang="en-US" altLang="tr-TR"/>
          </a:p>
        </p:txBody>
      </p:sp>
      <p:pic>
        <p:nvPicPr>
          <p:cNvPr id="83972" name="Picture 4">
            <a:extLst>
              <a:ext uri="{FF2B5EF4-FFF2-40B4-BE49-F238E27FC236}">
                <a16:creationId xmlns:a16="http://schemas.microsoft.com/office/drawing/2014/main" id="{1258EA08-41FA-3649-98DC-54917D8C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345" y="857250"/>
            <a:ext cx="297061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3" name="Picture 5">
            <a:extLst>
              <a:ext uri="{FF2B5EF4-FFF2-40B4-BE49-F238E27FC236}">
                <a16:creationId xmlns:a16="http://schemas.microsoft.com/office/drawing/2014/main" id="{0A6D5955-60F8-3640-BB76-C48A93C0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45" y="1063230"/>
            <a:ext cx="1616869" cy="398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5784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16A6-4D3B-450D-9593-B682118B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Quiz#5  Convolute the following 256x256 image with a 3x3  mask:</a:t>
            </a:r>
            <a:endParaRPr lang="tr-T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E5735-CD87-4708-BDD9-EA8BF23F9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0      ,    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∈[0, 127]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15    ,    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255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    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E5735-CD87-4708-BDD9-EA8BF23F9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62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10696</TotalTime>
  <Words>1938</Words>
  <Application>Microsoft Office PowerPoint</Application>
  <PresentationFormat>On-screen Show (4:3)</PresentationFormat>
  <Paragraphs>618</Paragraphs>
  <Slides>69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ＭＳ Ｐゴシック</vt:lpstr>
      <vt:lpstr>Arial</vt:lpstr>
      <vt:lpstr>Calibri</vt:lpstr>
      <vt:lpstr>Calibri Light</vt:lpstr>
      <vt:lpstr>Cambria Math</vt:lpstr>
      <vt:lpstr>Comic Sans MS</vt:lpstr>
      <vt:lpstr>Symbol</vt:lpstr>
      <vt:lpstr>Tahoma</vt:lpstr>
      <vt:lpstr>Times New Roman</vt:lpstr>
      <vt:lpstr>Verdana</vt:lpstr>
      <vt:lpstr>Office Theme</vt:lpstr>
      <vt:lpstr>Equation</vt:lpstr>
      <vt:lpstr>Week 5: Spatial Filters for Image Enhancement</vt:lpstr>
      <vt:lpstr>Image Enhancement in Space Domain</vt:lpstr>
      <vt:lpstr>What is image filtering?</vt:lpstr>
      <vt:lpstr>Human brain hierarchically unifies the signals to create meaning</vt:lpstr>
      <vt:lpstr>How do we unify signals to extract meanings, algorithmically?</vt:lpstr>
      <vt:lpstr>Linear Filters: </vt:lpstr>
      <vt:lpstr>Filter design </vt:lpstr>
      <vt:lpstr>Select the origin for image and filter</vt:lpstr>
      <vt:lpstr>1.1. Convolution with averaging filters</vt:lpstr>
      <vt:lpstr>Convolution with averaging filters</vt:lpstr>
      <vt:lpstr>Practical implementation of Convolution</vt:lpstr>
      <vt:lpstr>What is convolution realy?</vt:lpstr>
      <vt:lpstr>Example: One-dimensional Convolution  What is the amount of filter function in a particular time instance  of the input function?</vt:lpstr>
      <vt:lpstr>Example: One-dimensional convolution The amount of filter function in the input function</vt:lpstr>
      <vt:lpstr>PowerPoint Presentation</vt:lpstr>
      <vt:lpstr>Application : TV Remote Control by Normalized correlation</vt:lpstr>
      <vt:lpstr>Application: TV Remote Control</vt:lpstr>
      <vt:lpstr>Application : TV Remote Control (cont’d)</vt:lpstr>
      <vt:lpstr>Application : TV Remote Control (cont’d)</vt:lpstr>
      <vt:lpstr>Application : TV Remote Control (cont’d)</vt:lpstr>
      <vt:lpstr>Application : TV Remote Control (cont’d)</vt:lpstr>
      <vt:lpstr>Quiz#4  Convolute the following 256x256 image with a 3x3 averaging mask:</vt:lpstr>
      <vt:lpstr>Two types of filters</vt:lpstr>
      <vt:lpstr>1.1. Smoothing Filters: Averaging</vt:lpstr>
      <vt:lpstr>Output of Averaging filters: Removes noise while blurs. </vt:lpstr>
      <vt:lpstr>PowerPoint Presentation</vt:lpstr>
      <vt:lpstr>PowerPoint Presentation</vt:lpstr>
      <vt:lpstr>1.2.Gaussian Filters for Smoothing</vt:lpstr>
      <vt:lpstr>Need to sample and quantize the Gaussian function</vt:lpstr>
      <vt:lpstr>1.2. Sampling and quantization of the filter</vt:lpstr>
      <vt:lpstr>1.2. Gaussian Filters for Smoothing</vt:lpstr>
      <vt:lpstr>1.2. Gaussian Smoothing - Example</vt:lpstr>
      <vt:lpstr>Averaging vs Gaussian Smoothing</vt:lpstr>
      <vt:lpstr>1.3 Nonlinear Smoothing Filters: Median Filters</vt:lpstr>
      <vt:lpstr>Median Filtering</vt:lpstr>
      <vt:lpstr>Median Filtering removes sand like noise</vt:lpstr>
      <vt:lpstr>Median filter is a nonlinear filter</vt:lpstr>
      <vt:lpstr>Median filtering breaks the straight lines</vt:lpstr>
      <vt:lpstr>Median filtering breaks the straight lines</vt:lpstr>
      <vt:lpstr>2. Sharpening Filters: Edge detectors</vt:lpstr>
      <vt:lpstr>EDGE PROFILES  </vt:lpstr>
      <vt:lpstr>Mathematical Representation of  Edge </vt:lpstr>
      <vt:lpstr>Gradient of continuous functions, f(x,y):  First derivative</vt:lpstr>
      <vt:lpstr>Laplacian of a continuous function, f(x,y): Second derivative</vt:lpstr>
      <vt:lpstr>Ex : f(x,y) = 1/4 x^2 〖 +  1/9 y〗^2 +2</vt:lpstr>
      <vt:lpstr>PowerPoint Presentation</vt:lpstr>
      <vt:lpstr>GRADİENT AND LAPLACIEN OF SMOOT EDGES, NOISY EDGES </vt:lpstr>
      <vt:lpstr>First Difference Operation Approximates Gradient for Discrete Functions</vt:lpstr>
      <vt:lpstr>How to use convolution to approximate the first derivative</vt:lpstr>
      <vt:lpstr>2x2 GRADIENT EDGE MASKS:  Approximation in discrete grid Roberts mask for detecting diagonal edges</vt:lpstr>
      <vt:lpstr>PowerPoint Presentation</vt:lpstr>
      <vt:lpstr>Sobel Edge Detector as a disxrete Gradient Operator </vt:lpstr>
      <vt:lpstr>Edge Detection by Vertical and Horizontal  Gradient Operators  </vt:lpstr>
      <vt:lpstr>Diagonal Edge Detection by Vertical and Horizontal Gradient operators </vt:lpstr>
      <vt:lpstr>Edge detection after Smoothing with  Vertical and Horizontal Gradient filters </vt:lpstr>
      <vt:lpstr>PowerPoint Presentation</vt:lpstr>
      <vt:lpstr>LAPLACIAN MASKS:  Approximation of second derivative filters</vt:lpstr>
      <vt:lpstr>Sharpening  Filters: Laplace Operator</vt:lpstr>
      <vt:lpstr>Laplacian of Gaussian Filters:  Second derivative of Gaussian Function</vt:lpstr>
      <vt:lpstr>LAPLACIAN of GAUSSIAN EDGE MASKS Second derivative of the Gaussian function</vt:lpstr>
      <vt:lpstr>LoG for 9x9 discrete grid</vt:lpstr>
      <vt:lpstr>Edge Detection  in Radiological  Images</vt:lpstr>
      <vt:lpstr>Image Enhancement with Laplacian and Sobel </vt:lpstr>
      <vt:lpstr>Image Enhancement by Combination of Smoothing, Laplacian, Sobel and PLT  </vt:lpstr>
      <vt:lpstr>Image Enhancement with Composite Laplacian Masks </vt:lpstr>
      <vt:lpstr>PowerPoint Presentation</vt:lpstr>
      <vt:lpstr>PowerPoint Presentation</vt:lpstr>
      <vt:lpstr>PowerPoint Presentation</vt:lpstr>
      <vt:lpstr>Quiz#5  Convolute the following 256x256 image with a 3x3  mask: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Gonzalez</dc:creator>
  <cp:lastModifiedBy>Fatos</cp:lastModifiedBy>
  <cp:revision>157</cp:revision>
  <dcterms:created xsi:type="dcterms:W3CDTF">2001-12-06T17:51:11Z</dcterms:created>
  <dcterms:modified xsi:type="dcterms:W3CDTF">2022-10-22T17:19:33Z</dcterms:modified>
</cp:coreProperties>
</file>