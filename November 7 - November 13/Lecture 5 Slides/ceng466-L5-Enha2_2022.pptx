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tiff" ContentType="image/tiff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68" r:id="rId1"/>
  </p:sldMasterIdLst>
  <p:notesMasterIdLst>
    <p:notesMasterId r:id="rId74"/>
  </p:notesMasterIdLst>
  <p:handoutMasterIdLst>
    <p:handoutMasterId r:id="rId75"/>
  </p:handoutMasterIdLst>
  <p:sldIdLst>
    <p:sldId id="364" r:id="rId2"/>
    <p:sldId id="493" r:id="rId3"/>
    <p:sldId id="429" r:id="rId4"/>
    <p:sldId id="267" r:id="rId5"/>
    <p:sldId id="454" r:id="rId6"/>
    <p:sldId id="442" r:id="rId7"/>
    <p:sldId id="494" r:id="rId8"/>
    <p:sldId id="487" r:id="rId9"/>
    <p:sldId id="510" r:id="rId10"/>
    <p:sldId id="281" r:id="rId11"/>
    <p:sldId id="282" r:id="rId12"/>
    <p:sldId id="486" r:id="rId13"/>
    <p:sldId id="495" r:id="rId14"/>
    <p:sldId id="378" r:id="rId15"/>
    <p:sldId id="461" r:id="rId16"/>
    <p:sldId id="427" r:id="rId17"/>
    <p:sldId id="426" r:id="rId18"/>
    <p:sldId id="428" r:id="rId19"/>
    <p:sldId id="422" r:id="rId20"/>
    <p:sldId id="423" r:id="rId21"/>
    <p:sldId id="424" r:id="rId22"/>
    <p:sldId id="425" r:id="rId23"/>
    <p:sldId id="489" r:id="rId24"/>
    <p:sldId id="446" r:id="rId25"/>
    <p:sldId id="447" r:id="rId26"/>
    <p:sldId id="483" r:id="rId27"/>
    <p:sldId id="484" r:id="rId28"/>
    <p:sldId id="488" r:id="rId29"/>
    <p:sldId id="496" r:id="rId30"/>
    <p:sldId id="449" r:id="rId31"/>
    <p:sldId id="448" r:id="rId32"/>
    <p:sldId id="439" r:id="rId33"/>
    <p:sldId id="450" r:id="rId34"/>
    <p:sldId id="360" r:id="rId35"/>
    <p:sldId id="498" r:id="rId36"/>
    <p:sldId id="499" r:id="rId37"/>
    <p:sldId id="497" r:id="rId38"/>
    <p:sldId id="361" r:id="rId39"/>
    <p:sldId id="504" r:id="rId40"/>
    <p:sldId id="490" r:id="rId41"/>
    <p:sldId id="343" r:id="rId42"/>
    <p:sldId id="373" r:id="rId43"/>
    <p:sldId id="362" r:id="rId44"/>
    <p:sldId id="374" r:id="rId45"/>
    <p:sldId id="500" r:id="rId46"/>
    <p:sldId id="508" r:id="rId47"/>
    <p:sldId id="344" r:id="rId48"/>
    <p:sldId id="345" r:id="rId49"/>
    <p:sldId id="491" r:id="rId50"/>
    <p:sldId id="509" r:id="rId51"/>
    <p:sldId id="492" r:id="rId52"/>
    <p:sldId id="346" r:id="rId53"/>
    <p:sldId id="347" r:id="rId54"/>
    <p:sldId id="337" r:id="rId55"/>
    <p:sldId id="354" r:id="rId56"/>
    <p:sldId id="348" r:id="rId57"/>
    <p:sldId id="349" r:id="rId58"/>
    <p:sldId id="350" r:id="rId59"/>
    <p:sldId id="351" r:id="rId60"/>
    <p:sldId id="474" r:id="rId61"/>
    <p:sldId id="501" r:id="rId62"/>
    <p:sldId id="352" r:id="rId63"/>
    <p:sldId id="502" r:id="rId64"/>
    <p:sldId id="353" r:id="rId65"/>
    <p:sldId id="338" r:id="rId66"/>
    <p:sldId id="339" r:id="rId67"/>
    <p:sldId id="315" r:id="rId68"/>
    <p:sldId id="340" r:id="rId69"/>
    <p:sldId id="314" r:id="rId70"/>
    <p:sldId id="476" r:id="rId71"/>
    <p:sldId id="505" r:id="rId72"/>
    <p:sldId id="507" r:id="rId7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9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529" autoAdjust="0"/>
  </p:normalViewPr>
  <p:slideViewPr>
    <p:cSldViewPr snapToGrid="0">
      <p:cViewPr>
        <p:scale>
          <a:sx n="87" d="100"/>
          <a:sy n="87" d="100"/>
        </p:scale>
        <p:origin x="1303" y="48"/>
      </p:cViewPr>
      <p:guideLst>
        <p:guide orient="horz" pos="4297"/>
        <p:guide pos="2880"/>
      </p:guideLst>
    </p:cSldViewPr>
  </p:slideViewPr>
  <p:outlineViewPr>
    <p:cViewPr>
      <p:scale>
        <a:sx n="33" d="100"/>
        <a:sy n="33" d="100"/>
      </p:scale>
      <p:origin x="54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2" d="100"/>
        <a:sy n="52" d="100"/>
      </p:scale>
      <p:origin x="0" y="-339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7-08-12T16:16:10.767" idx="1">
    <p:pos x="10" y="10"/>
    <p:text/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72FF42-ABE5-CF42-82E6-C28F2E3AC5B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3CEF65-13CB-D149-AA11-9746945DAF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4B4CCB2-3E23-6141-AB53-A847888DFFD2}" type="datetimeFigureOut">
              <a:rPr lang="tr-TR" altLang="tr-TR"/>
              <a:pPr>
                <a:defRPr/>
              </a:pPr>
              <a:t>27.10.2022</a:t>
            </a:fld>
            <a:endParaRPr lang="tr-TR" alt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71C87B-EAB3-B945-BB3A-D7BB8A38B0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8154B8-414D-8643-8204-02D4AC88CB0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AB330A1-1C29-3C45-A441-6086A61D0CBF}" type="slidenum">
              <a:rPr lang="uk-UA" altLang="tr-TR"/>
              <a:pPr>
                <a:defRPr/>
              </a:pPr>
              <a:t>‹#›</a:t>
            </a:fld>
            <a:endParaRPr lang="tr-TR" alt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457110C-75EA-6547-BA3D-C76321D4EE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E66E843-18A6-8845-B7C0-A58BB8CBF45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C8D5F8D-E738-5D47-91FD-958E289A327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5003C933-7493-F04C-933A-DF3F179A518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A44B7ADB-0E49-1D40-9D57-CB45587DC59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tr-TR" altLang="tr-TR"/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18515FA9-3CC8-9945-ADF4-60DD5069EC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69BCBEA-419F-B042-897D-0253288B6EC8}" type="slidenum">
              <a:rPr lang="en-US" altLang="tr-TR"/>
              <a:pPr>
                <a:defRPr/>
              </a:pPr>
              <a:t>‹#›</a:t>
            </a:fld>
            <a:endParaRPr lang="en-US" alt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13E2AAAE-4151-694A-9CA8-E02AE2F08E1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r"/>
            <a:fld id="{258AC22F-3CFE-F643-8B60-3F7E9DB1676E}" type="slidenum">
              <a:rPr lang="en-US" altLang="tr-TR" sz="1200"/>
              <a:pPr algn="r"/>
              <a:t>3</a:t>
            </a:fld>
            <a:endParaRPr lang="en-US" altLang="tr-TR" sz="1200"/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17469848-D68A-AA42-806C-CB48543613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7BE4410C-CBD7-D440-B7D6-8BAADC1736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576586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>
            <a:extLst>
              <a:ext uri="{FF2B5EF4-FFF2-40B4-BE49-F238E27FC236}">
                <a16:creationId xmlns:a16="http://schemas.microsoft.com/office/drawing/2014/main" id="{04D6576A-A53C-C543-8B8D-41949C6A24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2" name="Notes Placeholder 2">
            <a:extLst>
              <a:ext uri="{FF2B5EF4-FFF2-40B4-BE49-F238E27FC236}">
                <a16:creationId xmlns:a16="http://schemas.microsoft.com/office/drawing/2014/main" id="{2131D341-C53E-B844-A52F-D45BDF0E0B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tr-TR" altLang="tr-TR"/>
              <a:t>İnferior temporal gyrus</a:t>
            </a:r>
          </a:p>
        </p:txBody>
      </p:sp>
      <p:sp>
        <p:nvSpPr>
          <p:cNvPr id="40963" name="Slide Number Placeholder 3">
            <a:extLst>
              <a:ext uri="{FF2B5EF4-FFF2-40B4-BE49-F238E27FC236}">
                <a16:creationId xmlns:a16="http://schemas.microsoft.com/office/drawing/2014/main" id="{6E9D4775-3F88-FF48-ACEE-FBC4D20497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91BA716-6FA2-3345-8BDD-1B970720C5BB}" type="slidenum">
              <a:rPr lang="tr-TR" altLang="tr-TR" sz="1200" smtClean="0"/>
              <a:pPr/>
              <a:t>4</a:t>
            </a:fld>
            <a:endParaRPr lang="tr-TR" altLang="tr-TR" sz="1200"/>
          </a:p>
        </p:txBody>
      </p:sp>
    </p:spTree>
    <p:extLst>
      <p:ext uri="{BB962C8B-B14F-4D97-AF65-F5344CB8AC3E}">
        <p14:creationId xmlns:p14="http://schemas.microsoft.com/office/powerpoint/2010/main" val="3801637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AAF98284-AA26-9C48-A4E1-A1CEF90BA9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1CBABC59-F449-D846-BF19-548397DFA4AE}" type="slidenum">
              <a:rPr lang="en-US" altLang="tr-TR" sz="1200" smtClean="0"/>
              <a:pPr/>
              <a:t>6</a:t>
            </a:fld>
            <a:endParaRPr lang="en-US" altLang="tr-TR" sz="1200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9D342106-FF2E-4E49-8B38-0E52BEAA8F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1BDBEFBA-168F-5842-88B1-FF8E2953B4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923965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4F44D882-5F67-6B41-9EA0-EA4CF7BE46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5A0D663-6ADA-B940-B159-DA4ADD714E14}" type="slidenum">
              <a:rPr lang="en-US" altLang="tr-TR" sz="1200" smtClean="0"/>
              <a:pPr/>
              <a:t>16</a:t>
            </a:fld>
            <a:endParaRPr lang="en-US" altLang="tr-TR" sz="1200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4629BA92-14BE-6549-9524-1D1E7DE1DC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674F8ECB-E9C3-BF4A-B5E8-814F9B7D62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985631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29C34A13-8671-374A-A0EC-7406A35BE2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9D1F8D6C-9BCA-EE49-ACDF-88C2C1C4F0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36683742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1B23F608-9EB2-8345-A5FB-F3F4E944D5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A3EDFA37-59A0-7145-BFAA-41ADA686E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7758239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59C828E4-E8C3-F84B-AFBF-00FC3C2E37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97BAC647-97E3-8D40-A444-C8B510707F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13180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8E3218D9-DC31-2343-810B-52C96B32DA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7803F8A3-B4DF-B54C-89C6-AD1A9665F8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34324103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F7F5BBFC-4DB7-414C-919C-7AADA226D0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DF2A22FE-E05E-B146-B82E-B20182DCE1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679323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07B4F054-DF2D-A743-9815-19A4106CB1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7855B100-001D-DA4A-B7C1-D1CCE74B8F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4052320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>
            <a:extLst>
              <a:ext uri="{FF2B5EF4-FFF2-40B4-BE49-F238E27FC236}">
                <a16:creationId xmlns:a16="http://schemas.microsoft.com/office/drawing/2014/main" id="{C25C7493-BFCB-F748-8BF1-37E5B5D063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F36FBF3-56B4-DF47-BAD8-625DF240BEED}" type="slidenum">
              <a:rPr lang="en-US" altLang="tr-TR" sz="1200" smtClean="0"/>
              <a:pPr/>
              <a:t>24</a:t>
            </a:fld>
            <a:endParaRPr lang="en-US" altLang="tr-TR" sz="1200"/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365A741F-A6B7-6A40-A8C0-4D741B3FA6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BC04EA26-A260-574E-BD68-047AEBC82A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9465680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>
            <a:extLst>
              <a:ext uri="{FF2B5EF4-FFF2-40B4-BE49-F238E27FC236}">
                <a16:creationId xmlns:a16="http://schemas.microsoft.com/office/drawing/2014/main" id="{9858EAE0-153A-4E42-A5DB-6A1B9C4295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AB5EB61-A426-E249-B271-CD71646B9DB2}" type="slidenum">
              <a:rPr lang="en-US" altLang="tr-TR" sz="1200" smtClean="0"/>
              <a:pPr/>
              <a:t>25</a:t>
            </a:fld>
            <a:endParaRPr lang="en-US" altLang="tr-TR" sz="1200"/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26573B29-8ED2-FE4D-8120-4264522AFD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20AE7821-2757-654D-8E3C-8DBBB6784F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32022661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>
            <a:extLst>
              <a:ext uri="{FF2B5EF4-FFF2-40B4-BE49-F238E27FC236}">
                <a16:creationId xmlns:a16="http://schemas.microsoft.com/office/drawing/2014/main" id="{9879677F-D51F-5445-925F-FD44ED10AD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E424C0E-B5C5-0241-9E6E-F2C972652694}" type="slidenum">
              <a:rPr lang="en-US" altLang="tr-TR" sz="1200" smtClean="0"/>
              <a:pPr/>
              <a:t>30</a:t>
            </a:fld>
            <a:endParaRPr lang="en-US" altLang="tr-TR" sz="1200"/>
          </a:p>
        </p:txBody>
      </p:sp>
      <p:sp>
        <p:nvSpPr>
          <p:cNvPr id="80898" name="Rectangle 2">
            <a:extLst>
              <a:ext uri="{FF2B5EF4-FFF2-40B4-BE49-F238E27FC236}">
                <a16:creationId xmlns:a16="http://schemas.microsoft.com/office/drawing/2014/main" id="{55C10972-EAE8-D146-8FE7-C15A638A88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01226B2C-48E8-0841-BD5F-FE3E19EB9A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1378650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>
            <a:extLst>
              <a:ext uri="{FF2B5EF4-FFF2-40B4-BE49-F238E27FC236}">
                <a16:creationId xmlns:a16="http://schemas.microsoft.com/office/drawing/2014/main" id="{52C65C5D-5711-0F46-976A-D6AC10010D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3E0A6B6-DC9B-3343-B568-9E1E66EA01C1}" type="slidenum">
              <a:rPr lang="en-US" altLang="tr-TR" sz="1200" smtClean="0"/>
              <a:pPr/>
              <a:t>31</a:t>
            </a:fld>
            <a:endParaRPr lang="en-US" altLang="tr-TR" sz="1200"/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67663C1D-33F5-B741-B07F-C01EE52B87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8E0C2090-39F0-144D-B627-E709AB00E9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25604420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9BCBEA-419F-B042-897D-0253288B6EC8}" type="slidenum">
              <a:rPr lang="en-US" altLang="tr-TR" smtClean="0"/>
              <a:pPr>
                <a:defRPr/>
              </a:pPr>
              <a:t>32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6652560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Slide Image Placeholder 1">
            <a:extLst>
              <a:ext uri="{FF2B5EF4-FFF2-40B4-BE49-F238E27FC236}">
                <a16:creationId xmlns:a16="http://schemas.microsoft.com/office/drawing/2014/main" id="{4966D803-B6BF-3C42-BDAE-EA6323D252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2" name="Notes Placeholder 2">
            <a:extLst>
              <a:ext uri="{FF2B5EF4-FFF2-40B4-BE49-F238E27FC236}">
                <a16:creationId xmlns:a16="http://schemas.microsoft.com/office/drawing/2014/main" id="{D54F7EB4-F5C7-C943-9210-11A264496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/>
          </a:p>
        </p:txBody>
      </p:sp>
      <p:sp>
        <p:nvSpPr>
          <p:cNvPr id="102403" name="Slide Number Placeholder 3">
            <a:extLst>
              <a:ext uri="{FF2B5EF4-FFF2-40B4-BE49-F238E27FC236}">
                <a16:creationId xmlns:a16="http://schemas.microsoft.com/office/drawing/2014/main" id="{FE5D84ED-B090-EC4B-AA0C-FE40848D8E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D52B0CE-E14D-064A-9F32-1D03B4E4196C}" type="slidenum">
              <a:rPr lang="en-US" altLang="tr-TR" smtClean="0"/>
              <a:pPr>
                <a:spcBef>
                  <a:spcPct val="0"/>
                </a:spcBef>
              </a:pPr>
              <a:t>48</a:t>
            </a:fld>
            <a:endParaRPr lang="en-US" alt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BDC0E-EA58-4837-8591-D139CC4E7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07EE83-D7DA-4003-A18A-65BD1865F8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3CAD6-8C85-43B0-9E3C-FFD011195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1CEB-1D12-224D-BA32-714154AB3590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CA68B-F1B2-4FC7-9814-13D68584C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1BA00-C45D-42AA-B661-A0E63B544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9CB6-4ED2-C243-A0A7-90EF620F2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668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0250F-3C41-462D-8111-2B502F158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F0A4C-4EB6-437A-A398-1ACE5B386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F55B8-4809-4EFA-98FD-84D137AC2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1CEB-1D12-224D-BA32-714154AB3590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DD09C-B5E2-4CE4-BA98-215AB5731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5A921-CF34-462C-8FF8-49F076A84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9CB6-4ED2-C243-A0A7-90EF620F2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52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9FE67-924C-4D37-B68E-87CCBC86F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97776-426D-4A9C-AEE4-D295ABE96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452C3-626C-41BB-BD19-C85FA39A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1CEB-1D12-224D-BA32-714154AB3590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FC4E7-181F-4F7D-9308-46ED16B38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8C0A2-447F-4BDF-8941-CDD8B0C4A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9CB6-4ED2-C243-A0A7-90EF620F2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442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6EDD2-C4BE-4E7D-8C1C-DABF9D76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A2429-1D71-4126-9D13-F40E76ACD6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883E79-6D42-47BA-A39D-5D8A01CB4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3E23E-7D6E-4C76-B68A-CF6AE13E9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1CEB-1D12-224D-BA32-714154AB3590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0E873-2035-441B-A876-02D500BD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6CDF3-12B1-42C2-B8F3-EDFCE3E8A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9CB6-4ED2-C243-A0A7-90EF620F2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988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7D3C1-6BD3-42DE-B915-32DC89AFF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86D01-159C-47A6-9EA9-92F058234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F6594-230F-40ED-890C-32C25B16E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FDFD05-0932-4D94-9C7E-63658601F5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C28158-E77D-4D7E-A432-E853923932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E66EE7-517E-460D-923F-6E8971316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1CEB-1D12-224D-BA32-714154AB3590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FCA2CF-A759-40EA-BFFD-7D3C4D7C2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B519E5-CED9-4DB1-86C8-B3F48B189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9CB6-4ED2-C243-A0A7-90EF620F2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928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A506C-8EF9-4464-9006-1697DE918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6FE546-6430-4635-8847-3E8C6F95B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1CEB-1D12-224D-BA32-714154AB3590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B8CB5-4AA1-47AB-8A01-2A298AEB0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AB957-E154-4B7E-991E-3C699381A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9CB6-4ED2-C243-A0A7-90EF620F2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4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BEB779-F969-4BA3-8F04-16DE4BF2C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1CEB-1D12-224D-BA32-714154AB3590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CA7CB-2196-4A57-BF8F-4938E9E0E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63907-4FF2-45D5-B7FD-FAA9A883A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9CB6-4ED2-C243-A0A7-90EF620F2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2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7BFB6-6D1E-4A5A-A2F4-D0A6E350B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FD3EF-C4CC-4C55-B53D-CA046E68B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C0BA1D-269A-4323-A36F-A52042271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477D2-B6CA-470B-B47B-A70E1F96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1CEB-1D12-224D-BA32-714154AB3590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C714E-DD54-48DB-A1AA-3C152E6DF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0CBEEC-43E9-49B5-A166-30B73F7D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9CB6-4ED2-C243-A0A7-90EF620F2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357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1CE55-D358-461C-A547-043C8F699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F53B2F-7B19-4318-B2C0-D32C779FD7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6454D-E701-44E1-9488-A6260DC55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3220B-B968-40D2-AE35-CAD2D047C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1CEB-1D12-224D-BA32-714154AB3590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6C063-C2A5-4A5A-B622-EB381AEC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B1A0A4-B712-49E2-9DB6-A8DEE5F70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9CB6-4ED2-C243-A0A7-90EF620F2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96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D844C-2187-4604-AE4B-D2E890537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70FF7B-726C-40AE-9AF9-AB1AD524C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A01B1-9FF3-47F3-A2D5-3CCF027CE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1CEB-1D12-224D-BA32-714154AB3590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C1B4E-C786-421F-AA03-0A52DA8F7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8BB5A-95C9-4BF7-B2BC-BFA157F5D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9CB6-4ED2-C243-A0A7-90EF620F2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442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7FE838-AE0A-4B0E-BB3F-2FAE48045E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585E79-2D08-4464-A187-CC2D28EDB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08278-3C7E-472E-A534-9E3A89B09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1CEB-1D12-224D-BA32-714154AB3590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12F00-91F0-4713-A11E-C14229F56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45EDC-3C87-4338-B7B4-BCF56827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9CB6-4ED2-C243-A0A7-90EF620F2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89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61382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F57A83-276B-485E-83B8-6726FDFB6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D6A3B-1E93-4139-BA3C-394E09D7E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F199D-6C06-4809-B3D4-03D5BA989A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51CEB-1D12-224D-BA32-714154AB3590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E20F8-CF71-420F-B816-3A2003E466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0F705-4391-4C6C-921B-FC33C27423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09CB6-4ED2-C243-A0A7-90EF620F2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53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comments" Target="../comments/comment1.xml"/><Relationship Id="rId5" Type="http://schemas.openxmlformats.org/officeDocument/2006/relationships/image" Target="../media/image4.png"/><Relationship Id="rId4" Type="http://schemas.openxmlformats.org/officeDocument/2006/relationships/image" Target="../media/image3.tif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emf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tags" Target="../tags/tag3.xml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tags" Target="../tags/tag2.xml"/><Relationship Id="rId16" Type="http://schemas.openxmlformats.org/officeDocument/2006/relationships/image" Target="../media/image48.png"/><Relationship Id="rId1" Type="http://schemas.openxmlformats.org/officeDocument/2006/relationships/tags" Target="../tags/tag1.xml"/><Relationship Id="rId6" Type="http://schemas.openxmlformats.org/officeDocument/2006/relationships/notesSlide" Target="../notesSlides/notesSlide15.xml"/><Relationship Id="rId11" Type="http://schemas.openxmlformats.org/officeDocument/2006/relationships/image" Target="../media/image43.png"/><Relationship Id="rId5" Type="http://schemas.openxmlformats.org/officeDocument/2006/relationships/slideLayout" Target="../slideLayouts/slideLayout2.xml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tags" Target="../tags/tag4.xml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tiff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tiff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tiff"/><Relationship Id="rId2" Type="http://schemas.openxmlformats.org/officeDocument/2006/relationships/image" Target="../media/image57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9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80.png"/><Relationship Id="rId4" Type="http://schemas.openxmlformats.org/officeDocument/2006/relationships/image" Target="../media/image57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tiff"/><Relationship Id="rId4" Type="http://schemas.openxmlformats.org/officeDocument/2006/relationships/image" Target="../media/image34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tiff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emf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itle 1">
            <a:extLst>
              <a:ext uri="{FF2B5EF4-FFF2-40B4-BE49-F238E27FC236}">
                <a16:creationId xmlns:a16="http://schemas.microsoft.com/office/drawing/2014/main" id="{7CE0B376-A3B6-A440-8D08-490A7669C15E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1143000" y="1626577"/>
            <a:ext cx="6858000" cy="188338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tr-TR" dirty="0"/>
              <a:t>Week 5: Spatial Filters for Image Enhancement</a:t>
            </a:r>
          </a:p>
        </p:txBody>
      </p:sp>
      <p:sp>
        <p:nvSpPr>
          <p:cNvPr id="4098" name="Subtitle 2">
            <a:extLst>
              <a:ext uri="{FF2B5EF4-FFF2-40B4-BE49-F238E27FC236}">
                <a16:creationId xmlns:a16="http://schemas.microsoft.com/office/drawing/2014/main" id="{67847083-A745-6D4D-867E-D41F48B9EB94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1143000" y="3606703"/>
            <a:ext cx="6858000" cy="16557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tr-TR" altLang="tr-TR" sz="2800" dirty="0"/>
              <a:t>Hazal </a:t>
            </a:r>
            <a:r>
              <a:rPr lang="tr-TR" altLang="tr-TR" sz="2800" dirty="0" err="1"/>
              <a:t>Mogultay</a:t>
            </a:r>
            <a:r>
              <a:rPr lang="tr-TR" altLang="tr-TR" sz="2800" dirty="0"/>
              <a:t> </a:t>
            </a:r>
            <a:r>
              <a:rPr lang="tr-TR" altLang="tr-TR" sz="2800" dirty="0" err="1"/>
              <a:t>and</a:t>
            </a:r>
            <a:r>
              <a:rPr lang="tr-TR" altLang="tr-TR" sz="2800" dirty="0"/>
              <a:t> Fatoş Tunay Yarman Vural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1A0D4-C499-884A-A642-2F4346140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Enhancement in Space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3256D-1125-3540-BC0C-07784FFBD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Point operations</a:t>
            </a:r>
          </a:p>
          <a:p>
            <a:pPr lvl="1"/>
            <a:r>
              <a:rPr lang="en-US" sz="2400" dirty="0"/>
              <a:t>Gray scale transform</a:t>
            </a:r>
          </a:p>
          <a:p>
            <a:pPr lvl="1"/>
            <a:r>
              <a:rPr lang="en-US" sz="2400" dirty="0"/>
              <a:t>Bit plane slicing</a:t>
            </a:r>
          </a:p>
          <a:p>
            <a:pPr lvl="1"/>
            <a:r>
              <a:rPr lang="en-US" sz="2400" dirty="0"/>
              <a:t>Histogram equalization</a:t>
            </a:r>
          </a:p>
          <a:p>
            <a:pPr lvl="1"/>
            <a:r>
              <a:rPr lang="en-US" sz="2400" dirty="0"/>
              <a:t>Histogram specification</a:t>
            </a:r>
          </a:p>
          <a:p>
            <a:r>
              <a:rPr lang="en-US" sz="2400" dirty="0">
                <a:solidFill>
                  <a:srgbClr val="FF0000"/>
                </a:solidFill>
              </a:rPr>
              <a:t>Spatial Filtering: Convolution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Smoothing filters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Sharpening filters</a:t>
            </a:r>
          </a:p>
        </p:txBody>
      </p:sp>
    </p:spTree>
    <p:extLst>
      <p:ext uri="{BB962C8B-B14F-4D97-AF65-F5344CB8AC3E}">
        <p14:creationId xmlns:p14="http://schemas.microsoft.com/office/powerpoint/2010/main" val="804717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9CD5E-A0DF-7949-8D53-1A1EFE540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What is image filtering?</a:t>
            </a:r>
            <a:endParaRPr lang="tr-TR" dirty="0"/>
          </a:p>
        </p:txBody>
      </p:sp>
      <p:sp>
        <p:nvSpPr>
          <p:cNvPr id="7170" name="Text Box 5">
            <a:extLst>
              <a:ext uri="{FF2B5EF4-FFF2-40B4-BE49-F238E27FC236}">
                <a16:creationId xmlns:a16="http://schemas.microsoft.com/office/drawing/2014/main" id="{5B308A33-8E7B-3D4F-9B42-FB9090A89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1286" y="2184796"/>
            <a:ext cx="102870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sz="2100" dirty="0"/>
              <a:t>f(</a:t>
            </a:r>
            <a:r>
              <a:rPr kumimoji="1" lang="en-US" altLang="tr-TR" sz="2100" dirty="0" err="1"/>
              <a:t>x,y</a:t>
            </a:r>
            <a:r>
              <a:rPr kumimoji="1" lang="en-US" altLang="tr-TR" sz="2100" dirty="0"/>
              <a:t>)</a:t>
            </a:r>
          </a:p>
        </p:txBody>
      </p:sp>
      <p:sp>
        <p:nvSpPr>
          <p:cNvPr id="7171" name="Text Box 7">
            <a:extLst>
              <a:ext uri="{FF2B5EF4-FFF2-40B4-BE49-F238E27FC236}">
                <a16:creationId xmlns:a16="http://schemas.microsoft.com/office/drawing/2014/main" id="{258EC840-4112-BF45-9C7E-2E90634DCB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4009" y="2171701"/>
            <a:ext cx="83548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sz="2100" dirty="0"/>
              <a:t>g(</a:t>
            </a:r>
            <a:r>
              <a:rPr kumimoji="1" lang="en-US" altLang="tr-TR" sz="2100" dirty="0" err="1"/>
              <a:t>x,y</a:t>
            </a:r>
            <a:r>
              <a:rPr kumimoji="1" lang="en-US" altLang="tr-TR" sz="2100" dirty="0"/>
              <a:t>)</a:t>
            </a:r>
          </a:p>
        </p:txBody>
      </p:sp>
      <p:sp>
        <p:nvSpPr>
          <p:cNvPr id="7179" name="Text Box 16">
            <a:extLst>
              <a:ext uri="{FF2B5EF4-FFF2-40B4-BE49-F238E27FC236}">
                <a16:creationId xmlns:a16="http://schemas.microsoft.com/office/drawing/2014/main" id="{98651968-23D4-A24D-866D-F1A6F18A2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1951" y="4171950"/>
            <a:ext cx="9284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sz="1800" dirty="0"/>
              <a:t>filtering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FD92782-11E4-0B49-A2EE-B680F5127B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7143"/>
          <a:stretch/>
        </p:blipFill>
        <p:spPr>
          <a:xfrm>
            <a:off x="810526" y="2561035"/>
            <a:ext cx="2610221" cy="25288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5223FB3-03C5-CE40-A8B3-1290B13BA6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583" r="31715"/>
          <a:stretch/>
        </p:blipFill>
        <p:spPr>
          <a:xfrm>
            <a:off x="6017167" y="2636726"/>
            <a:ext cx="3037115" cy="270798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B52D081-7B7B-B14C-B902-ADA1FB5BF898}"/>
              </a:ext>
            </a:extLst>
          </p:cNvPr>
          <p:cNvSpPr/>
          <p:nvPr/>
        </p:nvSpPr>
        <p:spPr>
          <a:xfrm>
            <a:off x="4016829" y="3371850"/>
            <a:ext cx="1404257" cy="1208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Filter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7B9D69E4-A153-E045-AB4B-798AD68A9732}"/>
              </a:ext>
            </a:extLst>
          </p:cNvPr>
          <p:cNvSpPr/>
          <p:nvPr/>
        </p:nvSpPr>
        <p:spPr>
          <a:xfrm>
            <a:off x="3286551" y="3990718"/>
            <a:ext cx="726196" cy="138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B3B96A18-96FE-E24A-93B2-121AEEC39F0F}"/>
              </a:ext>
            </a:extLst>
          </p:cNvPr>
          <p:cNvSpPr/>
          <p:nvPr/>
        </p:nvSpPr>
        <p:spPr>
          <a:xfrm>
            <a:off x="5421086" y="3968251"/>
            <a:ext cx="726196" cy="138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738631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7" name="Picture 3">
            <a:extLst>
              <a:ext uri="{FF2B5EF4-FFF2-40B4-BE49-F238E27FC236}">
                <a16:creationId xmlns:a16="http://schemas.microsoft.com/office/drawing/2014/main" id="{80C06003-C457-A444-A210-E8B14F007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0929" y="2346059"/>
            <a:ext cx="2608305" cy="2336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39" name="Content Placeholder 4">
            <a:extLst>
              <a:ext uri="{FF2B5EF4-FFF2-40B4-BE49-F238E27FC236}">
                <a16:creationId xmlns:a16="http://schemas.microsoft.com/office/drawing/2014/main" id="{D2C890AB-111E-2449-9B5A-086729074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38" y="2346059"/>
            <a:ext cx="4191356" cy="2325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0" name="TextBox 2">
            <a:extLst>
              <a:ext uri="{FF2B5EF4-FFF2-40B4-BE49-F238E27FC236}">
                <a16:creationId xmlns:a16="http://schemas.microsoft.com/office/drawing/2014/main" id="{BA66EFBB-389E-2849-8C2C-5CE2CE231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497" y="4906298"/>
            <a:ext cx="243252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tr-TR" altLang="tr-TR" sz="3000" dirty="0"/>
              <a:t>Natural </a:t>
            </a:r>
            <a:r>
              <a:rPr lang="tr-TR" altLang="tr-TR" sz="3000" dirty="0" err="1"/>
              <a:t>Vision</a:t>
            </a:r>
            <a:endParaRPr lang="tr-TR" altLang="tr-TR" sz="3000" dirty="0"/>
          </a:p>
        </p:txBody>
      </p:sp>
      <p:sp>
        <p:nvSpPr>
          <p:cNvPr id="39941" name="TextBox 6">
            <a:extLst>
              <a:ext uri="{FF2B5EF4-FFF2-40B4-BE49-F238E27FC236}">
                <a16:creationId xmlns:a16="http://schemas.microsoft.com/office/drawing/2014/main" id="{4774B41A-3377-3949-9606-7865EE2F1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9004" y="4957804"/>
            <a:ext cx="281724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tr-TR" altLang="tr-TR" sz="3000" dirty="0" err="1"/>
              <a:t>Computer</a:t>
            </a:r>
            <a:r>
              <a:rPr lang="tr-TR" altLang="tr-TR" sz="3000" dirty="0"/>
              <a:t> </a:t>
            </a:r>
            <a:r>
              <a:rPr lang="tr-TR" altLang="tr-TR" sz="3000" dirty="0" err="1"/>
              <a:t>Vision</a:t>
            </a:r>
            <a:endParaRPr lang="tr-TR" altLang="tr-TR" sz="3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174F27-130D-BE45-A520-F5DCB37C3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8439665" cy="1690086"/>
          </a:xfrm>
        </p:spPr>
        <p:txBody>
          <a:bodyPr/>
          <a:lstStyle/>
          <a:p>
            <a:r>
              <a:rPr lang="en-US" dirty="0"/>
              <a:t>Human brain hierarchically unifies the signals to create meaning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192FF5D-848F-AC40-8F15-392E13F36199}"/>
                  </a:ext>
                </a:extLst>
              </p:cNvPr>
              <p:cNvSpPr txBox="1"/>
              <p:nvPr/>
            </p:nvSpPr>
            <p:spPr>
              <a:xfrm>
                <a:off x="2759240" y="5534397"/>
                <a:ext cx="327365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dirty="0" err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1" i="1" dirty="0" err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800" b="1" i="1" dirty="0">
                          <a:latin typeface="Cambria Math" panose="02040503050406030204" pitchFamily="18" charset="0"/>
                        </a:rPr>
                        <m:t>)           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800" b="1" i="1" dirty="0">
                          <a:latin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192FF5D-848F-AC40-8F15-392E13F36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9240" y="5534397"/>
                <a:ext cx="327365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C2AD062-E040-8D47-87F7-F4D165290EEB}"/>
              </a:ext>
            </a:extLst>
          </p:cNvPr>
          <p:cNvCxnSpPr>
            <a:cxnSpLocks/>
          </p:cNvCxnSpPr>
          <p:nvPr/>
        </p:nvCxnSpPr>
        <p:spPr bwMode="auto">
          <a:xfrm>
            <a:off x="4677031" y="5864231"/>
            <a:ext cx="764391" cy="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965335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6D6387-E660-6445-B8DE-369189AC65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266" y="568411"/>
            <a:ext cx="7364626" cy="184115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How do we unify signals to extract meanings, algorithmically?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1063ADF-A910-8045-B519-4C8EEC44F6D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74045" y="3683795"/>
            <a:ext cx="2246710" cy="93106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tr-TR" altLang="tr-TR" sz="2475">
                <a:solidFill>
                  <a:srgbClr val="C00000"/>
                </a:solidFill>
              </a:rPr>
              <a:t>FİLTERİNG</a:t>
            </a:r>
          </a:p>
        </p:txBody>
      </p:sp>
      <p:pic>
        <p:nvPicPr>
          <p:cNvPr id="41987" name="Picture 5">
            <a:extLst>
              <a:ext uri="{FF2B5EF4-FFF2-40B4-BE49-F238E27FC236}">
                <a16:creationId xmlns:a16="http://schemas.microsoft.com/office/drawing/2014/main" id="{6F09D11D-5AA5-7D4E-8FF4-54055EEA9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1" y="2659858"/>
            <a:ext cx="2874169" cy="2574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0860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ACA109BB-D03B-654D-800A-44923CED11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0236"/>
            <a:ext cx="7886700" cy="1325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dirty="0"/>
              <a:t>Linear Filters: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06" name="Rectangle 3">
                <a:extLst>
                  <a:ext uri="{FF2B5EF4-FFF2-40B4-BE49-F238E27FC236}">
                    <a16:creationId xmlns:a16="http://schemas.microsoft.com/office/drawing/2014/main" id="{43F00C09-1662-6047-A91C-2BC3FBED6B0B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530567" y="3227689"/>
                <a:ext cx="8387801" cy="2917251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  <a:normAutofit fontScale="62500" lnSpcReduction="20000"/>
              </a:bodyPr>
              <a:lstStyle/>
              <a:p>
                <a:endParaRPr lang="en-US" altLang="tr-TR" dirty="0"/>
              </a:p>
              <a:p>
                <a:pPr marL="460375" indent="-460375"/>
                <a:r>
                  <a:rPr lang="en-US" altLang="tr-TR" sz="3800" dirty="0"/>
                  <a:t>Correlation:       </a:t>
                </a:r>
              </a:p>
              <a:p>
                <a:pPr marL="0" indent="0">
                  <a:buNone/>
                </a:pPr>
                <a:r>
                  <a:rPr lang="en-US" altLang="tr-TR" sz="3800" dirty="0"/>
                  <a:t> </a:t>
                </a:r>
                <a:endParaRPr lang="en-US" sz="3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)⋆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)=∑​∑​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en-US" altLang="tr-TR" sz="3800" dirty="0"/>
              </a:p>
              <a:p>
                <a:endParaRPr lang="en-US" altLang="tr-TR" sz="3800" dirty="0"/>
              </a:p>
              <a:p>
                <a:pPr marL="460375" indent="-460375"/>
                <a:r>
                  <a:rPr lang="en-US" altLang="tr-TR" sz="3800" dirty="0"/>
                  <a:t>Convolution:  </a:t>
                </a:r>
              </a:p>
              <a:p>
                <a:pPr marL="0" indent="0">
                  <a:buNone/>
                </a:pPr>
                <a:r>
                  <a:rPr lang="en-US" altLang="tr-TR" sz="3800" dirty="0"/>
                  <a:t>     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tr-TR" sz="3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)=∑​∑​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3800" i="1" dirty="0" err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tr-TR" sz="3800" i="1" dirty="0"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en-US" altLang="tr-TR" sz="3800" dirty="0"/>
              </a:p>
              <a:p>
                <a:pPr lvl="1">
                  <a:buFontTx/>
                  <a:buNone/>
                </a:pPr>
                <a:endParaRPr lang="en-US" altLang="tr-TR" dirty="0"/>
              </a:p>
            </p:txBody>
          </p:sp>
        </mc:Choice>
        <mc:Fallback xmlns="">
          <p:sp>
            <p:nvSpPr>
              <p:cNvPr id="47106" name="Rectangle 3">
                <a:extLst>
                  <a:ext uri="{FF2B5EF4-FFF2-40B4-BE49-F238E27FC236}">
                    <a16:creationId xmlns:a16="http://schemas.microsoft.com/office/drawing/2014/main" id="{43F00C09-1662-6047-A91C-2BC3FBED6B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530567" y="3227689"/>
                <a:ext cx="8387801" cy="2917251"/>
              </a:xfrm>
              <a:blipFill>
                <a:blip r:embed="rId3"/>
                <a:stretch>
                  <a:fillRect l="-1235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09" name="TextBox 1">
            <a:extLst>
              <a:ext uri="{FF2B5EF4-FFF2-40B4-BE49-F238E27FC236}">
                <a16:creationId xmlns:a16="http://schemas.microsoft.com/office/drawing/2014/main" id="{DCA6261F-95AE-824C-B718-E485FD340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260" y="3114888"/>
            <a:ext cx="261610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tr-TR" altLang="tr-TR" sz="1800" dirty="0"/>
              <a:t>-</a:t>
            </a:r>
          </a:p>
        </p:txBody>
      </p:sp>
      <p:sp>
        <p:nvSpPr>
          <p:cNvPr id="47110" name="TextBox 7">
            <a:extLst>
              <a:ext uri="{FF2B5EF4-FFF2-40B4-BE49-F238E27FC236}">
                <a16:creationId xmlns:a16="http://schemas.microsoft.com/office/drawing/2014/main" id="{BCDE38FF-F027-A24D-A589-027F47E4B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78" y="3128837"/>
            <a:ext cx="261610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tr-TR" altLang="tr-TR" sz="1800" dirty="0"/>
              <a:t>-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6A70D673-A87C-064A-94D3-E6EBEF3AF2E9}"/>
              </a:ext>
            </a:extLst>
          </p:cNvPr>
          <p:cNvGrpSpPr>
            <a:grpSpLocks/>
          </p:cNvGrpSpPr>
          <p:nvPr/>
        </p:nvGrpSpPr>
        <p:grpSpPr bwMode="auto">
          <a:xfrm>
            <a:off x="1019711" y="1857677"/>
            <a:ext cx="6921354" cy="893762"/>
            <a:chOff x="1036240" y="1354138"/>
            <a:chExt cx="6921354" cy="8937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7">
                  <a:extLst>
                    <a:ext uri="{FF2B5EF4-FFF2-40B4-BE49-F238E27FC236}">
                      <a16:creationId xmlns:a16="http://schemas.microsoft.com/office/drawing/2014/main" id="{D41134AE-3C08-6A49-894B-490348B9FC6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36240" y="1550342"/>
                  <a:ext cx="120533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3366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 dirty="0" smtClean="0">
                            <a:solidFill>
                              <a:srgbClr val="003366"/>
                            </a:solidFill>
                            <a:latin typeface="Cambria Math" panose="02040503050406030204" pitchFamily="18" charset="0"/>
                          </a:rPr>
                          <m:t> [</m:t>
                        </m:r>
                        <m:r>
                          <a:rPr lang="en-US" i="1" dirty="0" err="1">
                            <a:solidFill>
                              <a:srgbClr val="00336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err="1">
                            <a:solidFill>
                              <a:srgbClr val="003366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solidFill>
                              <a:srgbClr val="003366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dirty="0">
                            <a:solidFill>
                              <a:srgbClr val="003366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dirty="0">
                    <a:solidFill>
                      <a:srgbClr val="003366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7">
                  <a:extLst>
                    <a:ext uri="{FF2B5EF4-FFF2-40B4-BE49-F238E27FC236}">
                      <a16:creationId xmlns:a16="http://schemas.microsoft.com/office/drawing/2014/main" id="{D41134AE-3C08-6A49-894B-490348B9FC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36240" y="1550342"/>
                  <a:ext cx="1205330" cy="461665"/>
                </a:xfrm>
                <a:prstGeom prst="rect">
                  <a:avLst/>
                </a:prstGeom>
                <a:blipFill>
                  <a:blip r:embed="rId4"/>
                  <a:stretch>
                    <a:fillRect r="-505" b="-1973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8">
                  <a:extLst>
                    <a:ext uri="{FF2B5EF4-FFF2-40B4-BE49-F238E27FC236}">
                      <a16:creationId xmlns:a16="http://schemas.microsoft.com/office/drawing/2014/main" id="{9266203B-5479-7C40-8BEF-CDF288E424A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38414" y="1486713"/>
                  <a:ext cx="121918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3366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 dirty="0" smtClean="0">
                            <a:solidFill>
                              <a:srgbClr val="003366"/>
                            </a:solidFill>
                            <a:latin typeface="Cambria Math" panose="02040503050406030204" pitchFamily="18" charset="0"/>
                          </a:rPr>
                          <m:t> [</m:t>
                        </m:r>
                        <m:r>
                          <a:rPr lang="en-US" i="1" dirty="0" err="1">
                            <a:solidFill>
                              <a:srgbClr val="00336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err="1">
                            <a:solidFill>
                              <a:srgbClr val="003366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solidFill>
                              <a:srgbClr val="003366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dirty="0">
                            <a:solidFill>
                              <a:srgbClr val="003366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dirty="0">
                    <a:solidFill>
                      <a:srgbClr val="003366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8">
                  <a:extLst>
                    <a:ext uri="{FF2B5EF4-FFF2-40B4-BE49-F238E27FC236}">
                      <a16:creationId xmlns:a16="http://schemas.microsoft.com/office/drawing/2014/main" id="{9266203B-5479-7C40-8BEF-CDF288E424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38414" y="1486713"/>
                  <a:ext cx="1219180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973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341CE79E-EEE1-6E48-98EC-D378C5CC26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51263" y="1354138"/>
                  <a:ext cx="1571625" cy="89376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3366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oMath>
                    </m:oMathPara>
                  </a14:m>
                  <a:endParaRPr lang="en-US" b="1" dirty="0">
                    <a:solidFill>
                      <a:srgbClr val="003366"/>
                    </a:solidFill>
                    <a:latin typeface="Calibri" pitchFamily="-65" charset="0"/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341CE79E-EEE1-6E48-98EC-D378C5CC26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51263" y="1354138"/>
                  <a:ext cx="1571625" cy="89376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ED90EE1-E502-C940-8737-705C3EAAA5A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65388" y="1830388"/>
              <a:ext cx="1293812" cy="1587"/>
            </a:xfrm>
            <a:prstGeom prst="straightConnector1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BFF31A0-8D5E-1647-9CD4-FDEFC038B63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324475" y="1781175"/>
              <a:ext cx="1295400" cy="1588"/>
            </a:xfrm>
            <a:prstGeom prst="straightConnector1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</p:spPr>
        </p:cxnSp>
      </p:grpSp>
    </p:spTree>
    <p:extLst>
      <p:ext uri="{BB962C8B-B14F-4D97-AF65-F5344CB8AC3E}">
        <p14:creationId xmlns:p14="http://schemas.microsoft.com/office/powerpoint/2010/main" val="4121107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EA6B3-93E6-334D-9567-EDAD2885B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 design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68A19-F5B5-454C-A019-BC5E11306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h</a:t>
            </a:r>
            <a:r>
              <a:rPr lang="en-US" sz="2400" dirty="0"/>
              <a:t> is an </a:t>
            </a:r>
            <a:r>
              <a:rPr lang="en-US" sz="2400" dirty="0" err="1"/>
              <a:t>nxm</a:t>
            </a:r>
            <a:r>
              <a:rPr lang="en-US" sz="2400" dirty="0"/>
              <a:t> matrix, called filter, kernel, mask, window</a:t>
            </a:r>
          </a:p>
          <a:p>
            <a:r>
              <a:rPr lang="en-US" sz="2400" dirty="0"/>
              <a:t>How to select entries?</a:t>
            </a:r>
          </a:p>
          <a:p>
            <a:r>
              <a:rPr lang="en-US" sz="2400" dirty="0"/>
              <a:t>How to select size?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566FBB-6C04-D348-B0E2-062AE8220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881646"/>
              </p:ext>
            </p:extLst>
          </p:nvPr>
        </p:nvGraphicFramePr>
        <p:xfrm>
          <a:off x="1255278" y="3564453"/>
          <a:ext cx="1594799" cy="1731942"/>
        </p:xfrm>
        <a:graphic>
          <a:graphicData uri="http://schemas.openxmlformats.org/drawingml/2006/table">
            <a:tbl>
              <a:tblPr/>
              <a:tblGrid>
                <a:gridCol w="53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6622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-1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2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-1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66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-1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2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-1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66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-1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2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-1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7">
            <a:extLst>
              <a:ext uri="{FF2B5EF4-FFF2-40B4-BE49-F238E27FC236}">
                <a16:creationId xmlns:a16="http://schemas.microsoft.com/office/drawing/2014/main" id="{CC28B89C-501D-9D41-B21D-E197DD59B4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13"/>
          <a:stretch/>
        </p:blipFill>
        <p:spPr bwMode="auto">
          <a:xfrm>
            <a:off x="4713181" y="2872111"/>
            <a:ext cx="3802169" cy="34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0308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D251B-4BC1-DE46-9F0B-B92DB9E7E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/>
          <a:lstStyle/>
          <a:p>
            <a:r>
              <a:rPr lang="en-US" dirty="0"/>
              <a:t>Select the origin for image and filter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E9C85-53A1-9146-8762-438B2A70E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0">
            <a:extLst>
              <a:ext uri="{FF2B5EF4-FFF2-40B4-BE49-F238E27FC236}">
                <a16:creationId xmlns:a16="http://schemas.microsoft.com/office/drawing/2014/main" id="{2E3DEC4C-FBDB-9B45-B125-FE5BA9AED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2" t="7384" r="18492" b="10826"/>
          <a:stretch>
            <a:fillRect/>
          </a:stretch>
        </p:blipFill>
        <p:spPr bwMode="auto">
          <a:xfrm>
            <a:off x="6175437" y="3172217"/>
            <a:ext cx="1763712" cy="175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1">
            <a:extLst>
              <a:ext uri="{FF2B5EF4-FFF2-40B4-BE49-F238E27FC236}">
                <a16:creationId xmlns:a16="http://schemas.microsoft.com/office/drawing/2014/main" id="{8584130E-84F2-B24B-99E3-C6B8ECBDDF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2" t="7384" r="18492" b="11105"/>
          <a:stretch>
            <a:fillRect/>
          </a:stretch>
        </p:blipFill>
        <p:spPr bwMode="auto">
          <a:xfrm>
            <a:off x="795399" y="2932504"/>
            <a:ext cx="2133600" cy="220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ADC654B9-9299-BC44-B95B-F3DF4BFFC7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5138863"/>
              </p:ext>
            </p:extLst>
          </p:nvPr>
        </p:nvGraphicFramePr>
        <p:xfrm>
          <a:off x="3240149" y="3883417"/>
          <a:ext cx="300038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4" name="Equation" r:id="rId5" imgW="152400" imgH="139700" progId="Equation.3">
                  <p:embed/>
                </p:oleObj>
              </mc:Choice>
              <mc:Fallback>
                <p:oleObj name="Equation" r:id="rId5" imgW="152400" imgH="139700" progId="Equation.3">
                  <p:embed/>
                  <p:pic>
                    <p:nvPicPr>
                      <p:cNvPr id="20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0149" y="3883417"/>
                        <a:ext cx="300038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FD3C0D1-19BA-8642-BFC8-EFB528A42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776861"/>
              </p:ext>
            </p:extLst>
          </p:nvPr>
        </p:nvGraphicFramePr>
        <p:xfrm>
          <a:off x="3808474" y="3611954"/>
          <a:ext cx="1081088" cy="1081089"/>
        </p:xfrm>
        <a:graphic>
          <a:graphicData uri="http://schemas.openxmlformats.org/drawingml/2006/table">
            <a:tbl>
              <a:tblPr/>
              <a:tblGrid>
                <a:gridCol w="360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-1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2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-1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-1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2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-1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-1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2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-65" charset="0"/>
                          <a:ea typeface="ＭＳ Ｐゴシック" pitchFamily="-65" charset="-128"/>
                        </a:rPr>
                        <a:t>-1</a:t>
                      </a:r>
                    </a:p>
                  </a:txBody>
                  <a:tcPr marL="64535" marR="64535" marT="32268" marB="3226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16">
                <a:extLst>
                  <a:ext uri="{FF2B5EF4-FFF2-40B4-BE49-F238E27FC236}">
                    <a16:creationId xmlns:a16="http://schemas.microsoft.com/office/drawing/2014/main" id="{8916766E-7F63-FE46-AFDE-8CF6749C01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52624" y="5261367"/>
                <a:ext cx="93333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dirty="0" smtClean="0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err="1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err="1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dirty="0" smtClean="0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003366"/>
                  </a:solidFill>
                </a:endParaRPr>
              </a:p>
            </p:txBody>
          </p:sp>
        </mc:Choice>
        <mc:Fallback>
          <p:sp>
            <p:nvSpPr>
              <p:cNvPr id="8" name="TextBox 16">
                <a:extLst>
                  <a:ext uri="{FF2B5EF4-FFF2-40B4-BE49-F238E27FC236}">
                    <a16:creationId xmlns:a16="http://schemas.microsoft.com/office/drawing/2014/main" id="{8916766E-7F63-FE46-AFDE-8CF6749C0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52624" y="5261367"/>
                <a:ext cx="933332" cy="369332"/>
              </a:xfrm>
              <a:prstGeom prst="rect">
                <a:avLst/>
              </a:prstGeom>
              <a:blipFill>
                <a:blip r:embed="rId7"/>
                <a:stretch>
                  <a:fillRect b="-1639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17">
                <a:extLst>
                  <a:ext uri="{FF2B5EF4-FFF2-40B4-BE49-F238E27FC236}">
                    <a16:creationId xmlns:a16="http://schemas.microsoft.com/office/drawing/2014/main" id="{1B3E34B9-11DE-2B4F-B535-507DA98FE2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13262" y="5166117"/>
                <a:ext cx="93217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dirty="0" smtClean="0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err="1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err="1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dirty="0" smtClean="0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003366"/>
                  </a:solidFill>
                </a:endParaRPr>
              </a:p>
            </p:txBody>
          </p:sp>
        </mc:Choice>
        <mc:Fallback>
          <p:sp>
            <p:nvSpPr>
              <p:cNvPr id="9" name="TextBox 17">
                <a:extLst>
                  <a:ext uri="{FF2B5EF4-FFF2-40B4-BE49-F238E27FC236}">
                    <a16:creationId xmlns:a16="http://schemas.microsoft.com/office/drawing/2014/main" id="{1B3E34B9-11DE-2B4F-B535-507DA98FE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13262" y="5166117"/>
                <a:ext cx="932178" cy="369332"/>
              </a:xfrm>
              <a:prstGeom prst="rect">
                <a:avLst/>
              </a:prstGeom>
              <a:blipFill>
                <a:blip r:embed="rId8"/>
                <a:stretch>
                  <a:fillRect b="-1639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18">
                <a:extLst>
                  <a:ext uri="{FF2B5EF4-FFF2-40B4-BE49-F238E27FC236}">
                    <a16:creationId xmlns:a16="http://schemas.microsoft.com/office/drawing/2014/main" id="{D6F69624-7DA1-A149-A81A-BAA11F1365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15187" y="5285179"/>
                <a:ext cx="94500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dirty="0" smtClean="0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err="1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err="1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dirty="0" smtClean="0">
                          <a:solidFill>
                            <a:srgbClr val="00336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003366"/>
                  </a:solidFill>
                </a:endParaRPr>
              </a:p>
            </p:txBody>
          </p:sp>
        </mc:Choice>
        <mc:Fallback>
          <p:sp>
            <p:nvSpPr>
              <p:cNvPr id="10" name="TextBox 18">
                <a:extLst>
                  <a:ext uri="{FF2B5EF4-FFF2-40B4-BE49-F238E27FC236}">
                    <a16:creationId xmlns:a16="http://schemas.microsoft.com/office/drawing/2014/main" id="{D6F69624-7DA1-A149-A81A-BAA11F136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15187" y="5285179"/>
                <a:ext cx="945002" cy="369332"/>
              </a:xfrm>
              <a:prstGeom prst="rect">
                <a:avLst/>
              </a:prstGeom>
              <a:blipFill>
                <a:blip r:embed="rId9"/>
                <a:stretch>
                  <a:fillRect b="-1475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9">
            <a:extLst>
              <a:ext uri="{FF2B5EF4-FFF2-40B4-BE49-F238E27FC236}">
                <a16:creationId xmlns:a16="http://schemas.microsoft.com/office/drawing/2014/main" id="{222F03C4-F8ED-5B4A-9C7D-B540D319B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6262" y="3818329"/>
            <a:ext cx="352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>
                <a:solidFill>
                  <a:srgbClr val="003366"/>
                </a:solidFill>
              </a:rPr>
              <a:t>=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73CB0D0-40FF-EB40-B282-3C9F66E14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200698"/>
              </p:ext>
            </p:extLst>
          </p:nvPr>
        </p:nvGraphicFramePr>
        <p:xfrm>
          <a:off x="798574" y="2934092"/>
          <a:ext cx="2127250" cy="2209800"/>
        </p:xfrm>
        <a:graphic>
          <a:graphicData uri="http://schemas.openxmlformats.org/drawingml/2006/table">
            <a:tbl>
              <a:tblPr/>
              <a:tblGrid>
                <a:gridCol w="26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111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115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113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111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112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111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112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111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135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138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137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139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145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146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149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147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163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168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188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196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206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202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206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207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180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184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206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219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202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200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195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193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189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193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214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216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104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79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83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77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191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201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217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220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103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59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60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68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195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205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216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222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113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68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69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83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199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203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223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228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108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68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71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77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50B9A14-7F18-AA4D-87B7-65D7268F7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396358"/>
              </p:ext>
            </p:extLst>
          </p:nvPr>
        </p:nvGraphicFramePr>
        <p:xfrm>
          <a:off x="5878574" y="2884879"/>
          <a:ext cx="2360613" cy="2324104"/>
        </p:xfrm>
        <a:graphic>
          <a:graphicData uri="http://schemas.openxmlformats.org/drawingml/2006/table">
            <a:tbl>
              <a:tblPr/>
              <a:tblGrid>
                <a:gridCol w="29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36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0513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-5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9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-9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21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-12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10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-29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18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24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4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-7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5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-50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40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142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-88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-34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10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-41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41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264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-175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-71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0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-24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37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349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-224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-120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-10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-23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33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360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-217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-134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-23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-65" charset="0"/>
                          <a:ea typeface="ＭＳ Ｐゴシック" pitchFamily="-65" charset="-128"/>
                        </a:rPr>
                        <a:t>?</a:t>
                      </a:r>
                    </a:p>
                  </a:txBody>
                  <a:tcPr marL="10160" marR="10160" marT="1016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049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E1C95-C5F6-48D9-A94B-5F39EA03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2-D Convolution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E51CFD-561F-4A9C-B1F7-469BDF24C5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625" y="2358231"/>
            <a:ext cx="3714750" cy="3286125"/>
          </a:xfrm>
        </p:spPr>
      </p:pic>
    </p:spTree>
    <p:extLst>
      <p:ext uri="{BB962C8B-B14F-4D97-AF65-F5344CB8AC3E}">
        <p14:creationId xmlns:p14="http://schemas.microsoft.com/office/powerpoint/2010/main" val="769481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>
          <a:xfrm>
            <a:off x="241300" y="250826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 Convolution with averaging filters</a:t>
            </a:r>
          </a:p>
        </p:txBody>
      </p:sp>
      <p:sp>
        <p:nvSpPr>
          <p:cNvPr id="1741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5BAEF19A-AA93-4382-B915-67855BE713D7}" type="slidenum">
              <a:rPr lang="en-US" smtClean="0">
                <a:solidFill>
                  <a:srgbClr val="003366"/>
                </a:solidFill>
              </a:rPr>
              <a:pPr/>
              <a:t>10</a:t>
            </a:fld>
            <a:endParaRPr lang="en-US">
              <a:solidFill>
                <a:srgbClr val="003366"/>
              </a:solidFill>
            </a:endParaRPr>
          </a:p>
        </p:txBody>
      </p:sp>
      <p:sp>
        <p:nvSpPr>
          <p:cNvPr id="173060" name="Text Box 4"/>
          <p:cNvSpPr txBox="1">
            <a:spLocks noChangeArrowheads="1"/>
          </p:cNvSpPr>
          <p:nvPr/>
        </p:nvSpPr>
        <p:spPr bwMode="auto">
          <a:xfrm>
            <a:off x="574675" y="5589588"/>
            <a:ext cx="799306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1/9.(10x1 + 11x1 + 10x1 + 9x1 + 10x1 + 11x1 + 10x1 + 9x1 + 10x1) = </a:t>
            </a:r>
          </a:p>
          <a:p>
            <a:pPr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                                                   1/9.( 90) = 10</a:t>
            </a:r>
          </a:p>
        </p:txBody>
      </p:sp>
      <p:grpSp>
        <p:nvGrpSpPr>
          <p:cNvPr id="17415" name="Group 144"/>
          <p:cNvGrpSpPr>
            <a:grpSpLocks/>
          </p:cNvGrpSpPr>
          <p:nvPr/>
        </p:nvGrpSpPr>
        <p:grpSpPr bwMode="auto">
          <a:xfrm>
            <a:off x="660400" y="1368425"/>
            <a:ext cx="3048000" cy="2895600"/>
            <a:chOff x="416" y="862"/>
            <a:chExt cx="1920" cy="1824"/>
          </a:xfrm>
        </p:grpSpPr>
        <p:grpSp>
          <p:nvGrpSpPr>
            <p:cNvPr id="17488" name="Group 6"/>
            <p:cNvGrpSpPr>
              <a:grpSpLocks/>
            </p:cNvGrpSpPr>
            <p:nvPr/>
          </p:nvGrpSpPr>
          <p:grpSpPr bwMode="auto">
            <a:xfrm>
              <a:off x="416" y="862"/>
              <a:ext cx="960" cy="912"/>
              <a:chOff x="1248" y="2784"/>
              <a:chExt cx="960" cy="912"/>
            </a:xfrm>
          </p:grpSpPr>
          <p:sp>
            <p:nvSpPr>
              <p:cNvPr id="17545" name="Rectangle 7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546" name="Line 8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7" name="Line 9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8" name="Line 10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9" name="Line 11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489" name="Group 12"/>
            <p:cNvGrpSpPr>
              <a:grpSpLocks/>
            </p:cNvGrpSpPr>
            <p:nvPr/>
          </p:nvGrpSpPr>
          <p:grpSpPr bwMode="auto">
            <a:xfrm>
              <a:off x="1376" y="1774"/>
              <a:ext cx="960" cy="912"/>
              <a:chOff x="1248" y="2784"/>
              <a:chExt cx="960" cy="912"/>
            </a:xfrm>
          </p:grpSpPr>
          <p:sp>
            <p:nvSpPr>
              <p:cNvPr id="17540" name="Rectangle 13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541" name="Line 14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2" name="Line 15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3" name="Line 16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4" name="Line 17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490" name="Group 18"/>
            <p:cNvGrpSpPr>
              <a:grpSpLocks/>
            </p:cNvGrpSpPr>
            <p:nvPr/>
          </p:nvGrpSpPr>
          <p:grpSpPr bwMode="auto">
            <a:xfrm>
              <a:off x="416" y="1774"/>
              <a:ext cx="960" cy="912"/>
              <a:chOff x="1248" y="2784"/>
              <a:chExt cx="960" cy="912"/>
            </a:xfrm>
          </p:grpSpPr>
          <p:sp>
            <p:nvSpPr>
              <p:cNvPr id="17535" name="Rectangle 19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536" name="Line 20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7" name="Line 21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8" name="Line 22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9" name="Line 23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491" name="Group 24"/>
            <p:cNvGrpSpPr>
              <a:grpSpLocks/>
            </p:cNvGrpSpPr>
            <p:nvPr/>
          </p:nvGrpSpPr>
          <p:grpSpPr bwMode="auto">
            <a:xfrm>
              <a:off x="1376" y="862"/>
              <a:ext cx="960" cy="912"/>
              <a:chOff x="1248" y="2784"/>
              <a:chExt cx="960" cy="912"/>
            </a:xfrm>
          </p:grpSpPr>
          <p:sp>
            <p:nvSpPr>
              <p:cNvPr id="17530" name="Rectangle 25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531" name="Line 26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2" name="Line 27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3" name="Line 28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4" name="Line 29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3086" name="Text Box 30"/>
            <p:cNvSpPr txBox="1">
              <a:spLocks noChangeArrowheads="1"/>
            </p:cNvSpPr>
            <p:nvPr/>
          </p:nvSpPr>
          <p:spPr bwMode="auto">
            <a:xfrm>
              <a:off x="440" y="870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3087" name="Text Box 31"/>
            <p:cNvSpPr txBox="1">
              <a:spLocks noChangeArrowheads="1"/>
            </p:cNvSpPr>
            <p:nvPr/>
          </p:nvSpPr>
          <p:spPr bwMode="auto">
            <a:xfrm>
              <a:off x="776" y="869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3088" name="Text Box 32"/>
            <p:cNvSpPr txBox="1">
              <a:spLocks noChangeArrowheads="1"/>
            </p:cNvSpPr>
            <p:nvPr/>
          </p:nvSpPr>
          <p:spPr bwMode="auto">
            <a:xfrm>
              <a:off x="1087" y="869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3089" name="Text Box 33"/>
            <p:cNvSpPr txBox="1">
              <a:spLocks noChangeArrowheads="1"/>
            </p:cNvSpPr>
            <p:nvPr/>
          </p:nvSpPr>
          <p:spPr bwMode="auto">
            <a:xfrm>
              <a:off x="483" y="1158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3090" name="Text Box 34"/>
            <p:cNvSpPr txBox="1">
              <a:spLocks noChangeArrowheads="1"/>
            </p:cNvSpPr>
            <p:nvPr/>
          </p:nvSpPr>
          <p:spPr bwMode="auto">
            <a:xfrm>
              <a:off x="760" y="1157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3091" name="Text Box 35"/>
            <p:cNvSpPr txBox="1">
              <a:spLocks noChangeArrowheads="1"/>
            </p:cNvSpPr>
            <p:nvPr/>
          </p:nvSpPr>
          <p:spPr bwMode="auto">
            <a:xfrm>
              <a:off x="1102" y="1158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3092" name="Text Box 36"/>
            <p:cNvSpPr txBox="1">
              <a:spLocks noChangeArrowheads="1"/>
            </p:cNvSpPr>
            <p:nvPr/>
          </p:nvSpPr>
          <p:spPr bwMode="auto">
            <a:xfrm>
              <a:off x="440" y="1484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3093" name="Text Box 37"/>
            <p:cNvSpPr txBox="1">
              <a:spLocks noChangeArrowheads="1"/>
            </p:cNvSpPr>
            <p:nvPr/>
          </p:nvSpPr>
          <p:spPr bwMode="auto">
            <a:xfrm>
              <a:off x="803" y="1484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3094" name="Text Box 38"/>
            <p:cNvSpPr txBox="1">
              <a:spLocks noChangeArrowheads="1"/>
            </p:cNvSpPr>
            <p:nvPr/>
          </p:nvSpPr>
          <p:spPr bwMode="auto">
            <a:xfrm>
              <a:off x="1086" y="1484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3095" name="Text Box 39"/>
            <p:cNvSpPr txBox="1">
              <a:spLocks noChangeArrowheads="1"/>
            </p:cNvSpPr>
            <p:nvPr/>
          </p:nvSpPr>
          <p:spPr bwMode="auto">
            <a:xfrm>
              <a:off x="1443" y="1157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3096" name="Text Box 40"/>
            <p:cNvSpPr txBox="1">
              <a:spLocks noChangeArrowheads="1"/>
            </p:cNvSpPr>
            <p:nvPr/>
          </p:nvSpPr>
          <p:spPr bwMode="auto">
            <a:xfrm>
              <a:off x="760" y="2062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3097" name="Text Box 41"/>
            <p:cNvSpPr txBox="1">
              <a:spLocks noChangeArrowheads="1"/>
            </p:cNvSpPr>
            <p:nvPr/>
          </p:nvSpPr>
          <p:spPr bwMode="auto">
            <a:xfrm>
              <a:off x="1384" y="1784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3098" name="Text Box 42"/>
            <p:cNvSpPr txBox="1">
              <a:spLocks noChangeArrowheads="1"/>
            </p:cNvSpPr>
            <p:nvPr/>
          </p:nvSpPr>
          <p:spPr bwMode="auto">
            <a:xfrm>
              <a:off x="1770" y="1484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2</a:t>
              </a:r>
            </a:p>
          </p:txBody>
        </p:sp>
        <p:sp>
          <p:nvSpPr>
            <p:cNvPr id="173099" name="Text Box 43"/>
            <p:cNvSpPr txBox="1">
              <a:spLocks noChangeArrowheads="1"/>
            </p:cNvSpPr>
            <p:nvPr/>
          </p:nvSpPr>
          <p:spPr bwMode="auto">
            <a:xfrm>
              <a:off x="1770" y="1784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3100" name="Text Box 44"/>
            <p:cNvSpPr txBox="1">
              <a:spLocks noChangeArrowheads="1"/>
            </p:cNvSpPr>
            <p:nvPr/>
          </p:nvSpPr>
          <p:spPr bwMode="auto">
            <a:xfrm>
              <a:off x="1427" y="1484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0</a:t>
              </a:r>
            </a:p>
          </p:txBody>
        </p:sp>
        <p:sp>
          <p:nvSpPr>
            <p:cNvPr id="173101" name="Text Box 45"/>
            <p:cNvSpPr txBox="1">
              <a:spLocks noChangeArrowheads="1"/>
            </p:cNvSpPr>
            <p:nvPr/>
          </p:nvSpPr>
          <p:spPr bwMode="auto">
            <a:xfrm>
              <a:off x="1129" y="1784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3102" name="Text Box 46"/>
            <p:cNvSpPr txBox="1">
              <a:spLocks noChangeArrowheads="1"/>
            </p:cNvSpPr>
            <p:nvPr/>
          </p:nvSpPr>
          <p:spPr bwMode="auto">
            <a:xfrm>
              <a:off x="1427" y="869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0</a:t>
              </a:r>
            </a:p>
          </p:txBody>
        </p:sp>
        <p:sp>
          <p:nvSpPr>
            <p:cNvPr id="173103" name="Text Box 47"/>
            <p:cNvSpPr txBox="1">
              <a:spLocks noChangeArrowheads="1"/>
            </p:cNvSpPr>
            <p:nvPr/>
          </p:nvSpPr>
          <p:spPr bwMode="auto">
            <a:xfrm>
              <a:off x="803" y="2357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3104" name="Text Box 48"/>
            <p:cNvSpPr txBox="1">
              <a:spLocks noChangeArrowheads="1"/>
            </p:cNvSpPr>
            <p:nvPr/>
          </p:nvSpPr>
          <p:spPr bwMode="auto">
            <a:xfrm>
              <a:off x="483" y="2062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3105" name="Text Box 49"/>
            <p:cNvSpPr txBox="1">
              <a:spLocks noChangeArrowheads="1"/>
            </p:cNvSpPr>
            <p:nvPr/>
          </p:nvSpPr>
          <p:spPr bwMode="auto">
            <a:xfrm>
              <a:off x="1130" y="2357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3106" name="Text Box 50"/>
            <p:cNvSpPr txBox="1">
              <a:spLocks noChangeArrowheads="1"/>
            </p:cNvSpPr>
            <p:nvPr/>
          </p:nvSpPr>
          <p:spPr bwMode="auto">
            <a:xfrm>
              <a:off x="1427" y="2062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3107" name="Text Box 51"/>
            <p:cNvSpPr txBox="1">
              <a:spLocks noChangeArrowheads="1"/>
            </p:cNvSpPr>
            <p:nvPr/>
          </p:nvSpPr>
          <p:spPr bwMode="auto">
            <a:xfrm>
              <a:off x="1770" y="869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0</a:t>
              </a:r>
            </a:p>
          </p:txBody>
        </p:sp>
        <p:sp>
          <p:nvSpPr>
            <p:cNvPr id="173108" name="Text Box 52"/>
            <p:cNvSpPr txBox="1">
              <a:spLocks noChangeArrowheads="1"/>
            </p:cNvSpPr>
            <p:nvPr/>
          </p:nvSpPr>
          <p:spPr bwMode="auto">
            <a:xfrm>
              <a:off x="2067" y="1484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3109" name="Text Box 53"/>
            <p:cNvSpPr txBox="1">
              <a:spLocks noChangeArrowheads="1"/>
            </p:cNvSpPr>
            <p:nvPr/>
          </p:nvSpPr>
          <p:spPr bwMode="auto">
            <a:xfrm>
              <a:off x="1712" y="2062"/>
              <a:ext cx="35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99</a:t>
              </a:r>
            </a:p>
          </p:txBody>
        </p:sp>
        <p:sp>
          <p:nvSpPr>
            <p:cNvPr id="173110" name="Text Box 54"/>
            <p:cNvSpPr txBox="1">
              <a:spLocks noChangeArrowheads="1"/>
            </p:cNvSpPr>
            <p:nvPr/>
          </p:nvSpPr>
          <p:spPr bwMode="auto">
            <a:xfrm>
              <a:off x="1727" y="2357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3111" name="Text Box 55"/>
            <p:cNvSpPr txBox="1">
              <a:spLocks noChangeArrowheads="1"/>
            </p:cNvSpPr>
            <p:nvPr/>
          </p:nvSpPr>
          <p:spPr bwMode="auto">
            <a:xfrm>
              <a:off x="760" y="1784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3112" name="Text Box 56"/>
            <p:cNvSpPr txBox="1">
              <a:spLocks noChangeArrowheads="1"/>
            </p:cNvSpPr>
            <p:nvPr/>
          </p:nvSpPr>
          <p:spPr bwMode="auto">
            <a:xfrm>
              <a:off x="2024" y="1784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3113" name="Text Box 57"/>
            <p:cNvSpPr txBox="1">
              <a:spLocks noChangeArrowheads="1"/>
            </p:cNvSpPr>
            <p:nvPr/>
          </p:nvSpPr>
          <p:spPr bwMode="auto">
            <a:xfrm>
              <a:off x="2067" y="1157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3114" name="Text Box 58"/>
            <p:cNvSpPr txBox="1">
              <a:spLocks noChangeArrowheads="1"/>
            </p:cNvSpPr>
            <p:nvPr/>
          </p:nvSpPr>
          <p:spPr bwMode="auto">
            <a:xfrm>
              <a:off x="1770" y="1157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0</a:t>
              </a:r>
            </a:p>
          </p:txBody>
        </p:sp>
        <p:sp>
          <p:nvSpPr>
            <p:cNvPr id="173115" name="Text Box 59"/>
            <p:cNvSpPr txBox="1">
              <a:spLocks noChangeArrowheads="1"/>
            </p:cNvSpPr>
            <p:nvPr/>
          </p:nvSpPr>
          <p:spPr bwMode="auto">
            <a:xfrm>
              <a:off x="2067" y="869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3116" name="Text Box 60"/>
            <p:cNvSpPr txBox="1">
              <a:spLocks noChangeArrowheads="1"/>
            </p:cNvSpPr>
            <p:nvPr/>
          </p:nvSpPr>
          <p:spPr bwMode="auto">
            <a:xfrm>
              <a:off x="1400" y="2357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3117" name="Text Box 61"/>
            <p:cNvSpPr txBox="1">
              <a:spLocks noChangeArrowheads="1"/>
            </p:cNvSpPr>
            <p:nvPr/>
          </p:nvSpPr>
          <p:spPr bwMode="auto">
            <a:xfrm>
              <a:off x="1102" y="2062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3118" name="Text Box 62"/>
            <p:cNvSpPr txBox="1">
              <a:spLocks noChangeArrowheads="1"/>
            </p:cNvSpPr>
            <p:nvPr/>
          </p:nvSpPr>
          <p:spPr bwMode="auto">
            <a:xfrm>
              <a:off x="456" y="1784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3119" name="Text Box 63"/>
            <p:cNvSpPr txBox="1">
              <a:spLocks noChangeArrowheads="1"/>
            </p:cNvSpPr>
            <p:nvPr/>
          </p:nvSpPr>
          <p:spPr bwMode="auto">
            <a:xfrm>
              <a:off x="2024" y="2062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3120" name="Text Box 64"/>
            <p:cNvSpPr txBox="1">
              <a:spLocks noChangeArrowheads="1"/>
            </p:cNvSpPr>
            <p:nvPr/>
          </p:nvSpPr>
          <p:spPr bwMode="auto">
            <a:xfrm>
              <a:off x="2008" y="2357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3121" name="Text Box 65"/>
            <p:cNvSpPr txBox="1">
              <a:spLocks noChangeArrowheads="1"/>
            </p:cNvSpPr>
            <p:nvPr/>
          </p:nvSpPr>
          <p:spPr bwMode="auto">
            <a:xfrm>
              <a:off x="440" y="2357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528" name="Rectangle 66"/>
            <p:cNvSpPr>
              <a:spLocks noChangeArrowheads="1"/>
            </p:cNvSpPr>
            <p:nvPr/>
          </p:nvSpPr>
          <p:spPr bwMode="auto">
            <a:xfrm>
              <a:off x="752" y="1157"/>
              <a:ext cx="336" cy="288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529" name="Rectangle 67"/>
            <p:cNvSpPr>
              <a:spLocks noChangeArrowheads="1"/>
            </p:cNvSpPr>
            <p:nvPr/>
          </p:nvSpPr>
          <p:spPr bwMode="auto">
            <a:xfrm>
              <a:off x="416" y="862"/>
              <a:ext cx="960" cy="912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3124" name="Text Box 68"/>
          <p:cNvSpPr txBox="1">
            <a:spLocks noChangeArrowheads="1"/>
          </p:cNvSpPr>
          <p:nvPr/>
        </p:nvSpPr>
        <p:spPr bwMode="auto">
          <a:xfrm>
            <a:off x="179388" y="2349500"/>
            <a:ext cx="350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I</a:t>
            </a:r>
          </a:p>
        </p:txBody>
      </p:sp>
      <p:grpSp>
        <p:nvGrpSpPr>
          <p:cNvPr id="17417" name="Group 143"/>
          <p:cNvGrpSpPr>
            <a:grpSpLocks/>
          </p:cNvGrpSpPr>
          <p:nvPr/>
        </p:nvGrpSpPr>
        <p:grpSpPr bwMode="auto">
          <a:xfrm>
            <a:off x="3911600" y="3894138"/>
            <a:ext cx="1524000" cy="1447800"/>
            <a:chOff x="2464" y="2453"/>
            <a:chExt cx="960" cy="912"/>
          </a:xfrm>
        </p:grpSpPr>
        <p:grpSp>
          <p:nvGrpSpPr>
            <p:cNvPr id="17473" name="Group 70"/>
            <p:cNvGrpSpPr>
              <a:grpSpLocks/>
            </p:cNvGrpSpPr>
            <p:nvPr/>
          </p:nvGrpSpPr>
          <p:grpSpPr bwMode="auto">
            <a:xfrm>
              <a:off x="2464" y="2453"/>
              <a:ext cx="960" cy="912"/>
              <a:chOff x="1248" y="2784"/>
              <a:chExt cx="960" cy="912"/>
            </a:xfrm>
          </p:grpSpPr>
          <p:sp>
            <p:nvSpPr>
              <p:cNvPr id="17483" name="Rectangle 71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84" name="Line 72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5" name="Line 73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6" name="Line 74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7" name="Line 75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3132" name="Text Box 76"/>
            <p:cNvSpPr txBox="1">
              <a:spLocks noChangeArrowheads="1"/>
            </p:cNvSpPr>
            <p:nvPr/>
          </p:nvSpPr>
          <p:spPr bwMode="auto">
            <a:xfrm>
              <a:off x="2542" y="2480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3133" name="Text Box 77"/>
            <p:cNvSpPr txBox="1">
              <a:spLocks noChangeArrowheads="1"/>
            </p:cNvSpPr>
            <p:nvPr/>
          </p:nvSpPr>
          <p:spPr bwMode="auto">
            <a:xfrm>
              <a:off x="2859" y="2758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3134" name="Text Box 78"/>
            <p:cNvSpPr txBox="1">
              <a:spLocks noChangeArrowheads="1"/>
            </p:cNvSpPr>
            <p:nvPr/>
          </p:nvSpPr>
          <p:spPr bwMode="auto">
            <a:xfrm>
              <a:off x="2859" y="2480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3135" name="Text Box 79"/>
            <p:cNvSpPr txBox="1">
              <a:spLocks noChangeArrowheads="1"/>
            </p:cNvSpPr>
            <p:nvPr/>
          </p:nvSpPr>
          <p:spPr bwMode="auto">
            <a:xfrm>
              <a:off x="2542" y="2758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3136" name="Text Box 80"/>
            <p:cNvSpPr txBox="1">
              <a:spLocks noChangeArrowheads="1"/>
            </p:cNvSpPr>
            <p:nvPr/>
          </p:nvSpPr>
          <p:spPr bwMode="auto">
            <a:xfrm>
              <a:off x="2859" y="3061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3137" name="Text Box 81"/>
            <p:cNvSpPr txBox="1">
              <a:spLocks noChangeArrowheads="1"/>
            </p:cNvSpPr>
            <p:nvPr/>
          </p:nvSpPr>
          <p:spPr bwMode="auto">
            <a:xfrm>
              <a:off x="3177" y="3060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3138" name="Text Box 82"/>
            <p:cNvSpPr txBox="1">
              <a:spLocks noChangeArrowheads="1"/>
            </p:cNvSpPr>
            <p:nvPr/>
          </p:nvSpPr>
          <p:spPr bwMode="auto">
            <a:xfrm>
              <a:off x="3177" y="2758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3139" name="Text Box 83"/>
            <p:cNvSpPr txBox="1">
              <a:spLocks noChangeArrowheads="1"/>
            </p:cNvSpPr>
            <p:nvPr/>
          </p:nvSpPr>
          <p:spPr bwMode="auto">
            <a:xfrm>
              <a:off x="3177" y="2480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3140" name="Text Box 84"/>
            <p:cNvSpPr txBox="1">
              <a:spLocks noChangeArrowheads="1"/>
            </p:cNvSpPr>
            <p:nvPr/>
          </p:nvSpPr>
          <p:spPr bwMode="auto">
            <a:xfrm>
              <a:off x="2542" y="3061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</p:grpSp>
      <p:sp>
        <p:nvSpPr>
          <p:cNvPr id="173141" name="Text Box 85"/>
          <p:cNvSpPr txBox="1">
            <a:spLocks noChangeArrowheads="1"/>
          </p:cNvSpPr>
          <p:nvPr/>
        </p:nvSpPr>
        <p:spPr bwMode="auto">
          <a:xfrm>
            <a:off x="4368800" y="3284538"/>
            <a:ext cx="369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F</a:t>
            </a:r>
          </a:p>
        </p:txBody>
      </p:sp>
      <p:sp>
        <p:nvSpPr>
          <p:cNvPr id="17419" name="Line 86"/>
          <p:cNvSpPr>
            <a:spLocks noChangeShapeType="1"/>
          </p:cNvSpPr>
          <p:nvPr/>
        </p:nvSpPr>
        <p:spPr bwMode="auto">
          <a:xfrm>
            <a:off x="971550" y="1773238"/>
            <a:ext cx="360363" cy="3887787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0" name="Line 87"/>
          <p:cNvSpPr>
            <a:spLocks noChangeShapeType="1"/>
          </p:cNvSpPr>
          <p:nvPr/>
        </p:nvSpPr>
        <p:spPr bwMode="auto">
          <a:xfrm flipH="1">
            <a:off x="1692275" y="4221163"/>
            <a:ext cx="2303463" cy="1439862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7421" name="Group 145"/>
          <p:cNvGrpSpPr>
            <a:grpSpLocks/>
          </p:cNvGrpSpPr>
          <p:nvPr/>
        </p:nvGrpSpPr>
        <p:grpSpPr bwMode="auto">
          <a:xfrm>
            <a:off x="5707063" y="1341438"/>
            <a:ext cx="3048000" cy="2895600"/>
            <a:chOff x="3595" y="845"/>
            <a:chExt cx="1920" cy="1824"/>
          </a:xfrm>
        </p:grpSpPr>
        <p:grpSp>
          <p:nvGrpSpPr>
            <p:cNvPr id="17426" name="Group 89"/>
            <p:cNvGrpSpPr>
              <a:grpSpLocks/>
            </p:cNvGrpSpPr>
            <p:nvPr/>
          </p:nvGrpSpPr>
          <p:grpSpPr bwMode="auto">
            <a:xfrm>
              <a:off x="3595" y="845"/>
              <a:ext cx="960" cy="912"/>
              <a:chOff x="1248" y="2784"/>
              <a:chExt cx="960" cy="912"/>
            </a:xfrm>
          </p:grpSpPr>
          <p:sp>
            <p:nvSpPr>
              <p:cNvPr id="17468" name="Rectangle 90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69" name="Line 91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0" name="Line 92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1" name="Line 93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2" name="Line 94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427" name="Group 95"/>
            <p:cNvGrpSpPr>
              <a:grpSpLocks/>
            </p:cNvGrpSpPr>
            <p:nvPr/>
          </p:nvGrpSpPr>
          <p:grpSpPr bwMode="auto">
            <a:xfrm>
              <a:off x="4555" y="1757"/>
              <a:ext cx="960" cy="912"/>
              <a:chOff x="1248" y="2784"/>
              <a:chExt cx="960" cy="912"/>
            </a:xfrm>
          </p:grpSpPr>
          <p:sp>
            <p:nvSpPr>
              <p:cNvPr id="17463" name="Rectangle 96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64" name="Line 97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5" name="Line 98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6" name="Line 99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7" name="Line 100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428" name="Group 101"/>
            <p:cNvGrpSpPr>
              <a:grpSpLocks/>
            </p:cNvGrpSpPr>
            <p:nvPr/>
          </p:nvGrpSpPr>
          <p:grpSpPr bwMode="auto">
            <a:xfrm>
              <a:off x="3595" y="1757"/>
              <a:ext cx="960" cy="912"/>
              <a:chOff x="1248" y="2784"/>
              <a:chExt cx="960" cy="912"/>
            </a:xfrm>
          </p:grpSpPr>
          <p:sp>
            <p:nvSpPr>
              <p:cNvPr id="17458" name="Rectangle 102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59" name="Line 103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0" name="Line 104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1" name="Line 105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2" name="Line 106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429" name="Group 107"/>
            <p:cNvGrpSpPr>
              <a:grpSpLocks/>
            </p:cNvGrpSpPr>
            <p:nvPr/>
          </p:nvGrpSpPr>
          <p:grpSpPr bwMode="auto">
            <a:xfrm>
              <a:off x="4555" y="845"/>
              <a:ext cx="960" cy="912"/>
              <a:chOff x="1248" y="2784"/>
              <a:chExt cx="960" cy="912"/>
            </a:xfrm>
          </p:grpSpPr>
          <p:sp>
            <p:nvSpPr>
              <p:cNvPr id="17453" name="Rectangle 108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54" name="Line 109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5" name="Line 110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6" name="Line 111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7" name="Line 112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3169" name="Text Box 113"/>
            <p:cNvSpPr txBox="1">
              <a:spLocks noChangeArrowheads="1"/>
            </p:cNvSpPr>
            <p:nvPr/>
          </p:nvSpPr>
          <p:spPr bwMode="auto">
            <a:xfrm>
              <a:off x="3640" y="860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70" name="Text Box 114"/>
            <p:cNvSpPr txBox="1">
              <a:spLocks noChangeArrowheads="1"/>
            </p:cNvSpPr>
            <p:nvPr/>
          </p:nvSpPr>
          <p:spPr bwMode="auto">
            <a:xfrm>
              <a:off x="3979" y="85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71" name="Text Box 115"/>
            <p:cNvSpPr txBox="1">
              <a:spLocks noChangeArrowheads="1"/>
            </p:cNvSpPr>
            <p:nvPr/>
          </p:nvSpPr>
          <p:spPr bwMode="auto">
            <a:xfrm>
              <a:off x="4267" y="85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72" name="Text Box 116"/>
            <p:cNvSpPr txBox="1">
              <a:spLocks noChangeArrowheads="1"/>
            </p:cNvSpPr>
            <p:nvPr/>
          </p:nvSpPr>
          <p:spPr bwMode="auto">
            <a:xfrm>
              <a:off x="3640" y="1181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73" name="Text Box 117"/>
            <p:cNvSpPr txBox="1">
              <a:spLocks noChangeArrowheads="1"/>
            </p:cNvSpPr>
            <p:nvPr/>
          </p:nvSpPr>
          <p:spPr bwMode="auto">
            <a:xfrm>
              <a:off x="3931" y="1133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3175" name="Text Box 119"/>
            <p:cNvSpPr txBox="1">
              <a:spLocks noChangeArrowheads="1"/>
            </p:cNvSpPr>
            <p:nvPr/>
          </p:nvSpPr>
          <p:spPr bwMode="auto">
            <a:xfrm>
              <a:off x="3640" y="146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76" name="Text Box 120"/>
            <p:cNvSpPr txBox="1">
              <a:spLocks noChangeArrowheads="1"/>
            </p:cNvSpPr>
            <p:nvPr/>
          </p:nvSpPr>
          <p:spPr bwMode="auto">
            <a:xfrm>
              <a:off x="4603" y="85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77" name="Text Box 121"/>
            <p:cNvSpPr txBox="1">
              <a:spLocks noChangeArrowheads="1"/>
            </p:cNvSpPr>
            <p:nvPr/>
          </p:nvSpPr>
          <p:spPr bwMode="auto">
            <a:xfrm>
              <a:off x="3979" y="23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78" name="Text Box 122"/>
            <p:cNvSpPr txBox="1">
              <a:spLocks noChangeArrowheads="1"/>
            </p:cNvSpPr>
            <p:nvPr/>
          </p:nvSpPr>
          <p:spPr bwMode="auto">
            <a:xfrm>
              <a:off x="3640" y="2045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79" name="Text Box 123"/>
            <p:cNvSpPr txBox="1">
              <a:spLocks noChangeArrowheads="1"/>
            </p:cNvSpPr>
            <p:nvPr/>
          </p:nvSpPr>
          <p:spPr bwMode="auto">
            <a:xfrm>
              <a:off x="4315" y="23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80" name="Text Box 124"/>
            <p:cNvSpPr txBox="1">
              <a:spLocks noChangeArrowheads="1"/>
            </p:cNvSpPr>
            <p:nvPr/>
          </p:nvSpPr>
          <p:spPr bwMode="auto">
            <a:xfrm>
              <a:off x="4921" y="85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81" name="Text Box 125"/>
            <p:cNvSpPr txBox="1">
              <a:spLocks noChangeArrowheads="1"/>
            </p:cNvSpPr>
            <p:nvPr/>
          </p:nvSpPr>
          <p:spPr bwMode="auto">
            <a:xfrm>
              <a:off x="5245" y="146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82" name="Text Box 126"/>
            <p:cNvSpPr txBox="1">
              <a:spLocks noChangeArrowheads="1"/>
            </p:cNvSpPr>
            <p:nvPr/>
          </p:nvSpPr>
          <p:spPr bwMode="auto">
            <a:xfrm>
              <a:off x="4921" y="23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83" name="Text Box 127"/>
            <p:cNvSpPr txBox="1">
              <a:spLocks noChangeArrowheads="1"/>
            </p:cNvSpPr>
            <p:nvPr/>
          </p:nvSpPr>
          <p:spPr bwMode="auto">
            <a:xfrm>
              <a:off x="5245" y="1757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84" name="Text Box 128"/>
            <p:cNvSpPr txBox="1">
              <a:spLocks noChangeArrowheads="1"/>
            </p:cNvSpPr>
            <p:nvPr/>
          </p:nvSpPr>
          <p:spPr bwMode="auto">
            <a:xfrm>
              <a:off x="5245" y="11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85" name="Text Box 129"/>
            <p:cNvSpPr txBox="1">
              <a:spLocks noChangeArrowheads="1"/>
            </p:cNvSpPr>
            <p:nvPr/>
          </p:nvSpPr>
          <p:spPr bwMode="auto">
            <a:xfrm>
              <a:off x="5245" y="85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86" name="Text Box 130"/>
            <p:cNvSpPr txBox="1">
              <a:spLocks noChangeArrowheads="1"/>
            </p:cNvSpPr>
            <p:nvPr/>
          </p:nvSpPr>
          <p:spPr bwMode="auto">
            <a:xfrm>
              <a:off x="4603" y="23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87" name="Text Box 131"/>
            <p:cNvSpPr txBox="1">
              <a:spLocks noChangeArrowheads="1"/>
            </p:cNvSpPr>
            <p:nvPr/>
          </p:nvSpPr>
          <p:spPr bwMode="auto">
            <a:xfrm>
              <a:off x="3640" y="1757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88" name="Text Box 132"/>
            <p:cNvSpPr txBox="1">
              <a:spLocks noChangeArrowheads="1"/>
            </p:cNvSpPr>
            <p:nvPr/>
          </p:nvSpPr>
          <p:spPr bwMode="auto">
            <a:xfrm>
              <a:off x="5245" y="2045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89" name="Text Box 133"/>
            <p:cNvSpPr txBox="1">
              <a:spLocks noChangeArrowheads="1"/>
            </p:cNvSpPr>
            <p:nvPr/>
          </p:nvSpPr>
          <p:spPr bwMode="auto">
            <a:xfrm>
              <a:off x="5245" y="23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3190" name="Text Box 134"/>
            <p:cNvSpPr txBox="1">
              <a:spLocks noChangeArrowheads="1"/>
            </p:cNvSpPr>
            <p:nvPr/>
          </p:nvSpPr>
          <p:spPr bwMode="auto">
            <a:xfrm>
              <a:off x="3640" y="23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451" name="Rectangle 135"/>
            <p:cNvSpPr>
              <a:spLocks noChangeArrowheads="1"/>
            </p:cNvSpPr>
            <p:nvPr/>
          </p:nvSpPr>
          <p:spPr bwMode="auto">
            <a:xfrm>
              <a:off x="3931" y="1133"/>
              <a:ext cx="336" cy="288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2" name="Rectangle 136"/>
            <p:cNvSpPr>
              <a:spLocks noChangeArrowheads="1"/>
            </p:cNvSpPr>
            <p:nvPr/>
          </p:nvSpPr>
          <p:spPr bwMode="auto">
            <a:xfrm>
              <a:off x="3595" y="845"/>
              <a:ext cx="960" cy="912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3193" name="Text Box 137"/>
          <p:cNvSpPr txBox="1">
            <a:spLocks noChangeArrowheads="1"/>
          </p:cNvSpPr>
          <p:nvPr/>
        </p:nvSpPr>
        <p:spPr bwMode="auto">
          <a:xfrm>
            <a:off x="3203575" y="4508500"/>
            <a:ext cx="661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1/9</a:t>
            </a:r>
          </a:p>
        </p:txBody>
      </p:sp>
      <p:sp>
        <p:nvSpPr>
          <p:cNvPr id="173194" name="Text Box 138"/>
          <p:cNvSpPr txBox="1">
            <a:spLocks noChangeArrowheads="1"/>
          </p:cNvSpPr>
          <p:nvPr/>
        </p:nvSpPr>
        <p:spPr bwMode="auto">
          <a:xfrm>
            <a:off x="5076825" y="2349500"/>
            <a:ext cx="4270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O</a:t>
            </a:r>
          </a:p>
        </p:txBody>
      </p:sp>
      <p:sp>
        <p:nvSpPr>
          <p:cNvPr id="17424" name="Line 139"/>
          <p:cNvSpPr>
            <a:spLocks noChangeShapeType="1"/>
          </p:cNvSpPr>
          <p:nvPr/>
        </p:nvSpPr>
        <p:spPr bwMode="auto">
          <a:xfrm flipV="1">
            <a:off x="6156325" y="2276475"/>
            <a:ext cx="360363" cy="3673475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5" name="Text Box 147"/>
          <p:cNvSpPr txBox="1">
            <a:spLocks noChangeArrowheads="1"/>
          </p:cNvSpPr>
          <p:nvPr/>
        </p:nvSpPr>
        <p:spPr bwMode="auto">
          <a:xfrm>
            <a:off x="5427663" y="6249988"/>
            <a:ext cx="3429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GB" sz="1200" dirty="0">
                <a:solidFill>
                  <a:srgbClr val="003366"/>
                </a:solidFill>
              </a:rPr>
              <a:t>Adapted from Octavia Camps, Penn State</a:t>
            </a:r>
            <a:endParaRPr lang="en-US" sz="1200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562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Convolution with averaging filters</a:t>
            </a:r>
          </a:p>
        </p:txBody>
      </p:sp>
      <p:sp>
        <p:nvSpPr>
          <p:cNvPr id="175107" name="Text Box 3"/>
          <p:cNvSpPr txBox="1">
            <a:spLocks noChangeArrowheads="1"/>
          </p:cNvSpPr>
          <p:nvPr/>
        </p:nvSpPr>
        <p:spPr bwMode="auto">
          <a:xfrm>
            <a:off x="574675" y="5589588"/>
            <a:ext cx="799306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1/9.(10x1 + 9x1 + 11x1 + 9x1 + 99x1 + 11x1 + 11x1 + 10x1 + 10x1) = </a:t>
            </a:r>
          </a:p>
          <a:p>
            <a:pPr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                                                  1/9.( 180) = 20</a:t>
            </a:r>
          </a:p>
        </p:txBody>
      </p:sp>
      <p:sp>
        <p:nvSpPr>
          <p:cNvPr id="175171" name="Text Box 67"/>
          <p:cNvSpPr txBox="1">
            <a:spLocks noChangeArrowheads="1"/>
          </p:cNvSpPr>
          <p:nvPr/>
        </p:nvSpPr>
        <p:spPr bwMode="auto">
          <a:xfrm>
            <a:off x="179388" y="2349500"/>
            <a:ext cx="350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I</a:t>
            </a:r>
          </a:p>
        </p:txBody>
      </p:sp>
      <p:grpSp>
        <p:nvGrpSpPr>
          <p:cNvPr id="18440" name="Group 68"/>
          <p:cNvGrpSpPr>
            <a:grpSpLocks/>
          </p:cNvGrpSpPr>
          <p:nvPr/>
        </p:nvGrpSpPr>
        <p:grpSpPr bwMode="auto">
          <a:xfrm>
            <a:off x="3911600" y="3894138"/>
            <a:ext cx="1524000" cy="1447800"/>
            <a:chOff x="2464" y="2453"/>
            <a:chExt cx="960" cy="912"/>
          </a:xfrm>
        </p:grpSpPr>
        <p:grpSp>
          <p:nvGrpSpPr>
            <p:cNvPr id="18559" name="Group 69"/>
            <p:cNvGrpSpPr>
              <a:grpSpLocks/>
            </p:cNvGrpSpPr>
            <p:nvPr/>
          </p:nvGrpSpPr>
          <p:grpSpPr bwMode="auto">
            <a:xfrm>
              <a:off x="2464" y="2453"/>
              <a:ext cx="960" cy="912"/>
              <a:chOff x="1248" y="2784"/>
              <a:chExt cx="960" cy="912"/>
            </a:xfrm>
          </p:grpSpPr>
          <p:sp>
            <p:nvSpPr>
              <p:cNvPr id="18569" name="Rectangle 70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70" name="Line 71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1" name="Line 72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2" name="Line 73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3" name="Line 74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5179" name="Text Box 75"/>
            <p:cNvSpPr txBox="1">
              <a:spLocks noChangeArrowheads="1"/>
            </p:cNvSpPr>
            <p:nvPr/>
          </p:nvSpPr>
          <p:spPr bwMode="auto">
            <a:xfrm>
              <a:off x="2542" y="2480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5180" name="Text Box 76"/>
            <p:cNvSpPr txBox="1">
              <a:spLocks noChangeArrowheads="1"/>
            </p:cNvSpPr>
            <p:nvPr/>
          </p:nvSpPr>
          <p:spPr bwMode="auto">
            <a:xfrm>
              <a:off x="2859" y="2758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5181" name="Text Box 77"/>
            <p:cNvSpPr txBox="1">
              <a:spLocks noChangeArrowheads="1"/>
            </p:cNvSpPr>
            <p:nvPr/>
          </p:nvSpPr>
          <p:spPr bwMode="auto">
            <a:xfrm>
              <a:off x="2859" y="2480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5182" name="Text Box 78"/>
            <p:cNvSpPr txBox="1">
              <a:spLocks noChangeArrowheads="1"/>
            </p:cNvSpPr>
            <p:nvPr/>
          </p:nvSpPr>
          <p:spPr bwMode="auto">
            <a:xfrm>
              <a:off x="2542" y="2758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5183" name="Text Box 79"/>
            <p:cNvSpPr txBox="1">
              <a:spLocks noChangeArrowheads="1"/>
            </p:cNvSpPr>
            <p:nvPr/>
          </p:nvSpPr>
          <p:spPr bwMode="auto">
            <a:xfrm>
              <a:off x="2859" y="3061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5184" name="Text Box 80"/>
            <p:cNvSpPr txBox="1">
              <a:spLocks noChangeArrowheads="1"/>
            </p:cNvSpPr>
            <p:nvPr/>
          </p:nvSpPr>
          <p:spPr bwMode="auto">
            <a:xfrm>
              <a:off x="3177" y="3060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5185" name="Text Box 81"/>
            <p:cNvSpPr txBox="1">
              <a:spLocks noChangeArrowheads="1"/>
            </p:cNvSpPr>
            <p:nvPr/>
          </p:nvSpPr>
          <p:spPr bwMode="auto">
            <a:xfrm>
              <a:off x="3177" y="2758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5186" name="Text Box 82"/>
            <p:cNvSpPr txBox="1">
              <a:spLocks noChangeArrowheads="1"/>
            </p:cNvSpPr>
            <p:nvPr/>
          </p:nvSpPr>
          <p:spPr bwMode="auto">
            <a:xfrm>
              <a:off x="3177" y="2480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5187" name="Text Box 83"/>
            <p:cNvSpPr txBox="1">
              <a:spLocks noChangeArrowheads="1"/>
            </p:cNvSpPr>
            <p:nvPr/>
          </p:nvSpPr>
          <p:spPr bwMode="auto">
            <a:xfrm>
              <a:off x="2542" y="3061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</p:grpSp>
      <p:sp>
        <p:nvSpPr>
          <p:cNvPr id="175188" name="Text Box 84"/>
          <p:cNvSpPr txBox="1">
            <a:spLocks noChangeArrowheads="1"/>
          </p:cNvSpPr>
          <p:nvPr/>
        </p:nvSpPr>
        <p:spPr bwMode="auto">
          <a:xfrm>
            <a:off x="4368800" y="3284538"/>
            <a:ext cx="369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F</a:t>
            </a:r>
          </a:p>
        </p:txBody>
      </p:sp>
      <p:sp>
        <p:nvSpPr>
          <p:cNvPr id="18442" name="Line 85"/>
          <p:cNvSpPr>
            <a:spLocks noChangeShapeType="1"/>
          </p:cNvSpPr>
          <p:nvPr/>
        </p:nvSpPr>
        <p:spPr bwMode="auto">
          <a:xfrm flipH="1">
            <a:off x="1331913" y="3214688"/>
            <a:ext cx="941387" cy="2446337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3" name="Line 86"/>
          <p:cNvSpPr>
            <a:spLocks noChangeShapeType="1"/>
          </p:cNvSpPr>
          <p:nvPr/>
        </p:nvSpPr>
        <p:spPr bwMode="auto">
          <a:xfrm flipH="1">
            <a:off x="1692275" y="4221163"/>
            <a:ext cx="2303463" cy="1439862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8444" name="Group 203"/>
          <p:cNvGrpSpPr>
            <a:grpSpLocks/>
          </p:cNvGrpSpPr>
          <p:nvPr/>
        </p:nvGrpSpPr>
        <p:grpSpPr bwMode="auto">
          <a:xfrm>
            <a:off x="5707063" y="1341438"/>
            <a:ext cx="3048000" cy="2895600"/>
            <a:chOff x="3595" y="845"/>
            <a:chExt cx="1920" cy="1824"/>
          </a:xfrm>
        </p:grpSpPr>
        <p:grpSp>
          <p:nvGrpSpPr>
            <p:cNvPr id="18512" name="Group 88"/>
            <p:cNvGrpSpPr>
              <a:grpSpLocks/>
            </p:cNvGrpSpPr>
            <p:nvPr/>
          </p:nvGrpSpPr>
          <p:grpSpPr bwMode="auto">
            <a:xfrm>
              <a:off x="3595" y="845"/>
              <a:ext cx="960" cy="912"/>
              <a:chOff x="1248" y="2784"/>
              <a:chExt cx="960" cy="912"/>
            </a:xfrm>
          </p:grpSpPr>
          <p:sp>
            <p:nvSpPr>
              <p:cNvPr id="18554" name="Rectangle 89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55" name="Line 90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6" name="Line 91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7" name="Line 92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8" name="Line 93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513" name="Group 94"/>
            <p:cNvGrpSpPr>
              <a:grpSpLocks/>
            </p:cNvGrpSpPr>
            <p:nvPr/>
          </p:nvGrpSpPr>
          <p:grpSpPr bwMode="auto">
            <a:xfrm>
              <a:off x="4555" y="1757"/>
              <a:ext cx="960" cy="912"/>
              <a:chOff x="1248" y="2784"/>
              <a:chExt cx="960" cy="912"/>
            </a:xfrm>
          </p:grpSpPr>
          <p:sp>
            <p:nvSpPr>
              <p:cNvPr id="18549" name="Rectangle 95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50" name="Line 96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1" name="Line 97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2" name="Line 98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3" name="Line 99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514" name="Group 100"/>
            <p:cNvGrpSpPr>
              <a:grpSpLocks/>
            </p:cNvGrpSpPr>
            <p:nvPr/>
          </p:nvGrpSpPr>
          <p:grpSpPr bwMode="auto">
            <a:xfrm>
              <a:off x="3595" y="1757"/>
              <a:ext cx="960" cy="912"/>
              <a:chOff x="1248" y="2784"/>
              <a:chExt cx="960" cy="912"/>
            </a:xfrm>
          </p:grpSpPr>
          <p:sp>
            <p:nvSpPr>
              <p:cNvPr id="18544" name="Rectangle 101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45" name="Line 102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6" name="Line 103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7" name="Line 104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8" name="Line 105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515" name="Group 106"/>
            <p:cNvGrpSpPr>
              <a:grpSpLocks/>
            </p:cNvGrpSpPr>
            <p:nvPr/>
          </p:nvGrpSpPr>
          <p:grpSpPr bwMode="auto">
            <a:xfrm>
              <a:off x="4555" y="845"/>
              <a:ext cx="960" cy="912"/>
              <a:chOff x="1248" y="2784"/>
              <a:chExt cx="960" cy="912"/>
            </a:xfrm>
          </p:grpSpPr>
          <p:sp>
            <p:nvSpPr>
              <p:cNvPr id="18539" name="Rectangle 107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40" name="Line 108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1" name="Line 109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2" name="Line 110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3" name="Line 111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5216" name="Text Box 112"/>
            <p:cNvSpPr txBox="1">
              <a:spLocks noChangeArrowheads="1"/>
            </p:cNvSpPr>
            <p:nvPr/>
          </p:nvSpPr>
          <p:spPr bwMode="auto">
            <a:xfrm>
              <a:off x="3640" y="860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17" name="Text Box 113"/>
            <p:cNvSpPr txBox="1">
              <a:spLocks noChangeArrowheads="1"/>
            </p:cNvSpPr>
            <p:nvPr/>
          </p:nvSpPr>
          <p:spPr bwMode="auto">
            <a:xfrm>
              <a:off x="3979" y="85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18" name="Text Box 114"/>
            <p:cNvSpPr txBox="1">
              <a:spLocks noChangeArrowheads="1"/>
            </p:cNvSpPr>
            <p:nvPr/>
          </p:nvSpPr>
          <p:spPr bwMode="auto">
            <a:xfrm>
              <a:off x="4267" y="85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19" name="Text Box 115"/>
            <p:cNvSpPr txBox="1">
              <a:spLocks noChangeArrowheads="1"/>
            </p:cNvSpPr>
            <p:nvPr/>
          </p:nvSpPr>
          <p:spPr bwMode="auto">
            <a:xfrm>
              <a:off x="3640" y="1181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20" name="Text Box 116"/>
            <p:cNvSpPr txBox="1">
              <a:spLocks noChangeArrowheads="1"/>
            </p:cNvSpPr>
            <p:nvPr/>
          </p:nvSpPr>
          <p:spPr bwMode="auto">
            <a:xfrm>
              <a:off x="4895" y="2037"/>
              <a:ext cx="35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20</a:t>
              </a:r>
            </a:p>
          </p:txBody>
        </p:sp>
        <p:sp>
          <p:nvSpPr>
            <p:cNvPr id="175221" name="Text Box 117"/>
            <p:cNvSpPr txBox="1">
              <a:spLocks noChangeArrowheads="1"/>
            </p:cNvSpPr>
            <p:nvPr/>
          </p:nvSpPr>
          <p:spPr bwMode="auto">
            <a:xfrm>
              <a:off x="3640" y="146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22" name="Text Box 118"/>
            <p:cNvSpPr txBox="1">
              <a:spLocks noChangeArrowheads="1"/>
            </p:cNvSpPr>
            <p:nvPr/>
          </p:nvSpPr>
          <p:spPr bwMode="auto">
            <a:xfrm>
              <a:off x="4603" y="85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23" name="Text Box 119"/>
            <p:cNvSpPr txBox="1">
              <a:spLocks noChangeArrowheads="1"/>
            </p:cNvSpPr>
            <p:nvPr/>
          </p:nvSpPr>
          <p:spPr bwMode="auto">
            <a:xfrm>
              <a:off x="3979" y="23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24" name="Text Box 120"/>
            <p:cNvSpPr txBox="1">
              <a:spLocks noChangeArrowheads="1"/>
            </p:cNvSpPr>
            <p:nvPr/>
          </p:nvSpPr>
          <p:spPr bwMode="auto">
            <a:xfrm>
              <a:off x="3640" y="2045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25" name="Text Box 121"/>
            <p:cNvSpPr txBox="1">
              <a:spLocks noChangeArrowheads="1"/>
            </p:cNvSpPr>
            <p:nvPr/>
          </p:nvSpPr>
          <p:spPr bwMode="auto">
            <a:xfrm>
              <a:off x="4315" y="23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26" name="Text Box 122"/>
            <p:cNvSpPr txBox="1">
              <a:spLocks noChangeArrowheads="1"/>
            </p:cNvSpPr>
            <p:nvPr/>
          </p:nvSpPr>
          <p:spPr bwMode="auto">
            <a:xfrm>
              <a:off x="4927" y="85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27" name="Text Box 123"/>
            <p:cNvSpPr txBox="1">
              <a:spLocks noChangeArrowheads="1"/>
            </p:cNvSpPr>
            <p:nvPr/>
          </p:nvSpPr>
          <p:spPr bwMode="auto">
            <a:xfrm>
              <a:off x="5245" y="146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28" name="Text Box 124"/>
            <p:cNvSpPr txBox="1">
              <a:spLocks noChangeArrowheads="1"/>
            </p:cNvSpPr>
            <p:nvPr/>
          </p:nvSpPr>
          <p:spPr bwMode="auto">
            <a:xfrm>
              <a:off x="4927" y="23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29" name="Text Box 125"/>
            <p:cNvSpPr txBox="1">
              <a:spLocks noChangeArrowheads="1"/>
            </p:cNvSpPr>
            <p:nvPr/>
          </p:nvSpPr>
          <p:spPr bwMode="auto">
            <a:xfrm>
              <a:off x="5245" y="1757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30" name="Text Box 126"/>
            <p:cNvSpPr txBox="1">
              <a:spLocks noChangeArrowheads="1"/>
            </p:cNvSpPr>
            <p:nvPr/>
          </p:nvSpPr>
          <p:spPr bwMode="auto">
            <a:xfrm>
              <a:off x="5245" y="11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31" name="Text Box 127"/>
            <p:cNvSpPr txBox="1">
              <a:spLocks noChangeArrowheads="1"/>
            </p:cNvSpPr>
            <p:nvPr/>
          </p:nvSpPr>
          <p:spPr bwMode="auto">
            <a:xfrm>
              <a:off x="5245" y="859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32" name="Text Box 128"/>
            <p:cNvSpPr txBox="1">
              <a:spLocks noChangeArrowheads="1"/>
            </p:cNvSpPr>
            <p:nvPr/>
          </p:nvSpPr>
          <p:spPr bwMode="auto">
            <a:xfrm>
              <a:off x="4603" y="23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33" name="Text Box 129"/>
            <p:cNvSpPr txBox="1">
              <a:spLocks noChangeArrowheads="1"/>
            </p:cNvSpPr>
            <p:nvPr/>
          </p:nvSpPr>
          <p:spPr bwMode="auto">
            <a:xfrm>
              <a:off x="3640" y="1757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34" name="Text Box 130"/>
            <p:cNvSpPr txBox="1">
              <a:spLocks noChangeArrowheads="1"/>
            </p:cNvSpPr>
            <p:nvPr/>
          </p:nvSpPr>
          <p:spPr bwMode="auto">
            <a:xfrm>
              <a:off x="5245" y="2045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35" name="Text Box 131"/>
            <p:cNvSpPr txBox="1">
              <a:spLocks noChangeArrowheads="1"/>
            </p:cNvSpPr>
            <p:nvPr/>
          </p:nvSpPr>
          <p:spPr bwMode="auto">
            <a:xfrm>
              <a:off x="5245" y="23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75236" name="Text Box 132"/>
            <p:cNvSpPr txBox="1">
              <a:spLocks noChangeArrowheads="1"/>
            </p:cNvSpPr>
            <p:nvPr/>
          </p:nvSpPr>
          <p:spPr bwMode="auto">
            <a:xfrm>
              <a:off x="3640" y="2333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X</a:t>
              </a:r>
            </a:p>
          </p:txBody>
        </p:sp>
        <p:sp>
          <p:nvSpPr>
            <p:cNvPr id="18537" name="Rectangle 133"/>
            <p:cNvSpPr>
              <a:spLocks noChangeArrowheads="1"/>
            </p:cNvSpPr>
            <p:nvPr/>
          </p:nvSpPr>
          <p:spPr bwMode="auto">
            <a:xfrm>
              <a:off x="4887" y="2037"/>
              <a:ext cx="336" cy="288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38" name="Rectangle 134"/>
            <p:cNvSpPr>
              <a:spLocks noChangeArrowheads="1"/>
            </p:cNvSpPr>
            <p:nvPr/>
          </p:nvSpPr>
          <p:spPr bwMode="auto">
            <a:xfrm>
              <a:off x="4551" y="1753"/>
              <a:ext cx="960" cy="912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5239" name="Text Box 135"/>
          <p:cNvSpPr txBox="1">
            <a:spLocks noChangeArrowheads="1"/>
          </p:cNvSpPr>
          <p:nvPr/>
        </p:nvSpPr>
        <p:spPr bwMode="auto">
          <a:xfrm>
            <a:off x="3203575" y="4508500"/>
            <a:ext cx="661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1/9</a:t>
            </a:r>
          </a:p>
        </p:txBody>
      </p:sp>
      <p:sp>
        <p:nvSpPr>
          <p:cNvPr id="175240" name="Text Box 136"/>
          <p:cNvSpPr txBox="1">
            <a:spLocks noChangeArrowheads="1"/>
          </p:cNvSpPr>
          <p:nvPr/>
        </p:nvSpPr>
        <p:spPr bwMode="auto">
          <a:xfrm>
            <a:off x="5076825" y="2349500"/>
            <a:ext cx="4270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O</a:t>
            </a:r>
          </a:p>
        </p:txBody>
      </p:sp>
      <p:sp>
        <p:nvSpPr>
          <p:cNvPr id="18447" name="Line 137"/>
          <p:cNvSpPr>
            <a:spLocks noChangeShapeType="1"/>
          </p:cNvSpPr>
          <p:nvPr/>
        </p:nvSpPr>
        <p:spPr bwMode="auto">
          <a:xfrm flipV="1">
            <a:off x="6156325" y="3706813"/>
            <a:ext cx="1855788" cy="2243137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8448" name="Group 201"/>
          <p:cNvGrpSpPr>
            <a:grpSpLocks/>
          </p:cNvGrpSpPr>
          <p:nvPr/>
        </p:nvGrpSpPr>
        <p:grpSpPr bwMode="auto">
          <a:xfrm>
            <a:off x="660400" y="1368425"/>
            <a:ext cx="3051175" cy="2898775"/>
            <a:chOff x="416" y="862"/>
            <a:chExt cx="1922" cy="1826"/>
          </a:xfrm>
        </p:grpSpPr>
        <p:grpSp>
          <p:nvGrpSpPr>
            <p:cNvPr id="18450" name="Group 139"/>
            <p:cNvGrpSpPr>
              <a:grpSpLocks/>
            </p:cNvGrpSpPr>
            <p:nvPr/>
          </p:nvGrpSpPr>
          <p:grpSpPr bwMode="auto">
            <a:xfrm>
              <a:off x="416" y="862"/>
              <a:ext cx="960" cy="912"/>
              <a:chOff x="1248" y="2784"/>
              <a:chExt cx="960" cy="912"/>
            </a:xfrm>
          </p:grpSpPr>
          <p:sp>
            <p:nvSpPr>
              <p:cNvPr id="18507" name="Rectangle 140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08" name="Line 141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9" name="Line 142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0" name="Line 143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1" name="Line 144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51" name="Group 145"/>
            <p:cNvGrpSpPr>
              <a:grpSpLocks/>
            </p:cNvGrpSpPr>
            <p:nvPr/>
          </p:nvGrpSpPr>
          <p:grpSpPr bwMode="auto">
            <a:xfrm>
              <a:off x="1376" y="1774"/>
              <a:ext cx="960" cy="912"/>
              <a:chOff x="1248" y="2784"/>
              <a:chExt cx="960" cy="912"/>
            </a:xfrm>
          </p:grpSpPr>
          <p:sp>
            <p:nvSpPr>
              <p:cNvPr id="18502" name="Rectangle 146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03" name="Line 147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4" name="Line 148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5" name="Line 149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6" name="Line 150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52" name="Group 151"/>
            <p:cNvGrpSpPr>
              <a:grpSpLocks/>
            </p:cNvGrpSpPr>
            <p:nvPr/>
          </p:nvGrpSpPr>
          <p:grpSpPr bwMode="auto">
            <a:xfrm>
              <a:off x="416" y="1774"/>
              <a:ext cx="960" cy="912"/>
              <a:chOff x="1248" y="2784"/>
              <a:chExt cx="960" cy="912"/>
            </a:xfrm>
          </p:grpSpPr>
          <p:sp>
            <p:nvSpPr>
              <p:cNvPr id="18497" name="Rectangle 152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98" name="Line 153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9" name="Line 154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0" name="Line 155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1" name="Line 156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53" name="Group 157"/>
            <p:cNvGrpSpPr>
              <a:grpSpLocks/>
            </p:cNvGrpSpPr>
            <p:nvPr/>
          </p:nvGrpSpPr>
          <p:grpSpPr bwMode="auto">
            <a:xfrm>
              <a:off x="1376" y="862"/>
              <a:ext cx="960" cy="912"/>
              <a:chOff x="1248" y="2784"/>
              <a:chExt cx="960" cy="912"/>
            </a:xfrm>
          </p:grpSpPr>
          <p:sp>
            <p:nvSpPr>
              <p:cNvPr id="18492" name="Rectangle 158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960" cy="91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93" name="Line 159"/>
              <p:cNvSpPr>
                <a:spLocks noChangeShapeType="1"/>
              </p:cNvSpPr>
              <p:nvPr/>
            </p:nvSpPr>
            <p:spPr bwMode="auto">
              <a:xfrm>
                <a:off x="1584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4" name="Line 160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5" name="Line 161"/>
              <p:cNvSpPr>
                <a:spLocks noChangeShapeType="1"/>
              </p:cNvSpPr>
              <p:nvPr/>
            </p:nvSpPr>
            <p:spPr bwMode="auto">
              <a:xfrm>
                <a:off x="1248" y="307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6" name="Line 162"/>
              <p:cNvSpPr>
                <a:spLocks noChangeShapeType="1"/>
              </p:cNvSpPr>
              <p:nvPr/>
            </p:nvSpPr>
            <p:spPr bwMode="auto">
              <a:xfrm>
                <a:off x="1248" y="3360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5267" name="Text Box 163"/>
            <p:cNvSpPr txBox="1">
              <a:spLocks noChangeArrowheads="1"/>
            </p:cNvSpPr>
            <p:nvPr/>
          </p:nvSpPr>
          <p:spPr bwMode="auto">
            <a:xfrm>
              <a:off x="440" y="870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5268" name="Text Box 164"/>
            <p:cNvSpPr txBox="1">
              <a:spLocks noChangeArrowheads="1"/>
            </p:cNvSpPr>
            <p:nvPr/>
          </p:nvSpPr>
          <p:spPr bwMode="auto">
            <a:xfrm>
              <a:off x="776" y="869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5269" name="Text Box 165"/>
            <p:cNvSpPr txBox="1">
              <a:spLocks noChangeArrowheads="1"/>
            </p:cNvSpPr>
            <p:nvPr/>
          </p:nvSpPr>
          <p:spPr bwMode="auto">
            <a:xfrm>
              <a:off x="1087" y="869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5270" name="Text Box 166"/>
            <p:cNvSpPr txBox="1">
              <a:spLocks noChangeArrowheads="1"/>
            </p:cNvSpPr>
            <p:nvPr/>
          </p:nvSpPr>
          <p:spPr bwMode="auto">
            <a:xfrm>
              <a:off x="483" y="1158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5271" name="Text Box 167"/>
            <p:cNvSpPr txBox="1">
              <a:spLocks noChangeArrowheads="1"/>
            </p:cNvSpPr>
            <p:nvPr/>
          </p:nvSpPr>
          <p:spPr bwMode="auto">
            <a:xfrm>
              <a:off x="760" y="1157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5272" name="Text Box 168"/>
            <p:cNvSpPr txBox="1">
              <a:spLocks noChangeArrowheads="1"/>
            </p:cNvSpPr>
            <p:nvPr/>
          </p:nvSpPr>
          <p:spPr bwMode="auto">
            <a:xfrm>
              <a:off x="1102" y="1158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5273" name="Text Box 169"/>
            <p:cNvSpPr txBox="1">
              <a:spLocks noChangeArrowheads="1"/>
            </p:cNvSpPr>
            <p:nvPr/>
          </p:nvSpPr>
          <p:spPr bwMode="auto">
            <a:xfrm>
              <a:off x="440" y="1484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5274" name="Text Box 170"/>
            <p:cNvSpPr txBox="1">
              <a:spLocks noChangeArrowheads="1"/>
            </p:cNvSpPr>
            <p:nvPr/>
          </p:nvSpPr>
          <p:spPr bwMode="auto">
            <a:xfrm>
              <a:off x="803" y="1484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5275" name="Text Box 171"/>
            <p:cNvSpPr txBox="1">
              <a:spLocks noChangeArrowheads="1"/>
            </p:cNvSpPr>
            <p:nvPr/>
          </p:nvSpPr>
          <p:spPr bwMode="auto">
            <a:xfrm>
              <a:off x="1086" y="1484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5276" name="Text Box 172"/>
            <p:cNvSpPr txBox="1">
              <a:spLocks noChangeArrowheads="1"/>
            </p:cNvSpPr>
            <p:nvPr/>
          </p:nvSpPr>
          <p:spPr bwMode="auto">
            <a:xfrm>
              <a:off x="1443" y="1157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5277" name="Text Box 173"/>
            <p:cNvSpPr txBox="1">
              <a:spLocks noChangeArrowheads="1"/>
            </p:cNvSpPr>
            <p:nvPr/>
          </p:nvSpPr>
          <p:spPr bwMode="auto">
            <a:xfrm>
              <a:off x="760" y="2062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5278" name="Text Box 174"/>
            <p:cNvSpPr txBox="1">
              <a:spLocks noChangeArrowheads="1"/>
            </p:cNvSpPr>
            <p:nvPr/>
          </p:nvSpPr>
          <p:spPr bwMode="auto">
            <a:xfrm>
              <a:off x="1384" y="1784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5279" name="Text Box 175"/>
            <p:cNvSpPr txBox="1">
              <a:spLocks noChangeArrowheads="1"/>
            </p:cNvSpPr>
            <p:nvPr/>
          </p:nvSpPr>
          <p:spPr bwMode="auto">
            <a:xfrm>
              <a:off x="1770" y="1484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2</a:t>
              </a:r>
            </a:p>
          </p:txBody>
        </p:sp>
        <p:sp>
          <p:nvSpPr>
            <p:cNvPr id="175280" name="Text Box 176"/>
            <p:cNvSpPr txBox="1">
              <a:spLocks noChangeArrowheads="1"/>
            </p:cNvSpPr>
            <p:nvPr/>
          </p:nvSpPr>
          <p:spPr bwMode="auto">
            <a:xfrm>
              <a:off x="1770" y="1784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5281" name="Text Box 177"/>
            <p:cNvSpPr txBox="1">
              <a:spLocks noChangeArrowheads="1"/>
            </p:cNvSpPr>
            <p:nvPr/>
          </p:nvSpPr>
          <p:spPr bwMode="auto">
            <a:xfrm>
              <a:off x="1427" y="1484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0</a:t>
              </a:r>
            </a:p>
          </p:txBody>
        </p:sp>
        <p:sp>
          <p:nvSpPr>
            <p:cNvPr id="175282" name="Text Box 178"/>
            <p:cNvSpPr txBox="1">
              <a:spLocks noChangeArrowheads="1"/>
            </p:cNvSpPr>
            <p:nvPr/>
          </p:nvSpPr>
          <p:spPr bwMode="auto">
            <a:xfrm>
              <a:off x="1129" y="1784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5283" name="Text Box 179"/>
            <p:cNvSpPr txBox="1">
              <a:spLocks noChangeArrowheads="1"/>
            </p:cNvSpPr>
            <p:nvPr/>
          </p:nvSpPr>
          <p:spPr bwMode="auto">
            <a:xfrm>
              <a:off x="1427" y="869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0</a:t>
              </a:r>
            </a:p>
          </p:txBody>
        </p:sp>
        <p:sp>
          <p:nvSpPr>
            <p:cNvPr id="175284" name="Text Box 180"/>
            <p:cNvSpPr txBox="1">
              <a:spLocks noChangeArrowheads="1"/>
            </p:cNvSpPr>
            <p:nvPr/>
          </p:nvSpPr>
          <p:spPr bwMode="auto">
            <a:xfrm>
              <a:off x="803" y="2357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5285" name="Text Box 181"/>
            <p:cNvSpPr txBox="1">
              <a:spLocks noChangeArrowheads="1"/>
            </p:cNvSpPr>
            <p:nvPr/>
          </p:nvSpPr>
          <p:spPr bwMode="auto">
            <a:xfrm>
              <a:off x="483" y="2062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5286" name="Text Box 182"/>
            <p:cNvSpPr txBox="1">
              <a:spLocks noChangeArrowheads="1"/>
            </p:cNvSpPr>
            <p:nvPr/>
          </p:nvSpPr>
          <p:spPr bwMode="auto">
            <a:xfrm>
              <a:off x="1130" y="2357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5287" name="Text Box 183"/>
            <p:cNvSpPr txBox="1">
              <a:spLocks noChangeArrowheads="1"/>
            </p:cNvSpPr>
            <p:nvPr/>
          </p:nvSpPr>
          <p:spPr bwMode="auto">
            <a:xfrm>
              <a:off x="1427" y="2062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</a:t>
              </a:r>
            </a:p>
          </p:txBody>
        </p:sp>
        <p:sp>
          <p:nvSpPr>
            <p:cNvPr id="175288" name="Text Box 184"/>
            <p:cNvSpPr txBox="1">
              <a:spLocks noChangeArrowheads="1"/>
            </p:cNvSpPr>
            <p:nvPr/>
          </p:nvSpPr>
          <p:spPr bwMode="auto">
            <a:xfrm>
              <a:off x="1770" y="869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0</a:t>
              </a:r>
            </a:p>
          </p:txBody>
        </p:sp>
        <p:sp>
          <p:nvSpPr>
            <p:cNvPr id="175289" name="Text Box 185"/>
            <p:cNvSpPr txBox="1">
              <a:spLocks noChangeArrowheads="1"/>
            </p:cNvSpPr>
            <p:nvPr/>
          </p:nvSpPr>
          <p:spPr bwMode="auto">
            <a:xfrm>
              <a:off x="2067" y="1484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5290" name="Text Box 186"/>
            <p:cNvSpPr txBox="1">
              <a:spLocks noChangeArrowheads="1"/>
            </p:cNvSpPr>
            <p:nvPr/>
          </p:nvSpPr>
          <p:spPr bwMode="auto">
            <a:xfrm>
              <a:off x="1712" y="2062"/>
              <a:ext cx="35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99</a:t>
              </a:r>
            </a:p>
          </p:txBody>
        </p:sp>
        <p:sp>
          <p:nvSpPr>
            <p:cNvPr id="175291" name="Text Box 187"/>
            <p:cNvSpPr txBox="1">
              <a:spLocks noChangeArrowheads="1"/>
            </p:cNvSpPr>
            <p:nvPr/>
          </p:nvSpPr>
          <p:spPr bwMode="auto">
            <a:xfrm>
              <a:off x="1727" y="2357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5292" name="Text Box 188"/>
            <p:cNvSpPr txBox="1">
              <a:spLocks noChangeArrowheads="1"/>
            </p:cNvSpPr>
            <p:nvPr/>
          </p:nvSpPr>
          <p:spPr bwMode="auto">
            <a:xfrm>
              <a:off x="760" y="1784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5293" name="Text Box 189"/>
            <p:cNvSpPr txBox="1">
              <a:spLocks noChangeArrowheads="1"/>
            </p:cNvSpPr>
            <p:nvPr/>
          </p:nvSpPr>
          <p:spPr bwMode="auto">
            <a:xfrm>
              <a:off x="2024" y="1784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5294" name="Text Box 190"/>
            <p:cNvSpPr txBox="1">
              <a:spLocks noChangeArrowheads="1"/>
            </p:cNvSpPr>
            <p:nvPr/>
          </p:nvSpPr>
          <p:spPr bwMode="auto">
            <a:xfrm>
              <a:off x="2067" y="1157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5295" name="Text Box 191"/>
            <p:cNvSpPr txBox="1">
              <a:spLocks noChangeArrowheads="1"/>
            </p:cNvSpPr>
            <p:nvPr/>
          </p:nvSpPr>
          <p:spPr bwMode="auto">
            <a:xfrm>
              <a:off x="1770" y="1157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0</a:t>
              </a:r>
            </a:p>
          </p:txBody>
        </p:sp>
        <p:sp>
          <p:nvSpPr>
            <p:cNvPr id="175296" name="Text Box 192"/>
            <p:cNvSpPr txBox="1">
              <a:spLocks noChangeArrowheads="1"/>
            </p:cNvSpPr>
            <p:nvPr/>
          </p:nvSpPr>
          <p:spPr bwMode="auto">
            <a:xfrm>
              <a:off x="2067" y="869"/>
              <a:ext cx="2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</a:t>
              </a:r>
            </a:p>
          </p:txBody>
        </p:sp>
        <p:sp>
          <p:nvSpPr>
            <p:cNvPr id="175297" name="Text Box 193"/>
            <p:cNvSpPr txBox="1">
              <a:spLocks noChangeArrowheads="1"/>
            </p:cNvSpPr>
            <p:nvPr/>
          </p:nvSpPr>
          <p:spPr bwMode="auto">
            <a:xfrm>
              <a:off x="1400" y="2357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5298" name="Text Box 194"/>
            <p:cNvSpPr txBox="1">
              <a:spLocks noChangeArrowheads="1"/>
            </p:cNvSpPr>
            <p:nvPr/>
          </p:nvSpPr>
          <p:spPr bwMode="auto">
            <a:xfrm>
              <a:off x="1102" y="2062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5299" name="Text Box 195"/>
            <p:cNvSpPr txBox="1">
              <a:spLocks noChangeArrowheads="1"/>
            </p:cNvSpPr>
            <p:nvPr/>
          </p:nvSpPr>
          <p:spPr bwMode="auto">
            <a:xfrm>
              <a:off x="456" y="1784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5300" name="Text Box 196"/>
            <p:cNvSpPr txBox="1">
              <a:spLocks noChangeArrowheads="1"/>
            </p:cNvSpPr>
            <p:nvPr/>
          </p:nvSpPr>
          <p:spPr bwMode="auto">
            <a:xfrm>
              <a:off x="2024" y="2062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11</a:t>
              </a:r>
            </a:p>
          </p:txBody>
        </p:sp>
        <p:sp>
          <p:nvSpPr>
            <p:cNvPr id="175301" name="Text Box 197"/>
            <p:cNvSpPr txBox="1">
              <a:spLocks noChangeArrowheads="1"/>
            </p:cNvSpPr>
            <p:nvPr/>
          </p:nvSpPr>
          <p:spPr bwMode="auto">
            <a:xfrm>
              <a:off x="2008" y="2357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75302" name="Text Box 198"/>
            <p:cNvSpPr txBox="1">
              <a:spLocks noChangeArrowheads="1"/>
            </p:cNvSpPr>
            <p:nvPr/>
          </p:nvSpPr>
          <p:spPr bwMode="auto">
            <a:xfrm>
              <a:off x="440" y="2357"/>
              <a:ext cx="3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8490" name="Rectangle 199"/>
            <p:cNvSpPr>
              <a:spLocks noChangeArrowheads="1"/>
            </p:cNvSpPr>
            <p:nvPr/>
          </p:nvSpPr>
          <p:spPr bwMode="auto">
            <a:xfrm>
              <a:off x="1707" y="2058"/>
              <a:ext cx="336" cy="288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1" name="Rectangle 200"/>
            <p:cNvSpPr>
              <a:spLocks noChangeArrowheads="1"/>
            </p:cNvSpPr>
            <p:nvPr/>
          </p:nvSpPr>
          <p:spPr bwMode="auto">
            <a:xfrm>
              <a:off x="1378" y="1776"/>
              <a:ext cx="960" cy="912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449" name="Text Box 204"/>
          <p:cNvSpPr txBox="1">
            <a:spLocks noChangeArrowheads="1"/>
          </p:cNvSpPr>
          <p:nvPr/>
        </p:nvSpPr>
        <p:spPr bwMode="auto">
          <a:xfrm>
            <a:off x="5427663" y="6249988"/>
            <a:ext cx="3429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GB" sz="1200">
                <a:solidFill>
                  <a:srgbClr val="003366"/>
                </a:solidFill>
              </a:rPr>
              <a:t>Adapted from Octavia Camps, Penn State</a:t>
            </a:r>
            <a:endParaRPr lang="en-US" sz="120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776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475463" y="258512"/>
            <a:ext cx="8229600" cy="1143000"/>
          </a:xfrm>
        </p:spPr>
        <p:txBody>
          <a:bodyPr/>
          <a:lstStyle/>
          <a:p>
            <a:r>
              <a:rPr lang="en-US" dirty="0"/>
              <a:t>Practical implementation of Convolution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careful about indices, image borders and padding during implementation.</a:t>
            </a:r>
          </a:p>
        </p:txBody>
      </p:sp>
      <p:sp>
        <p:nvSpPr>
          <p:cNvPr id="14344" name="TextBox 7"/>
          <p:cNvSpPr txBox="1">
            <a:spLocks noChangeArrowheads="1"/>
          </p:cNvSpPr>
          <p:nvPr/>
        </p:nvSpPr>
        <p:spPr bwMode="auto">
          <a:xfrm>
            <a:off x="2701925" y="5271294"/>
            <a:ext cx="37290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2400" dirty="0">
                <a:solidFill>
                  <a:srgbClr val="003366"/>
                </a:solidFill>
              </a:rPr>
              <a:t>Border padding examples.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863" y="2735065"/>
            <a:ext cx="1890713" cy="190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0263" y="2735065"/>
            <a:ext cx="1899235" cy="1908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3863" y="2735064"/>
            <a:ext cx="1903996" cy="190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2" name="Group 11"/>
          <p:cNvGrpSpPr/>
          <p:nvPr/>
        </p:nvGrpSpPr>
        <p:grpSpPr>
          <a:xfrm>
            <a:off x="457200" y="2735065"/>
            <a:ext cx="1890713" cy="1908779"/>
            <a:chOff x="381000" y="2971800"/>
            <a:chExt cx="1890713" cy="1908779"/>
          </a:xfrm>
        </p:grpSpPr>
        <p:sp>
          <p:nvSpPr>
            <p:cNvPr id="13" name="Rectangle 12"/>
            <p:cNvSpPr/>
            <p:nvPr/>
          </p:nvSpPr>
          <p:spPr>
            <a:xfrm>
              <a:off x="381000" y="2971800"/>
              <a:ext cx="1890713" cy="19087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3366"/>
                </a:solidFill>
              </a:endParaRPr>
            </a:p>
          </p:txBody>
        </p:sp>
        <p:pic>
          <p:nvPicPr>
            <p:cNvPr id="14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402" t="10207" r="9659" b="10255"/>
            <a:stretch/>
          </p:blipFill>
          <p:spPr bwMode="auto">
            <a:xfrm>
              <a:off x="570653" y="3170486"/>
              <a:ext cx="1511405" cy="15114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5" name="TextBox 14"/>
          <p:cNvSpPr txBox="1"/>
          <p:nvPr/>
        </p:nvSpPr>
        <p:spPr>
          <a:xfrm>
            <a:off x="646853" y="4643844"/>
            <a:ext cx="1511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3366"/>
                </a:solidFill>
              </a:rPr>
              <a:t>zero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2516" y="4643844"/>
            <a:ext cx="1678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3366"/>
                </a:solidFill>
              </a:rPr>
              <a:t>fixed/clamp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63" y="4634616"/>
            <a:ext cx="1899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3366"/>
                </a:solidFill>
              </a:rPr>
              <a:t>periodic/wrap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3863" y="4635303"/>
            <a:ext cx="2147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3366"/>
                </a:solidFill>
              </a:rPr>
              <a:t>reflected/mirror</a:t>
            </a:r>
          </a:p>
        </p:txBody>
      </p:sp>
      <p:sp>
        <p:nvSpPr>
          <p:cNvPr id="20" name="Text Box 147"/>
          <p:cNvSpPr txBox="1">
            <a:spLocks noChangeArrowheads="1"/>
          </p:cNvSpPr>
          <p:nvPr/>
        </p:nvSpPr>
        <p:spPr bwMode="auto">
          <a:xfrm>
            <a:off x="5427663" y="6249988"/>
            <a:ext cx="3429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GB" sz="1200" dirty="0">
                <a:solidFill>
                  <a:srgbClr val="003366"/>
                </a:solidFill>
              </a:rPr>
              <a:t>Adapted from CSE 455, U of Washington</a:t>
            </a:r>
            <a:endParaRPr lang="en-US" sz="1200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444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72CD3-FD69-E44D-B7C0-E24D1A22B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convolution </a:t>
            </a:r>
            <a:r>
              <a:rPr lang="en-US" dirty="0" err="1"/>
              <a:t>realy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F84F2-E46F-7646-BFBE-2D2809AD0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767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D80792-FB59-F04F-BFFA-328E2592E888}"/>
              </a:ext>
            </a:extLst>
          </p:cNvPr>
          <p:cNvSpPr txBox="1"/>
          <p:nvPr/>
        </p:nvSpPr>
        <p:spPr>
          <a:xfrm>
            <a:off x="1456135" y="1862138"/>
            <a:ext cx="6305550" cy="419100"/>
          </a:xfrm>
          <a:prstGeom prst="rect">
            <a:avLst/>
          </a:prstGeom>
        </p:spPr>
        <p:txBody>
          <a:bodyPr lIns="51435" tIns="25718" rIns="51435" bIns="25718" anchor="ctr">
            <a:norm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1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Convolution 2</a:t>
            </a:r>
          </a:p>
        </p:txBody>
      </p:sp>
      <p:pic>
        <p:nvPicPr>
          <p:cNvPr id="46082" name="Picture 1">
            <a:extLst>
              <a:ext uri="{FF2B5EF4-FFF2-40B4-BE49-F238E27FC236}">
                <a16:creationId xmlns:a16="http://schemas.microsoft.com/office/drawing/2014/main" id="{40D0DDBB-81F7-2B4C-A0EF-C38D54A0C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392" y="3549254"/>
            <a:ext cx="630555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3" name="Title 5">
            <a:extLst>
              <a:ext uri="{FF2B5EF4-FFF2-40B4-BE49-F238E27FC236}">
                <a16:creationId xmlns:a16="http://schemas.microsoft.com/office/drawing/2014/main" id="{E8AA1BE2-6626-4947-9893-9B8AC3E182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8410" y="274637"/>
            <a:ext cx="8118389" cy="186308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One-dimensional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Convolution</a:t>
            </a:r>
            <a:b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amount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filter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in a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particular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time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instance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 of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95343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3" name="Picture 4">
            <a:extLst>
              <a:ext uri="{FF2B5EF4-FFF2-40B4-BE49-F238E27FC236}">
                <a16:creationId xmlns:a16="http://schemas.microsoft.com/office/drawing/2014/main" id="{C076634E-C593-3642-8570-BDF0D2D08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293" y="3299254"/>
            <a:ext cx="6495402" cy="2041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4" name="Title 1">
            <a:extLst>
              <a:ext uri="{FF2B5EF4-FFF2-40B4-BE49-F238E27FC236}">
                <a16:creationId xmlns:a16="http://schemas.microsoft.com/office/drawing/2014/main" id="{9324FE51-1163-E647-925A-00820D4357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43697" y="370703"/>
            <a:ext cx="7892732" cy="195236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One-dimensional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convolution</a:t>
            </a:r>
            <a:b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amount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filter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lang="tr-TR" altLang="tr-TR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altLang="tr-TR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function</a:t>
            </a:r>
            <a:endParaRPr lang="tr-TR" altLang="tr-T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414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B5F03A96-3E70-6E43-8559-7B4E10FBC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214" y="354488"/>
            <a:ext cx="819096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sz="4000" dirty="0">
                <a:latin typeface="+mj-lt"/>
              </a:rPr>
              <a:t>Convolution operation measures the similarity between the image and mask</a:t>
            </a:r>
          </a:p>
        </p:txBody>
      </p:sp>
      <p:pic>
        <p:nvPicPr>
          <p:cNvPr id="51202" name="Picture 13">
            <a:extLst>
              <a:ext uri="{FF2B5EF4-FFF2-40B4-BE49-F238E27FC236}">
                <a16:creationId xmlns:a16="http://schemas.microsoft.com/office/drawing/2014/main" id="{C67A6E6C-60CD-9744-B461-AD500EE68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14" y="2714631"/>
            <a:ext cx="2936536" cy="2347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51203" name="Picture 14">
            <a:extLst>
              <a:ext uri="{FF2B5EF4-FFF2-40B4-BE49-F238E27FC236}">
                <a16:creationId xmlns:a16="http://schemas.microsoft.com/office/drawing/2014/main" id="{E9543753-0D6C-104B-AD1B-D60726EF1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3943350"/>
            <a:ext cx="800100" cy="639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51204" name="Picture 15">
            <a:extLst>
              <a:ext uri="{FF2B5EF4-FFF2-40B4-BE49-F238E27FC236}">
                <a16:creationId xmlns:a16="http://schemas.microsoft.com/office/drawing/2014/main" id="{98E135C9-B463-7940-AE2B-20D0091A4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0" y="2714632"/>
            <a:ext cx="3010538" cy="2400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51205" name="Text Box 16">
            <a:extLst>
              <a:ext uri="{FF2B5EF4-FFF2-40B4-BE49-F238E27FC236}">
                <a16:creationId xmlns:a16="http://schemas.microsoft.com/office/drawing/2014/main" id="{1D999D96-2E8E-4547-879A-9A14A506A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4444" y="4088606"/>
            <a:ext cx="3145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sz="1800"/>
              <a:t>=</a:t>
            </a:r>
          </a:p>
        </p:txBody>
      </p:sp>
      <p:sp>
        <p:nvSpPr>
          <p:cNvPr id="51206" name="TextBox 1">
            <a:extLst>
              <a:ext uri="{FF2B5EF4-FFF2-40B4-BE49-F238E27FC236}">
                <a16:creationId xmlns:a16="http://schemas.microsoft.com/office/drawing/2014/main" id="{FE7B74E9-6643-4B4D-8C12-C2F46D5BA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1717" y="3542111"/>
            <a:ext cx="6719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sz="1800"/>
              <a:t>mask</a:t>
            </a:r>
          </a:p>
        </p:txBody>
      </p:sp>
    </p:spTree>
    <p:extLst>
      <p:ext uri="{BB962C8B-B14F-4D97-AF65-F5344CB8AC3E}">
        <p14:creationId xmlns:p14="http://schemas.microsoft.com/office/powerpoint/2010/main" val="2182665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>
            <a:extLst>
              <a:ext uri="{FF2B5EF4-FFF2-40B4-BE49-F238E27FC236}">
                <a16:creationId xmlns:a16="http://schemas.microsoft.com/office/drawing/2014/main" id="{79CBB3FD-BDAD-CA4A-9875-5E316707F0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90832" y="634828"/>
            <a:ext cx="7210168" cy="121868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dirty="0"/>
              <a:t>Application : TV Remote Control by Normalized correlation</a:t>
            </a:r>
          </a:p>
        </p:txBody>
      </p:sp>
      <p:pic>
        <p:nvPicPr>
          <p:cNvPr id="63490" name="Picture 2">
            <a:extLst>
              <a:ext uri="{FF2B5EF4-FFF2-40B4-BE49-F238E27FC236}">
                <a16:creationId xmlns:a16="http://schemas.microsoft.com/office/drawing/2014/main" id="{4C1139CE-A3AF-8D4E-A8C7-E0B1BC685A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1671108" y="1825625"/>
            <a:ext cx="5801784" cy="4351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C643DCC-41BA-4922-A740-2B7B2E478F56}"/>
              </a:ext>
            </a:extLst>
          </p:cNvPr>
          <p:cNvSpPr/>
          <p:nvPr/>
        </p:nvSpPr>
        <p:spPr>
          <a:xfrm>
            <a:off x="1671108" y="1825625"/>
            <a:ext cx="4756069" cy="4515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03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>
            <a:extLst>
              <a:ext uri="{FF2B5EF4-FFF2-40B4-BE49-F238E27FC236}">
                <a16:creationId xmlns:a16="http://schemas.microsoft.com/office/drawing/2014/main" id="{392C3209-65FC-BA44-8EF6-53696E564D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/>
              <a:t>Application: TV Remote Control</a:t>
            </a:r>
          </a:p>
        </p:txBody>
      </p:sp>
      <p:pic>
        <p:nvPicPr>
          <p:cNvPr id="53250" name="Picture 2">
            <a:extLst>
              <a:ext uri="{FF2B5EF4-FFF2-40B4-BE49-F238E27FC236}">
                <a16:creationId xmlns:a16="http://schemas.microsoft.com/office/drawing/2014/main" id="{72B79220-489D-8B44-915A-A0CB711F45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1108" y="1825625"/>
            <a:ext cx="5801784" cy="4351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B3BF64C-8739-45C4-ABB7-CD25664B9D57}"/>
              </a:ext>
            </a:extLst>
          </p:cNvPr>
          <p:cNvSpPr/>
          <p:nvPr/>
        </p:nvSpPr>
        <p:spPr>
          <a:xfrm>
            <a:off x="1671108" y="1825625"/>
            <a:ext cx="4756069" cy="4515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65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>
            <a:extLst>
              <a:ext uri="{FF2B5EF4-FFF2-40B4-BE49-F238E27FC236}">
                <a16:creationId xmlns:a16="http://schemas.microsoft.com/office/drawing/2014/main" id="{A9307633-1673-6B4D-A592-26DD6E6CCF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43100" y="1257300"/>
            <a:ext cx="6057900" cy="857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tr-TR"/>
              <a:t>Application : TV Remote Control (cont’d)</a:t>
            </a:r>
          </a:p>
        </p:txBody>
      </p:sp>
      <p:pic>
        <p:nvPicPr>
          <p:cNvPr id="55298" name="Picture 2">
            <a:extLst>
              <a:ext uri="{FF2B5EF4-FFF2-40B4-BE49-F238E27FC236}">
                <a16:creationId xmlns:a16="http://schemas.microsoft.com/office/drawing/2014/main" id="{F8FF7269-D060-FA43-8F14-FD08055F518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1108" y="1825625"/>
            <a:ext cx="5801784" cy="4351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E7019CD-3471-467C-A3DF-170FF7965642}"/>
              </a:ext>
            </a:extLst>
          </p:cNvPr>
          <p:cNvSpPr/>
          <p:nvPr/>
        </p:nvSpPr>
        <p:spPr>
          <a:xfrm>
            <a:off x="1671108" y="1710105"/>
            <a:ext cx="4756069" cy="5671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928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id="{9E03919B-98A5-D94B-B27E-07C533BDB6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57350" y="1314450"/>
            <a:ext cx="6343650" cy="857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tr-TR"/>
              <a:t>Application : TV Remote Control (cont’d)</a:t>
            </a:r>
          </a:p>
        </p:txBody>
      </p:sp>
      <p:pic>
        <p:nvPicPr>
          <p:cNvPr id="57346" name="Picture 2">
            <a:extLst>
              <a:ext uri="{FF2B5EF4-FFF2-40B4-BE49-F238E27FC236}">
                <a16:creationId xmlns:a16="http://schemas.microsoft.com/office/drawing/2014/main" id="{BF804A59-0DC6-4C49-9A84-75908F92416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1108" y="1825625"/>
            <a:ext cx="5801784" cy="4351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22242D-2AC7-4DC8-85BF-217E4901038D}"/>
              </a:ext>
            </a:extLst>
          </p:cNvPr>
          <p:cNvSpPr/>
          <p:nvPr/>
        </p:nvSpPr>
        <p:spPr>
          <a:xfrm>
            <a:off x="1671108" y="1825625"/>
            <a:ext cx="4756069" cy="4515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211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>
            <a:extLst>
              <a:ext uri="{FF2B5EF4-FFF2-40B4-BE49-F238E27FC236}">
                <a16:creationId xmlns:a16="http://schemas.microsoft.com/office/drawing/2014/main" id="{84BAB259-8160-4245-A584-788E9D1D45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57350" y="1314450"/>
            <a:ext cx="6343650" cy="857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tr-TR"/>
              <a:t>Application : TV Remote Control (cont’d)</a:t>
            </a:r>
          </a:p>
        </p:txBody>
      </p:sp>
      <p:pic>
        <p:nvPicPr>
          <p:cNvPr id="59394" name="Picture 2">
            <a:extLst>
              <a:ext uri="{FF2B5EF4-FFF2-40B4-BE49-F238E27FC236}">
                <a16:creationId xmlns:a16="http://schemas.microsoft.com/office/drawing/2014/main" id="{0887C3D6-9D12-C947-9DD7-9587720E8DD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1108" y="1825625"/>
            <a:ext cx="5801784" cy="4351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019E392-8661-431C-B87C-513C6CF7B32D}"/>
              </a:ext>
            </a:extLst>
          </p:cNvPr>
          <p:cNvSpPr/>
          <p:nvPr/>
        </p:nvSpPr>
        <p:spPr>
          <a:xfrm>
            <a:off x="1671108" y="1825625"/>
            <a:ext cx="4756069" cy="4515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96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>
            <a:extLst>
              <a:ext uri="{FF2B5EF4-FFF2-40B4-BE49-F238E27FC236}">
                <a16:creationId xmlns:a16="http://schemas.microsoft.com/office/drawing/2014/main" id="{3CC45615-4F97-7C41-A116-1CCC762615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57350" y="1314450"/>
            <a:ext cx="6343650" cy="857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tr-TR"/>
              <a:t>Application : TV Remote Control (cont’d)</a:t>
            </a:r>
          </a:p>
        </p:txBody>
      </p:sp>
      <p:pic>
        <p:nvPicPr>
          <p:cNvPr id="61442" name="Picture 2">
            <a:extLst>
              <a:ext uri="{FF2B5EF4-FFF2-40B4-BE49-F238E27FC236}">
                <a16:creationId xmlns:a16="http://schemas.microsoft.com/office/drawing/2014/main" id="{41658703-6BDB-3B48-8B6D-ED39CA3F316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1108" y="1825625"/>
            <a:ext cx="5801784" cy="4351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E8517F3-B117-45EA-89B4-80E6E1A16122}"/>
              </a:ext>
            </a:extLst>
          </p:cNvPr>
          <p:cNvSpPr/>
          <p:nvPr/>
        </p:nvSpPr>
        <p:spPr>
          <a:xfrm>
            <a:off x="1671108" y="1825625"/>
            <a:ext cx="4756069" cy="4515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185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FE054-BF03-1745-B6F2-FB5D0AB16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major types of filters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08ED7-C245-BF42-B02A-2A0B5B1AB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1. Smoothing Filters</a:t>
            </a:r>
          </a:p>
          <a:p>
            <a:pPr lvl="1"/>
            <a:r>
              <a:rPr lang="en-US" sz="2400" dirty="0"/>
              <a:t>Averaging filters</a:t>
            </a:r>
          </a:p>
          <a:p>
            <a:pPr lvl="1"/>
            <a:r>
              <a:rPr lang="en-US" sz="2400" dirty="0"/>
              <a:t>Gaussian filters</a:t>
            </a:r>
          </a:p>
          <a:p>
            <a:pPr lvl="1"/>
            <a:r>
              <a:rPr lang="en-US" sz="2400" dirty="0"/>
              <a:t>Median Filters</a:t>
            </a:r>
          </a:p>
          <a:p>
            <a:r>
              <a:rPr lang="en-US" sz="2400" dirty="0"/>
              <a:t>2. Sharpening Filters</a:t>
            </a:r>
          </a:p>
          <a:p>
            <a:pPr lvl="1"/>
            <a:r>
              <a:rPr lang="en-US" sz="2400" dirty="0"/>
              <a:t>Roberts</a:t>
            </a:r>
          </a:p>
          <a:p>
            <a:pPr lvl="1"/>
            <a:r>
              <a:rPr lang="en-US" sz="2400" dirty="0"/>
              <a:t>Prewitt</a:t>
            </a:r>
          </a:p>
          <a:p>
            <a:pPr lvl="1"/>
            <a:r>
              <a:rPr lang="en-US" sz="2400" dirty="0"/>
              <a:t>Sobel</a:t>
            </a:r>
          </a:p>
          <a:p>
            <a:pPr lvl="1"/>
            <a:r>
              <a:rPr lang="en-US" sz="2400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4715568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7E4E67F2-3287-254D-B173-88B2E7E3CA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dirty="0"/>
              <a:t>1.1. Smoothing Filters: Averaging</a:t>
            </a:r>
          </a:p>
        </p:txBody>
      </p:sp>
      <p:pic>
        <p:nvPicPr>
          <p:cNvPr id="73730" name="Picture 4" descr="gonzalez_p192">
            <a:extLst>
              <a:ext uri="{FF2B5EF4-FFF2-40B4-BE49-F238E27FC236}">
                <a16:creationId xmlns:a16="http://schemas.microsoft.com/office/drawing/2014/main" id="{D93D249B-E92E-1D4F-872C-C78AC129E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5" t="45819" r="11029"/>
          <a:stretch>
            <a:fillRect/>
          </a:stretch>
        </p:blipFill>
        <p:spPr bwMode="auto">
          <a:xfrm>
            <a:off x="5394722" y="3799285"/>
            <a:ext cx="2628816" cy="2285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1" name="Picture 5" descr="gonzalez_p192">
            <a:extLst>
              <a:ext uri="{FF2B5EF4-FFF2-40B4-BE49-F238E27FC236}">
                <a16:creationId xmlns:a16="http://schemas.microsoft.com/office/drawing/2014/main" id="{EEAD87F3-3CD9-074A-A7AE-9E6BEC336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0" r="57739" b="61513"/>
          <a:stretch>
            <a:fillRect/>
          </a:stretch>
        </p:blipFill>
        <p:spPr bwMode="auto">
          <a:xfrm>
            <a:off x="628650" y="4343855"/>
            <a:ext cx="1668789" cy="1493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2" name="Picture 6" descr="gonzalez_p192">
            <a:extLst>
              <a:ext uri="{FF2B5EF4-FFF2-40B4-BE49-F238E27FC236}">
                <a16:creationId xmlns:a16="http://schemas.microsoft.com/office/drawing/2014/main" id="{DF8FEAA2-DC12-C048-8252-68A080587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61" b="57848"/>
          <a:stretch>
            <a:fillRect/>
          </a:stretch>
        </p:blipFill>
        <p:spPr bwMode="auto">
          <a:xfrm>
            <a:off x="2886003" y="3970734"/>
            <a:ext cx="2106290" cy="1866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3" name="Text Box 9">
            <a:extLst>
              <a:ext uri="{FF2B5EF4-FFF2-40B4-BE49-F238E27FC236}">
                <a16:creationId xmlns:a16="http://schemas.microsoft.com/office/drawing/2014/main" id="{6B21F797-D906-9141-A73F-1D5AB8DB7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467" y="1231106"/>
            <a:ext cx="7253652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kumimoji="1" lang="en-US" altLang="tr-TR" sz="2800" dirty="0"/>
              <a:t> </a:t>
            </a:r>
            <a:r>
              <a:rPr kumimoji="1" lang="en-US" altLang="tr-TR" b="1" dirty="0">
                <a:latin typeface="+mj-lt"/>
              </a:rPr>
              <a:t>Idea: R</a:t>
            </a:r>
            <a:r>
              <a:rPr kumimoji="1" lang="en-US" altLang="tr-TR" dirty="0">
                <a:latin typeface="+mj-lt"/>
              </a:rPr>
              <a:t>eplace each pixel by the average of its </a:t>
            </a:r>
            <a:r>
              <a:rPr kumimoji="1" lang="en-US" altLang="tr-TR" dirty="0">
                <a:solidFill>
                  <a:srgbClr val="FF0000"/>
                </a:solidFill>
                <a:latin typeface="+mj-lt"/>
              </a:rPr>
              <a:t>neighbors.</a:t>
            </a:r>
          </a:p>
          <a:p>
            <a:pPr>
              <a:buFontTx/>
              <a:buChar char="•"/>
            </a:pPr>
            <a:r>
              <a:rPr kumimoji="1" lang="en-US" altLang="tr-TR" dirty="0">
                <a:latin typeface="+mj-lt"/>
              </a:rPr>
              <a:t> Useful for reducing noise and unimportant details.</a:t>
            </a:r>
          </a:p>
          <a:p>
            <a:pPr>
              <a:buFontTx/>
              <a:buChar char="•"/>
            </a:pPr>
            <a:r>
              <a:rPr kumimoji="1" lang="en-US" altLang="tr-TR" dirty="0">
                <a:latin typeface="+mj-lt"/>
              </a:rPr>
              <a:t>The size of the mask controls the amount of smoothing.</a:t>
            </a:r>
          </a:p>
        </p:txBody>
      </p:sp>
    </p:spTree>
    <p:extLst>
      <p:ext uri="{BB962C8B-B14F-4D97-AF65-F5344CB8AC3E}">
        <p14:creationId xmlns:p14="http://schemas.microsoft.com/office/powerpoint/2010/main" val="11733445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>
            <a:extLst>
              <a:ext uri="{FF2B5EF4-FFF2-40B4-BE49-F238E27FC236}">
                <a16:creationId xmlns:a16="http://schemas.microsoft.com/office/drawing/2014/main" id="{E71223A9-4683-ED4C-846B-BC58BA52CF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85775" y="449865"/>
            <a:ext cx="8229600" cy="83690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tr-TR" dirty="0"/>
              <a:t>Output of Averaging filters: </a:t>
            </a:r>
            <a:r>
              <a:rPr lang="en-US" sz="3600" dirty="0"/>
              <a:t>Removes noise while blurs.</a:t>
            </a:r>
            <a:br>
              <a:rPr lang="en-US" sz="3600" dirty="0"/>
            </a:br>
            <a:endParaRPr lang="en-US" altLang="tr-TR" dirty="0"/>
          </a:p>
        </p:txBody>
      </p:sp>
      <p:pic>
        <p:nvPicPr>
          <p:cNvPr id="75779" name="Picture 4" descr="gonzalez_p193">
            <a:extLst>
              <a:ext uri="{FF2B5EF4-FFF2-40B4-BE49-F238E27FC236}">
                <a16:creationId xmlns:a16="http://schemas.microsoft.com/office/drawing/2014/main" id="{8B962182-B118-114E-9A33-949CB2555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" t="35638" r="4167" b="31686"/>
          <a:stretch>
            <a:fillRect/>
          </a:stretch>
        </p:blipFill>
        <p:spPr bwMode="auto">
          <a:xfrm>
            <a:off x="4802434" y="2301022"/>
            <a:ext cx="3667146" cy="1838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0" name="Picture 5" descr="gonzalez_p193">
            <a:extLst>
              <a:ext uri="{FF2B5EF4-FFF2-40B4-BE49-F238E27FC236}">
                <a16:creationId xmlns:a16="http://schemas.microsoft.com/office/drawing/2014/main" id="{D2C91B29-0C65-A940-876B-F2D9CABFC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7" t="1546" r="4256" b="63834"/>
          <a:stretch>
            <a:fillRect/>
          </a:stretch>
        </p:blipFill>
        <p:spPr bwMode="auto">
          <a:xfrm>
            <a:off x="888642" y="2222441"/>
            <a:ext cx="3626208" cy="1885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1" name="Picture 6" descr="gonzalez_p193">
            <a:extLst>
              <a:ext uri="{FF2B5EF4-FFF2-40B4-BE49-F238E27FC236}">
                <a16:creationId xmlns:a16="http://schemas.microsoft.com/office/drawing/2014/main" id="{9AE78916-2C23-B84F-AC46-84316985D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2" t="68314" r="4082"/>
          <a:stretch>
            <a:fillRect/>
          </a:stretch>
        </p:blipFill>
        <p:spPr bwMode="auto">
          <a:xfrm>
            <a:off x="2488184" y="4695170"/>
            <a:ext cx="3804123" cy="1845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2" name="Text Box 7">
            <a:extLst>
              <a:ext uri="{FF2B5EF4-FFF2-40B4-BE49-F238E27FC236}">
                <a16:creationId xmlns:a16="http://schemas.microsoft.com/office/drawing/2014/main" id="{7A46950B-7EDC-D842-8FE8-F62340757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2224" y="1667075"/>
            <a:ext cx="7232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sz="2800" dirty="0"/>
              <a:t>3x3</a:t>
            </a:r>
          </a:p>
        </p:txBody>
      </p:sp>
      <p:sp>
        <p:nvSpPr>
          <p:cNvPr id="75783" name="Text Box 8">
            <a:extLst>
              <a:ext uri="{FF2B5EF4-FFF2-40B4-BE49-F238E27FC236}">
                <a16:creationId xmlns:a16="http://schemas.microsoft.com/office/drawing/2014/main" id="{505E47FF-2C7A-7E4C-865C-EE9FF6C8B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8503" y="1667075"/>
            <a:ext cx="7232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sz="2800" dirty="0"/>
              <a:t>5x5</a:t>
            </a:r>
          </a:p>
        </p:txBody>
      </p:sp>
      <p:sp>
        <p:nvSpPr>
          <p:cNvPr id="75784" name="Text Box 9">
            <a:extLst>
              <a:ext uri="{FF2B5EF4-FFF2-40B4-BE49-F238E27FC236}">
                <a16:creationId xmlns:a16="http://schemas.microsoft.com/office/drawing/2014/main" id="{72E5716B-0127-0E44-9EB0-BA190E9EF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4782" y="1745656"/>
            <a:ext cx="7232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sz="2800" dirty="0"/>
              <a:t>7x7</a:t>
            </a:r>
          </a:p>
        </p:txBody>
      </p:sp>
      <p:sp>
        <p:nvSpPr>
          <p:cNvPr id="75785" name="Text Box 10">
            <a:extLst>
              <a:ext uri="{FF2B5EF4-FFF2-40B4-BE49-F238E27FC236}">
                <a16:creationId xmlns:a16="http://schemas.microsoft.com/office/drawing/2014/main" id="{7D7D94D1-FC9D-0640-9FDC-207FB2243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5958" y="4186818"/>
            <a:ext cx="10823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sz="2800" dirty="0"/>
              <a:t>15x15</a:t>
            </a:r>
          </a:p>
        </p:txBody>
      </p:sp>
      <p:sp>
        <p:nvSpPr>
          <p:cNvPr id="75786" name="Text Box 11">
            <a:extLst>
              <a:ext uri="{FF2B5EF4-FFF2-40B4-BE49-F238E27FC236}">
                <a16:creationId xmlns:a16="http://schemas.microsoft.com/office/drawing/2014/main" id="{465B510C-683A-2D49-B91E-F294641E3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171950"/>
            <a:ext cx="10823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sz="2800"/>
              <a:t>25x25</a:t>
            </a:r>
          </a:p>
        </p:txBody>
      </p:sp>
      <p:sp>
        <p:nvSpPr>
          <p:cNvPr id="75787" name="Text Box 12">
            <a:extLst>
              <a:ext uri="{FF2B5EF4-FFF2-40B4-BE49-F238E27FC236}">
                <a16:creationId xmlns:a16="http://schemas.microsoft.com/office/drawing/2014/main" id="{93BA8A92-9DEB-4849-A776-AAAED14E5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468" y="1699221"/>
            <a:ext cx="13003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sz="2800" dirty="0"/>
              <a:t>original</a:t>
            </a:r>
          </a:p>
        </p:txBody>
      </p:sp>
    </p:spTree>
    <p:extLst>
      <p:ext uri="{BB962C8B-B14F-4D97-AF65-F5344CB8AC3E}">
        <p14:creationId xmlns:p14="http://schemas.microsoft.com/office/powerpoint/2010/main" val="2584643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1">
            <a:extLst>
              <a:ext uri="{FF2B5EF4-FFF2-40B4-BE49-F238E27FC236}">
                <a16:creationId xmlns:a16="http://schemas.microsoft.com/office/drawing/2014/main" id="{B5EC5C26-4526-884D-9240-F8E448458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422" y="1100327"/>
            <a:ext cx="3737832" cy="5568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82E9EE-C221-984C-8505-39701F47D247}"/>
              </a:ext>
            </a:extLst>
          </p:cNvPr>
          <p:cNvSpPr txBox="1"/>
          <p:nvPr/>
        </p:nvSpPr>
        <p:spPr>
          <a:xfrm>
            <a:off x="803190" y="493812"/>
            <a:ext cx="8094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Averaging with a filter size 3x3, 5x5, 9x9, 15x15, 35x35</a:t>
            </a:r>
          </a:p>
        </p:txBody>
      </p:sp>
    </p:spTree>
    <p:extLst>
      <p:ext uri="{BB962C8B-B14F-4D97-AF65-F5344CB8AC3E}">
        <p14:creationId xmlns:p14="http://schemas.microsoft.com/office/powerpoint/2010/main" val="40626274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>
            <a:extLst>
              <a:ext uri="{FF2B5EF4-FFF2-40B4-BE49-F238E27FC236}">
                <a16:creationId xmlns:a16="http://schemas.microsoft.com/office/drawing/2014/main" id="{90F9CFB0-4D5C-0D45-8598-19F0EB223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22" y="2395470"/>
            <a:ext cx="8187525" cy="2945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9">
            <a:extLst>
              <a:ext uri="{FF2B5EF4-FFF2-40B4-BE49-F238E27FC236}">
                <a16:creationId xmlns:a16="http://schemas.microsoft.com/office/drawing/2014/main" id="{31280606-C622-1341-80F3-0FDE2EF2C542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1485900" y="989411"/>
            <a:ext cx="6172200" cy="854869"/>
          </a:xfrm>
          <a:prstGeom prst="rect">
            <a:avLst/>
          </a:prstGeom>
          <a:noFill/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tr-TR" sz="2800" kern="0" dirty="0"/>
              <a:t>Image enhancement with averaging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3826ED0B-AD4F-9C43-892A-D45EB7EE2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641666"/>
            <a:ext cx="6362700" cy="650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85881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1.2.Gaussian Filters for Smoothing</a:t>
            </a:r>
          </a:p>
        </p:txBody>
      </p:sp>
      <p:sp>
        <p:nvSpPr>
          <p:cNvPr id="2458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25D00398-B7F0-4BD6-A862-6F7762B1B5D5}" type="slidenum">
              <a:rPr lang="en-US" smtClean="0">
                <a:solidFill>
                  <a:srgbClr val="003366"/>
                </a:solidFill>
              </a:rPr>
              <a:pPr/>
              <a:t>28</a:t>
            </a:fld>
            <a:endParaRPr lang="en-US" dirty="0">
              <a:solidFill>
                <a:srgbClr val="003366"/>
              </a:solidFill>
            </a:endParaRPr>
          </a:p>
        </p:txBody>
      </p:sp>
      <p:pic>
        <p:nvPicPr>
          <p:cNvPr id="2458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1725613"/>
            <a:ext cx="4714875" cy="359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458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5" r="1645"/>
          <a:stretch>
            <a:fillRect/>
          </a:stretch>
        </p:blipFill>
        <p:spPr bwMode="auto">
          <a:xfrm>
            <a:off x="4572000" y="2205038"/>
            <a:ext cx="4321175" cy="84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4584" name="Text Box 8"/>
          <p:cNvSpPr txBox="1">
            <a:spLocks noChangeArrowheads="1"/>
          </p:cNvSpPr>
          <p:nvPr/>
        </p:nvSpPr>
        <p:spPr bwMode="auto">
          <a:xfrm>
            <a:off x="5292725" y="3429000"/>
            <a:ext cx="3189288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GB" sz="2000">
                <a:solidFill>
                  <a:srgbClr val="003366"/>
                </a:solidFill>
              </a:rPr>
              <a:t>A weighted average that weighs pixels at its center much more strongly than its boundaries.</a:t>
            </a:r>
            <a:endParaRPr lang="en-US" sz="2000">
              <a:solidFill>
                <a:srgbClr val="003366"/>
              </a:solidFill>
            </a:endParaRPr>
          </a:p>
        </p:txBody>
      </p:sp>
      <p:sp>
        <p:nvSpPr>
          <p:cNvPr id="24585" name="Text Box 9"/>
          <p:cNvSpPr txBox="1">
            <a:spLocks noChangeArrowheads="1"/>
          </p:cNvSpPr>
          <p:nvPr/>
        </p:nvSpPr>
        <p:spPr bwMode="auto">
          <a:xfrm>
            <a:off x="1116013" y="5373688"/>
            <a:ext cx="378488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2800" dirty="0">
                <a:solidFill>
                  <a:srgbClr val="003366"/>
                </a:solidFill>
              </a:rPr>
              <a:t>2D Gaussian filter.</a:t>
            </a:r>
          </a:p>
          <a:p>
            <a:r>
              <a:rPr lang="en-US" sz="2800" b="1" dirty="0">
                <a:solidFill>
                  <a:srgbClr val="003366"/>
                </a:solidFill>
                <a:latin typeface="Symbol" pitchFamily="2" charset="2"/>
              </a:rPr>
              <a:t>s</a:t>
            </a:r>
            <a:r>
              <a:rPr lang="en-US" sz="2800" dirty="0">
                <a:solidFill>
                  <a:srgbClr val="003366"/>
                </a:solidFill>
              </a:rPr>
              <a:t> is standard deviation</a:t>
            </a:r>
          </a:p>
        </p:txBody>
      </p:sp>
      <p:sp>
        <p:nvSpPr>
          <p:cNvPr id="24586" name="Text Box 10"/>
          <p:cNvSpPr txBox="1">
            <a:spLocks noChangeArrowheads="1"/>
          </p:cNvSpPr>
          <p:nvPr/>
        </p:nvSpPr>
        <p:spPr bwMode="auto">
          <a:xfrm>
            <a:off x="5427663" y="61658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GB" sz="1200">
                <a:solidFill>
                  <a:srgbClr val="003366"/>
                </a:solidFill>
              </a:rPr>
              <a:t>Adapted from Martial Hebert, CMU</a:t>
            </a:r>
            <a:endParaRPr lang="en-US" sz="120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7702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D14DB-AFDE-4C43-9FDF-4B7B59F8B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to sample and quantize the Gaussian function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0AC0E187-B2FC-4943-88F1-255F54A07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1725613"/>
            <a:ext cx="4007857" cy="3052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B935AC2B-54CE-0749-9B08-A77F0CAB3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2930" y="1977091"/>
            <a:ext cx="2572420" cy="2800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B9BD5384-5325-1B4B-B2D2-183E3FEF5796}"/>
              </a:ext>
            </a:extLst>
          </p:cNvPr>
          <p:cNvSpPr/>
          <p:nvPr/>
        </p:nvSpPr>
        <p:spPr>
          <a:xfrm>
            <a:off x="4572000" y="3251837"/>
            <a:ext cx="1287887" cy="1481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E65F09-6371-C441-B37A-271E3EEB887F}"/>
              </a:ext>
            </a:extLst>
          </p:cNvPr>
          <p:cNvSpPr/>
          <p:nvPr/>
        </p:nvSpPr>
        <p:spPr>
          <a:xfrm>
            <a:off x="4184070" y="2420840"/>
            <a:ext cx="21465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sample and quantize </a:t>
            </a:r>
          </a:p>
        </p:txBody>
      </p:sp>
    </p:spTree>
    <p:extLst>
      <p:ext uri="{BB962C8B-B14F-4D97-AF65-F5344CB8AC3E}">
        <p14:creationId xmlns:p14="http://schemas.microsoft.com/office/powerpoint/2010/main" val="12666410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>
            <a:extLst>
              <a:ext uri="{FF2B5EF4-FFF2-40B4-BE49-F238E27FC236}">
                <a16:creationId xmlns:a16="http://schemas.microsoft.com/office/drawing/2014/main" id="{BBA50F15-831A-6148-BF53-04B483E8C8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dirty="0"/>
              <a:t>1.2. Sampling and quantization of the filter</a:t>
            </a:r>
          </a:p>
        </p:txBody>
      </p:sp>
      <p:pic>
        <p:nvPicPr>
          <p:cNvPr id="79874" name="Picture 5">
            <a:extLst>
              <a:ext uri="{FF2B5EF4-FFF2-40B4-BE49-F238E27FC236}">
                <a16:creationId xmlns:a16="http://schemas.microsoft.com/office/drawing/2014/main" id="{9360C648-31DA-C447-8A5A-29570EDF0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019" y="3387555"/>
            <a:ext cx="3886200" cy="3060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79876" name="Picture 4">
            <a:extLst>
              <a:ext uri="{FF2B5EF4-FFF2-40B4-BE49-F238E27FC236}">
                <a16:creationId xmlns:a16="http://schemas.microsoft.com/office/drawing/2014/main" id="{318558C4-4D54-A04C-92C9-64AE24AEE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05" y="3055383"/>
            <a:ext cx="3638149" cy="31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7" name="Text Box 12">
            <a:extLst>
              <a:ext uri="{FF2B5EF4-FFF2-40B4-BE49-F238E27FC236}">
                <a16:creationId xmlns:a16="http://schemas.microsoft.com/office/drawing/2014/main" id="{73E0320C-9E50-C240-9866-69B2EF452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1371540"/>
            <a:ext cx="788669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dirty="0">
                <a:latin typeface="+mn-lt"/>
              </a:rPr>
              <a:t>Depends 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tr-TR" dirty="0">
                <a:latin typeface="+mn-lt"/>
              </a:rPr>
              <a:t>Allowable mask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tr-TR" dirty="0" err="1">
                <a:latin typeface="+mn-lt"/>
              </a:rPr>
              <a:t>Standart</a:t>
            </a:r>
            <a:r>
              <a:rPr kumimoji="1" lang="en-US" altLang="tr-TR" dirty="0">
                <a:latin typeface="+mn-lt"/>
              </a:rPr>
              <a:t> deviation </a:t>
            </a:r>
            <a:r>
              <a:rPr kumimoji="1" lang="el-GR" altLang="tr-TR" b="1" dirty="0">
                <a:latin typeface="+mn-lt"/>
                <a:cs typeface="Times New Roman" panose="02020603050405020304" pitchFamily="18" charset="0"/>
              </a:rPr>
              <a:t>σ </a:t>
            </a:r>
            <a:r>
              <a:rPr kumimoji="1" lang="en-US" altLang="tr-TR" b="1" dirty="0">
                <a:latin typeface="+mn-lt"/>
                <a:cs typeface="Times New Roman" panose="02020603050405020304" pitchFamily="18" charset="0"/>
              </a:rPr>
              <a:t>, which determines the degree of smoothing</a:t>
            </a:r>
            <a:endParaRPr kumimoji="1" lang="en-US" altLang="tr-TR" dirty="0">
              <a:latin typeface="+mn-lt"/>
            </a:endParaRPr>
          </a:p>
        </p:txBody>
      </p:sp>
      <p:sp>
        <p:nvSpPr>
          <p:cNvPr id="79879" name="Rectangle 1">
            <a:extLst>
              <a:ext uri="{FF2B5EF4-FFF2-40B4-BE49-F238E27FC236}">
                <a16:creationId xmlns:a16="http://schemas.microsoft.com/office/drawing/2014/main" id="{BF03B9B6-7B65-D84B-B7E1-5BB2BD459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3047" y="2793773"/>
            <a:ext cx="76014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l-GR" altLang="tr-TR" sz="2800" dirty="0">
                <a:cs typeface="Times New Roman" panose="02020603050405020304" pitchFamily="18" charset="0"/>
              </a:rPr>
              <a:t>σ</a:t>
            </a:r>
            <a:r>
              <a:rPr kumimoji="1" lang="en-US" altLang="tr-TR" sz="2800" dirty="0">
                <a:cs typeface="Times New Roman" panose="02020603050405020304" pitchFamily="18" charset="0"/>
              </a:rPr>
              <a:t>=3</a:t>
            </a:r>
            <a:endParaRPr kumimoji="1" lang="en-US" altLang="tr-TR" sz="2800" dirty="0"/>
          </a:p>
        </p:txBody>
      </p:sp>
    </p:spTree>
    <p:extLst>
      <p:ext uri="{BB962C8B-B14F-4D97-AF65-F5344CB8AC3E}">
        <p14:creationId xmlns:p14="http://schemas.microsoft.com/office/powerpoint/2010/main" val="25940545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>
            <a:extLst>
              <a:ext uri="{FF2B5EF4-FFF2-40B4-BE49-F238E27FC236}">
                <a16:creationId xmlns:a16="http://schemas.microsoft.com/office/drawing/2014/main" id="{E9B4922A-B04A-3945-A1C9-F691193D4C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dirty="0"/>
              <a:t>1.2. Gaussian Filters for Smoothing</a:t>
            </a:r>
          </a:p>
        </p:txBody>
      </p:sp>
      <p:sp>
        <p:nvSpPr>
          <p:cNvPr id="77826" name="Rectangle 3">
            <a:extLst>
              <a:ext uri="{FF2B5EF4-FFF2-40B4-BE49-F238E27FC236}">
                <a16:creationId xmlns:a16="http://schemas.microsoft.com/office/drawing/2014/main" id="{A66DB9DE-A64D-ED45-8DD3-79C0499B05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1" y="1087395"/>
            <a:ext cx="8280572" cy="462760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sz="2400" b="1" dirty="0"/>
              <a:t>Idea: </a:t>
            </a:r>
            <a:r>
              <a:rPr lang="en-US" altLang="tr-TR" sz="2400" dirty="0"/>
              <a:t>replace each pixel by a weighted average of its neighbors </a:t>
            </a:r>
          </a:p>
          <a:p>
            <a:r>
              <a:rPr lang="en-US" altLang="tr-TR" sz="2400" dirty="0"/>
              <a:t>Mask weights are computed by sampling a Gaussian function</a:t>
            </a:r>
          </a:p>
          <a:p>
            <a:endParaRPr lang="en-US" altLang="tr-TR" dirty="0"/>
          </a:p>
          <a:p>
            <a:endParaRPr lang="en-US" altLang="tr-TR" dirty="0"/>
          </a:p>
          <a:p>
            <a:endParaRPr lang="en-US" altLang="tr-TR" dirty="0"/>
          </a:p>
          <a:p>
            <a:endParaRPr lang="en-US" altLang="tr-TR" dirty="0"/>
          </a:p>
        </p:txBody>
      </p:sp>
      <p:pic>
        <p:nvPicPr>
          <p:cNvPr id="77828" name="Picture 7">
            <a:extLst>
              <a:ext uri="{FF2B5EF4-FFF2-40B4-BE49-F238E27FC236}">
                <a16:creationId xmlns:a16="http://schemas.microsoft.com/office/drawing/2014/main" id="{389C3F63-C2B1-5B4D-B512-DEF931955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803" y="3520679"/>
            <a:ext cx="188952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77829" name="Picture 4">
            <a:extLst>
              <a:ext uri="{FF2B5EF4-FFF2-40B4-BE49-F238E27FC236}">
                <a16:creationId xmlns:a16="http://schemas.microsoft.com/office/drawing/2014/main" id="{C321FC1A-7D2C-6841-BD50-F0123FD4F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1" t="12544" r="36736" b="64525"/>
          <a:stretch>
            <a:fillRect/>
          </a:stretch>
        </p:blipFill>
        <p:spPr bwMode="auto">
          <a:xfrm>
            <a:off x="1457511" y="3076752"/>
            <a:ext cx="2737247" cy="648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Rectangle 1">
            <a:extLst>
              <a:ext uri="{FF2B5EF4-FFF2-40B4-BE49-F238E27FC236}">
                <a16:creationId xmlns:a16="http://schemas.microsoft.com/office/drawing/2014/main" id="{01663D9D-2CBB-C84C-99C4-A2856238E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632" y="5526228"/>
            <a:ext cx="466847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kumimoji="1" lang="en-US" altLang="tr-TR" b="1" dirty="0">
                <a:latin typeface="+mj-lt"/>
              </a:rPr>
              <a:t>Note: </a:t>
            </a:r>
            <a:r>
              <a:rPr kumimoji="1" lang="en-US" altLang="tr-TR" dirty="0">
                <a:latin typeface="+mj-lt"/>
              </a:rPr>
              <a:t>weight values decrease with distance from mask center!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427FD29F-1037-2145-9344-AA22F8597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45" y="4179095"/>
            <a:ext cx="3436368" cy="2617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34202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itle 1">
            <a:extLst>
              <a:ext uri="{FF2B5EF4-FFF2-40B4-BE49-F238E27FC236}">
                <a16:creationId xmlns:a16="http://schemas.microsoft.com/office/drawing/2014/main" id="{C2967B20-9C3F-F041-89AD-8FB13A1687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dirty="0"/>
              <a:t>Gaussian Smoothing - Example</a:t>
            </a:r>
          </a:p>
        </p:txBody>
      </p:sp>
      <p:grpSp>
        <p:nvGrpSpPr>
          <p:cNvPr id="2" name="Group 36">
            <a:extLst>
              <a:ext uri="{FF2B5EF4-FFF2-40B4-BE49-F238E27FC236}">
                <a16:creationId xmlns:a16="http://schemas.microsoft.com/office/drawing/2014/main" id="{A4E92C3C-58BB-394B-B48A-5D701E87AF0B}"/>
              </a:ext>
            </a:extLst>
          </p:cNvPr>
          <p:cNvGrpSpPr>
            <a:grpSpLocks/>
          </p:cNvGrpSpPr>
          <p:nvPr/>
        </p:nvGrpSpPr>
        <p:grpSpPr bwMode="auto">
          <a:xfrm>
            <a:off x="6600825" y="2457450"/>
            <a:ext cx="1467421" cy="2541402"/>
            <a:chOff x="7276797" y="2133600"/>
            <a:chExt cx="1956837" cy="3387959"/>
          </a:xfrm>
        </p:grpSpPr>
        <p:grpSp>
          <p:nvGrpSpPr>
            <p:cNvPr id="83990" name="Group 27">
              <a:extLst>
                <a:ext uri="{FF2B5EF4-FFF2-40B4-BE49-F238E27FC236}">
                  <a16:creationId xmlns:a16="http://schemas.microsoft.com/office/drawing/2014/main" id="{5C2D9AC2-72B8-344D-B02C-A79053560E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29531" y="4370614"/>
              <a:ext cx="1804103" cy="1150945"/>
              <a:chOff x="7429531" y="4675414"/>
              <a:chExt cx="1804103" cy="1150945"/>
            </a:xfrm>
          </p:grpSpPr>
          <p:pic>
            <p:nvPicPr>
              <p:cNvPr id="83992" name="Picture 6" descr="C:\snavely\work\teaching\10Fa-CS4670\lectures\lec02\g30.png">
                <a:extLst>
                  <a:ext uri="{FF2B5EF4-FFF2-40B4-BE49-F238E27FC236}">
                    <a16:creationId xmlns:a16="http://schemas.microsoft.com/office/drawing/2014/main" id="{73F9A681-62D6-E645-B4F0-C5F1CA90C1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88728" y="4675414"/>
                <a:ext cx="669472" cy="6694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3993" name="Picture 18" descr="Edittex">
                <a:extLst>
                  <a:ext uri="{FF2B5EF4-FFF2-40B4-BE49-F238E27FC236}">
                    <a16:creationId xmlns:a16="http://schemas.microsoft.com/office/drawing/2014/main" id="{8C37B391-75C0-8A46-B43B-7B3F50BEB73D}"/>
                  </a:ext>
                </a:extLst>
              </p:cNvPr>
              <p:cNvPicPr>
                <a:picLocks noChangeAspect="1" noChangeArrowheads="1"/>
              </p:cNvPicPr>
              <p:nvPr>
                <p:custDataLst>
                  <p:tags r:id="rId4"/>
                </p:custDataLst>
              </p:nvPr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9531" y="5420304"/>
                <a:ext cx="268287" cy="219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3994" name="TextBox 19">
                <a:extLst>
                  <a:ext uri="{FF2B5EF4-FFF2-40B4-BE49-F238E27FC236}">
                    <a16:creationId xmlns:a16="http://schemas.microsoft.com/office/drawing/2014/main" id="{EF02DC3E-A2CB-4542-8387-2CE72A4B2E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56570" y="5334000"/>
                <a:ext cx="1577064" cy="4923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r>
                  <a:rPr kumimoji="1" lang="en-US" altLang="tr-TR" sz="1800" b="1">
                    <a:latin typeface="Calibri" panose="020F0502020204030204" pitchFamily="34" charset="0"/>
                  </a:rPr>
                  <a:t>= 30 pixels</a:t>
                </a:r>
              </a:p>
            </p:txBody>
          </p:sp>
        </p:grpSp>
        <p:pic>
          <p:nvPicPr>
            <p:cNvPr id="83991" name="Picture 11" descr="C:\snavely\work\teaching\10Fa-CS4670\lectures\lec02\owl30.png">
              <a:extLst>
                <a:ext uri="{FF2B5EF4-FFF2-40B4-BE49-F238E27FC236}">
                  <a16:creationId xmlns:a16="http://schemas.microsoft.com/office/drawing/2014/main" id="{72A58777-E869-FE4D-9B1A-F73AE38B38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6797" y="2133600"/>
              <a:ext cx="1636944" cy="204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83971" name="Picture 12" descr="C:\snavely\work\teaching\10Fa-CS4670\lectures\lec02\owl.png">
            <a:extLst>
              <a:ext uri="{FF2B5EF4-FFF2-40B4-BE49-F238E27FC236}">
                <a16:creationId xmlns:a16="http://schemas.microsoft.com/office/drawing/2014/main" id="{0B00B79A-C043-5B42-A6F9-C5874B7C1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972" y="2457451"/>
            <a:ext cx="1227534" cy="1537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3">
            <a:extLst>
              <a:ext uri="{FF2B5EF4-FFF2-40B4-BE49-F238E27FC236}">
                <a16:creationId xmlns:a16="http://schemas.microsoft.com/office/drawing/2014/main" id="{1296EE9A-A73B-0845-A906-22AF035DEE93}"/>
              </a:ext>
            </a:extLst>
          </p:cNvPr>
          <p:cNvGrpSpPr>
            <a:grpSpLocks/>
          </p:cNvGrpSpPr>
          <p:nvPr/>
        </p:nvGrpSpPr>
        <p:grpSpPr bwMode="auto">
          <a:xfrm>
            <a:off x="2624138" y="2457451"/>
            <a:ext cx="1305312" cy="2541401"/>
            <a:chOff x="1975565" y="2133600"/>
            <a:chExt cx="1738976" cy="3387958"/>
          </a:xfrm>
        </p:grpSpPr>
        <p:grpSp>
          <p:nvGrpSpPr>
            <p:cNvPr id="83985" name="Group 24">
              <a:extLst>
                <a:ext uri="{FF2B5EF4-FFF2-40B4-BE49-F238E27FC236}">
                  <a16:creationId xmlns:a16="http://schemas.microsoft.com/office/drawing/2014/main" id="{6D3B3EF6-E077-CA46-A5BA-1C0135D728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9800" y="4351564"/>
              <a:ext cx="1504741" cy="1169994"/>
              <a:chOff x="2209800" y="4656364"/>
              <a:chExt cx="1504741" cy="1169994"/>
            </a:xfrm>
          </p:grpSpPr>
          <p:pic>
            <p:nvPicPr>
              <p:cNvPr id="83987" name="Picture 3" descr="C:\snavely\work\teaching\10Fa-CS4670\lectures\lec02\g1.png">
                <a:extLst>
                  <a:ext uri="{FF2B5EF4-FFF2-40B4-BE49-F238E27FC236}">
                    <a16:creationId xmlns:a16="http://schemas.microsoft.com/office/drawing/2014/main" id="{AABC8116-2BE2-5041-94A6-3D751B55AD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65614" y="4656364"/>
                <a:ext cx="669472" cy="6694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3988" name="Picture 14" descr="Edittex">
                <a:extLst>
                  <a:ext uri="{FF2B5EF4-FFF2-40B4-BE49-F238E27FC236}">
                    <a16:creationId xmlns:a16="http://schemas.microsoft.com/office/drawing/2014/main" id="{EECEC3A4-B4F5-D545-830E-602B25D2DA2F}"/>
                  </a:ext>
                </a:extLst>
              </p:cNvPr>
              <p:cNvPicPr>
                <a:picLocks noChangeAspect="1" noChangeArrowheads="1"/>
              </p:cNvPicPr>
              <p:nvPr>
                <p:custDataLst>
                  <p:tags r:id="rId3"/>
                </p:custDataLst>
              </p:nvPr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9800" y="5420304"/>
                <a:ext cx="268287" cy="219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3989" name="TextBox 13">
                <a:extLst>
                  <a:ext uri="{FF2B5EF4-FFF2-40B4-BE49-F238E27FC236}">
                    <a16:creationId xmlns:a16="http://schemas.microsoft.com/office/drawing/2014/main" id="{6D800E2B-EA88-FD49-B50D-06AFCE1DAB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6629" y="5334000"/>
                <a:ext cx="1297912" cy="492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r>
                  <a:rPr kumimoji="1" lang="en-US" altLang="tr-TR" sz="1800" b="1">
                    <a:latin typeface="Calibri" panose="020F0502020204030204" pitchFamily="34" charset="0"/>
                  </a:rPr>
                  <a:t>= 1 pixel</a:t>
                </a:r>
              </a:p>
            </p:txBody>
          </p:sp>
        </p:grpSp>
        <p:pic>
          <p:nvPicPr>
            <p:cNvPr id="83986" name="Picture 13" descr="C:\snavely\work\teaching\10Fa-CS4670\lectures\lec02\owl1.png">
              <a:extLst>
                <a:ext uri="{FF2B5EF4-FFF2-40B4-BE49-F238E27FC236}">
                  <a16:creationId xmlns:a16="http://schemas.microsoft.com/office/drawing/2014/main" id="{4E4B3C6C-0C49-704F-B196-B269366E26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5565" y="2133600"/>
              <a:ext cx="1636944" cy="204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" name="Group 34">
            <a:extLst>
              <a:ext uri="{FF2B5EF4-FFF2-40B4-BE49-F238E27FC236}">
                <a16:creationId xmlns:a16="http://schemas.microsoft.com/office/drawing/2014/main" id="{955AB334-3BA6-0E4C-9167-B011B0258585}"/>
              </a:ext>
            </a:extLst>
          </p:cNvPr>
          <p:cNvGrpSpPr>
            <a:grpSpLocks/>
          </p:cNvGrpSpPr>
          <p:nvPr/>
        </p:nvGrpSpPr>
        <p:grpSpPr bwMode="auto">
          <a:xfrm>
            <a:off x="3950495" y="2457451"/>
            <a:ext cx="1355786" cy="2549783"/>
            <a:chOff x="3742643" y="2133600"/>
            <a:chExt cx="1807969" cy="3399711"/>
          </a:xfrm>
        </p:grpSpPr>
        <p:grpSp>
          <p:nvGrpSpPr>
            <p:cNvPr id="83980" name="Group 25">
              <a:extLst>
                <a:ext uri="{FF2B5EF4-FFF2-40B4-BE49-F238E27FC236}">
                  <a16:creationId xmlns:a16="http://schemas.microsoft.com/office/drawing/2014/main" id="{E0B97205-9AB2-494E-A17E-41644CE7A9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2557" y="4351564"/>
              <a:ext cx="1648055" cy="1181747"/>
              <a:chOff x="3902557" y="4656364"/>
              <a:chExt cx="1648055" cy="1181747"/>
            </a:xfrm>
          </p:grpSpPr>
          <p:pic>
            <p:nvPicPr>
              <p:cNvPr id="83982" name="Picture 4" descr="C:\snavely\work\teaching\10Fa-CS4670\lectures\lec02\g5.png">
                <a:extLst>
                  <a:ext uri="{FF2B5EF4-FFF2-40B4-BE49-F238E27FC236}">
                    <a16:creationId xmlns:a16="http://schemas.microsoft.com/office/drawing/2014/main" id="{9EC97BB9-5900-4449-B190-3233BCB50D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34540" y="4656364"/>
                <a:ext cx="669472" cy="6694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3983" name="Picture 14" descr="Edittex">
                <a:extLst>
                  <a:ext uri="{FF2B5EF4-FFF2-40B4-BE49-F238E27FC236}">
                    <a16:creationId xmlns:a16="http://schemas.microsoft.com/office/drawing/2014/main" id="{4FD38F7C-04AC-AE4D-B776-4A841837481B}"/>
                  </a:ext>
                </a:extLst>
              </p:cNvPr>
              <p:cNvPicPr>
                <a:picLocks noChangeAspect="1" noChangeArrowheads="1"/>
              </p:cNvPicPr>
              <p:nvPr>
                <p:custDataLst>
                  <p:tags r:id="rId2"/>
                </p:custDataLst>
              </p:nvPr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02557" y="5431972"/>
                <a:ext cx="268287" cy="219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3984" name="TextBox 15">
                <a:extLst>
                  <a:ext uri="{FF2B5EF4-FFF2-40B4-BE49-F238E27FC236}">
                    <a16:creationId xmlns:a16="http://schemas.microsoft.com/office/drawing/2014/main" id="{95F50D36-0D6F-C345-87E4-83AB20AB6D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9594" y="5345668"/>
                <a:ext cx="1421018" cy="4924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r>
                  <a:rPr kumimoji="1" lang="en-US" altLang="tr-TR" sz="1800" b="1">
                    <a:latin typeface="Calibri" panose="020F0502020204030204" pitchFamily="34" charset="0"/>
                  </a:rPr>
                  <a:t>= 5 pixels</a:t>
                </a:r>
              </a:p>
            </p:txBody>
          </p:sp>
        </p:grpSp>
        <p:pic>
          <p:nvPicPr>
            <p:cNvPr id="83981" name="Picture 14" descr="C:\snavely\work\teaching\10Fa-CS4670\lectures\lec02\owl5.png">
              <a:extLst>
                <a:ext uri="{FF2B5EF4-FFF2-40B4-BE49-F238E27FC236}">
                  <a16:creationId xmlns:a16="http://schemas.microsoft.com/office/drawing/2014/main" id="{3CC6E979-8358-D94A-833F-6B3B54169E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2643" y="2133600"/>
              <a:ext cx="1636944" cy="204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" name="Group 35">
            <a:extLst>
              <a:ext uri="{FF2B5EF4-FFF2-40B4-BE49-F238E27FC236}">
                <a16:creationId xmlns:a16="http://schemas.microsoft.com/office/drawing/2014/main" id="{BA3974B2-529E-9742-88A3-AED75084A51F}"/>
              </a:ext>
            </a:extLst>
          </p:cNvPr>
          <p:cNvGrpSpPr>
            <a:grpSpLocks/>
          </p:cNvGrpSpPr>
          <p:nvPr/>
        </p:nvGrpSpPr>
        <p:grpSpPr bwMode="auto">
          <a:xfrm>
            <a:off x="5275660" y="2457451"/>
            <a:ext cx="1441514" cy="2541401"/>
            <a:chOff x="5509721" y="2133600"/>
            <a:chExt cx="1922291" cy="3387958"/>
          </a:xfrm>
        </p:grpSpPr>
        <p:grpSp>
          <p:nvGrpSpPr>
            <p:cNvPr id="83975" name="Group 26">
              <a:extLst>
                <a:ext uri="{FF2B5EF4-FFF2-40B4-BE49-F238E27FC236}">
                  <a16:creationId xmlns:a16="http://schemas.microsoft.com/office/drawing/2014/main" id="{8320ABDC-E197-6C48-BAD1-2DE6ED07D4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27910" y="4351564"/>
              <a:ext cx="1804102" cy="1169994"/>
              <a:chOff x="5627910" y="4656364"/>
              <a:chExt cx="1804102" cy="1169994"/>
            </a:xfrm>
          </p:grpSpPr>
          <p:pic>
            <p:nvPicPr>
              <p:cNvPr id="83977" name="Picture 5" descr="C:\snavely\work\teaching\10Fa-CS4670\lectures\lec02\g10.png">
                <a:extLst>
                  <a:ext uri="{FF2B5EF4-FFF2-40B4-BE49-F238E27FC236}">
                    <a16:creationId xmlns:a16="http://schemas.microsoft.com/office/drawing/2014/main" id="{CD281FCC-9DC4-0F4A-92C9-69061699A6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98024" y="4656364"/>
                <a:ext cx="669472" cy="6694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3978" name="Picture 16" descr="Edittex">
                <a:extLst>
                  <a:ext uri="{FF2B5EF4-FFF2-40B4-BE49-F238E27FC236}">
                    <a16:creationId xmlns:a16="http://schemas.microsoft.com/office/drawing/2014/main" id="{15B588B1-30AA-2446-9BFA-164A9713E196}"/>
                  </a:ext>
                </a:extLst>
              </p:cNvPr>
              <p:cNvPicPr>
                <a:picLocks noChangeAspect="1" noChangeArrowheads="1"/>
              </p:cNvPicPr>
              <p:nvPr>
                <p:custDataLst>
                  <p:tags r:id="rId1"/>
                </p:custDataLst>
              </p:nvPr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27910" y="5420304"/>
                <a:ext cx="268287" cy="219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3979" name="TextBox 17">
                <a:extLst>
                  <a:ext uri="{FF2B5EF4-FFF2-40B4-BE49-F238E27FC236}">
                    <a16:creationId xmlns:a16="http://schemas.microsoft.com/office/drawing/2014/main" id="{9466299E-2A70-F84A-802D-8B36F6A62B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54947" y="5334000"/>
                <a:ext cx="1577065" cy="492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r>
                  <a:rPr kumimoji="1" lang="en-US" altLang="tr-TR" sz="1800" b="1">
                    <a:latin typeface="Calibri" panose="020F0502020204030204" pitchFamily="34" charset="0"/>
                  </a:rPr>
                  <a:t>= 10 pixels</a:t>
                </a:r>
              </a:p>
            </p:txBody>
          </p:sp>
        </p:grpSp>
        <p:pic>
          <p:nvPicPr>
            <p:cNvPr id="83976" name="Picture 15" descr="C:\snavely\work\teaching\10Fa-CS4670\lectures\lec02\owl10.png">
              <a:extLst>
                <a:ext uri="{FF2B5EF4-FFF2-40B4-BE49-F238E27FC236}">
                  <a16:creationId xmlns:a16="http://schemas.microsoft.com/office/drawing/2014/main" id="{AD672A0C-506C-A340-A183-63C0097FBD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09721" y="2133600"/>
              <a:ext cx="1636944" cy="204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390085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itle 1">
            <a:extLst>
              <a:ext uri="{FF2B5EF4-FFF2-40B4-BE49-F238E27FC236}">
                <a16:creationId xmlns:a16="http://schemas.microsoft.com/office/drawing/2014/main" id="{438B0D7D-A9E2-1844-A014-E61E5CCCDA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72746" y="271849"/>
            <a:ext cx="6328205" cy="181650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dirty="0"/>
              <a:t>Averaging vs Gaussian Smoothing</a:t>
            </a:r>
          </a:p>
        </p:txBody>
      </p:sp>
      <p:pic>
        <p:nvPicPr>
          <p:cNvPr id="84996" name="Picture 4">
            <a:extLst>
              <a:ext uri="{FF2B5EF4-FFF2-40B4-BE49-F238E27FC236}">
                <a16:creationId xmlns:a16="http://schemas.microsoft.com/office/drawing/2014/main" id="{FD1C1DB6-0EC3-5743-89F2-070203754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7" t="5943" r="9344" b="5702"/>
          <a:stretch>
            <a:fillRect/>
          </a:stretch>
        </p:blipFill>
        <p:spPr bwMode="auto">
          <a:xfrm>
            <a:off x="220982" y="958050"/>
            <a:ext cx="3424438" cy="2918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84997" name="Picture 5">
            <a:extLst>
              <a:ext uri="{FF2B5EF4-FFF2-40B4-BE49-F238E27FC236}">
                <a16:creationId xmlns:a16="http://schemas.microsoft.com/office/drawing/2014/main" id="{7E4E0A04-54E5-744F-9C4B-91E4DAFAA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1" t="6430" r="10477" b="5945"/>
          <a:stretch>
            <a:fillRect/>
          </a:stretch>
        </p:blipFill>
        <p:spPr bwMode="auto">
          <a:xfrm>
            <a:off x="3670479" y="958050"/>
            <a:ext cx="3464417" cy="292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84998" name="Picture 6">
            <a:extLst>
              <a:ext uri="{FF2B5EF4-FFF2-40B4-BE49-F238E27FC236}">
                <a16:creationId xmlns:a16="http://schemas.microsoft.com/office/drawing/2014/main" id="{D5F7DAC8-DD50-BB41-BC4F-09879EF89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4" r="6551"/>
          <a:stretch>
            <a:fillRect/>
          </a:stretch>
        </p:blipFill>
        <p:spPr bwMode="auto">
          <a:xfrm>
            <a:off x="3670479" y="3902692"/>
            <a:ext cx="3464417" cy="2981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6626" name="Picture 2" descr="Computer Vision for Busy Developers | by Vinny DaSilva | HackerNoon.com |  Medium">
            <a:extLst>
              <a:ext uri="{FF2B5EF4-FFF2-40B4-BE49-F238E27FC236}">
                <a16:creationId xmlns:a16="http://schemas.microsoft.com/office/drawing/2014/main" id="{148B2212-26C9-4FFF-966F-FF6FF9C8F3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15791"/>
            <a:ext cx="3244361" cy="157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37687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>
            <a:extLst>
              <a:ext uri="{FF2B5EF4-FFF2-40B4-BE49-F238E27FC236}">
                <a16:creationId xmlns:a16="http://schemas.microsoft.com/office/drawing/2014/main" id="{53B7542A-3091-D040-8C3D-08D452A33C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553792"/>
            <a:ext cx="8229600" cy="86384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dirty="0"/>
              <a:t>1.3 Nonlinear Smoothing Filters: Median Filters</a:t>
            </a:r>
          </a:p>
        </p:txBody>
      </p:sp>
      <p:sp>
        <p:nvSpPr>
          <p:cNvPr id="91138" name="Rectangle 3">
            <a:extLst>
              <a:ext uri="{FF2B5EF4-FFF2-40B4-BE49-F238E27FC236}">
                <a16:creationId xmlns:a16="http://schemas.microsoft.com/office/drawing/2014/main" id="{D548BD00-A9B5-2D42-BE45-D5D4FC594B5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457200" y="1600200"/>
            <a:ext cx="8449294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sz="2400" dirty="0"/>
              <a:t>Find a median value of a given neighborhood.</a:t>
            </a:r>
          </a:p>
          <a:p>
            <a:r>
              <a:rPr lang="en-US" altLang="tr-TR" sz="2400" dirty="0"/>
              <a:t>Assign a pixel the median value of its neighbors</a:t>
            </a:r>
          </a:p>
        </p:txBody>
      </p:sp>
      <p:graphicFrame>
        <p:nvGraphicFramePr>
          <p:cNvPr id="152624" name="Group 48">
            <a:extLst>
              <a:ext uri="{FF2B5EF4-FFF2-40B4-BE49-F238E27FC236}">
                <a16:creationId xmlns:a16="http://schemas.microsoft.com/office/drawing/2014/main" id="{2EFB15AD-DEB3-0041-B960-0435A46E835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848225" y="3419476"/>
          <a:ext cx="1114425" cy="1222773"/>
        </p:xfrm>
        <a:graphic>
          <a:graphicData uri="http://schemas.openxmlformats.org/drawingml/2006/table">
            <a:tbl>
              <a:tblPr/>
              <a:tblGrid>
                <a:gridCol w="3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19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38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19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2603" name="Group 27">
            <a:extLst>
              <a:ext uri="{FF2B5EF4-FFF2-40B4-BE49-F238E27FC236}">
                <a16:creationId xmlns:a16="http://schemas.microsoft.com/office/drawing/2014/main" id="{B9F74DF0-3269-F24B-A05E-0088599936A5}"/>
              </a:ext>
            </a:extLst>
          </p:cNvPr>
          <p:cNvGraphicFramePr>
            <a:graphicFrameLocks noGrp="1"/>
          </p:cNvGraphicFramePr>
          <p:nvPr/>
        </p:nvGraphicFramePr>
        <p:xfrm>
          <a:off x="2676526" y="3438526"/>
          <a:ext cx="1102520" cy="1190627"/>
        </p:xfrm>
        <a:graphic>
          <a:graphicData uri="http://schemas.openxmlformats.org/drawingml/2006/table">
            <a:tbl>
              <a:tblPr/>
              <a:tblGrid>
                <a:gridCol w="367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47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66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47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1175" name="Text Box 67">
            <a:extLst>
              <a:ext uri="{FF2B5EF4-FFF2-40B4-BE49-F238E27FC236}">
                <a16:creationId xmlns:a16="http://schemas.microsoft.com/office/drawing/2014/main" id="{D4F86761-4990-3347-B1DF-DEF9CF0DF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0369" y="5126831"/>
            <a:ext cx="17427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tr-TR" sz="1800"/>
              <a:t>0 1 1 2 2 2 2 3 3 </a:t>
            </a:r>
          </a:p>
        </p:txBody>
      </p:sp>
      <p:sp>
        <p:nvSpPr>
          <p:cNvPr id="91176" name="Line 68">
            <a:extLst>
              <a:ext uri="{FF2B5EF4-FFF2-40B4-BE49-F238E27FC236}">
                <a16:creationId xmlns:a16="http://schemas.microsoft.com/office/drawing/2014/main" id="{64399F23-14CE-414C-A0D9-F07645B258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52850" y="5476875"/>
            <a:ext cx="9525" cy="361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r-TR" sz="1800"/>
          </a:p>
        </p:txBody>
      </p:sp>
      <p:sp>
        <p:nvSpPr>
          <p:cNvPr id="91177" name="AutoShape 69">
            <a:extLst>
              <a:ext uri="{FF2B5EF4-FFF2-40B4-BE49-F238E27FC236}">
                <a16:creationId xmlns:a16="http://schemas.microsoft.com/office/drawing/2014/main" id="{6C524A5B-D83D-3545-AF3D-CD8549E7A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0975" y="3962400"/>
            <a:ext cx="523875" cy="238125"/>
          </a:xfrm>
          <a:prstGeom prst="rightArrow">
            <a:avLst>
              <a:gd name="adj1" fmla="val 50000"/>
              <a:gd name="adj2" fmla="val 5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tr-TR" altLang="tr-TR" sz="1800"/>
          </a:p>
        </p:txBody>
      </p:sp>
    </p:spTree>
    <p:extLst>
      <p:ext uri="{BB962C8B-B14F-4D97-AF65-F5344CB8AC3E}">
        <p14:creationId xmlns:p14="http://schemas.microsoft.com/office/powerpoint/2010/main" val="27713355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BBA90-13F3-574E-A1FA-EB51425A3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Median Filtering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185ECF-4D35-9E47-B0EC-8FDD3FD79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839" y="1785339"/>
            <a:ext cx="6426200" cy="4292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C6779E6-0F01-4981-A013-4E0A05029788}"/>
              </a:ext>
            </a:extLst>
          </p:cNvPr>
          <p:cNvSpPr/>
          <p:nvPr/>
        </p:nvSpPr>
        <p:spPr>
          <a:xfrm>
            <a:off x="4757814" y="2112411"/>
            <a:ext cx="498764" cy="3569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427955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8FB9D-AC11-2F48-870C-F201280F2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Median Filtering removes sand like noise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74A591-0C38-2A4B-B9A4-2EC0E3D23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17" y="2012949"/>
            <a:ext cx="7382593" cy="366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8706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0FDF7E-CC12-AC40-B8CF-607B9E7E9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Median filter is a nonlinear filter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9FC286-8328-B040-8FF4-E75877230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sz="2000" dirty="0"/>
              <a:t>Removes sand like noise</a:t>
            </a:r>
          </a:p>
          <a:p>
            <a:endParaRPr lang="en-US" dirty="0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CE31BFC8-4B4D-F648-8FE6-433E58965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934" y="2539079"/>
            <a:ext cx="7392036" cy="3386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48133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>
            <a:extLst>
              <a:ext uri="{FF2B5EF4-FFF2-40B4-BE49-F238E27FC236}">
                <a16:creationId xmlns:a16="http://schemas.microsoft.com/office/drawing/2014/main" id="{5B62B426-0298-BA47-8381-C4897479A8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sz="3000"/>
              <a:t>Median filtering breaks the straight lines</a:t>
            </a:r>
          </a:p>
        </p:txBody>
      </p:sp>
      <p:sp>
        <p:nvSpPr>
          <p:cNvPr id="92162" name="Rectangle 3">
            <a:extLst>
              <a:ext uri="{FF2B5EF4-FFF2-40B4-BE49-F238E27FC236}">
                <a16:creationId xmlns:a16="http://schemas.microsoft.com/office/drawing/2014/main" id="{E60B971F-3862-364A-9314-4E9FDEB759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81150" y="2085976"/>
            <a:ext cx="6172200" cy="339447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endParaRPr lang="tr-TR" altLang="tr-TR" dirty="0"/>
          </a:p>
        </p:txBody>
      </p:sp>
      <p:graphicFrame>
        <p:nvGraphicFramePr>
          <p:cNvPr id="154701" name="Group 77">
            <a:extLst>
              <a:ext uri="{FF2B5EF4-FFF2-40B4-BE49-F238E27FC236}">
                <a16:creationId xmlns:a16="http://schemas.microsoft.com/office/drawing/2014/main" id="{51AAB580-AA9A-5446-BA85-EA31A2DB1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057088"/>
              </p:ext>
            </p:extLst>
          </p:nvPr>
        </p:nvGraphicFramePr>
        <p:xfrm>
          <a:off x="2472612" y="2819400"/>
          <a:ext cx="1994613" cy="1943100"/>
        </p:xfrm>
        <a:graphic>
          <a:graphicData uri="http://schemas.openxmlformats.org/drawingml/2006/table">
            <a:tbl>
              <a:tblPr/>
              <a:tblGrid>
                <a:gridCol w="394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2201" name="Text Box 70">
            <a:extLst>
              <a:ext uri="{FF2B5EF4-FFF2-40B4-BE49-F238E27FC236}">
                <a16:creationId xmlns:a16="http://schemas.microsoft.com/office/drawing/2014/main" id="{0C12A7A3-47F9-CD45-B5AD-C428E787C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1094" y="390763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tr-TR" altLang="tr-TR" sz="1800"/>
          </a:p>
        </p:txBody>
      </p:sp>
      <p:sp>
        <p:nvSpPr>
          <p:cNvPr id="92202" name="Text Box 71">
            <a:extLst>
              <a:ext uri="{FF2B5EF4-FFF2-40B4-BE49-F238E27FC236}">
                <a16:creationId xmlns:a16="http://schemas.microsoft.com/office/drawing/2014/main" id="{FFF4DF29-6253-644B-AB50-8C676277D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869" y="2564606"/>
            <a:ext cx="174278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tr-TR" sz="1800" dirty="0"/>
              <a:t>Square filter:</a:t>
            </a:r>
          </a:p>
          <a:p>
            <a:r>
              <a:rPr lang="en-US" altLang="tr-TR" sz="1800" dirty="0"/>
              <a:t>0 0 0 5 5 5 5 5 5 </a:t>
            </a:r>
          </a:p>
          <a:p>
            <a:endParaRPr lang="en-US" altLang="tr-TR" sz="1800" dirty="0"/>
          </a:p>
          <a:p>
            <a:endParaRPr lang="en-US" altLang="tr-TR" sz="1800" dirty="0"/>
          </a:p>
        </p:txBody>
      </p:sp>
      <p:sp>
        <p:nvSpPr>
          <p:cNvPr id="92203" name="AutoShape 72">
            <a:extLst>
              <a:ext uri="{FF2B5EF4-FFF2-40B4-BE49-F238E27FC236}">
                <a16:creationId xmlns:a16="http://schemas.microsoft.com/office/drawing/2014/main" id="{392006AD-7B9E-A94C-B319-7DF0D418A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0" y="3124200"/>
            <a:ext cx="66675" cy="200025"/>
          </a:xfrm>
          <a:prstGeom prst="up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tr-TR" altLang="tr-TR" sz="1800"/>
          </a:p>
        </p:txBody>
      </p:sp>
    </p:spTree>
    <p:extLst>
      <p:ext uri="{BB962C8B-B14F-4D97-AF65-F5344CB8AC3E}">
        <p14:creationId xmlns:p14="http://schemas.microsoft.com/office/powerpoint/2010/main" val="2213444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>
            <a:extLst>
              <a:ext uri="{FF2B5EF4-FFF2-40B4-BE49-F238E27FC236}">
                <a16:creationId xmlns:a16="http://schemas.microsoft.com/office/drawing/2014/main" id="{5B62B426-0298-BA47-8381-C4897479A8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sz="3000"/>
              <a:t>Median filtering breaks the straight lines</a:t>
            </a:r>
          </a:p>
        </p:txBody>
      </p:sp>
      <p:sp>
        <p:nvSpPr>
          <p:cNvPr id="92162" name="Rectangle 3">
            <a:extLst>
              <a:ext uri="{FF2B5EF4-FFF2-40B4-BE49-F238E27FC236}">
                <a16:creationId xmlns:a16="http://schemas.microsoft.com/office/drawing/2014/main" id="{E60B971F-3862-364A-9314-4E9FDEB759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81150" y="2085976"/>
            <a:ext cx="6172200" cy="339447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endParaRPr lang="tr-TR" altLang="tr-TR" dirty="0"/>
          </a:p>
        </p:txBody>
      </p:sp>
      <p:graphicFrame>
        <p:nvGraphicFramePr>
          <p:cNvPr id="154701" name="Group 77">
            <a:extLst>
              <a:ext uri="{FF2B5EF4-FFF2-40B4-BE49-F238E27FC236}">
                <a16:creationId xmlns:a16="http://schemas.microsoft.com/office/drawing/2014/main" id="{51AAB580-AA9A-5446-BA85-EA31A2DB13A4}"/>
              </a:ext>
            </a:extLst>
          </p:cNvPr>
          <p:cNvGraphicFramePr>
            <a:graphicFrameLocks noGrp="1"/>
          </p:cNvGraphicFramePr>
          <p:nvPr/>
        </p:nvGraphicFramePr>
        <p:xfrm>
          <a:off x="2466975" y="2819400"/>
          <a:ext cx="2000250" cy="1943100"/>
        </p:xfrm>
        <a:graphic>
          <a:graphicData uri="http://schemas.openxmlformats.org/drawingml/2006/table">
            <a:tbl>
              <a:tblPr/>
              <a:tblGrid>
                <a:gridCol w="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2201" name="Text Box 70">
            <a:extLst>
              <a:ext uri="{FF2B5EF4-FFF2-40B4-BE49-F238E27FC236}">
                <a16:creationId xmlns:a16="http://schemas.microsoft.com/office/drawing/2014/main" id="{0C12A7A3-47F9-CD45-B5AD-C428E787C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1094" y="390763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tr-TR" altLang="tr-TR" sz="1800"/>
          </a:p>
        </p:txBody>
      </p:sp>
      <p:sp>
        <p:nvSpPr>
          <p:cNvPr id="92202" name="Text Box 71">
            <a:extLst>
              <a:ext uri="{FF2B5EF4-FFF2-40B4-BE49-F238E27FC236}">
                <a16:creationId xmlns:a16="http://schemas.microsoft.com/office/drawing/2014/main" id="{FFF4DF29-6253-644B-AB50-8C676277D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869" y="2564606"/>
            <a:ext cx="1742785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tr-TR" sz="1800" dirty="0"/>
              <a:t>Square filter:</a:t>
            </a:r>
          </a:p>
          <a:p>
            <a:r>
              <a:rPr lang="en-US" altLang="tr-TR" sz="1800" dirty="0"/>
              <a:t>0 0 0 5 5 5 5 5 5 </a:t>
            </a:r>
          </a:p>
          <a:p>
            <a:endParaRPr lang="en-US" altLang="tr-TR" sz="1800" dirty="0"/>
          </a:p>
          <a:p>
            <a:endParaRPr lang="en-US" altLang="tr-TR" sz="1800" dirty="0"/>
          </a:p>
          <a:p>
            <a:r>
              <a:rPr lang="en-US" altLang="tr-TR" sz="1800" dirty="0"/>
              <a:t>Cross filter</a:t>
            </a:r>
          </a:p>
          <a:p>
            <a:r>
              <a:rPr lang="en-US" altLang="tr-TR" sz="1800" dirty="0"/>
              <a:t>0 0 0 0 0 5 5 5 5</a:t>
            </a:r>
          </a:p>
        </p:txBody>
      </p:sp>
      <p:sp>
        <p:nvSpPr>
          <p:cNvPr id="92203" name="AutoShape 72">
            <a:extLst>
              <a:ext uri="{FF2B5EF4-FFF2-40B4-BE49-F238E27FC236}">
                <a16:creationId xmlns:a16="http://schemas.microsoft.com/office/drawing/2014/main" id="{392006AD-7B9E-A94C-B319-7DF0D418A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0" y="3124200"/>
            <a:ext cx="66675" cy="200025"/>
          </a:xfrm>
          <a:prstGeom prst="up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tr-TR" altLang="tr-TR" sz="1800"/>
          </a:p>
        </p:txBody>
      </p:sp>
      <p:sp>
        <p:nvSpPr>
          <p:cNvPr id="92204" name="AutoShape 73">
            <a:extLst>
              <a:ext uri="{FF2B5EF4-FFF2-40B4-BE49-F238E27FC236}">
                <a16:creationId xmlns:a16="http://schemas.microsoft.com/office/drawing/2014/main" id="{A82B2154-09B1-D843-9869-930E4A05E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0586" y="4276963"/>
            <a:ext cx="66675" cy="238125"/>
          </a:xfrm>
          <a:prstGeom prst="upArrow">
            <a:avLst>
              <a:gd name="adj1" fmla="val 50000"/>
              <a:gd name="adj2" fmla="val 8928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tr-TR" altLang="tr-TR" sz="1800"/>
          </a:p>
        </p:txBody>
      </p:sp>
    </p:spTree>
    <p:extLst>
      <p:ext uri="{BB962C8B-B14F-4D97-AF65-F5344CB8AC3E}">
        <p14:creationId xmlns:p14="http://schemas.microsoft.com/office/powerpoint/2010/main" val="7126414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704ED-51FB-B745-8F7D-075582A9F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Sharpening Filters: Edge detectors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29105B-4A97-CE4E-9BB9-90CD09FCD185}"/>
              </a:ext>
            </a:extLst>
          </p:cNvPr>
          <p:cNvSpPr/>
          <p:nvPr/>
        </p:nvSpPr>
        <p:spPr>
          <a:xfrm>
            <a:off x="1235033" y="3013502"/>
            <a:ext cx="722019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tr-TR" sz="2800" dirty="0">
                <a:latin typeface="+mj-lt"/>
              </a:rPr>
              <a:t>Edges are the pixels where the brightness changes abruptly in some of its neighbors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117973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57" name="Picture 3">
            <a:extLst>
              <a:ext uri="{FF2B5EF4-FFF2-40B4-BE49-F238E27FC236}">
                <a16:creationId xmlns:a16="http://schemas.microsoft.com/office/drawing/2014/main" id="{8E75E102-C2EC-EE49-9E8A-4DFC89214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1916113"/>
            <a:ext cx="8008938" cy="384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258" name="Title 4">
            <a:extLst>
              <a:ext uri="{FF2B5EF4-FFF2-40B4-BE49-F238E27FC236}">
                <a16:creationId xmlns:a16="http://schemas.microsoft.com/office/drawing/2014/main" id="{2AE497D9-F3CA-CB43-9E59-C4FACC27780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960539"/>
            <a:ext cx="7886700" cy="7301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tr-TR" sz="4000" dirty="0">
                <a:latin typeface="Verdana" panose="020B0604030504040204" pitchFamily="34" charset="0"/>
              </a:rPr>
              <a:t>EDGE PROFILES </a:t>
            </a:r>
            <a:br>
              <a:rPr lang="en-US" altLang="tr-TR" sz="7200" dirty="0"/>
            </a:br>
            <a:endParaRPr lang="tr-TR" altLang="tr-TR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Title 1">
            <a:extLst>
              <a:ext uri="{FF2B5EF4-FFF2-40B4-BE49-F238E27FC236}">
                <a16:creationId xmlns:a16="http://schemas.microsoft.com/office/drawing/2014/main" id="{F49142F1-E1D9-AB4C-BD50-E8E24D44BB1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6"/>
            <a:ext cx="8286750" cy="1325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sz="4000" dirty="0"/>
              <a:t>Mathematical Representation of </a:t>
            </a:r>
            <a:r>
              <a:rPr lang="tr-TR" altLang="tr-TR" sz="4000" dirty="0"/>
              <a:t> </a:t>
            </a:r>
            <a:r>
              <a:rPr lang="en-US" altLang="tr-TR" sz="4000" dirty="0"/>
              <a:t>E</a:t>
            </a:r>
            <a:r>
              <a:rPr lang="tr-TR" altLang="tr-TR" sz="4000" dirty="0" err="1"/>
              <a:t>dge</a:t>
            </a:r>
            <a:r>
              <a:rPr lang="tr-TR" altLang="tr-TR" sz="4000" dirty="0"/>
              <a:t> </a:t>
            </a:r>
          </a:p>
        </p:txBody>
      </p:sp>
      <p:sp>
        <p:nvSpPr>
          <p:cNvPr id="95234" name="Text Box 4">
            <a:extLst>
              <a:ext uri="{FF2B5EF4-FFF2-40B4-BE49-F238E27FC236}">
                <a16:creationId xmlns:a16="http://schemas.microsoft.com/office/drawing/2014/main" id="{CBE6E5A3-B843-D440-9968-3465221D0C80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457200" y="1600200"/>
            <a:ext cx="8458200" cy="23447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US" altLang="tr-TR" dirty="0"/>
          </a:p>
          <a:p>
            <a:pPr marL="0" indent="0">
              <a:buNone/>
            </a:pPr>
            <a:r>
              <a:rPr lang="en-US" altLang="tr-TR" sz="2800" dirty="0"/>
              <a:t>Edges are defined by</a:t>
            </a:r>
          </a:p>
          <a:p>
            <a:pPr marL="801688" indent="-801688"/>
            <a:r>
              <a:rPr lang="en-US" altLang="tr-TR" sz="2800" dirty="0"/>
              <a:t>Gradient ,</a:t>
            </a:r>
          </a:p>
          <a:p>
            <a:pPr marL="801688" indent="-801688"/>
            <a:r>
              <a:rPr lang="en-US" altLang="tr-TR" sz="2800" dirty="0"/>
              <a:t>Laplacian </a:t>
            </a:r>
          </a:p>
          <a:p>
            <a:pPr marL="0" indent="0">
              <a:buNone/>
            </a:pPr>
            <a:r>
              <a:rPr lang="en-US" altLang="tr-TR" sz="2800" dirty="0"/>
              <a:t>of a two dimensional image function, f(</a:t>
            </a:r>
            <a:r>
              <a:rPr lang="en-US" altLang="tr-TR" sz="2800" dirty="0" err="1"/>
              <a:t>x,y</a:t>
            </a:r>
            <a:r>
              <a:rPr lang="en-US" altLang="tr-TR" sz="2800" dirty="0"/>
              <a:t>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7281" name="Rectangle 2">
                <a:extLst>
                  <a:ext uri="{FF2B5EF4-FFF2-40B4-BE49-F238E27FC236}">
                    <a16:creationId xmlns:a16="http://schemas.microsoft.com/office/drawing/2014/main" id="{B6618E44-5B80-5E4B-B6B6-F2D91A3C8BD0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 bwMode="auto">
              <a:xfrm>
                <a:off x="918796" y="723900"/>
                <a:ext cx="8009304" cy="1295400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90000"/>
              </a:bodyPr>
              <a:lstStyle/>
              <a:p>
                <a:r>
                  <a:rPr lang="en-US" altLang="tr-TR" sz="4000" dirty="0"/>
                  <a:t>Gradient of continuous functions, </a:t>
                </a:r>
                <a14:m>
                  <m:oMath xmlns:m="http://schemas.openxmlformats.org/officeDocument/2006/math">
                    <m:r>
                      <a:rPr lang="en-US" altLang="tr-TR" sz="4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tr-TR" sz="4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tr-TR" sz="40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tr-TR" sz="4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tr-TR" sz="40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tr-TR" sz="4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tr-TR" sz="4000" dirty="0"/>
                  <a:t>: </a:t>
                </a:r>
                <a:br>
                  <a:rPr lang="en-US" altLang="tr-TR" sz="4000" dirty="0"/>
                </a:br>
                <a:r>
                  <a:rPr lang="en-US" altLang="tr-TR" sz="4000" dirty="0"/>
                  <a:t>F</a:t>
                </a:r>
                <a:r>
                  <a:rPr lang="tr-TR" altLang="tr-TR" sz="4000" dirty="0" err="1"/>
                  <a:t>irst</a:t>
                </a:r>
                <a:r>
                  <a:rPr lang="tr-TR" altLang="tr-TR" sz="4000" dirty="0"/>
                  <a:t> </a:t>
                </a:r>
                <a:r>
                  <a:rPr lang="tr-TR" altLang="tr-TR" sz="4000" dirty="0" err="1"/>
                  <a:t>derivative</a:t>
                </a:r>
                <a:endParaRPr lang="en-US" altLang="tr-TR" sz="4000" dirty="0"/>
              </a:p>
            </p:txBody>
          </p:sp>
        </mc:Choice>
        <mc:Fallback>
          <p:sp>
            <p:nvSpPr>
              <p:cNvPr id="97281" name="Rectangle 2">
                <a:extLst>
                  <a:ext uri="{FF2B5EF4-FFF2-40B4-BE49-F238E27FC236}">
                    <a16:creationId xmlns:a16="http://schemas.microsoft.com/office/drawing/2014/main" id="{B6618E44-5B80-5E4B-B6B6-F2D91A3C8B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 bwMode="auto">
              <a:xfrm>
                <a:off x="918796" y="723900"/>
                <a:ext cx="8009304" cy="1295400"/>
              </a:xfrm>
              <a:blipFill>
                <a:blip r:embed="rId2"/>
                <a:stretch>
                  <a:fillRect l="-2359" t="-11792" r="-2055" b="-1415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282" name="Rectangle 3">
                <a:extLst>
                  <a:ext uri="{FF2B5EF4-FFF2-40B4-BE49-F238E27FC236}">
                    <a16:creationId xmlns:a16="http://schemas.microsoft.com/office/drawing/2014/main" id="{786D3AEE-D2FE-F344-AD86-D9C246C467F6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457200" y="2374900"/>
                <a:ext cx="8229600" cy="3751263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85000" lnSpcReduction="20000"/>
              </a:bodyPr>
              <a:lstStyle/>
              <a:p>
                <a:endParaRPr lang="en-US" altLang="tr-TR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tr-TR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∇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tr-TR" sz="28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28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tr-TR" sz="28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tr-TR" sz="28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tr-TR" sz="28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tr-TR" sz="28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tr-TR" sz="28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altLang="tr-TR" sz="28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lang="en-US" altLang="tr-TR" sz="28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altLang="tr-TR" sz="28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tr-TR" sz="28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eqArr>
                                    <m:eqArrPr>
                                      <m:ctrlPr>
                                        <a:rPr lang="en-US" altLang="tr-TR" sz="28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eqArrPr>
                                    <m:e/>
                                    <m:e>
                                      <m:r>
                                        <a:rPr lang="en-US" altLang="tr-TR" sz="28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altLang="tr-TR" sz="28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</m:eqArr>
                                </m:num>
                                <m:den>
                                  <m:r>
                                    <a:rPr lang="en-US" altLang="tr-TR" sz="28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𝜕</m:t>
                                  </m:r>
                                  <m:r>
                                    <a:rPr lang="en-US" altLang="tr-TR" sz="28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en-US" altLang="tr-TR" sz="2800" dirty="0">
                  <a:cs typeface="Times New Roman" panose="02020603050405020304" pitchFamily="18" charset="0"/>
                </a:endParaRPr>
              </a:p>
              <a:p>
                <a:r>
                  <a:rPr lang="en-US" altLang="tr-TR" sz="2800" dirty="0">
                    <a:cs typeface="Times New Roman" panose="02020603050405020304" pitchFamily="18" charset="0"/>
                  </a:rPr>
                  <a:t>Magnitude: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tr-TR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l-GR" altLang="tr-TR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∇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tr-TR" sz="28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28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tr-TR" sz="28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 | = ( (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 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)2 + (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 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 2 )1/2 </m:t>
                      </m:r>
                    </m:oMath>
                  </m:oMathPara>
                </a14:m>
                <a:endParaRPr lang="el-GR" altLang="tr-TR" sz="2800" baseline="30000" dirty="0">
                  <a:cs typeface="Times New Roman" panose="02020603050405020304" pitchFamily="18" charset="0"/>
                </a:endParaRPr>
              </a:p>
              <a:p>
                <a:r>
                  <a:rPr lang="en-US" altLang="tr-TR" sz="2800" dirty="0">
                    <a:cs typeface="Times New Roman" panose="02020603050405020304" pitchFamily="18" charset="0"/>
                  </a:rPr>
                  <a:t>Phase 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tr-TR" sz="2800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Ψ</m:t>
                      </m:r>
                      <m:r>
                        <a:rPr lang="en-US" altLang="tr-TR" sz="28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arctan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⁡(</m:t>
                      </m:r>
                      <m:f>
                        <m:fPr>
                          <m:ctrlPr>
                            <a:rPr lang="en-US" altLang="tr-TR" sz="28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tr-TR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altLang="tr-TR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US" altLang="tr-TR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/ </m:t>
                          </m:r>
                          <m:r>
                            <a:rPr lang="en-US" altLang="tr-TR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altLang="tr-TR" sz="28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altLang="tr-TR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altLang="tr-TR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US" altLang="tr-TR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/ </m:t>
                          </m:r>
                          <m:r>
                            <a:rPr lang="en-US" altLang="tr-TR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altLang="tr-TR" sz="28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 </m:t>
                      </m:r>
                      <m:r>
                        <a:rPr lang="en-US" altLang="tr-TR" sz="28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𝑟𝑎𝑑𝑖𝑎𝑛𝑠</m:t>
                      </m:r>
                      <m:r>
                        <a:rPr lang="en-US" altLang="tr-TR" sz="28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altLang="tr-TR" sz="2800" dirty="0">
                  <a:cs typeface="Times New Roman" panose="02020603050405020304" pitchFamily="18" charset="0"/>
                </a:endParaRPr>
              </a:p>
              <a:p>
                <a:endParaRPr lang="el-GR" altLang="tr-TR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7282" name="Rectangle 3">
                <a:extLst>
                  <a:ext uri="{FF2B5EF4-FFF2-40B4-BE49-F238E27FC236}">
                    <a16:creationId xmlns:a16="http://schemas.microsoft.com/office/drawing/2014/main" id="{786D3AEE-D2FE-F344-AD86-D9C246C467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457200" y="2374900"/>
                <a:ext cx="8229600" cy="3751263"/>
              </a:xfrm>
              <a:blipFill>
                <a:blip r:embed="rId3"/>
                <a:stretch>
                  <a:fillRect l="-963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Title 1">
            <a:extLst>
              <a:ext uri="{FF2B5EF4-FFF2-40B4-BE49-F238E27FC236}">
                <a16:creationId xmlns:a16="http://schemas.microsoft.com/office/drawing/2014/main" id="{746E8DAD-8B08-AD4B-AE99-9F27B069A7A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631064"/>
            <a:ext cx="8432800" cy="114693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tr-TR" altLang="tr-TR" dirty="0" err="1"/>
              <a:t>Laplacian</a:t>
            </a:r>
            <a:r>
              <a:rPr lang="tr-TR" altLang="tr-TR" dirty="0"/>
              <a:t> of </a:t>
            </a:r>
            <a:r>
              <a:rPr lang="en-US" altLang="tr-TR" dirty="0"/>
              <a:t>a </a:t>
            </a:r>
            <a:r>
              <a:rPr lang="tr-TR" altLang="tr-TR" dirty="0" err="1"/>
              <a:t>continuous</a:t>
            </a:r>
            <a:r>
              <a:rPr lang="tr-TR" altLang="tr-TR" dirty="0"/>
              <a:t> </a:t>
            </a:r>
            <a:r>
              <a:rPr lang="tr-TR" altLang="tr-TR" dirty="0" err="1"/>
              <a:t>function</a:t>
            </a:r>
            <a:r>
              <a:rPr lang="en-US" altLang="tr-TR" dirty="0"/>
              <a:t>, f(</a:t>
            </a:r>
            <a:r>
              <a:rPr lang="en-US" altLang="tr-TR" dirty="0" err="1"/>
              <a:t>x,y</a:t>
            </a:r>
            <a:r>
              <a:rPr lang="en-US" altLang="tr-TR" dirty="0"/>
              <a:t>)</a:t>
            </a:r>
            <a:r>
              <a:rPr lang="tr-TR" altLang="tr-TR" dirty="0"/>
              <a:t>:</a:t>
            </a:r>
            <a:br>
              <a:rPr lang="tr-TR" altLang="tr-TR" dirty="0"/>
            </a:br>
            <a:r>
              <a:rPr lang="tr-TR" altLang="tr-TR" dirty="0"/>
              <a:t>Second </a:t>
            </a:r>
            <a:r>
              <a:rPr lang="tr-TR" altLang="tr-TR" dirty="0" err="1"/>
              <a:t>derivative</a:t>
            </a:r>
            <a:endParaRPr lang="tr-TR" alt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330" name="Content Placeholder 2">
                <a:extLst>
                  <a:ext uri="{FF2B5EF4-FFF2-40B4-BE49-F238E27FC236}">
                    <a16:creationId xmlns:a16="http://schemas.microsoft.com/office/drawing/2014/main" id="{D2D8FA14-6E4B-A742-B762-DA406B2653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 bwMode="auto">
              <a:xfrm>
                <a:off x="172617" y="2186436"/>
                <a:ext cx="8432800" cy="2893566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 algn="ctr">
                  <a:buNone/>
                </a:pPr>
                <a:r>
                  <a:rPr lang="tr-TR" altLang="tr-TR" sz="3200" dirty="0" err="1">
                    <a:cs typeface="Times New Roman" panose="02020603050405020304" pitchFamily="18" charset="0"/>
                  </a:rPr>
                  <a:t>Invariant</a:t>
                </a:r>
                <a:r>
                  <a:rPr lang="tr-TR" altLang="tr-TR" sz="3200" dirty="0">
                    <a:cs typeface="Times New Roman" panose="02020603050405020304" pitchFamily="18" charset="0"/>
                  </a:rPr>
                  <a:t> </a:t>
                </a:r>
                <a:r>
                  <a:rPr lang="tr-TR" altLang="tr-TR" sz="3200" dirty="0" err="1">
                    <a:cs typeface="Times New Roman" panose="02020603050405020304" pitchFamily="18" charset="0"/>
                  </a:rPr>
                  <a:t>to</a:t>
                </a:r>
                <a:r>
                  <a:rPr lang="tr-TR" altLang="tr-TR" sz="3200" dirty="0">
                    <a:cs typeface="Times New Roman" panose="02020603050405020304" pitchFamily="18" charset="0"/>
                  </a:rPr>
                  <a:t> </a:t>
                </a:r>
                <a:r>
                  <a:rPr lang="tr-TR" altLang="tr-TR" sz="3200" dirty="0" err="1">
                    <a:cs typeface="Times New Roman" panose="02020603050405020304" pitchFamily="18" charset="0"/>
                  </a:rPr>
                  <a:t>rotation</a:t>
                </a:r>
                <a:endParaRPr lang="tr-TR" altLang="tr-TR" sz="3200" dirty="0"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tr-TR" altLang="tr-TR" sz="3200" dirty="0"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tr-TR" sz="3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∇</m:t>
                      </m:r>
                      <m:r>
                        <a:rPr lang="tr-TR" altLang="tr-TR" sz="32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tr-TR" sz="32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32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tr-TR" sz="32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 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tr-TR" altLang="tr-TR" sz="32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tr-TR" sz="32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32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tr-TR" sz="32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)/ 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tr-TR" altLang="tr-TR" sz="32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2 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tr-TR" altLang="tr-TR" sz="32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2 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tr-TR" sz="32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32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tr-TR" sz="32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)/ 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tr-TR" altLang="tr-TR" sz="32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2 </m:t>
                      </m:r>
                      <m:r>
                        <a:rPr lang="en-US" altLang="tr-TR" sz="32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altLang="tr-TR" sz="3200" dirty="0"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altLang="tr-TR" sz="3200" dirty="0">
                  <a:cs typeface="Times New Roman" panose="02020603050405020304" pitchFamily="18" charset="0"/>
                </a:endParaRPr>
              </a:p>
              <a:p>
                <a:endParaRPr lang="tr-TR" altLang="tr-TR" dirty="0"/>
              </a:p>
            </p:txBody>
          </p:sp>
        </mc:Choice>
        <mc:Fallback xmlns="">
          <p:sp>
            <p:nvSpPr>
              <p:cNvPr id="99330" name="Content Placeholder 2">
                <a:extLst>
                  <a:ext uri="{FF2B5EF4-FFF2-40B4-BE49-F238E27FC236}">
                    <a16:creationId xmlns:a16="http://schemas.microsoft.com/office/drawing/2014/main" id="{D2D8FA14-6E4B-A742-B762-DA406B2653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172617" y="2186436"/>
                <a:ext cx="8432800" cy="2893566"/>
              </a:xfrm>
              <a:blipFill>
                <a:blip r:embed="rId3"/>
                <a:stretch>
                  <a:fillRect t="-4430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EF8F765-4360-A840-A035-904162D1F82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28650" y="365126"/>
                <a:ext cx="7886700" cy="2621355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dirty="0"/>
                  <a:t>Example: </a:t>
                </a:r>
                <a:br>
                  <a:rPr lang="en-US" dirty="0"/>
                </a:br>
                <a:r>
                  <a:rPr lang="en-US" sz="2700" dirty="0"/>
                  <a:t>Find the Gradient and Laplacian of the following function:</a:t>
                </a:r>
                <a:br>
                  <a:rPr lang="en-US" sz="2700" dirty="0"/>
                </a:br>
                <a:br>
                  <a:rPr lang="en-US" sz="2700" dirty="0"/>
                </a:b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7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7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7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7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7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7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7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tr-TR" sz="2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tr-TR" sz="27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sSupPr>
                        <m:ctrlPr>
                          <a:rPr lang="en-US" sz="27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sz="2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tr-TR" sz="2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7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sz="2700" b="0" i="1" smtClean="0">
                            <a:latin typeface="Cambria Math" panose="02040503050406030204" pitchFamily="18" charset="0"/>
                          </a:rPr>
                          <m:t> +  </m:t>
                        </m:r>
                        <m:f>
                          <m:fPr>
                            <m:ctrlPr>
                              <a:rPr lang="tr-TR" sz="27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tr-TR" sz="2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tr-TR" sz="27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a:rPr lang="tr-TR" sz="27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tr-TR" sz="2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700" dirty="0"/>
                  <a:t> +2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EF8F765-4360-A840-A035-904162D1F8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28650" y="365126"/>
                <a:ext cx="7886700" cy="262135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31410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EF8F765-4360-A840-A035-904162D1F82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28650" y="365126"/>
                <a:ext cx="7886700" cy="1727927"/>
              </a:xfrm>
            </p:spPr>
            <p:txBody>
              <a:bodyPr>
                <a:normAutofit fontScale="90000"/>
              </a:bodyPr>
              <a:lstStyle/>
              <a:p>
                <a:pPr algn="ctr"/>
                <a:r>
                  <a:rPr lang="en-US" dirty="0"/>
                  <a:t>Example: </a:t>
                </a:r>
                <a:br>
                  <a:rPr lang="en-US" dirty="0"/>
                </a:br>
                <a:r>
                  <a:rPr lang="en-US" sz="2700" dirty="0"/>
                  <a:t>Find the Gradient and Laplacian of the following function:</a:t>
                </a:r>
                <a:br>
                  <a:rPr lang="en-US" sz="2700" dirty="0"/>
                </a:br>
                <a:br>
                  <a:rPr lang="en-US" sz="2700" dirty="0"/>
                </a:b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7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7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7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7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7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7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7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tr-TR" sz="2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tr-TR" sz="27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sSupPr>
                        <m:ctrlPr>
                          <a:rPr lang="en-US" sz="27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sz="2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tr-TR" sz="2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7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sz="2700" b="0" i="1" smtClean="0">
                            <a:latin typeface="Cambria Math" panose="02040503050406030204" pitchFamily="18" charset="0"/>
                          </a:rPr>
                          <m:t> +  </m:t>
                        </m:r>
                        <m:f>
                          <m:fPr>
                            <m:ctrlPr>
                              <a:rPr lang="tr-TR" sz="27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tr-TR" sz="2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tr-TR" sz="27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a:rPr lang="tr-TR" sz="27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tr-TR" sz="2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700" dirty="0"/>
                  <a:t> +2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EF8F765-4360-A840-A035-904162D1F8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28650" y="365126"/>
                <a:ext cx="7886700" cy="1727927"/>
              </a:xfrm>
              <a:blipFill>
                <a:blip r:embed="rId2"/>
                <a:stretch>
                  <a:fillRect t="-4594" b="-1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285F7E-FE7C-134C-87A0-435720F734D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/>
          <a:srcRect l="39168"/>
          <a:stretch/>
        </p:blipFill>
        <p:spPr>
          <a:xfrm>
            <a:off x="360432" y="2395031"/>
            <a:ext cx="2364078" cy="33035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332B5E7-9836-8246-A562-DE5E7A4C82A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2724510" y="2504087"/>
                <a:ext cx="6230737" cy="36728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dirty="0"/>
                  <a:t>Gradient: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tr-TR" sz="240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∇</m:t>
                    </m:r>
                    <m:r>
                      <a:rPr lang="en-US" altLang="tr-TR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altLang="tr-TR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tr-TR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tr-TR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tr-TR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tr-TR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= [</m:t>
                    </m:r>
                    <m:r>
                      <a:rPr lang="en-US" altLang="tr-TR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𝜕</m:t>
                    </m:r>
                    <m:r>
                      <a:rPr lang="en-US" altLang="tr-TR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altLang="tr-TR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 </m:t>
                    </m:r>
                    <m:r>
                      <a:rPr lang="en-US" altLang="tr-TR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𝜕</m:t>
                    </m:r>
                    <m:r>
                      <a:rPr lang="en-US" altLang="tr-TR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tr-TR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</m:t>
                    </m:r>
                    <m:r>
                      <a:rPr lang="en-US" altLang="tr-TR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𝜕</m:t>
                    </m:r>
                    <m:r>
                      <a:rPr lang="en-US" altLang="tr-TR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altLang="tr-TR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 </m:t>
                    </m:r>
                    <m:r>
                      <a:rPr lang="en-US" altLang="tr-TR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𝜕</m:t>
                    </m:r>
                    <m:r>
                      <a:rPr lang="en-US" altLang="tr-TR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tr-TR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  <m:r>
                      <a:rPr lang="en-US" altLang="tr-TR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tr-TR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tr-TR" sz="2400" baseline="30000" dirty="0">
                    <a:cs typeface="Times New Roman" panose="02020603050405020304" pitchFamily="18" charset="0"/>
                  </a:rPr>
                  <a:t>=</a:t>
                </a:r>
              </a:p>
              <a:p>
                <a:endParaRPr lang="en-US" altLang="tr-TR" sz="2400" baseline="300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tr-TR" sz="2400" baseline="30000" dirty="0"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tr-TR" altLang="tr-TR" sz="24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tr-TR" altLang="tr-TR" sz="2400" dirty="0" err="1">
                    <a:cs typeface="Times New Roman" panose="02020603050405020304" pitchFamily="18" charset="0"/>
                  </a:rPr>
                  <a:t>Laplacian</a:t>
                </a:r>
                <a:endParaRPr lang="en-US" altLang="tr-TR" sz="24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tr-TR" sz="240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∇</m:t>
                      </m:r>
                      <m:r>
                        <a:rPr lang="tr-TR" altLang="tr-TR" sz="2400" i="1" baseline="3000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tr-TR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tr-TR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 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tr-TR" altLang="tr-TR" sz="24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tr-TR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tr-TR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)/ 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tr-TR" altLang="tr-TR" sz="24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2 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tr-TR" altLang="tr-TR" sz="24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2 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tr-TR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tr-TR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)/ 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tr-TR" altLang="tr-TR" sz="24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2 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altLang="tr-TR" sz="24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tr-TR" sz="2400" baseline="30000" dirty="0"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tr-TR" sz="2400" dirty="0">
                  <a:cs typeface="Times New Roman" panose="020206030504050203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B332B5E7-9836-8246-A562-DE5E7A4C82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2724510" y="2504087"/>
                <a:ext cx="6230737" cy="3672875"/>
              </a:xfrm>
              <a:blipFill>
                <a:blip r:embed="rId4"/>
                <a:stretch>
                  <a:fillRect l="-156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65766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Picture 3">
            <a:extLst>
              <a:ext uri="{FF2B5EF4-FFF2-40B4-BE49-F238E27FC236}">
                <a16:creationId xmlns:a16="http://schemas.microsoft.com/office/drawing/2014/main" id="{EFCEC606-4713-984E-8D55-F5065925C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13" y="1762125"/>
            <a:ext cx="6286500" cy="493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7CE3DB-2EDE-477B-83EB-D4F704DC1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Edge, Gradient, Laplacian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7" name="Picture 3">
            <a:extLst>
              <a:ext uri="{FF2B5EF4-FFF2-40B4-BE49-F238E27FC236}">
                <a16:creationId xmlns:a16="http://schemas.microsoft.com/office/drawing/2014/main" id="{1105ED50-3713-754F-859A-DF3197343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0" y="1570255"/>
            <a:ext cx="8089900" cy="427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78" name="Title 5">
            <a:extLst>
              <a:ext uri="{FF2B5EF4-FFF2-40B4-BE49-F238E27FC236}">
                <a16:creationId xmlns:a16="http://schemas.microsoft.com/office/drawing/2014/main" id="{9540CCA6-ECA0-CF47-B25F-DA51E449237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tr-TR" dirty="0"/>
              <a:t>Gradient and Laplacian of ,</a:t>
            </a:r>
            <a:br>
              <a:rPr lang="en-US" altLang="tr-TR" dirty="0"/>
            </a:br>
            <a:r>
              <a:rPr lang="en-US" altLang="tr-TR" dirty="0"/>
              <a:t>Smooth and Noisy Edges</a:t>
            </a:r>
            <a:endParaRPr lang="tr-TR" altLang="tr-TR" dirty="0"/>
          </a:p>
        </p:txBody>
      </p:sp>
      <p:pic>
        <p:nvPicPr>
          <p:cNvPr id="101380" name="Picture 7">
            <a:extLst>
              <a:ext uri="{FF2B5EF4-FFF2-40B4-BE49-F238E27FC236}">
                <a16:creationId xmlns:a16="http://schemas.microsoft.com/office/drawing/2014/main" id="{CE7CA9D2-3E58-4E49-B8BD-EF0AF169A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5956300"/>
            <a:ext cx="5918200" cy="90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CC49F-B5B7-DC47-9628-0E5B37CA4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First Difference Operation</a:t>
            </a:r>
            <a:r>
              <a:rPr lang="en-US" dirty="0"/>
              <a:t> Approximates Gradient for Discrete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D2AB12-F11D-1644-A42D-66528298B9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First difference in x-direction:</a:t>
                </a:r>
              </a:p>
              <a:p>
                <a:pPr marL="0" indent="0">
                  <a:buNone/>
                </a:pPr>
                <a:r>
                  <a:rPr lang="en-US" sz="2400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400" i="1" baseline="-2500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​ 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∓1,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First difference in y-direction </a:t>
                </a:r>
              </a:p>
              <a:p>
                <a:pPr marL="0" indent="0">
                  <a:buNone/>
                </a:pPr>
                <a:r>
                  <a:rPr lang="en-US" sz="2400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400" i="1" baseline="-2500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​ 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∓1)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First difference in diagonal direction: </a:t>
                </a:r>
              </a:p>
              <a:p>
                <a:pPr marL="0" indent="0">
                  <a:buNone/>
                </a:pPr>
                <a:r>
                  <a:rPr lang="en-US" sz="2400" dirty="0"/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2400" i="1" baseline="-25000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sz="2400" i="1" baseline="-2500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∓1,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∓1).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br>
                  <a:rPr lang="en-US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D2AB12-F11D-1644-A42D-66528298B9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21816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512C5-FEBD-4DAF-99F9-28A5CDE5C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662EE-6731-4DF0-9AE3-1646275F9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996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BCEE7-B3A6-B644-80CA-6B15D1B1F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convolution to approximate the first derivative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C72A38-157E-E94D-9913-7BD1A0CA80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821554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tr-TR" sz="28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tr-T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tr-T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tr-TR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tr-T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tr-TR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tr-T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tr-T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tr-TR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tr-TR" sz="28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tr-TR" sz="28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tr-T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tr-T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tr-TR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800" dirty="0"/>
                  <a:t> =</a:t>
                </a:r>
              </a:p>
              <a:p>
                <a:pPr marL="0" indent="0">
                  <a:buNone/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tr-TR" sz="2800" i="0" dirty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tr-TR" sz="2800" i="1" baseline="-25000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​ 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tr-TR" sz="2800" i="0" dirty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tr-TR" sz="2800" i="1" baseline="-25000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​ 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tr-TR" sz="2800" i="0" dirty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tr-TR" sz="2800" i="1" baseline="-25000" dirty="0" err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tr-TR" sz="2800" i="1" baseline="-25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tr-TR" sz="2800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tr-TR" sz="2800" i="1" dirty="0">
                        <a:latin typeface="Cambria Math" panose="02040503050406030204" pitchFamily="18" charset="0"/>
                      </a:rPr>
                      <m:t>)  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C72A38-157E-E94D-9913-7BD1A0CA80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8215547" cy="4351338"/>
              </a:xfrm>
              <a:blipFill>
                <a:blip r:embed="rId5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D3C443B-0165-344F-BF59-6BD74D44B0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92" b="75058"/>
          <a:stretch/>
        </p:blipFill>
        <p:spPr bwMode="auto">
          <a:xfrm>
            <a:off x="1711973" y="3331342"/>
            <a:ext cx="6355733" cy="2597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AFE572-2C55-6943-BB9B-6F563FEAFA82}"/>
                  </a:ext>
                </a:extLst>
              </p:cNvPr>
              <p:cNvSpPr txBox="1"/>
              <p:nvPr/>
            </p:nvSpPr>
            <p:spPr>
              <a:xfrm>
                <a:off x="1895759" y="4482033"/>
                <a:ext cx="12856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AFE572-2C55-6943-BB9B-6F563FEAF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759" y="4482033"/>
                <a:ext cx="1285673" cy="369332"/>
              </a:xfrm>
              <a:prstGeom prst="rect">
                <a:avLst/>
              </a:prstGeom>
              <a:blipFill>
                <a:blip r:embed="rId4"/>
                <a:stretch>
                  <a:fillRect l="-5213" r="-1422" b="-26230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61364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26" name="Picture 3">
            <a:extLst>
              <a:ext uri="{FF2B5EF4-FFF2-40B4-BE49-F238E27FC236}">
                <a16:creationId xmlns:a16="http://schemas.microsoft.com/office/drawing/2014/main" id="{B5EB56B4-000B-014B-A213-0B8842C85D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33" t="24645" b="57786"/>
          <a:stretch/>
        </p:blipFill>
        <p:spPr bwMode="auto">
          <a:xfrm>
            <a:off x="494404" y="2922463"/>
            <a:ext cx="8593501" cy="271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CCBC138-DA5D-4E96-8879-4E32C7378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328738" cy="235008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tr-TR" dirty="0"/>
              <a:t>2x2 Gradient Edge Masks:</a:t>
            </a:r>
            <a:br>
              <a:rPr lang="en-US" altLang="tr-TR" dirty="0"/>
            </a:br>
            <a:br>
              <a:rPr lang="en-US" altLang="tr-TR" dirty="0"/>
            </a:br>
            <a:r>
              <a:rPr lang="en-US" altLang="tr-TR" sz="2800" dirty="0"/>
              <a:t>Approximation in discrete grid Roberts mask for detecting diagonal edges</a:t>
            </a:r>
            <a:endParaRPr lang="tr-TR" sz="2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50" name="Picture 3">
            <a:extLst>
              <a:ext uri="{FF2B5EF4-FFF2-40B4-BE49-F238E27FC236}">
                <a16:creationId xmlns:a16="http://schemas.microsoft.com/office/drawing/2014/main" id="{8A314AF1-8A6D-2D46-A43F-4A55550143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1" r="12539" b="7701"/>
          <a:stretch/>
        </p:blipFill>
        <p:spPr bwMode="auto">
          <a:xfrm>
            <a:off x="1530785" y="2362112"/>
            <a:ext cx="5801193" cy="4338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BF7E3DC-EB67-4225-BB30-B14E8B5FC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3x3 Gradient Edge Masks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10" name="Picture 3">
            <a:extLst>
              <a:ext uri="{FF2B5EF4-FFF2-40B4-BE49-F238E27FC236}">
                <a16:creationId xmlns:a16="http://schemas.microsoft.com/office/drawing/2014/main" id="{5526B39E-7333-7341-81D8-51C2E08D1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23" y="2855214"/>
            <a:ext cx="7434835" cy="2964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8B03C2-CAA8-4293-A947-9726B46E2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tr-TR" dirty="0"/>
              <a:t>Sobel Edge Detector as a </a:t>
            </a:r>
            <a:br>
              <a:rPr lang="en-US" altLang="tr-TR" dirty="0"/>
            </a:br>
            <a:r>
              <a:rPr lang="en-US" altLang="tr-TR" dirty="0"/>
              <a:t>Discrete Gradient Operator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733534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18" name="Picture 3">
            <a:extLst>
              <a:ext uri="{FF2B5EF4-FFF2-40B4-BE49-F238E27FC236}">
                <a16:creationId xmlns:a16="http://schemas.microsoft.com/office/drawing/2014/main" id="{C88C8E49-D762-7B41-92F4-BD35712E7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0" y="1773238"/>
            <a:ext cx="6669582" cy="458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B624F5-E91B-4283-AC90-21DD72FE5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258758" cy="13255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Edge Detection by Vertical and Horizontal </a:t>
            </a:r>
            <a:b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</a:br>
            <a: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Gradient Operators </a:t>
            </a:r>
            <a:br>
              <a:rPr lang="en-US" altLang="tr-TR" dirty="0"/>
            </a:b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608952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4" name="Picture 3">
            <a:extLst>
              <a:ext uri="{FF2B5EF4-FFF2-40B4-BE49-F238E27FC236}">
                <a16:creationId xmlns:a16="http://schemas.microsoft.com/office/drawing/2014/main" id="{815C55A7-344F-1040-B14B-C00B95A70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" y="1444053"/>
            <a:ext cx="8385175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26F2B7-1C07-4A82-BF85-1F74D1517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Diagonal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Edge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Detection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by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Vertical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and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Horizontal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Gradient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operators</a:t>
            </a:r>
            <a:b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</a:br>
            <a:endParaRPr lang="tr-TR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8" name="Picture 3">
            <a:extLst>
              <a:ext uri="{FF2B5EF4-FFF2-40B4-BE49-F238E27FC236}">
                <a16:creationId xmlns:a16="http://schemas.microsoft.com/office/drawing/2014/main" id="{A0D70CBC-7D2E-F540-804F-7CC89E2C8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906" y="1564858"/>
            <a:ext cx="8162925" cy="493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DA4B59-984A-4CB1-A4B6-5D0514B13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Edge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detection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after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Smoothing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with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b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</a:b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Vertical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and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Horizontal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Gradient</a:t>
            </a:r>
            <a:r>
              <a:rPr lang="tr-TR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tr-TR" altLang="tr-TR" dirty="0" err="1">
                <a:solidFill>
                  <a:srgbClr val="FF0000"/>
                </a:solidFill>
                <a:latin typeface="Verdana" panose="020B0604030504040204" pitchFamily="34" charset="0"/>
              </a:rPr>
              <a:t>filters</a:t>
            </a:r>
            <a:b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</a:br>
            <a:endParaRPr lang="tr-TR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22" name="Picture 3">
            <a:extLst>
              <a:ext uri="{FF2B5EF4-FFF2-40B4-BE49-F238E27FC236}">
                <a16:creationId xmlns:a16="http://schemas.microsoft.com/office/drawing/2014/main" id="{8898EA2E-73D9-8B4E-BAD9-FFCEA923B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" y="2308484"/>
            <a:ext cx="8734425" cy="3609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E1BF85-A088-436F-8606-5FDB00C19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tr-TR" altLang="tr-TR" dirty="0" err="1"/>
              <a:t>Edge</a:t>
            </a:r>
            <a:r>
              <a:rPr lang="tr-TR" altLang="tr-TR" dirty="0"/>
              <a:t> </a:t>
            </a:r>
            <a:r>
              <a:rPr lang="en-US" altLang="tr-TR" dirty="0"/>
              <a:t>D</a:t>
            </a:r>
            <a:r>
              <a:rPr lang="tr-TR" altLang="tr-TR" dirty="0" err="1"/>
              <a:t>etection</a:t>
            </a:r>
            <a:r>
              <a:rPr lang="tr-TR" altLang="tr-TR" dirty="0"/>
              <a:t> </a:t>
            </a:r>
            <a:r>
              <a:rPr lang="tr-TR" altLang="tr-TR" dirty="0" err="1"/>
              <a:t>after</a:t>
            </a:r>
            <a:r>
              <a:rPr lang="tr-TR" altLang="tr-TR" dirty="0"/>
              <a:t> </a:t>
            </a:r>
            <a:r>
              <a:rPr lang="tr-TR" altLang="tr-TR" dirty="0" err="1"/>
              <a:t>Smoothing</a:t>
            </a:r>
            <a:r>
              <a:rPr lang="tr-TR" altLang="tr-TR" dirty="0"/>
              <a:t> </a:t>
            </a:r>
            <a:r>
              <a:rPr lang="tr-TR" altLang="tr-TR" dirty="0" err="1"/>
              <a:t>with</a:t>
            </a:r>
            <a:r>
              <a:rPr lang="tr-TR" altLang="tr-TR" dirty="0"/>
              <a:t> </a:t>
            </a:r>
            <a:br>
              <a:rPr lang="tr-TR" altLang="tr-TR" dirty="0"/>
            </a:br>
            <a:r>
              <a:rPr lang="tr-TR" altLang="tr-TR" dirty="0" err="1"/>
              <a:t>Diagonal</a:t>
            </a:r>
            <a:r>
              <a:rPr lang="tr-TR" altLang="tr-TR" dirty="0"/>
              <a:t> </a:t>
            </a:r>
            <a:r>
              <a:rPr lang="tr-TR" altLang="tr-TR" dirty="0" err="1"/>
              <a:t>Gradient</a:t>
            </a:r>
            <a:r>
              <a:rPr lang="tr-TR" altLang="tr-TR" dirty="0"/>
              <a:t> </a:t>
            </a:r>
            <a:r>
              <a:rPr lang="tr-TR" altLang="tr-TR" dirty="0" err="1"/>
              <a:t>filters</a:t>
            </a:r>
            <a:endParaRPr 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9685E17-9FD9-4FD0-9352-57EE85726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291414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tr-TR" dirty="0"/>
              <a:t>LAPLACIAN MASKS: </a:t>
            </a:r>
            <a:br>
              <a:rPr lang="en-US" altLang="tr-TR" dirty="0"/>
            </a:br>
            <a:r>
              <a:rPr lang="en-US" altLang="tr-TR" dirty="0"/>
              <a:t>Approximation of second derivative filters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9F6204B-703C-4FBA-B6EF-B14FC5E7BD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5894" y="1825625"/>
                <a:ext cx="8534170" cy="4351338"/>
              </a:xfrm>
            </p:spPr>
            <p:txBody>
              <a:bodyPr>
                <a:normAutofit fontScale="47500" lnSpcReduction="20000"/>
              </a:bodyPr>
              <a:lstStyle/>
              <a:p>
                <a:endParaRPr lang="en-US" dirty="0"/>
              </a:p>
              <a:p>
                <a:r>
                  <a:rPr lang="en-US" sz="4500" dirty="0"/>
                  <a:t>Recall Gradient approximation as first different in x-direction</a:t>
                </a:r>
              </a:p>
              <a:p>
                <a:pPr marL="0" indent="0">
                  <a:buNone/>
                </a:pPr>
                <a:endParaRPr lang="en-US" sz="45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tr-TR" sz="4500" dirty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tr-TR" sz="4500" i="1" baseline="-25000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4500" i="1" dirty="0">
                          <a:latin typeface="Cambria Math" panose="02040503050406030204" pitchFamily="18" charset="0"/>
                        </a:rPr>
                        <m:t>​ </m:t>
                      </m:r>
                      <m:r>
                        <a:rPr lang="tr-TR" sz="45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tr-TR" sz="45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45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45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45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4500" i="1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tr-TR" sz="45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tr-TR" sz="45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45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45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45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4500" i="1" dirty="0"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tr-TR" sz="45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tr-TR" sz="45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45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tr-TR" sz="4500" i="1" dirty="0">
                          <a:latin typeface="Cambria Math" panose="02040503050406030204" pitchFamily="18" charset="0"/>
                        </a:rPr>
                        <m:t>∓1,</m:t>
                      </m:r>
                      <m:r>
                        <a:rPr lang="tr-TR" sz="45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45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tr-TR" sz="4500" dirty="0"/>
              </a:p>
              <a:p>
                <a:pPr marL="0" indent="0">
                  <a:buNone/>
                </a:pPr>
                <a:endParaRPr lang="en-US" sz="4500" dirty="0"/>
              </a:p>
              <a:p>
                <a:r>
                  <a:rPr lang="en-US" sz="4500" dirty="0"/>
                  <a:t>Continuous case Laplacian: </a:t>
                </a:r>
                <a:endParaRPr lang="en-US" altLang="tr-TR" sz="45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tr-TR" sz="45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∇</m:t>
                      </m:r>
                      <m:r>
                        <a:rPr lang="tr-TR" altLang="tr-TR" sz="45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tr-TR" sz="45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tr-TR" sz="4500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tr-TR" sz="4500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tr-TR" sz="4500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tr-TR" sz="45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tr-TR" altLang="tr-TR" sz="4500" i="1" baseline="300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tr-TR" sz="45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tr-TR" sz="4500" i="1" dirty="0" err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altLang="tr-TR" sz="4500" i="1" dirty="0" err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tr-TR" sz="4500" i="1" dirty="0" err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tr-TR" altLang="tr-TR" sz="4500" i="1" baseline="300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tr-TR" sz="45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tr-TR" altLang="tr-TR" sz="4500" i="1" baseline="300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tr-TR" sz="45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tr-TR" sz="4500" i="1" dirty="0" err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altLang="tr-TR" sz="4500" i="1" dirty="0" err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tr-TR" sz="4500" i="1" dirty="0" err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tr-TR" altLang="tr-TR" sz="4500" i="1" baseline="300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altLang="tr-TR" sz="4500" dirty="0">
                  <a:cs typeface="Times New Roman" panose="02020603050405020304" pitchFamily="18" charset="0"/>
                </a:endParaRPr>
              </a:p>
              <a:p>
                <a:r>
                  <a:rPr lang="en-US" altLang="tr-TR" sz="4500" dirty="0">
                    <a:cs typeface="Times New Roman" panose="02020603050405020304" pitchFamily="18" charset="0"/>
                  </a:rPr>
                  <a:t>Discrete case : </a:t>
                </a:r>
              </a:p>
              <a:p>
                <a:pPr marL="0" indent="0">
                  <a:buNone/>
                </a:pPr>
                <a:endParaRPr lang="en-US" altLang="tr-TR" sz="45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tr-TR" sz="450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∇</m:t>
                      </m:r>
                      <m:r>
                        <a:rPr lang="tr-TR" altLang="tr-TR" sz="4500" i="1" baseline="3000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tr-TR" sz="45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tr-TR" sz="45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tr-TR" sz="4500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tr-TR" sz="4500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tr-TR" sz="4500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tr-TR" sz="45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</m:oMath>
                  </m:oMathPara>
                </a14:m>
                <a:endParaRPr lang="en-US" altLang="tr-TR" sz="45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tr-TR" sz="45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tr-TR" sz="45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tr-TR" sz="45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tr-TR" sz="45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+1,</m:t>
                          </m:r>
                          <m:r>
                            <a:rPr lang="en-US" altLang="tr-TR" sz="4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tr-TR" sz="45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tr-TR" sz="45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tr-TR" sz="45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tr-TR" sz="45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tr-TR" sz="45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−1,</m:t>
                          </m:r>
                          <m:r>
                            <a:rPr lang="en-US" altLang="tr-TR" sz="4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tr-TR" sz="45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tr-TR" sz="45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tr-TR" sz="4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tr-TR" sz="4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tr-TR" sz="45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tr-TR" sz="45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tr-TR" sz="4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tr-TR" sz="45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tr-TR" sz="45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tr-TR" sz="45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−4</m:t>
                      </m:r>
                      <m:r>
                        <a:rPr lang="en-US" altLang="tr-TR" sz="45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tr-TR" sz="45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tr-TR" sz="4500" i="1" dirty="0" err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4500" i="1" dirty="0" err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tr-TR" sz="4500" i="1" dirty="0" err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tr-TR" sz="45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tr-TR" sz="4500" dirty="0">
                  <a:cs typeface="Times New Roman" panose="02020603050405020304" pitchFamily="18" charset="0"/>
                </a:endParaRPr>
              </a:p>
              <a:p>
                <a:endParaRPr lang="en-US" altLang="tr-TR" sz="2400" dirty="0">
                  <a:cs typeface="Times New Roman" panose="02020603050405020304" pitchFamily="18" charset="0"/>
                </a:endParaRPr>
              </a:p>
              <a:p>
                <a:endParaRPr lang="tr-TR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9F6204B-703C-4FBA-B6EF-B14FC5E7BD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5894" y="1825625"/>
                <a:ext cx="8534170" cy="4351338"/>
              </a:xfrm>
              <a:blipFill>
                <a:blip r:embed="rId2"/>
                <a:stretch>
                  <a:fillRect l="-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0439-D7EF-43FB-8E84-87E266C27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sz="3600" dirty="0"/>
              <a:t>Sharpening  Filters: Laplace Operator</a:t>
            </a:r>
            <a:endParaRPr lang="tr-TR" dirty="0"/>
          </a:p>
        </p:txBody>
      </p:sp>
      <p:sp>
        <p:nvSpPr>
          <p:cNvPr id="82947" name="Date Placeholder 3">
            <a:extLst>
              <a:ext uri="{FF2B5EF4-FFF2-40B4-BE49-F238E27FC236}">
                <a16:creationId xmlns:a16="http://schemas.microsoft.com/office/drawing/2014/main" id="{1D009E9F-1CE7-0648-A68C-68D5A628D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E1C2276-62B2-D341-9702-9A32EEF0B028}" type="datetime1">
              <a:rPr lang="en-US" altLang="tr-TR" smtClean="0"/>
              <a:pPr/>
              <a:t>10/27/2022</a:t>
            </a:fld>
            <a:endParaRPr lang="en-US" altLang="tr-TR"/>
          </a:p>
        </p:txBody>
      </p:sp>
      <p:sp>
        <p:nvSpPr>
          <p:cNvPr id="82948" name="Slide Number Placeholder 5">
            <a:extLst>
              <a:ext uri="{FF2B5EF4-FFF2-40B4-BE49-F238E27FC236}">
                <a16:creationId xmlns:a16="http://schemas.microsoft.com/office/drawing/2014/main" id="{2A5785AB-63FA-784E-BA2C-F99A52549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11938FF-F643-1548-ADCB-FC6AF4E67368}" type="slidenum">
              <a:rPr lang="en-US" altLang="tr-TR"/>
              <a:pPr/>
              <a:t>60</a:t>
            </a:fld>
            <a:endParaRPr lang="en-US" altLang="tr-TR"/>
          </a:p>
        </p:txBody>
      </p:sp>
      <p:sp>
        <p:nvSpPr>
          <p:cNvPr id="82950" name="Rectangle 3">
            <a:extLst>
              <a:ext uri="{FF2B5EF4-FFF2-40B4-BE49-F238E27FC236}">
                <a16:creationId xmlns:a16="http://schemas.microsoft.com/office/drawing/2014/main" id="{CAEA273D-CF08-444E-84D6-91CD883DA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4426745"/>
            <a:ext cx="386954" cy="273844"/>
          </a:xfrm>
          <a:prstGeom prst="rect">
            <a:avLst/>
          </a:prstGeom>
          <a:solidFill>
            <a:srgbClr val="F3F2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tr-TR" altLang="tr-TR" sz="1800"/>
          </a:p>
        </p:txBody>
      </p:sp>
      <p:sp>
        <p:nvSpPr>
          <p:cNvPr id="82951" name="Text Box 4">
            <a:extLst>
              <a:ext uri="{FF2B5EF4-FFF2-40B4-BE49-F238E27FC236}">
                <a16:creationId xmlns:a16="http://schemas.microsoft.com/office/drawing/2014/main" id="{481C1976-B633-974F-90F2-67C159C11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8775" y="3580210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tr-TR" altLang="tr-TR" sz="1800"/>
          </a:p>
        </p:txBody>
      </p:sp>
      <p:pic>
        <p:nvPicPr>
          <p:cNvPr id="82952" name="Picture 12">
            <a:extLst>
              <a:ext uri="{FF2B5EF4-FFF2-40B4-BE49-F238E27FC236}">
                <a16:creationId xmlns:a16="http://schemas.microsoft.com/office/drawing/2014/main" id="{6E5E8524-4E31-D144-9263-B6696E515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980011"/>
            <a:ext cx="3468291" cy="3449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953" name="Picture 13">
            <a:extLst>
              <a:ext uri="{FF2B5EF4-FFF2-40B4-BE49-F238E27FC236}">
                <a16:creationId xmlns:a16="http://schemas.microsoft.com/office/drawing/2014/main" id="{2BF12D35-6AAE-4948-89C8-F243DD24B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031" y="2006205"/>
            <a:ext cx="1506141" cy="3420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70238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409FF-A3D0-7B49-88C9-A47BBCD41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119838" cy="1325563"/>
          </a:xfrm>
        </p:spPr>
        <p:txBody>
          <a:bodyPr/>
          <a:lstStyle/>
          <a:p>
            <a:r>
              <a:rPr lang="en-US" dirty="0"/>
              <a:t>Laplacian of Gaussian Filters: </a:t>
            </a:r>
            <a:br>
              <a:rPr lang="en-US" dirty="0"/>
            </a:br>
            <a:r>
              <a:rPr lang="en-US" dirty="0"/>
              <a:t>Second derivative of Gaussian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CEF7F7-4AE9-E948-A139-19A0219E06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3487" y="1825625"/>
                <a:ext cx="8608139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dirty="0"/>
                  <a:t>Recall Gaussian Function</a:t>
                </a:r>
              </a:p>
              <a:p>
                <a:endParaRPr lang="en-US" sz="2400" dirty="0"/>
              </a:p>
              <a:p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Laplacian of Gaussian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tr-TR" sz="2400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tr-TR" altLang="tr-TR" sz="24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tr-TR" sz="24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tr-TR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tr-TR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 = 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tr-TR" altLang="tr-TR" sz="24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tr-TR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tr-TR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)/ 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tr-TR" altLang="tr-TR" sz="24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2 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tr-TR" altLang="tr-TR" sz="24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2 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tr-TR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tr-TR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tr-TR" sz="2400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)/ 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𝜕</m:t>
                      </m:r>
                      <m:r>
                        <a:rPr lang="tr-TR" altLang="tr-TR" sz="2400" i="1" baseline="30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2 </m:t>
                      </m:r>
                      <m:r>
                        <a:rPr lang="en-US" altLang="tr-TR" sz="24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altLang="tr-TR" sz="2400" dirty="0"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altLang="tr-TR" sz="2400" dirty="0">
                  <a:cs typeface="Times New Roman" panose="020206030504050203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CEF7F7-4AE9-E948-A139-19A0219E06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3487" y="1825625"/>
                <a:ext cx="8608139" cy="4351338"/>
              </a:xfrm>
              <a:blipFill>
                <a:blip r:embed="rId2"/>
                <a:stretch>
                  <a:fillRect l="-106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5">
            <a:extLst>
              <a:ext uri="{FF2B5EF4-FFF2-40B4-BE49-F238E27FC236}">
                <a16:creationId xmlns:a16="http://schemas.microsoft.com/office/drawing/2014/main" id="{8F1A18A4-9DA2-3E44-9F38-787508AEF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5" r="1645"/>
          <a:stretch>
            <a:fillRect/>
          </a:stretch>
        </p:blipFill>
        <p:spPr bwMode="auto">
          <a:xfrm>
            <a:off x="2060620" y="2308069"/>
            <a:ext cx="4321175" cy="84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32BCEADD-4BB7-6146-970B-899918DFC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6638" y="1517897"/>
            <a:ext cx="2074988" cy="1580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7B2B9C-07E6-4D4B-B79F-F20B1D45488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78932"/>
          <a:stretch/>
        </p:blipFill>
        <p:spPr>
          <a:xfrm>
            <a:off x="628650" y="4551503"/>
            <a:ext cx="7671243" cy="133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0626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70" name="Picture 3">
            <a:extLst>
              <a:ext uri="{FF2B5EF4-FFF2-40B4-BE49-F238E27FC236}">
                <a16:creationId xmlns:a16="http://schemas.microsoft.com/office/drawing/2014/main" id="{BC6F88CC-EF78-024C-9D23-E795CCB66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25" y="1770063"/>
            <a:ext cx="6218238" cy="391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CF9134-9F37-4884-9990-6A2D658AF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LAPLACIAN of GAUSSIAN EDGE MASKS</a:t>
            </a:r>
            <a:b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</a:br>
            <a: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Second derivative of the Gaussian function</a:t>
            </a:r>
            <a:endParaRPr lang="tr-TR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80E1B-FC8D-BD40-BC30-D285DAEC6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LoG</a:t>
            </a:r>
            <a:r>
              <a:rPr lang="en-US" dirty="0"/>
              <a:t> for 9x9 discrete grid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8F3C1-9A62-3548-B0B6-9BE804D4D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A95336-D0DE-994F-A3BB-368DDC0A4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76" y="1787976"/>
            <a:ext cx="5371647" cy="442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9484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94" name="Picture 3">
            <a:extLst>
              <a:ext uri="{FF2B5EF4-FFF2-40B4-BE49-F238E27FC236}">
                <a16:creationId xmlns:a16="http://schemas.microsoft.com/office/drawing/2014/main" id="{F062B86B-E26A-E143-B1E3-DD15CDB50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640" y="1472999"/>
            <a:ext cx="4868863" cy="508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0595" name="Picture 4">
            <a:extLst>
              <a:ext uri="{FF2B5EF4-FFF2-40B4-BE49-F238E27FC236}">
                <a16:creationId xmlns:a16="http://schemas.microsoft.com/office/drawing/2014/main" id="{7BFFA21A-4AD2-564F-92A7-0D2FFEAB9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7038" y="3421242"/>
            <a:ext cx="4906962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FE3729B-EA6B-ED4A-AF62-F46621D55CA5}"/>
              </a:ext>
            </a:extLst>
          </p:cNvPr>
          <p:cNvSpPr txBox="1"/>
          <p:nvPr/>
        </p:nvSpPr>
        <p:spPr>
          <a:xfrm>
            <a:off x="4691921" y="1843790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Sobel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242341-956C-5B40-82A5-A8763C142CF7}"/>
              </a:ext>
            </a:extLst>
          </p:cNvPr>
          <p:cNvSpPr txBox="1"/>
          <p:nvPr/>
        </p:nvSpPr>
        <p:spPr>
          <a:xfrm>
            <a:off x="389744" y="4302177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LoG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15C47D-8D97-4F59-B312-0672E039D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45" y="206887"/>
            <a:ext cx="8678115" cy="1325563"/>
          </a:xfrm>
        </p:spPr>
        <p:txBody>
          <a:bodyPr>
            <a:normAutofit/>
          </a:bodyPr>
          <a:lstStyle/>
          <a:p>
            <a: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Edge Detection  in Radiological  Images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1419721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4" name="Picture 3">
            <a:extLst>
              <a:ext uri="{FF2B5EF4-FFF2-40B4-BE49-F238E27FC236}">
                <a16:creationId xmlns:a16="http://schemas.microsoft.com/office/drawing/2014/main" id="{9AE91554-28FF-F24D-BF31-765A5E064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888" y="904557"/>
            <a:ext cx="3728256" cy="5916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0835" name="Picture 4">
            <a:extLst>
              <a:ext uri="{FF2B5EF4-FFF2-40B4-BE49-F238E27FC236}">
                <a16:creationId xmlns:a16="http://schemas.microsoft.com/office/drawing/2014/main" id="{79696A04-EBCE-C145-A878-8CFDFD1DE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4676620"/>
            <a:ext cx="1143000" cy="197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4453772-2066-F546-BB36-526758E813D5}"/>
              </a:ext>
            </a:extLst>
          </p:cNvPr>
          <p:cNvSpPr txBox="1"/>
          <p:nvPr/>
        </p:nvSpPr>
        <p:spPr>
          <a:xfrm>
            <a:off x="5876144" y="2428407"/>
            <a:ext cx="1394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Laplacian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693E38-1166-A948-AA51-E1F24E890E1B}"/>
              </a:ext>
            </a:extLst>
          </p:cNvPr>
          <p:cNvSpPr txBox="1"/>
          <p:nvPr/>
        </p:nvSpPr>
        <p:spPr>
          <a:xfrm>
            <a:off x="194872" y="4497049"/>
            <a:ext cx="19530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Original+ Laplacian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CABA7C-79DC-E846-96AC-8CFCCBEA3D63}"/>
              </a:ext>
            </a:extLst>
          </p:cNvPr>
          <p:cNvSpPr txBox="1"/>
          <p:nvPr/>
        </p:nvSpPr>
        <p:spPr>
          <a:xfrm>
            <a:off x="6002111" y="4781862"/>
            <a:ext cx="962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Sobel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E4DB132-0117-4AFF-B5FB-19645D20B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7323" y="80543"/>
            <a:ext cx="9069355" cy="1325563"/>
          </a:xfrm>
        </p:spPr>
        <p:txBody>
          <a:bodyPr>
            <a:normAutofit fontScale="90000"/>
          </a:bodyPr>
          <a:lstStyle/>
          <a:p>
            <a: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Image Enhancement with Laplacian and Sobel</a:t>
            </a:r>
            <a:br>
              <a:rPr lang="en-US" altLang="tr-TR" dirty="0"/>
            </a:br>
            <a:endParaRPr lang="tr-TR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8" name="Picture 3">
            <a:extLst>
              <a:ext uri="{FF2B5EF4-FFF2-40B4-BE49-F238E27FC236}">
                <a16:creationId xmlns:a16="http://schemas.microsoft.com/office/drawing/2014/main" id="{514086E3-2D5E-594F-B8D0-A673BB05A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3965" y="1616075"/>
            <a:ext cx="3294062" cy="524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859" name="Picture 4">
            <a:extLst>
              <a:ext uri="{FF2B5EF4-FFF2-40B4-BE49-F238E27FC236}">
                <a16:creationId xmlns:a16="http://schemas.microsoft.com/office/drawing/2014/main" id="{2F44C569-74C4-844A-B8FC-542D2D0CA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6075" y="519112"/>
            <a:ext cx="1158875" cy="371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A01D51-4DC8-9B46-BC75-A9495F207989}"/>
              </a:ext>
            </a:extLst>
          </p:cNvPr>
          <p:cNvSpPr txBox="1"/>
          <p:nvPr/>
        </p:nvSpPr>
        <p:spPr>
          <a:xfrm>
            <a:off x="291600" y="2228671"/>
            <a:ext cx="28263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Sobel+smoothing</a:t>
            </a:r>
            <a:endParaRPr lang="en-US" dirty="0"/>
          </a:p>
          <a:p>
            <a:r>
              <a:rPr lang="en-US" dirty="0"/>
              <a:t>by 5x5 averaging mask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AD926D-4F6D-7F46-A64F-CDC9F7FA393F}"/>
              </a:ext>
            </a:extLst>
          </p:cNvPr>
          <p:cNvSpPr txBox="1"/>
          <p:nvPr/>
        </p:nvSpPr>
        <p:spPr>
          <a:xfrm>
            <a:off x="1709678" y="1014250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A=(</a:t>
            </a:r>
            <a:r>
              <a:rPr lang="en-US" dirty="0" err="1"/>
              <a:t>Original+Laplacian</a:t>
            </a:r>
            <a:r>
              <a:rPr lang="en-US" dirty="0"/>
              <a:t>).( </a:t>
            </a:r>
            <a:r>
              <a:rPr lang="en-US" dirty="0" err="1"/>
              <a:t>Sobel+smoothing</a:t>
            </a:r>
            <a:r>
              <a:rPr lang="en-US" dirty="0"/>
              <a:t>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3DEC868-B66D-E143-BA4D-097F3F02E62F}"/>
              </a:ext>
            </a:extLst>
          </p:cNvPr>
          <p:cNvCxnSpPr>
            <a:cxnSpLocks/>
          </p:cNvCxnSpPr>
          <p:nvPr/>
        </p:nvCxnSpPr>
        <p:spPr>
          <a:xfrm flipH="1">
            <a:off x="6602936" y="1584902"/>
            <a:ext cx="550899" cy="905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82253F7-9709-984A-A6CC-11D14CD0CAA5}"/>
              </a:ext>
            </a:extLst>
          </p:cNvPr>
          <p:cNvSpPr txBox="1"/>
          <p:nvPr/>
        </p:nvSpPr>
        <p:spPr>
          <a:xfrm>
            <a:off x="1736169" y="5310045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O+A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8DBAAF-86BB-8541-9D19-6B9E112F5DBB}"/>
              </a:ext>
            </a:extLst>
          </p:cNvPr>
          <p:cNvSpPr txBox="1"/>
          <p:nvPr/>
        </p:nvSpPr>
        <p:spPr>
          <a:xfrm>
            <a:off x="6861967" y="5471409"/>
            <a:ext cx="15269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PLT(O+A)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7222F65-A515-46A4-92A3-F7943D5A9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29" y="0"/>
            <a:ext cx="9109771" cy="13255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Image Enhancement by Combination of Smoothing, Laplacian, Sobel and PLT </a:t>
            </a:r>
            <a:br>
              <a:rPr lang="en-US" altLang="tr-TR" dirty="0"/>
            </a:br>
            <a:endParaRPr lang="tr-TR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6" name="Picture 3">
            <a:extLst>
              <a:ext uri="{FF2B5EF4-FFF2-40B4-BE49-F238E27FC236}">
                <a16:creationId xmlns:a16="http://schemas.microsoft.com/office/drawing/2014/main" id="{E698D79C-56EB-B141-8E69-0672DB5FD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475" y="1558925"/>
            <a:ext cx="5289550" cy="5097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11BA32-E7D2-4786-83E3-90291D76F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tr-TR" dirty="0">
                <a:solidFill>
                  <a:srgbClr val="FF0000"/>
                </a:solidFill>
                <a:latin typeface="Verdana" panose="020B0604030504040204" pitchFamily="34" charset="0"/>
              </a:rPr>
              <a:t>Image Enhancement with Composite Laplacian Masks</a:t>
            </a:r>
            <a:br>
              <a:rPr lang="en-US" altLang="tr-TR" dirty="0"/>
            </a:br>
            <a:endParaRPr lang="tr-TR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Text Box 2">
            <a:extLst>
              <a:ext uri="{FF2B5EF4-FFF2-40B4-BE49-F238E27FC236}">
                <a16:creationId xmlns:a16="http://schemas.microsoft.com/office/drawing/2014/main" id="{622EC187-8085-024C-AD4F-52BFD8B9C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4663" y="385763"/>
            <a:ext cx="5651500" cy="822325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folHlink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US" altLang="tr-TR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pPr algn="ctr">
              <a:defRPr/>
            </a:pPr>
            <a:r>
              <a:rPr lang="en-US" altLang="tr-TR">
                <a:solidFill>
                  <a:srgbClr val="FF0000"/>
                </a:solidFill>
                <a:latin typeface="Verdana" panose="020B0604030504040204" pitchFamily="34" charset="0"/>
              </a:rPr>
              <a:t>Image Enhancement with Laplacian</a:t>
            </a:r>
            <a:endParaRPr lang="en-US" altLang="tr-TR"/>
          </a:p>
        </p:txBody>
      </p:sp>
      <p:pic>
        <p:nvPicPr>
          <p:cNvPr id="126978" name="Picture 3">
            <a:extLst>
              <a:ext uri="{FF2B5EF4-FFF2-40B4-BE49-F238E27FC236}">
                <a16:creationId xmlns:a16="http://schemas.microsoft.com/office/drawing/2014/main" id="{3EE3B41C-92FB-3C47-A3B9-3D9CE3BC9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592263"/>
            <a:ext cx="6302375" cy="469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ext Box 2">
            <a:extLst>
              <a:ext uri="{FF2B5EF4-FFF2-40B4-BE49-F238E27FC236}">
                <a16:creationId xmlns:a16="http://schemas.microsoft.com/office/drawing/2014/main" id="{364BF2C2-19FF-884F-9AF7-A9CC9AE77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4838" y="782638"/>
            <a:ext cx="3081337" cy="4572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chemeClr val="folHlink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altLang="tr-TR">
                <a:solidFill>
                  <a:srgbClr val="FF0000"/>
                </a:solidFill>
                <a:latin typeface="Verdana" panose="020B0604030504040204" pitchFamily="34" charset="0"/>
              </a:rPr>
              <a:t>Laplacian Operator</a:t>
            </a:r>
            <a:endParaRPr lang="en-US" altLang="tr-TR"/>
          </a:p>
        </p:txBody>
      </p:sp>
      <p:pic>
        <p:nvPicPr>
          <p:cNvPr id="125954" name="Picture 3">
            <a:extLst>
              <a:ext uri="{FF2B5EF4-FFF2-40B4-BE49-F238E27FC236}">
                <a16:creationId xmlns:a16="http://schemas.microsoft.com/office/drawing/2014/main" id="{9857A269-CB73-684A-A41D-7C250C22A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274" y="1505497"/>
            <a:ext cx="5629275" cy="522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8F7582-1D13-A749-B33D-7922457C2949}"/>
              </a:ext>
            </a:extLst>
          </p:cNvPr>
          <p:cNvSpPr txBox="1"/>
          <p:nvPr/>
        </p:nvSpPr>
        <p:spPr>
          <a:xfrm>
            <a:off x="6792549" y="5156616"/>
            <a:ext cx="16081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Original+</a:t>
            </a:r>
          </a:p>
          <a:p>
            <a:r>
              <a:rPr lang="en-US" dirty="0" err="1"/>
              <a:t>c.Laplacian</a:t>
            </a:r>
            <a:endParaRPr 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Date Placeholder 3">
            <a:extLst>
              <a:ext uri="{FF2B5EF4-FFF2-40B4-BE49-F238E27FC236}">
                <a16:creationId xmlns:a16="http://schemas.microsoft.com/office/drawing/2014/main" id="{A3F4A188-3775-324E-8A25-D43283F4D2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C68820A-1126-574E-911A-AA04E8339F73}" type="datetime1">
              <a:rPr lang="en-US" altLang="tr-TR" smtClean="0"/>
              <a:pPr/>
              <a:t>10/27/2022</a:t>
            </a:fld>
            <a:endParaRPr lang="en-US" altLang="tr-TR"/>
          </a:p>
        </p:txBody>
      </p:sp>
      <p:sp>
        <p:nvSpPr>
          <p:cNvPr id="83971" name="Slide Number Placeholder 5">
            <a:extLst>
              <a:ext uri="{FF2B5EF4-FFF2-40B4-BE49-F238E27FC236}">
                <a16:creationId xmlns:a16="http://schemas.microsoft.com/office/drawing/2014/main" id="{6B732440-B3D8-B745-B0B4-9DB29E34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2D60465-916C-074C-8280-129F1014E5D8}" type="slidenum">
              <a:rPr lang="en-US" altLang="tr-TR"/>
              <a:pPr/>
              <a:t>70</a:t>
            </a:fld>
            <a:endParaRPr lang="en-US" altLang="tr-TR"/>
          </a:p>
        </p:txBody>
      </p:sp>
      <p:pic>
        <p:nvPicPr>
          <p:cNvPr id="83972" name="Picture 4">
            <a:extLst>
              <a:ext uri="{FF2B5EF4-FFF2-40B4-BE49-F238E27FC236}">
                <a16:creationId xmlns:a16="http://schemas.microsoft.com/office/drawing/2014/main" id="{1258EA08-41FA-3649-98DC-54917D8C1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0345" y="857250"/>
            <a:ext cx="297061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973" name="Picture 5">
            <a:extLst>
              <a:ext uri="{FF2B5EF4-FFF2-40B4-BE49-F238E27FC236}">
                <a16:creationId xmlns:a16="http://schemas.microsoft.com/office/drawing/2014/main" id="{0A6D5955-60F8-3640-BB76-C48A93C0C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945" y="1063230"/>
            <a:ext cx="1616869" cy="398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757847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89C6-A323-4B03-934B-C31CF0518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dirty="0"/>
              <a:t>Quiz: 4</a:t>
            </a:r>
            <a:br>
              <a:rPr lang="en-US" sz="2700" dirty="0"/>
            </a:br>
            <a:r>
              <a:rPr lang="en-US" sz="1800" dirty="0"/>
              <a:t>Find the equalized histogram and the corresponding image of the following 3 bits/pixel image:</a:t>
            </a:r>
            <a:endParaRPr lang="tr-TR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EC26EA-5035-4151-AE16-2F20A4342A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f(</a:t>
                </a:r>
                <a:r>
                  <a:rPr lang="en-US" dirty="0" err="1"/>
                  <a:t>x,y</a:t>
                </a:r>
                <a:r>
                  <a:rPr lang="en-US" dirty="0"/>
                  <a:t>) = 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tr-TR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1     1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2     3</m:t>
                          </m:r>
                        </m:e>
                      </m:mr>
                      <m:m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eqArr>
                        </m:e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3     3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3     4</m:t>
                              </m:r>
                            </m:e>
                          </m:eqArr>
                        </m:e>
                      </m:mr>
                    </m:m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    </a:t>
                </a:r>
                <a:endParaRPr lang="tr-T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EC26EA-5035-4151-AE16-2F20A4342A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351191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616A6-4D3B-450D-9593-B682118B4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Quiz#5  Convolute the following 256x256 image with a 3x3  mask:</a:t>
            </a:r>
            <a:endParaRPr lang="tr-TR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1E5735-CD87-4708-BDD9-EA8BF23F9C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0      ,    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𝑎𝑛𝑑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 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∈[0, 127]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15    ,    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∀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𝑎𝑛𝑑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128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255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     </m:t>
                    </m:r>
                    <m:m>
                      <m:mPr>
                        <m:plcHide m:val="on"/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mr>
                    </m:m>
                  </m:oMath>
                </a14:m>
                <a:endParaRPr lang="tr-T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1E5735-CD87-4708-BDD9-EA8BF23F9C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86256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sigma$&#10;\end{document}&#10;"/>
  <p:tag name="EXTERNALNAME" val="Edittex"/>
  <p:tag name="BLEND" val="False"/>
  <p:tag name="TRANSPARENT" val="False"/>
  <p:tag name="BITMAPFORMAT" val="bmpmono"/>
  <p:tag name="DEBUGINTERACTIVE" val="True"/>
  <p:tag name="ORIGWIDTH" val="4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sigma$&#10;\end{document}&#10;"/>
  <p:tag name="EXTERNALNAME" val="Edittex"/>
  <p:tag name="BLEND" val="False"/>
  <p:tag name="TRANSPARENT" val="False"/>
  <p:tag name="BITMAPFORMAT" val="bmpmono"/>
  <p:tag name="DEBUGINTERACTIVE" val="True"/>
  <p:tag name="ORIGWIDTH" val="4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sigma$&#10;\end{document}&#10;"/>
  <p:tag name="EXTERNALNAME" val="Edittex"/>
  <p:tag name="BLEND" val="False"/>
  <p:tag name="TRANSPARENT" val="False"/>
  <p:tag name="BITMAPFORMAT" val="bmpmono"/>
  <p:tag name="DEBUGINTERACTIVE" val="True"/>
  <p:tag name="ORIGWIDTH" val="4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sigma$&#10;\end{document}&#10;"/>
  <p:tag name="EXTERNALNAME" val="Edittex"/>
  <p:tag name="BLEND" val="False"/>
  <p:tag name="TRANSPARENT" val="False"/>
  <p:tag name="BITMAPFORMAT" val="bmpmono"/>
  <p:tag name="DEBUGINTERACTIVE" val="True"/>
  <p:tag name="ORIGWIDTH" val="4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12550</TotalTime>
  <Words>1979</Words>
  <Application>Microsoft Office PowerPoint</Application>
  <PresentationFormat>On-screen Show (4:3)</PresentationFormat>
  <Paragraphs>612</Paragraphs>
  <Slides>72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4" baseType="lpstr">
      <vt:lpstr>ＭＳ Ｐゴシック</vt:lpstr>
      <vt:lpstr>Arial</vt:lpstr>
      <vt:lpstr>Calibri</vt:lpstr>
      <vt:lpstr>Calibri Light</vt:lpstr>
      <vt:lpstr>Cambria Math</vt:lpstr>
      <vt:lpstr>Comic Sans MS</vt:lpstr>
      <vt:lpstr>Symbol</vt:lpstr>
      <vt:lpstr>Tahoma</vt:lpstr>
      <vt:lpstr>Times New Roman</vt:lpstr>
      <vt:lpstr>Verdana</vt:lpstr>
      <vt:lpstr>Office Theme</vt:lpstr>
      <vt:lpstr>Equation</vt:lpstr>
      <vt:lpstr>Week 5: Spatial Filters for Image Enhancement</vt:lpstr>
      <vt:lpstr>Image Enhancement in Space Domain</vt:lpstr>
      <vt:lpstr>What is image filtering?</vt:lpstr>
      <vt:lpstr>Human brain hierarchically unifies the signals to create meaning</vt:lpstr>
      <vt:lpstr>How do we unify signals to extract meanings, algorithmically?</vt:lpstr>
      <vt:lpstr>Linear Filters: </vt:lpstr>
      <vt:lpstr>Filter design </vt:lpstr>
      <vt:lpstr>Select the origin for image and filter</vt:lpstr>
      <vt:lpstr>2-D Convolution</vt:lpstr>
      <vt:lpstr> Convolution with averaging filters</vt:lpstr>
      <vt:lpstr>Convolution with averaging filters</vt:lpstr>
      <vt:lpstr>Practical implementation of Convolution</vt:lpstr>
      <vt:lpstr>What is convolution realy?</vt:lpstr>
      <vt:lpstr>Example: One-dimensional Convolution  What is the amount of filter function in a particular time instance  of the input function?</vt:lpstr>
      <vt:lpstr>Example: One-dimensional convolution The amount of filter function in the input function</vt:lpstr>
      <vt:lpstr>PowerPoint Presentation</vt:lpstr>
      <vt:lpstr>Application : TV Remote Control by Normalized correlation</vt:lpstr>
      <vt:lpstr>Application: TV Remote Control</vt:lpstr>
      <vt:lpstr>Application : TV Remote Control (cont’d)</vt:lpstr>
      <vt:lpstr>Application : TV Remote Control (cont’d)</vt:lpstr>
      <vt:lpstr>Application : TV Remote Control (cont’d)</vt:lpstr>
      <vt:lpstr>Application : TV Remote Control (cont’d)</vt:lpstr>
      <vt:lpstr>Two major types of filters</vt:lpstr>
      <vt:lpstr>1.1. Smoothing Filters: Averaging</vt:lpstr>
      <vt:lpstr>Output of Averaging filters: Removes noise while blurs. </vt:lpstr>
      <vt:lpstr>PowerPoint Presentation</vt:lpstr>
      <vt:lpstr>PowerPoint Presentation</vt:lpstr>
      <vt:lpstr>1.2.Gaussian Filters for Smoothing</vt:lpstr>
      <vt:lpstr>Need to sample and quantize the Gaussian function</vt:lpstr>
      <vt:lpstr>1.2. Sampling and quantization of the filter</vt:lpstr>
      <vt:lpstr>1.2. Gaussian Filters for Smoothing</vt:lpstr>
      <vt:lpstr>Gaussian Smoothing - Example</vt:lpstr>
      <vt:lpstr>Averaging vs Gaussian Smoothing</vt:lpstr>
      <vt:lpstr>1.3 Nonlinear Smoothing Filters: Median Filters</vt:lpstr>
      <vt:lpstr>Median Filtering</vt:lpstr>
      <vt:lpstr>Median Filtering removes sand like noise</vt:lpstr>
      <vt:lpstr>Median filter is a nonlinear filter</vt:lpstr>
      <vt:lpstr>Median filtering breaks the straight lines</vt:lpstr>
      <vt:lpstr>Median filtering breaks the straight lines</vt:lpstr>
      <vt:lpstr>2. Sharpening Filters: Edge detectors</vt:lpstr>
      <vt:lpstr>EDGE PROFILES  </vt:lpstr>
      <vt:lpstr>Mathematical Representation of  Edge </vt:lpstr>
      <vt:lpstr>Gradient of continuous functions, f(x,y):  First derivative</vt:lpstr>
      <vt:lpstr>Laplacian of a continuous function, f(x,y): Second derivative</vt:lpstr>
      <vt:lpstr>Example:  Find the Gradient and Laplacian of the following function:  f(x,y) = 1/4 x^2 〖 +  1/9 y〗^2 +2</vt:lpstr>
      <vt:lpstr>Example:  Find the Gradient and Laplacian of the following function:  f(x,y) = 1/4 x^2 〖 +  1/9 y〗^2 +2</vt:lpstr>
      <vt:lpstr>Edge, Gradient, Laplacian</vt:lpstr>
      <vt:lpstr>Gradient and Laplacian of , Smooth and Noisy Edges</vt:lpstr>
      <vt:lpstr>First Difference Operation Approximates Gradient for Discrete Functions</vt:lpstr>
      <vt:lpstr>PowerPoint Presentation</vt:lpstr>
      <vt:lpstr>How to use convolution to approximate the first derivative</vt:lpstr>
      <vt:lpstr>2x2 Gradient Edge Masks:  Approximation in discrete grid Roberts mask for detecting diagonal edges</vt:lpstr>
      <vt:lpstr>3x3 Gradient Edge Masks</vt:lpstr>
      <vt:lpstr>Sobel Edge Detector as a  Discrete Gradient Operator</vt:lpstr>
      <vt:lpstr>Edge Detection by Vertical and Horizontal  Gradient Operators  </vt:lpstr>
      <vt:lpstr>Diagonal Edge Detection by Vertical and Horizontal Gradient operators </vt:lpstr>
      <vt:lpstr>Edge detection after Smoothing with  Vertical and Horizontal Gradient filters </vt:lpstr>
      <vt:lpstr>Edge Detection after Smoothing with  Diagonal Gradient filters</vt:lpstr>
      <vt:lpstr>LAPLACIAN MASKS:  Approximation of second derivative filters</vt:lpstr>
      <vt:lpstr>Sharpening  Filters: Laplace Operator</vt:lpstr>
      <vt:lpstr>Laplacian of Gaussian Filters:  Second derivative of Gaussian Function</vt:lpstr>
      <vt:lpstr>LAPLACIAN of GAUSSIAN EDGE MASKS Second derivative of the Gaussian function</vt:lpstr>
      <vt:lpstr>LoG for 9x9 discrete grid</vt:lpstr>
      <vt:lpstr>Edge Detection  in Radiological  Images</vt:lpstr>
      <vt:lpstr>Image Enhancement with Laplacian and Sobel </vt:lpstr>
      <vt:lpstr>Image Enhancement by Combination of Smoothing, Laplacian, Sobel and PLT  </vt:lpstr>
      <vt:lpstr>Image Enhancement with Composite Laplacian Masks </vt:lpstr>
      <vt:lpstr>PowerPoint Presentation</vt:lpstr>
      <vt:lpstr>PowerPoint Presentation</vt:lpstr>
      <vt:lpstr>PowerPoint Presentation</vt:lpstr>
      <vt:lpstr>Quiz: 4 Find the equalized histogram and the corresponding image of the following 3 bits/pixel image:</vt:lpstr>
      <vt:lpstr>Quiz#5  Convolute the following 256x256 image with a 3x3  mask: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Gonzalez</dc:creator>
  <cp:lastModifiedBy>Fatos</cp:lastModifiedBy>
  <cp:revision>175</cp:revision>
  <dcterms:created xsi:type="dcterms:W3CDTF">2001-12-06T17:51:11Z</dcterms:created>
  <dcterms:modified xsi:type="dcterms:W3CDTF">2022-10-28T09:46:12Z</dcterms:modified>
</cp:coreProperties>
</file>