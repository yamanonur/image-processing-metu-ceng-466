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375" r:id="rId14"/>
    <p:sldId id="366" r:id="rId15"/>
    <p:sldId id="272" r:id="rId16"/>
    <p:sldId id="368" r:id="rId17"/>
    <p:sldId id="369" r:id="rId18"/>
    <p:sldId id="273" r:id="rId19"/>
    <p:sldId id="274" r:id="rId20"/>
    <p:sldId id="277" r:id="rId21"/>
    <p:sldId id="275" r:id="rId22"/>
    <p:sldId id="276" r:id="rId23"/>
    <p:sldId id="278" r:id="rId24"/>
    <p:sldId id="282" r:id="rId25"/>
    <p:sldId id="283" r:id="rId26"/>
    <p:sldId id="284" r:id="rId27"/>
    <p:sldId id="371" r:id="rId28"/>
    <p:sldId id="286" r:id="rId29"/>
    <p:sldId id="292" r:id="rId30"/>
    <p:sldId id="294" r:id="rId31"/>
    <p:sldId id="299" r:id="rId32"/>
    <p:sldId id="295" r:id="rId33"/>
    <p:sldId id="296" r:id="rId34"/>
    <p:sldId id="297" r:id="rId35"/>
    <p:sldId id="307" r:id="rId36"/>
    <p:sldId id="308" r:id="rId37"/>
    <p:sldId id="309" r:id="rId38"/>
    <p:sldId id="320" r:id="rId39"/>
    <p:sldId id="310" r:id="rId40"/>
    <p:sldId id="311" r:id="rId41"/>
    <p:sldId id="314" r:id="rId42"/>
    <p:sldId id="374" r:id="rId43"/>
    <p:sldId id="316" r:id="rId44"/>
    <p:sldId id="322" r:id="rId45"/>
    <p:sldId id="323" r:id="rId46"/>
    <p:sldId id="324" r:id="rId47"/>
    <p:sldId id="325" r:id="rId48"/>
    <p:sldId id="326" r:id="rId49"/>
    <p:sldId id="327" r:id="rId50"/>
    <p:sldId id="329" r:id="rId51"/>
    <p:sldId id="330" r:id="rId52"/>
    <p:sldId id="331" r:id="rId53"/>
    <p:sldId id="333" r:id="rId54"/>
    <p:sldId id="334" r:id="rId55"/>
    <p:sldId id="335" r:id="rId56"/>
    <p:sldId id="336" r:id="rId57"/>
    <p:sldId id="337" r:id="rId58"/>
    <p:sldId id="338" r:id="rId59"/>
    <p:sldId id="339" r:id="rId60"/>
    <p:sldId id="372" r:id="rId61"/>
    <p:sldId id="341" r:id="rId62"/>
    <p:sldId id="342" r:id="rId63"/>
  </p:sldIdLst>
  <p:sldSz cx="9144000" cy="6858000" type="screen4x3"/>
  <p:notesSz cx="7010400" cy="9236075"/>
  <p:embeddedFontLst>
    <p:embeddedFont>
      <p:font typeface="Calibri" panose="020F0502020204030204" pitchFamily="34" charset="0"/>
      <p:regular r:id="rId65"/>
      <p:bold r:id="rId66"/>
      <p:italic r:id="rId67"/>
      <p:boldItalic r:id="rId68"/>
    </p:embeddedFont>
    <p:embeddedFont>
      <p:font typeface="Cambria Math" panose="02040503050406030204" pitchFamily="18" charset="0"/>
      <p:regular r:id="rId69"/>
    </p:embeddedFont>
    <p:embeddedFont>
      <p:font typeface="Lato" panose="020B0604020202020204" charset="0"/>
      <p:regular r:id="rId70"/>
      <p:bold r:id="rId71"/>
      <p:italic r:id="rId72"/>
      <p:boldItalic r:id="rId73"/>
    </p:embeddedFont>
    <p:embeddedFont>
      <p:font typeface="Tahoma" panose="020B0604030504040204" pitchFamily="34" charset="0"/>
      <p:regular r:id="rId74"/>
      <p:bold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7" roundtripDataSignature="AMtx7mjGiMy+ADFG8FM9hnvZ4EprHqPk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303" autoAdjust="0"/>
  </p:normalViewPr>
  <p:slideViewPr>
    <p:cSldViewPr snapToGrid="0">
      <p:cViewPr>
        <p:scale>
          <a:sx n="80" d="100"/>
          <a:sy n="80" d="100"/>
        </p:scale>
        <p:origin x="1466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32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font" Target="fonts/font10.fntdata"/><Relationship Id="rId128" Type="http://schemas.openxmlformats.org/officeDocument/2006/relationships/presProps" Target="presProps.xml"/><Relationship Id="rId131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12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2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13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3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4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7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22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23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" name="Google Shape;29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29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31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35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6:notes"/>
          <p:cNvSpPr txBox="1"/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36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2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38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9:notes"/>
          <p:cNvSpPr txBox="1"/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39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0:notes"/>
          <p:cNvSpPr txBox="1"/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40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1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51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a92266c094_0_6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ga92266c09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ga92266c094_0_66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200" cy="4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a92266c094_0_103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ga92266c09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ga92266c094_0_103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200" cy="4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:notes"/>
          <p:cNvSpPr txBox="1"/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52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3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2" name="Google Shape;55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56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8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0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1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2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3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5" name="Google Shape;705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706" name="Google Shape;706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13" name="Google Shape;713;p65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65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6471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7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8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9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1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5" name="Google Shape;755;p71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2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6" name="Google Shape;766;p72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3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6" name="Google Shape;77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7" name="Google Shape;777;p73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4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8" name="Google Shape;788;p74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5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6" name="Google Shape;796;p75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4" name="Google Shape;804;p76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7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3" name="Google Shape;813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77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a92266c094_0_103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2" name="Google Shape;642;ga92266c09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ga92266c094_0_103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200" cy="4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5942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1" name="Google Shape;831;p79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80:notes"/>
          <p:cNvSpPr txBox="1"/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8" name="Google Shape;838;p80:notes"/>
          <p:cNvSpPr txBox="1">
            <a:spLocks noGrp="1"/>
          </p:cNvSpPr>
          <p:nvPr>
            <p:ph type="body" idx="1"/>
          </p:nvPr>
        </p:nvSpPr>
        <p:spPr>
          <a:xfrm>
            <a:off x="935038" y="4387850"/>
            <a:ext cx="5140325" cy="41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9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9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10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1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4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2" name="Google Shape;52;p11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1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4" name="Google Shape;54;p11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11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1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7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17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1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8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9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9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0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0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762000" y="1122363"/>
            <a:ext cx="7239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/>
              <a:t>Week 10: Image Compression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Hazal Mogultay and Fatoş Yarman Vural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1085544" y="365126"/>
            <a:ext cx="74298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Image Compression</a:t>
            </a:r>
            <a:endParaRPr dirty="0"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762000" y="1833689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Goal: Reduce the amount of </a:t>
            </a:r>
            <a:r>
              <a:rPr lang="en-US" sz="2400" b="1" dirty="0"/>
              <a:t>data</a:t>
            </a:r>
            <a:r>
              <a:rPr lang="en-US" sz="2400" dirty="0"/>
              <a:t> while preserving as much </a:t>
            </a:r>
            <a:r>
              <a:rPr lang="en-US" sz="2400" b="1" dirty="0"/>
              <a:t>information </a:t>
            </a:r>
            <a:r>
              <a:rPr lang="en-US" sz="2400" dirty="0"/>
              <a:t>as possible!</a:t>
            </a:r>
            <a:endParaRPr sz="2400" dirty="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822" y="3452643"/>
            <a:ext cx="7129386" cy="3040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1295400" y="365126"/>
            <a:ext cx="72199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3300"/>
            </a:pPr>
            <a:r>
              <a:rPr lang="en-US" sz="3600" dirty="0"/>
              <a:t>Hierarchy of Abstraction for Information Representation</a:t>
            </a:r>
            <a:endParaRPr dirty="0"/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628650" y="2367538"/>
            <a:ext cx="5947655" cy="380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 dirty="0"/>
              <a:t>Code: A set of symbols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 dirty="0"/>
              <a:t>Codeword: Sequence of symbols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 b="1" dirty="0"/>
              <a:t>Data: Collection of codewords to represent information 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 b="1" dirty="0"/>
              <a:t>Information: Meaning of data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lang="en-US" dirty="0"/>
              <a:t>		</a:t>
            </a:r>
            <a:endParaRPr u="sng" dirty="0"/>
          </a:p>
        </p:txBody>
      </p:sp>
      <p:grpSp>
        <p:nvGrpSpPr>
          <p:cNvPr id="105" name="Google Shape;105;p3"/>
          <p:cNvGrpSpPr/>
          <p:nvPr/>
        </p:nvGrpSpPr>
        <p:grpSpPr>
          <a:xfrm>
            <a:off x="5409981" y="2705950"/>
            <a:ext cx="3228265" cy="3508038"/>
            <a:chOff x="357808" y="0"/>
            <a:chExt cx="2385300" cy="3098700"/>
          </a:xfrm>
        </p:grpSpPr>
        <p:sp>
          <p:nvSpPr>
            <p:cNvPr id="106" name="Google Shape;106;p3"/>
            <p:cNvSpPr/>
            <p:nvPr/>
          </p:nvSpPr>
          <p:spPr>
            <a:xfrm>
              <a:off x="357808" y="0"/>
              <a:ext cx="2385300" cy="3098700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192695" y="310182"/>
              <a:ext cx="1550400" cy="550800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9800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1219581" y="337068"/>
              <a:ext cx="14967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imes New Roman"/>
                <a:buNone/>
              </a:pPr>
              <a:r>
                <a:rPr lang="en-US" sz="21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Information</a:t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2695" y="929791"/>
              <a:ext cx="1550400" cy="550800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9800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1219581" y="956677"/>
              <a:ext cx="14967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imes New Roman"/>
                <a:buNone/>
              </a:pPr>
              <a:r>
                <a:rPr lang="en-US" sz="21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</a:t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192695" y="1549399"/>
              <a:ext cx="1550400" cy="550800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9800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1219581" y="1576285"/>
              <a:ext cx="14967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imes New Roman"/>
                <a:buNone/>
              </a:pPr>
              <a:r>
                <a:rPr lang="en-US" sz="2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US" sz="21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odewords</a:t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192695" y="2169008"/>
              <a:ext cx="1550400" cy="550800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9800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1219581" y="2195894"/>
              <a:ext cx="14967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imes New Roman"/>
                <a:buNone/>
              </a:pPr>
              <a:r>
                <a:rPr lang="en-US" sz="21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Codes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268941" y="594948"/>
            <a:ext cx="85474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71450" lvl="0" indent="-171450" algn="ctr"/>
            <a:r>
              <a:rPr lang="en-US" sz="3200" dirty="0"/>
              <a:t>Although the concept of data and information are not the same, they are strongly related to each other.</a:t>
            </a:r>
            <a:r>
              <a:rPr lang="en-US" dirty="0"/>
              <a:t>	</a:t>
            </a:r>
            <a:endParaRPr dirty="0"/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628650" y="2484039"/>
            <a:ext cx="7886700" cy="3692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>
              <a:spcBef>
                <a:spcPts val="0"/>
              </a:spcBef>
              <a:buSzPts val="2100"/>
            </a:pPr>
            <a:r>
              <a:rPr lang="en-US" sz="2400" b="1" dirty="0"/>
              <a:t>Data</a:t>
            </a:r>
            <a:r>
              <a:rPr lang="en-US" sz="2400" dirty="0"/>
              <a:t> is defined as the collection of the codewords to represent the body of information.</a:t>
            </a:r>
          </a:p>
          <a:p>
            <a:pPr marL="171450" lvl="0" indent="-171450">
              <a:spcBef>
                <a:spcPts val="0"/>
              </a:spcBef>
              <a:buSzPts val="2100"/>
            </a:pPr>
            <a:endParaRPr lang="en-US" sz="2400" dirty="0">
              <a:solidFill>
                <a:srgbClr val="FF0000"/>
              </a:solidFill>
            </a:endParaRPr>
          </a:p>
          <a:p>
            <a:pPr marL="171450" lvl="0" indent="-171450">
              <a:spcBef>
                <a:spcPts val="0"/>
              </a:spcBef>
              <a:buSzPts val="2100"/>
            </a:pPr>
            <a:r>
              <a:rPr lang="en-US" sz="2400" dirty="0">
                <a:solidFill>
                  <a:srgbClr val="FF0000"/>
                </a:solidFill>
              </a:rPr>
              <a:t>Data</a:t>
            </a:r>
            <a:r>
              <a:rPr lang="en-US" sz="2400" b="1" dirty="0"/>
              <a:t> </a:t>
            </a:r>
            <a:r>
              <a:rPr lang="en-US" sz="2400" dirty="0"/>
              <a:t>is the means by which </a:t>
            </a:r>
            <a:r>
              <a:rPr lang="en-US" sz="2400" dirty="0">
                <a:solidFill>
                  <a:srgbClr val="FF0000"/>
                </a:solidFill>
              </a:rPr>
              <a:t>information</a:t>
            </a:r>
            <a:r>
              <a:rPr lang="en-US" sz="2400" dirty="0"/>
              <a:t> is conveyed.</a:t>
            </a:r>
          </a:p>
          <a:p>
            <a:pPr marL="0" lvl="0" indent="0">
              <a:spcBef>
                <a:spcPts val="0"/>
              </a:spcBef>
              <a:buSzPts val="2100"/>
              <a:buNone/>
            </a:pPr>
            <a:endParaRPr lang="en-US" sz="240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b="1" dirty="0"/>
              <a:t>Fact: </a:t>
            </a:r>
            <a:r>
              <a:rPr lang="en-US" sz="2400" dirty="0"/>
              <a:t>The amount of data to represent the same amount of information changes, depending on the predefined codes and codewords.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436322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Ex: Two types of data convey same information</a:t>
            </a:r>
            <a:endParaRPr dirty="0"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1"/>
          </p:nvPr>
        </p:nvSpPr>
        <p:spPr>
          <a:xfrm>
            <a:off x="440086" y="2341984"/>
            <a:ext cx="8475314" cy="41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/>
              <a:t>Al-Khwarizmi (X Century):</a:t>
            </a:r>
            <a:r>
              <a:rPr lang="en-US" sz="2400" dirty="0"/>
              <a:t> “Find a number such that, when you add its square to twice the number itself, the result is 34. “</a:t>
            </a:r>
            <a:endParaRPr sz="2400" dirty="0"/>
          </a:p>
          <a:p>
            <a:pPr marL="514350" lvl="1" indent="-17145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dirty="0"/>
              <a:t>Codes: Letters,</a:t>
            </a:r>
            <a:endParaRPr sz="2400" dirty="0"/>
          </a:p>
          <a:p>
            <a:pPr marL="514350" lvl="1" indent="-17145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dirty="0"/>
              <a:t>Codewords: Arabic words</a:t>
            </a:r>
            <a:endParaRPr sz="2400" dirty="0"/>
          </a:p>
          <a:p>
            <a:pPr marL="514350" lvl="1" indent="-17145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b="1" dirty="0"/>
              <a:t>Data: Sentence</a:t>
            </a:r>
          </a:p>
          <a:p>
            <a:pPr marL="514350" lvl="1" indent="-17145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b="1" dirty="0"/>
              <a:t>Information: Context of the sentence</a:t>
            </a:r>
          </a:p>
          <a:p>
            <a:pPr marL="342900" lvl="1" indent="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2400" b="1" dirty="0"/>
          </a:p>
          <a:p>
            <a:pPr marL="171450" lvl="0" indent="-171450" algn="l" rtl="0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/>
              <a:t>Rene Descartes (XVII Century) </a:t>
            </a: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:  x</a:t>
            </a:r>
            <a:r>
              <a:rPr lang="en-US" sz="2400" baseline="30000" dirty="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+2x=34.</a:t>
            </a:r>
            <a:endParaRPr sz="2400" dirty="0"/>
          </a:p>
          <a:p>
            <a:pPr marL="514350" lvl="1" indent="-17145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dirty="0"/>
              <a:t>Codes: Alphanumeric symbols</a:t>
            </a:r>
            <a:endParaRPr sz="2400" dirty="0"/>
          </a:p>
          <a:p>
            <a:pPr marL="514350" lvl="1" indent="-17145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dirty="0"/>
              <a:t>Codewords: Expressions</a:t>
            </a:r>
          </a:p>
          <a:p>
            <a:pPr marL="514350" lvl="1" indent="-17145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b="1" dirty="0"/>
              <a:t>Data: Equation</a:t>
            </a:r>
            <a:endParaRPr sz="2400" b="1" dirty="0"/>
          </a:p>
          <a:p>
            <a:pPr marL="514350" lvl="1" indent="-171450" algn="l" rtl="0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b="1" dirty="0"/>
              <a:t>Information: Context of equation</a:t>
            </a:r>
            <a:endParaRPr sz="2400" b="1" dirty="0"/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6800" y="225404"/>
            <a:ext cx="27432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0" y="163819"/>
            <a:ext cx="1295400" cy="1594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US" sz="3600" dirty="0"/>
              <a:t>The key question in image compression: </a:t>
            </a:r>
            <a:br>
              <a:rPr lang="en-US" dirty="0"/>
            </a:br>
            <a:endParaRPr lang="en-US" sz="3600" dirty="0"/>
          </a:p>
        </p:txBody>
      </p:sp>
      <p:sp>
        <p:nvSpPr>
          <p:cNvPr id="141" name="Google Shape;141;p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171450" indent="-19050">
              <a:buSzPts val="2400"/>
              <a:buNone/>
            </a:pPr>
            <a:r>
              <a:rPr lang="en-US" sz="2400" dirty="0"/>
              <a:t>What is the minimum </a:t>
            </a:r>
            <a:r>
              <a:rPr lang="en-US" sz="2400" b="1" dirty="0">
                <a:solidFill>
                  <a:srgbClr val="385623"/>
                </a:solidFill>
              </a:rPr>
              <a:t>amount of data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/>
              <a:t>that is sufficient to describe completely an image </a:t>
            </a:r>
            <a:r>
              <a:rPr lang="en-US" sz="2400" dirty="0">
                <a:solidFill>
                  <a:srgbClr val="FF0000"/>
                </a:solidFill>
              </a:rPr>
              <a:t>without </a:t>
            </a:r>
            <a:r>
              <a:rPr lang="en-US" sz="2400" b="1" dirty="0">
                <a:solidFill>
                  <a:srgbClr val="FF0000"/>
                </a:solidFill>
              </a:rPr>
              <a:t>loss of information</a:t>
            </a:r>
            <a:r>
              <a:rPr lang="en-US" sz="2400" dirty="0"/>
              <a:t>?</a:t>
            </a:r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How do we measure the </a:t>
            </a:r>
            <a:r>
              <a:rPr lang="en-US" sz="2400" b="1" dirty="0">
                <a:solidFill>
                  <a:srgbClr val="385623"/>
                </a:solidFill>
              </a:rPr>
              <a:t>information content </a:t>
            </a:r>
            <a:r>
              <a:rPr lang="en-US" sz="2400" dirty="0"/>
              <a:t>of an image?</a:t>
            </a:r>
            <a:endParaRPr dirty="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 dirty="0"/>
              <a:t>Information- Inform-</a:t>
            </a:r>
            <a:r>
              <a:rPr lang="en-US" dirty="0" err="1"/>
              <a:t>Informatio</a:t>
            </a:r>
            <a:r>
              <a:rPr lang="en-US" dirty="0"/>
              <a:t>-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”To give form to the mind”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Information Theory (Shannon, 1948)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Google Shape;153;p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76263" y="1825625"/>
                <a:ext cx="8186737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71450" lvl="0" indent="-17145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/>
                  <a:t>Define a probabilistic event, </a:t>
                </a:r>
                <a:r>
                  <a:rPr lang="en-US" sz="2400" b="1" dirty="0">
                    <a:latin typeface="Cambria Math"/>
                    <a:ea typeface="Cambria Math"/>
                    <a:cs typeface="Cambria Math"/>
                    <a:sym typeface="Cambria Math"/>
                  </a:rPr>
                  <a:t>E</a:t>
                </a:r>
                <a:r>
                  <a:rPr lang="en-US" sz="2400" dirty="0"/>
                  <a:t> , by  two tuples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sz="2400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𝒙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, 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𝒑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𝒙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  <a:p>
                <a:pPr marL="171450" lvl="0" indent="-1714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/>
                  <a:t>Random Variable, </a:t>
                </a:r>
                <a:r>
                  <a:rPr lang="en-US" sz="2400" b="1" dirty="0">
                    <a:latin typeface="Cambria Math"/>
                    <a:ea typeface="Cambria Math"/>
                    <a:cs typeface="Cambria Math"/>
                    <a:sym typeface="Cambria Math"/>
                  </a:rPr>
                  <a:t>x</a:t>
                </a:r>
                <a:endParaRPr lang="en-US" sz="2400" b="1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sz="2400" dirty="0">
                    <a:latin typeface="Cambria Math"/>
                    <a:ea typeface="Cambria Math"/>
                    <a:cs typeface="Cambria Math"/>
                    <a:sym typeface="Cambria Math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: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𝐸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          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171450" lvl="0" indent="-190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sz="2400" dirty="0"/>
              </a:p>
              <a:p>
                <a:pPr marL="171450" lvl="0" indent="-1714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b="1" dirty="0"/>
                  <a:t>Assumption: </a:t>
                </a:r>
                <a:r>
                  <a:rPr lang="en-US" sz="2400" dirty="0"/>
                  <a:t>Information can be considered as</a:t>
                </a:r>
              </a:p>
              <a:p>
                <a:pPr marL="514350" lvl="1" indent="-1714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/>
                  <a:t>degree of </a:t>
                </a:r>
                <a:r>
                  <a:rPr lang="en-US" sz="2400" b="1" dirty="0"/>
                  <a:t>uncertainty</a:t>
                </a:r>
                <a:r>
                  <a:rPr lang="en-US" sz="2400" dirty="0"/>
                  <a:t> to be resolved  embedded in event, </a:t>
                </a:r>
                <a:r>
                  <a:rPr lang="en-US" sz="2400" b="1" dirty="0">
                    <a:latin typeface="Cambria Math"/>
                    <a:ea typeface="Cambria Math"/>
                    <a:cs typeface="Cambria Math"/>
                    <a:sym typeface="Cambria Math"/>
                  </a:rPr>
                  <a:t>E.</a:t>
                </a:r>
                <a:endParaRPr lang="en-US" sz="2400" dirty="0"/>
              </a:p>
              <a:p>
                <a:pPr marL="514350" lvl="1" indent="-171450">
                  <a:buSzPts val="2400"/>
                </a:pPr>
                <a:endParaRPr lang="en-US" sz="2400" dirty="0"/>
              </a:p>
              <a:p>
                <a:pPr marL="514350" lvl="1" indent="-171450">
                  <a:buSzPts val="2400"/>
                </a:pPr>
                <a:r>
                  <a:rPr lang="en-US" sz="2400" dirty="0"/>
                  <a:t>Uncertainty is defined as the </a:t>
                </a:r>
                <a:r>
                  <a:rPr lang="en-US" sz="2400" b="1" dirty="0"/>
                  <a:t>limited knowledge</a:t>
                </a:r>
                <a:r>
                  <a:rPr lang="en-US" sz="2400" dirty="0"/>
                  <a:t> about the outcome of a probabilistic event.</a:t>
                </a:r>
              </a:p>
              <a:p>
                <a:pPr marL="342900" lvl="1" indent="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sz="2400" dirty="0"/>
              </a:p>
            </p:txBody>
          </p:sp>
        </mc:Choice>
        <mc:Fallback>
          <p:sp>
            <p:nvSpPr>
              <p:cNvPr id="153" name="Google Shape;153;p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6263" y="1825625"/>
                <a:ext cx="8186737" cy="4351338"/>
              </a:xfrm>
              <a:prstGeom prst="rect">
                <a:avLst/>
              </a:prstGeom>
              <a:blipFill>
                <a:blip r:embed="rId3"/>
                <a:stretch>
                  <a:fillRect l="-1042" t="-2241" r="-1117" b="-12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Google Shape;154;p9"/>
          <p:cNvCxnSpPr/>
          <p:nvPr/>
        </p:nvCxnSpPr>
        <p:spPr>
          <a:xfrm>
            <a:off x="4158343" y="3562888"/>
            <a:ext cx="45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628649" y="365126"/>
            <a:ext cx="8433707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089" b="-3809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pic>
        <p:nvPicPr>
          <p:cNvPr id="167" name="Google Shape;167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295400" y="1701575"/>
            <a:ext cx="49784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/>
          <p:nvPr/>
        </p:nvSpPr>
        <p:spPr>
          <a:xfrm>
            <a:off x="1447800" y="5181600"/>
            <a:ext cx="4217950" cy="9161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201369" b="-2916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333588" y="4724400"/>
            <a:ext cx="497839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of sun rising from the east: </a:t>
            </a:r>
            <a:endParaRPr dirty="0"/>
          </a:p>
        </p:txBody>
      </p:sp>
      <p:pic>
        <p:nvPicPr>
          <p:cNvPr id="6" name="Google Shape;161;p10">
            <a:extLst>
              <a:ext uri="{FF2B5EF4-FFF2-40B4-BE49-F238E27FC236}">
                <a16:creationId xmlns:a16="http://schemas.microsoft.com/office/drawing/2014/main" id="{1F2B0D63-AE41-43B0-AFC0-F291ACDD10F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01442" y="4646160"/>
            <a:ext cx="2960913" cy="215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Google Shape;174;p12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28650" y="365126"/>
                <a:ext cx="7886700" cy="16922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300"/>
                  <a:buFont typeface="Calibri"/>
                  <a:buNone/>
                </a:pPr>
                <a:r>
                  <a:rPr lang="en-US" b="1" dirty="0"/>
                  <a:t>Information, as degree of uncertainty to be resolved,</a:t>
                </a:r>
                <a:r>
                  <a:rPr lang="en-US" dirty="0"/>
                  <a:t> can be measured by a </a:t>
                </a:r>
                <a:r>
                  <a:rPr lang="en-US" b="1" dirty="0"/>
                  <a:t>function</a:t>
                </a:r>
                <a:r>
                  <a:rPr lang="en-US" dirty="0"/>
                  <a:t> of the probability density function, 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𝒑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)</m:t>
                    </m:r>
                  </m:oMath>
                </a14:m>
                <a:endParaRPr b="1" dirty="0">
                  <a:latin typeface="Cambria Math"/>
                  <a:ea typeface="Cambria Math"/>
                  <a:cs typeface="Cambria Math"/>
                  <a:sym typeface="Cambria Math"/>
                </a:endParaRPr>
              </a:p>
            </p:txBody>
          </p:sp>
        </mc:Choice>
        <mc:Fallback>
          <p:sp>
            <p:nvSpPr>
              <p:cNvPr id="174" name="Google Shape;174;p1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365126"/>
                <a:ext cx="7886700" cy="1692274"/>
              </a:xfrm>
              <a:prstGeom prst="rect">
                <a:avLst/>
              </a:prstGeom>
              <a:blipFill>
                <a:blip r:embed="rId3"/>
                <a:stretch>
                  <a:fillRect l="-2087" t="-719" r="-1082" b="-53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Google Shape;175;p1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2590799"/>
                <a:ext cx="7886700" cy="3586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71450" lvl="0" indent="-17145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Find a function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𝒑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𝒙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)</m:t>
                    </m:r>
                  </m:oMath>
                </a14:m>
                <a:r>
                  <a:rPr lang="en-US" sz="2400" b="1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, such that it is</a:t>
                </a:r>
                <a:endParaRPr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85838" lvl="1" indent="-5302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intuitively correct, </a:t>
                </a:r>
                <a:endParaRPr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85838" lvl="1" indent="-5302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positive quantity</a:t>
                </a:r>
                <a:endParaRPr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85838" lvl="1" indent="-530225">
                  <a:buSzPts val="2400"/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monotonically nondecreasing function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𝒑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𝒙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Cambria Math"/>
                        <a:cs typeface="Calibri" panose="020F0502020204030204" pitchFamily="34" charset="0"/>
                        <a:sym typeface="Cambria Math"/>
                      </a:rPr>
                      <m:t>)</m:t>
                    </m:r>
                  </m:oMath>
                </a14:m>
                <a:endParaRPr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1" indent="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71450" lvl="0" indent="-381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</p:txBody>
          </p:sp>
        </mc:Choice>
        <mc:Fallback>
          <p:sp>
            <p:nvSpPr>
              <p:cNvPr id="175" name="Google Shape;175;p1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2590799"/>
                <a:ext cx="7886700" cy="3586163"/>
              </a:xfrm>
              <a:prstGeom prst="rect">
                <a:avLst/>
              </a:prstGeom>
              <a:blipFill>
                <a:blip r:embed="rId4"/>
                <a:stretch>
                  <a:fillRect l="-773" t="-23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Google Shape;180;p13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28650" y="365126"/>
                <a:ext cx="7886700" cy="1325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300"/>
                  <a:buFont typeface="Calibri"/>
                  <a:buNone/>
                </a:pPr>
                <a:r>
                  <a:rPr lang="en-US" dirty="0"/>
                  <a:t>Self Information: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𝑰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(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𝒙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) =    −</m:t>
                    </m:r>
                    <m:r>
                      <m:rPr>
                        <m:sty m:val="p"/>
                      </m:rPr>
                      <a:rPr lang="en-US" sz="3600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log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⁡(</m:t>
                    </m:r>
                    <m:r>
                      <a:rPr lang="en-US" sz="3600" b="1" i="1" dirty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𝑷</m:t>
                    </m:r>
                    <m:r>
                      <a:rPr lang="en-US" sz="3600" b="1" i="1" dirty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(</m:t>
                    </m:r>
                    <m:r>
                      <a:rPr lang="en-US" sz="3600" b="1" i="1" dirty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𝒙</m:t>
                    </m:r>
                    <m:r>
                      <a:rPr lang="en-US" sz="3600" b="1" i="1" dirty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))  </m:t>
                    </m:r>
                  </m:oMath>
                </a14:m>
                <a:br>
                  <a:rPr lang="en-US" sz="3600" dirty="0"/>
                </a:br>
                <a:endParaRPr dirty="0"/>
              </a:p>
            </p:txBody>
          </p:sp>
        </mc:Choice>
        <mc:Fallback xmlns="">
          <p:sp>
            <p:nvSpPr>
              <p:cNvPr id="180" name="Google Shape;180;p1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365126"/>
                <a:ext cx="7886700" cy="1325563"/>
              </a:xfrm>
              <a:prstGeom prst="rect">
                <a:avLst/>
              </a:prstGeom>
              <a:blipFill>
                <a:blip r:embed="rId3"/>
                <a:stretch>
                  <a:fillRect l="-20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Google Shape;181;p1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28599" y="1393372"/>
                <a:ext cx="5272021" cy="47080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 lvl="1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endParaRPr lang="en-US" sz="2400" dirty="0"/>
              </a:p>
              <a:p>
                <a:pPr marL="514350" lvl="1" indent="-1714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/>
                  <a:t>Unit depends on the base of log:</a:t>
                </a:r>
                <a:endParaRPr lang="en-US" dirty="0"/>
              </a:p>
              <a:p>
                <a:pPr marL="857250" lvl="2" indent="-1714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Char char="•"/>
                </a:pPr>
                <a:r>
                  <a:rPr lang="en-US" sz="2100" b="1" dirty="0"/>
                  <a:t>Bits,</a:t>
                </a:r>
                <a:r>
                  <a:rPr lang="en-US" sz="2100" dirty="0"/>
                  <a:t> for base 2</a:t>
                </a:r>
                <a:endParaRPr lang="en-US" dirty="0"/>
              </a:p>
              <a:p>
                <a:pPr marL="857250" lvl="2" indent="-1714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Char char="•"/>
                </a:pPr>
                <a:r>
                  <a:rPr lang="en-US" sz="2100" b="1" dirty="0"/>
                  <a:t>M-</a:t>
                </a:r>
                <a:r>
                  <a:rPr lang="en-US" sz="2100" b="1" dirty="0" err="1"/>
                  <a:t>ary</a:t>
                </a:r>
                <a:r>
                  <a:rPr lang="en-US" sz="2100" b="1" dirty="0"/>
                  <a:t> </a:t>
                </a:r>
                <a:r>
                  <a:rPr lang="en-US" sz="2100" dirty="0"/>
                  <a:t>units, for base M</a:t>
                </a:r>
                <a:endParaRPr lang="en-US" dirty="0"/>
              </a:p>
              <a:p>
                <a:pPr marL="857250" lvl="2" indent="-1714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Char char="•"/>
                </a:pPr>
                <a:r>
                  <a:rPr lang="en-US" sz="2100" b="1" dirty="0" err="1"/>
                  <a:t>Nats</a:t>
                </a:r>
                <a:r>
                  <a:rPr lang="en-US" sz="2100" b="1" dirty="0"/>
                  <a:t>:</a:t>
                </a:r>
                <a:r>
                  <a:rPr lang="en-US" sz="2100" dirty="0"/>
                  <a:t> for base </a:t>
                </a:r>
                <a:r>
                  <a:rPr lang="en-US" sz="2100" b="1" dirty="0"/>
                  <a:t>e</a:t>
                </a:r>
                <a:endParaRPr lang="en-US" dirty="0"/>
              </a:p>
              <a:p>
                <a:pPr marL="857250" lvl="2" indent="-381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lang="en-US" sz="2100" dirty="0"/>
              </a:p>
              <a:p>
                <a:pPr marL="514350" lvl="1" indent="-1714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/>
                  <a:t>Information measure of an observation, </a:t>
                </a:r>
                <a:r>
                  <a:rPr lang="en-US" sz="2400" b="1" dirty="0">
                    <a:latin typeface="Cambria Math"/>
                    <a:ea typeface="Cambria Math"/>
                    <a:cs typeface="Cambria Math"/>
                    <a:sym typeface="Cambria Math"/>
                  </a:rPr>
                  <a:t>x = </a:t>
                </a:r>
                <a:r>
                  <a:rPr lang="el-GR" sz="2400" b="1" dirty="0">
                    <a:latin typeface="Cambria Math"/>
                    <a:ea typeface="Cambria Math"/>
                    <a:cs typeface="Cambria Math"/>
                    <a:sym typeface="Cambria Math"/>
                  </a:rPr>
                  <a:t>μ   </a:t>
                </a:r>
                <a:endParaRPr lang="en-US" sz="2700" dirty="0">
                  <a:latin typeface="Cambria Math" panose="02040503050406030204" pitchFamily="18" charset="0"/>
                  <a:ea typeface="Cambria Math"/>
                  <a:cs typeface="Cambria Math"/>
                  <a:sym typeface="Cambria Math"/>
                </a:endParaRPr>
              </a:p>
              <a:p>
                <a:pPr marL="0" indent="344488">
                  <a:spcBef>
                    <a:spcPts val="375"/>
                  </a:spcBef>
                  <a:buSzPts val="2400"/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Case 1:</a:t>
                </a:r>
              </a:p>
              <a:p>
                <a:pPr marL="342900" lvl="1" indent="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μ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)→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1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⟹ 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I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μ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)→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0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bit</m:t>
                      </m:r>
                    </m:oMath>
                  </m:oMathPara>
                </a14:m>
                <a:endParaRPr lang="en-US" sz="240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</a:endParaRPr>
              </a:p>
              <a:p>
                <a:pPr marL="342900" lvl="1" indent="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mbria Math"/>
                    <a:cs typeface="Calibri" panose="020F0502020204030204" pitchFamily="34" charset="0"/>
                    <a:sym typeface="Cambria Math"/>
                  </a:rPr>
                  <a:t>Case 2: </a:t>
                </a:r>
              </a:p>
              <a:p>
                <a:pPr marL="342900" lvl="1" indent="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p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μ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)→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0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⟹ 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I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x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μ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)→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∞</m:t>
                      </m:r>
                      <m: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b="0" i="0" dirty="0" smtClean="0">
                          <a:latin typeface="Cambria Math" panose="02040503050406030204" pitchFamily="18" charset="0"/>
                          <a:ea typeface="Cambria Math"/>
                          <a:cs typeface="Cambria Math"/>
                          <a:sym typeface="Cambria Math"/>
                        </a:rPr>
                        <m:t>bit</m:t>
                      </m:r>
                    </m:oMath>
                  </m:oMathPara>
                </a14:m>
                <a:endParaRPr lang="el-GR" sz="240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  <a:sym typeface="Cambria Math"/>
                </a:endParaRPr>
              </a:p>
              <a:p>
                <a:pPr marL="171450" lvl="0" indent="-381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</p:txBody>
          </p:sp>
        </mc:Choice>
        <mc:Fallback>
          <p:sp>
            <p:nvSpPr>
              <p:cNvPr id="181" name="Google Shape;181;p1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599" y="1393372"/>
                <a:ext cx="5272021" cy="47080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2" name="Google Shape;18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0200" y="3886199"/>
            <a:ext cx="3733800" cy="2721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0" y="1480456"/>
            <a:ext cx="2808222" cy="2405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>
            <a:spLocks noGrp="1"/>
          </p:cNvSpPr>
          <p:nvPr>
            <p:ph type="title"/>
          </p:nvPr>
        </p:nvSpPr>
        <p:spPr>
          <a:xfrm>
            <a:off x="209550" y="533400"/>
            <a:ext cx="8724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How much information  does a pixel value contain?</a:t>
            </a:r>
            <a:endParaRPr dirty="0"/>
          </a:p>
        </p:txBody>
      </p:sp>
      <p:sp>
        <p:nvSpPr>
          <p:cNvPr id="190" name="Google Shape;190;p14"/>
          <p:cNvSpPr txBox="1">
            <a:spLocks noGrp="1"/>
          </p:cNvSpPr>
          <p:nvPr>
            <p:ph type="body" idx="1"/>
          </p:nvPr>
        </p:nvSpPr>
        <p:spPr>
          <a:xfrm>
            <a:off x="914400" y="1828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Suppose that gray level values are generated by a random process, then </a:t>
            </a:r>
            <a:r>
              <a:rPr lang="en-US" sz="2400" b="1"/>
              <a:t>r</a:t>
            </a:r>
            <a:r>
              <a:rPr lang="en-US" sz="2400" b="1" baseline="-25000"/>
              <a:t>k</a:t>
            </a:r>
            <a:r>
              <a:rPr lang="en-US" sz="2400"/>
              <a:t> contains:</a:t>
            </a:r>
            <a:endParaRPr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information content of a pixel is inversely proportional to its relative frequency of occurrence.</a:t>
            </a:r>
            <a:endParaRPr/>
          </a:p>
        </p:txBody>
      </p:sp>
      <p:pic>
        <p:nvPicPr>
          <p:cNvPr id="191" name="Google Shape;19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4600" y="3352800"/>
            <a:ext cx="3614738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4"/>
          <p:cNvSpPr txBox="1"/>
          <p:nvPr/>
        </p:nvSpPr>
        <p:spPr>
          <a:xfrm>
            <a:off x="6324600" y="3502967"/>
            <a:ext cx="62869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15DE-28A3-4FBD-828F-F9552928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Channel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A70B-CA7C-47DF-95FC-08E76636A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source, which generates information, </a:t>
            </a:r>
          </a:p>
          <a:p>
            <a:r>
              <a:rPr lang="en-US" sz="2400" dirty="0"/>
              <a:t>channel where the information is conveyed or stored and </a:t>
            </a:r>
          </a:p>
          <a:p>
            <a:r>
              <a:rPr lang="en-US" sz="2400" dirty="0"/>
              <a:t>sink, where the information is received and consumed,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05510-7BF0-4623-8A2C-33B5516E9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961" y="3685160"/>
            <a:ext cx="4740051" cy="14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57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3CED7-EB13-4C24-BF6C-DB7D60128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What is the minimum space for storing an image with the same amount of information?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9D1CE0-9AE4-4F6D-8E26-E2E8165BBBB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400" dirty="0"/>
                  <a:t>Need to measure the information content of an image</a:t>
                </a:r>
              </a:p>
              <a:p>
                <a:r>
                  <a:rPr lang="en-US" sz="2400" dirty="0"/>
                  <a:t>Suppose that an image is generated by a </a:t>
                </a:r>
                <a:r>
                  <a:rPr lang="en-US" sz="2400" b="1" dirty="0"/>
                  <a:t>random source </a:t>
                </a:r>
                <a:r>
                  <a:rPr lang="en-US" sz="2400" dirty="0"/>
                  <a:t>with an alphabet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1​</m:t>
                          </m:r>
                        </m:e>
                      </m:d>
                    </m:oMath>
                  </m:oMathPara>
                </a14:m>
                <a:endParaRPr lang="en-US" sz="2400" baseline="-250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which consists of the colors in the palette, as codewords. The set of associated probabilities of each codeword (color) ,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)…,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)}</a:t>
                </a:r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9D1CE0-9AE4-4F6D-8E26-E2E8165BB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9257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153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800" dirty="0"/>
              <a:t>Average information content of an image:</a:t>
            </a:r>
            <a:endParaRPr sz="2800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2800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211" name="Google Shape;21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9175" y="4876800"/>
            <a:ext cx="4114800" cy="112236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6518275" y="5168900"/>
            <a:ext cx="2130425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units/pixel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(e.g., bits/pixel)</a:t>
            </a:r>
            <a:endParaRPr/>
          </a:p>
        </p:txBody>
      </p:sp>
      <p:pic>
        <p:nvPicPr>
          <p:cNvPr id="213" name="Google Shape;21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5962" y="2352675"/>
            <a:ext cx="2555875" cy="9969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2057400" y="3956050"/>
            <a:ext cx="844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484909" y="477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Entropy: Average Information</a:t>
            </a:r>
            <a:endParaRPr/>
          </a:p>
        </p:txBody>
      </p:sp>
      <p:pic>
        <p:nvPicPr>
          <p:cNvPr id="216" name="Google Shape;216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4200" y="3810000"/>
            <a:ext cx="3279775" cy="69056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3175600" y="2620317"/>
            <a:ext cx="407484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1554-BC3C-4AD8-A572-BFCD39A64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Consider an image with a flat histogram of  L=4 colors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C9BD3-6987-45CF-AF64-DF89BCB31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224087"/>
            <a:ext cx="7886700" cy="3952875"/>
          </a:xfrm>
        </p:spPr>
        <p:txBody>
          <a:bodyPr/>
          <a:lstStyle/>
          <a:p>
            <a:pPr marL="571500" indent="-457200">
              <a:buAutoNum type="alphaLcParenR"/>
            </a:pPr>
            <a:r>
              <a:rPr lang="en-US" sz="2400" dirty="0"/>
              <a:t>What is the prob of occurrence for each color?</a:t>
            </a:r>
          </a:p>
          <a:p>
            <a:pPr marL="571500" indent="-457200">
              <a:buAutoNum type="alphaLcParenR"/>
            </a:pPr>
            <a:r>
              <a:rPr lang="en-US" sz="2400" dirty="0"/>
              <a:t>How many bits do we need to represent </a:t>
            </a:r>
            <a:r>
              <a:rPr lang="en-US" sz="2400" b="1" dirty="0"/>
              <a:t> self information</a:t>
            </a:r>
            <a:r>
              <a:rPr lang="en-US" sz="2400" dirty="0"/>
              <a:t> of a codeword for each color?</a:t>
            </a:r>
          </a:p>
          <a:p>
            <a:pPr marL="571500" indent="-457200">
              <a:buAutoNum type="alphaLcParenR"/>
            </a:pPr>
            <a:r>
              <a:rPr lang="en-US" sz="2400" dirty="0"/>
              <a:t>What is the </a:t>
            </a:r>
            <a:r>
              <a:rPr lang="en-US" sz="2400" b="1" dirty="0"/>
              <a:t>entropy</a:t>
            </a:r>
            <a:r>
              <a:rPr lang="en-US" sz="2400" dirty="0"/>
              <a:t> of generating this image?</a:t>
            </a:r>
          </a:p>
          <a:p>
            <a:pPr marL="571500" indent="-457200">
              <a:buAutoNum type="alphaLcParenR" startAt="2"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556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2CD1-53D2-426E-8424-EE5104EAB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DFFFAC-E17B-4889-8BFE-26C32C98DB6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800" dirty="0"/>
                  <a:t>a)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 smtClean="0"/>
                      <m:t>Since</m:t>
                    </m:r>
                    <m:r>
                      <m:rPr>
                        <m:nor/>
                      </m:rPr>
                      <a:rPr lang="en-US" sz="2800" dirty="0" smtClean="0"/>
                      <m:t> </m:t>
                    </m:r>
                    <m:r>
                      <m:rPr>
                        <m:nor/>
                      </m:rPr>
                      <a:rPr lang="en-US" sz="2800" dirty="0" smtClean="0"/>
                      <m:t>occurrence</m:t>
                    </m:r>
                    <m:r>
                      <m:rPr>
                        <m:nor/>
                      </m:rPr>
                      <a:rPr lang="en-US" sz="2800" dirty="0" smtClean="0"/>
                      <m:t> </m:t>
                    </m:r>
                    <m:r>
                      <m:rPr>
                        <m:nor/>
                      </m:rPr>
                      <a:rPr lang="en-US" sz="2800" dirty="0" smtClean="0"/>
                      <m:t>of</m:t>
                    </m:r>
                    <m:r>
                      <m:rPr>
                        <m:nor/>
                      </m:rPr>
                      <a:rPr lang="en-US" sz="2800" dirty="0" smtClean="0"/>
                      <m:t> </m:t>
                    </m:r>
                    <m:r>
                      <m:rPr>
                        <m:nor/>
                      </m:rPr>
                      <a:rPr lang="en-US" sz="2800" dirty="0" smtClean="0"/>
                      <m:t>all</m:t>
                    </m:r>
                    <m:r>
                      <m:rPr>
                        <m:nor/>
                      </m:rPr>
                      <a:rPr lang="en-US" sz="2800" dirty="0" smtClean="0"/>
                      <m:t> </m:t>
                    </m:r>
                    <m:r>
                      <m:rPr>
                        <m:nor/>
                      </m:rPr>
                      <a:rPr lang="en-US" sz="2800" dirty="0" smtClean="0"/>
                      <m:t>colors</m:t>
                    </m:r>
                    <m:r>
                      <m:rPr>
                        <m:nor/>
                      </m:rPr>
                      <a:rPr lang="en-US" sz="2800" dirty="0" smtClean="0"/>
                      <m:t> </m:t>
                    </m:r>
                    <m:r>
                      <m:rPr>
                        <m:nor/>
                      </m:rPr>
                      <a:rPr lang="en-US" sz="2800" dirty="0" smtClean="0"/>
                      <m:t>are</m:t>
                    </m:r>
                    <m:r>
                      <m:rPr>
                        <m:nor/>
                      </m:rPr>
                      <a:rPr lang="en-US" sz="2800" dirty="0" smtClean="0"/>
                      <m:t> </m:t>
                    </m:r>
                    <m:r>
                      <m:rPr>
                        <m:nor/>
                      </m:rPr>
                      <a:rPr lang="en-US" sz="2800" dirty="0" smtClean="0"/>
                      <m:t>equally</m:t>
                    </m:r>
                    <m:r>
                      <m:rPr>
                        <m:nor/>
                      </m:rPr>
                      <a:rPr lang="en-US" sz="2800" dirty="0" smtClean="0"/>
                      <m:t> </m:t>
                    </m:r>
                    <m:r>
                      <m:rPr>
                        <m:nor/>
                      </m:rPr>
                      <a:rPr lang="en-US" sz="2800" dirty="0" smtClean="0"/>
                      <m:t>likely</m:t>
                    </m:r>
                    <m:r>
                      <m:rPr>
                        <m:nor/>
                      </m:rPr>
                      <a:rPr lang="en-US" sz="2800" dirty="0" smtClean="0"/>
                      <m:t>, </m:t>
                    </m:r>
                  </m:oMath>
                </a14:m>
                <a:endParaRPr lang="en-US" sz="28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sz="2800" b="0" dirty="0"/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Self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information</m:t>
                    </m:r>
                  </m:oMath>
                </a14:m>
                <a:endParaRPr lang="en-US" sz="28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800" dirty="0"/>
                  <a:t>bits = 2 Bits.</a:t>
                </a:r>
              </a:p>
              <a:p>
                <a:pPr marL="114300" indent="0">
                  <a:buNone/>
                </a:pPr>
                <a:r>
                  <a:rPr lang="en-US" sz="2800" dirty="0"/>
                  <a:t>c) Entropy </a:t>
                </a:r>
                <a:r>
                  <a:rPr lang="en-US" sz="2800" dirty="0" err="1"/>
                  <a:t>i</a:t>
                </a:r>
                <a:r>
                  <a:rPr lang="en-US" sz="2800" dirty="0"/>
                  <a:t> ,</a:t>
                </a:r>
              </a:p>
              <a:p>
                <a:pPr marL="114300" indent="0" algn="ctr">
                  <a:buNone/>
                </a:pPr>
                <a:r>
                  <a:rPr lang="en-US" sz="2800" i="1" dirty="0"/>
                  <a:t>H(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) =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sz="2800" i="1" dirty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= 2  bits/pixel.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DFFFAC-E17B-4889-8BFE-26C32C98D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346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Measuring average  amount of  information and average amount of data</a:t>
            </a:r>
            <a:endParaRPr dirty="0"/>
          </a:p>
        </p:txBody>
      </p:sp>
      <p:sp>
        <p:nvSpPr>
          <p:cNvPr id="223" name="Google Shape;223;p1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Average amount of information per pixel, Entropy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dirty="0"/>
              <a:t>							bit/pixel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Average amount of data, allocated for </a:t>
            </a:r>
            <a:r>
              <a:rPr lang="en-US" sz="2400" b="1" dirty="0">
                <a:latin typeface="Cambria Math"/>
                <a:ea typeface="Cambria Math"/>
                <a:cs typeface="Cambria Math"/>
                <a:sym typeface="Cambria Math"/>
              </a:rPr>
              <a:t>L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colors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dirty="0"/>
              <a:t>							bit/pixel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dirty="0"/>
              <a:t>where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</a:t>
            </a:r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  <a:sym typeface="Cambria Math"/>
              </a:rPr>
              <a:t>l</a:t>
            </a:r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  <a:cs typeface="Cambria Math"/>
                <a:sym typeface="Cambria Math"/>
              </a:rPr>
              <a:t>(</a:t>
            </a:r>
            <a:r>
              <a:rPr lang="en-US" sz="2000" b="1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/>
                <a:sym typeface="Cambria Math"/>
              </a:rPr>
              <a:t>r</a:t>
            </a:r>
            <a:r>
              <a:rPr lang="en-US" sz="2000" b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/>
                <a:sym typeface="Cambria Math"/>
              </a:rPr>
              <a:t>k</a:t>
            </a:r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  <a:cs typeface="Cambria Math"/>
                <a:sym typeface="Cambria Math"/>
              </a:rPr>
              <a:t>)  </a:t>
            </a:r>
            <a:r>
              <a:rPr lang="en-US" sz="2000" b="1" dirty="0">
                <a:latin typeface="Cambria Math"/>
                <a:ea typeface="Cambria Math"/>
                <a:cs typeface="Cambria Math"/>
                <a:sym typeface="Cambria Math"/>
              </a:rPr>
              <a:t>is the </a:t>
            </a:r>
            <a:r>
              <a:rPr lang="en-US" sz="2000" dirty="0"/>
              <a:t>codelength of color , </a:t>
            </a:r>
            <a:r>
              <a:rPr lang="en-US" sz="2400" b="1" dirty="0" err="1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 b="1" baseline="-25000" dirty="0" err="1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endParaRPr dirty="0"/>
          </a:p>
        </p:txBody>
      </p:sp>
      <p:pic>
        <p:nvPicPr>
          <p:cNvPr id="225" name="Google Shape;225;p18"/>
          <p:cNvPicPr preferRelativeResize="0"/>
          <p:nvPr/>
        </p:nvPicPr>
        <p:blipFill rotWithShape="1">
          <a:blip r:embed="rId3">
            <a:alphaModFix/>
          </a:blip>
          <a:srcRect l="34982" t="24458" b="32738"/>
          <a:stretch/>
        </p:blipFill>
        <p:spPr>
          <a:xfrm>
            <a:off x="2093913" y="3792560"/>
            <a:ext cx="4611688" cy="112236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3225029" y="2484669"/>
            <a:ext cx="407484" cy="3077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Google Shape;211;p17">
            <a:extLst>
              <a:ext uri="{FF2B5EF4-FFF2-40B4-BE49-F238E27FC236}">
                <a16:creationId xmlns:a16="http://schemas.microsoft.com/office/drawing/2014/main" id="{DB7EAAB3-11CE-4037-B992-A57A09EDEB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3913" y="2231223"/>
            <a:ext cx="4114800" cy="1122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>
            <a:spLocks noGrp="1"/>
          </p:cNvSpPr>
          <p:nvPr>
            <p:ph type="title"/>
          </p:nvPr>
        </p:nvSpPr>
        <p:spPr>
          <a:xfrm>
            <a:off x="397329" y="365126"/>
            <a:ext cx="8681357" cy="281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3300"/>
            </a:pPr>
            <a:r>
              <a:rPr lang="en-US" dirty="0">
                <a:solidFill>
                  <a:srgbClr val="FF0000"/>
                </a:solidFill>
              </a:rPr>
              <a:t>Coding Theorem: </a:t>
            </a:r>
            <a:r>
              <a:rPr lang="en-US" dirty="0"/>
              <a:t>Relationship between the data and information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lower bound for the average number of codelengths in a compressed image approaches to entropy, as we increase the number of colors, L.</a:t>
            </a:r>
            <a:endParaRPr dirty="0"/>
          </a:p>
        </p:txBody>
      </p:sp>
      <p:sp>
        <p:nvSpPr>
          <p:cNvPr id="232" name="Google Shape;232;p1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83C9F6A-908D-4835-9757-DB840AC2E332}"/>
                  </a:ext>
                </a:extLst>
              </p:cNvPr>
              <p:cNvSpPr/>
              <p:nvPr/>
            </p:nvSpPr>
            <p:spPr>
              <a:xfrm>
                <a:off x="2723928" y="4995545"/>
                <a:ext cx="2995500" cy="7307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3200" i="0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𝑎𝑣𝑟</m:t>
                            </m:r>
                          </m:sub>
                        </m:sSub>
                      </m:e>
                    </m:func>
                    <m:r>
                      <a:rPr lang="en-US" sz="32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>
                    <a:latin typeface="KaTeX_Main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83C9F6A-908D-4835-9757-DB840AC2E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928" y="4995545"/>
                <a:ext cx="2995500" cy="7307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D21333-2D75-44B6-BD57-13E29DD84DE4}"/>
                  </a:ext>
                </a:extLst>
              </p:cNvPr>
              <p:cNvSpPr txBox="1"/>
              <p:nvPr/>
            </p:nvSpPr>
            <p:spPr>
              <a:xfrm>
                <a:off x="3427777" y="3618965"/>
                <a:ext cx="15320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𝒂𝒗𝒓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D21333-2D75-44B6-BD57-13E29DD84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777" y="3618965"/>
                <a:ext cx="153208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>
            <a:spLocks noGrp="1"/>
          </p:cNvSpPr>
          <p:nvPr>
            <p:ph type="body" idx="1"/>
          </p:nvPr>
        </p:nvSpPr>
        <p:spPr>
          <a:xfrm>
            <a:off x="685800" y="2409824"/>
            <a:ext cx="8153400" cy="368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u="sng" dirty="0"/>
          </a:p>
        </p:txBody>
      </p:sp>
      <p:pic>
        <p:nvPicPr>
          <p:cNvPr id="257" name="Google Shape;25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406" y="2409825"/>
            <a:ext cx="2687638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/>
          <p:cNvPicPr preferRelativeResize="0"/>
          <p:nvPr/>
        </p:nvPicPr>
        <p:blipFill rotWithShape="1">
          <a:blip r:embed="rId4">
            <a:alphaModFix/>
          </a:blip>
          <a:srcRect l="34982" t="24458" b="32738"/>
          <a:stretch/>
        </p:blipFill>
        <p:spPr>
          <a:xfrm>
            <a:off x="2864448" y="3633915"/>
            <a:ext cx="49561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381000" y="609600"/>
            <a:ext cx="8172450" cy="157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Redundancy: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 between average data and average Information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1814203" y="4038600"/>
            <a:ext cx="936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2057400" y="5637213"/>
            <a:ext cx="629285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Times New Roman"/>
              <a:buNone/>
            </a:pPr>
            <a:r>
              <a:rPr lang="en-US" sz="26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r>
              <a:rPr lang="en-US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L</a:t>
            </a:r>
            <a:r>
              <a:rPr lang="en-US" sz="26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H,  then R=0 (no redundancy)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Ex: Consider a binary image of checkerboard </a:t>
            </a:r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dirty="0"/>
              <a:t> Find the entropy of this image.</a:t>
            </a:r>
            <a:endParaRPr sz="2400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241" name="Google Shape;24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9400" y="3124200"/>
            <a:ext cx="3289300" cy="24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Answer:</a:t>
            </a:r>
            <a:endParaRPr dirty="0"/>
          </a:p>
        </p:txBody>
      </p:sp>
      <p:sp>
        <p:nvSpPr>
          <p:cNvPr id="247" name="Google Shape;247;p21"/>
          <p:cNvSpPr txBox="1">
            <a:spLocks noGrp="1"/>
          </p:cNvSpPr>
          <p:nvPr>
            <p:ph type="body" idx="1"/>
          </p:nvPr>
        </p:nvSpPr>
        <p:spPr>
          <a:xfrm>
            <a:off x="3124200" y="1524000"/>
            <a:ext cx="5638800" cy="465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P(</a:t>
            </a:r>
            <a:r>
              <a:rPr lang="en-US" sz="2400" b="1" dirty="0" err="1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 b="1" baseline="-25000" dirty="0" err="1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400" b="1" baseline="-25000" dirty="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 dirty="0"/>
              <a:t>=0) =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P(</a:t>
            </a:r>
            <a:r>
              <a:rPr lang="en-US" sz="2400" b="1" dirty="0" err="1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 b="1" baseline="-25000" dirty="0" err="1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400" b="1" baseline="-25000" dirty="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 dirty="0"/>
              <a:t>=1) =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Self information: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 I(r0) =I(r1) =-log (pr0) =1 bit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Entropy:</a:t>
            </a:r>
            <a:endParaRPr dirty="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If we allocate </a:t>
            </a:r>
            <a:r>
              <a:rPr lang="en-US" sz="2400" b="1" dirty="0">
                <a:latin typeface="Cambria Math"/>
                <a:ea typeface="Cambria Math"/>
                <a:cs typeface="Cambria Math"/>
                <a:sym typeface="Cambria Math"/>
              </a:rPr>
              <a:t>l(</a:t>
            </a:r>
            <a:r>
              <a:rPr lang="en-US" sz="2400" b="1" dirty="0" err="1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 b="1" baseline="-25000" dirty="0" err="1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 sz="2400" b="1" dirty="0">
                <a:latin typeface="Cambria Math"/>
                <a:ea typeface="Cambria Math"/>
                <a:cs typeface="Cambria Math"/>
                <a:sym typeface="Cambria Math"/>
              </a:rPr>
              <a:t>) =</a:t>
            </a: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4 bits to code this image, then, </a:t>
            </a:r>
            <a:r>
              <a:rPr lang="en-US" sz="2400" b="1" dirty="0" err="1">
                <a:latin typeface="Cambria Math"/>
                <a:ea typeface="Cambria Math"/>
                <a:cs typeface="Cambria Math"/>
                <a:sym typeface="Cambria Math"/>
              </a:rPr>
              <a:t>L</a:t>
            </a:r>
            <a:r>
              <a:rPr lang="en-US" sz="2400" b="1" baseline="-25000" dirty="0" err="1">
                <a:latin typeface="Cambria Math"/>
                <a:ea typeface="Cambria Math"/>
                <a:cs typeface="Cambria Math"/>
                <a:sym typeface="Cambria Math"/>
              </a:rPr>
              <a:t>av</a:t>
            </a:r>
            <a:r>
              <a:rPr lang="en-US" sz="2400" b="1" dirty="0">
                <a:latin typeface="Cambria Math"/>
                <a:ea typeface="Cambria Math"/>
                <a:cs typeface="Cambria Math"/>
                <a:sym typeface="Cambria Math"/>
              </a:rPr>
              <a:t> = 4</a:t>
            </a: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 Bits/pixel </a:t>
            </a: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Cambria Math"/>
                <a:ea typeface="Cambria Math"/>
                <a:cs typeface="Cambria Math"/>
                <a:sym typeface="Cambria Math"/>
              </a:rPr>
              <a:t>Redundancy</a:t>
            </a:r>
            <a:endParaRPr sz="2400" dirty="0"/>
          </a:p>
        </p:txBody>
      </p:sp>
      <p:pic>
        <p:nvPicPr>
          <p:cNvPr id="248" name="Google Shape;248;p21"/>
          <p:cNvPicPr preferRelativeResize="0"/>
          <p:nvPr/>
        </p:nvPicPr>
        <p:blipFill rotWithShape="1">
          <a:blip r:embed="rId3">
            <a:alphaModFix/>
          </a:blip>
          <a:srcRect r="10897"/>
          <a:stretch/>
        </p:blipFill>
        <p:spPr>
          <a:xfrm>
            <a:off x="-15081" y="2133600"/>
            <a:ext cx="2930870" cy="24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5052" y="3568805"/>
            <a:ext cx="2001838" cy="78084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339993" y="3702993"/>
            <a:ext cx="28809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0.5+0.5= 1 bit/pixel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>
            <a:spLocks noGrp="1"/>
          </p:cNvSpPr>
          <p:nvPr>
            <p:ph type="title"/>
          </p:nvPr>
        </p:nvSpPr>
        <p:spPr>
          <a:xfrm>
            <a:off x="513184" y="365126"/>
            <a:ext cx="8002166" cy="2606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Compression Ratio: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Relevant Redundancy: </a:t>
            </a:r>
            <a:endParaRPr dirty="0"/>
          </a:p>
        </p:txBody>
      </p:sp>
      <p:pic>
        <p:nvPicPr>
          <p:cNvPr id="272" name="Google Shape;272;p23"/>
          <p:cNvPicPr preferRelativeResize="0"/>
          <p:nvPr/>
        </p:nvPicPr>
        <p:blipFill rotWithShape="1">
          <a:blip r:embed="rId3">
            <a:alphaModFix/>
          </a:blip>
          <a:srcRect l="11838" t="8135" r="5302" b="10509"/>
          <a:stretch/>
        </p:blipFill>
        <p:spPr>
          <a:xfrm>
            <a:off x="4567671" y="318474"/>
            <a:ext cx="1855786" cy="132556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Google Shape;273;p23"/>
              <p:cNvSpPr/>
              <p:nvPr/>
            </p:nvSpPr>
            <p:spPr>
              <a:xfrm>
                <a:off x="789385" y="3715015"/>
                <a:ext cx="6548871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ar-AE" sz="2400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𝑛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</a:rPr>
                      <m:t>: </m:t>
                    </m:r>
                  </m:oMath>
                </a14:m>
                <a:r>
                  <a:rPr lang="en-US" sz="24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Number of bits in a given image </a:t>
                </a:r>
                <a:endParaRPr lang="en-US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: Number of bits in a compressed image​.</a:t>
                </a:r>
                <a:endParaRPr sz="2400" dirty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mc:Choice>
        <mc:Fallback>
          <p:sp>
            <p:nvSpPr>
              <p:cNvPr id="273" name="Google Shape;273;p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85" y="3715015"/>
                <a:ext cx="6548871" cy="830997"/>
              </a:xfrm>
              <a:prstGeom prst="rect">
                <a:avLst/>
              </a:prstGeom>
              <a:blipFill>
                <a:blip r:embed="rId4"/>
                <a:stretch>
                  <a:fillRect t="-5109" b="-160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281;p24">
            <a:extLst>
              <a:ext uri="{FF2B5EF4-FFF2-40B4-BE49-F238E27FC236}">
                <a16:creationId xmlns:a16="http://schemas.microsoft.com/office/drawing/2014/main" id="{BF48BC72-F907-443B-9257-0AF700794CD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3194" y="1937988"/>
            <a:ext cx="2073275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Example: What is the required storage space for this image region?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2" name="Google Shape;302;p2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8650" y="1840294"/>
                <a:ext cx="78867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r>
                  <a:rPr lang="en-US" dirty="0"/>
                  <a:t> </a:t>
                </a:r>
                <a:endParaRPr dirty="0"/>
              </a:p>
              <a:p>
                <a:pPr marL="171450" lvl="0" indent="-381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  <a:p>
                <a:pPr marL="171450" lvl="0" indent="-381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  <a:p>
                <a:pPr marL="171450" lvl="0" indent="-381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  <a:p>
                <a:pPr marL="171450" lvl="0" indent="-381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  <a:p>
                <a:pPr marL="171450" lvl="0" indent="-381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  <a:p>
                <a:pPr marL="171450" lvl="0" indent="-3810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  <a:p>
                <a:pPr marL="171450" lvl="0" indent="-1714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/>
                  <a:t>What is the code length, 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𝒍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(</m:t>
                    </m:r>
                    <m:r>
                      <a:rPr lang="en-US" sz="2400" b="1" i="1" dirty="0" err="1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𝒓</m:t>
                    </m:r>
                    <m:r>
                      <a:rPr lang="en-US" sz="2400" b="1" i="1" baseline="-25000" dirty="0" err="1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𝒌</m:t>
                    </m:r>
                    <m:r>
                      <a:rPr lang="en-US" sz="2400" b="1" i="1" baseline="-25000" dirty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   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) </m:t>
                    </m:r>
                  </m:oMath>
                </a14:m>
                <a:r>
                  <a:rPr lang="en-US" sz="2400" b="1" dirty="0">
                    <a:latin typeface="Cambria Math"/>
                    <a:ea typeface="Cambria Math"/>
                    <a:cs typeface="Cambria Math"/>
                    <a:sym typeface="Cambria Math"/>
                  </a:rPr>
                  <a:t>?</a:t>
                </a:r>
                <a:endParaRPr dirty="0"/>
              </a:p>
              <a:p>
                <a:pPr marL="171450" lvl="0" indent="-1714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dirty="0">
                    <a:latin typeface="Cambria Math"/>
                    <a:ea typeface="Cambria Math"/>
                    <a:cs typeface="Cambria Math"/>
                    <a:sym typeface="Cambria Math"/>
                  </a:rPr>
                  <a:t>What is the average code length</a:t>
                </a:r>
                <a:r>
                  <a:rPr lang="en-US" sz="2400" b="1" dirty="0">
                    <a:latin typeface="Cambria Math"/>
                    <a:ea typeface="Cambria Math"/>
                    <a:cs typeface="Cambria Math"/>
                    <a:sym typeface="Cambria Math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𝑳</m:t>
                    </m:r>
                    <m:r>
                      <a:rPr lang="en-US" sz="2400" b="1" i="1" baseline="-25000" dirty="0" err="1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𝒂𝒗</m:t>
                    </m:r>
                    <m:r>
                      <a:rPr lang="en-US" sz="2400" b="1" i="1" dirty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 </m:t>
                    </m:r>
                  </m:oMath>
                </a14:m>
                <a:r>
                  <a:rPr lang="en-US" sz="2400" b="1" dirty="0">
                    <a:latin typeface="Cambria Math"/>
                    <a:ea typeface="Cambria Math"/>
                    <a:cs typeface="Cambria Math"/>
                    <a:sym typeface="Cambria Math"/>
                  </a:rPr>
                  <a:t>?</a:t>
                </a:r>
              </a:p>
              <a:p>
                <a:pPr marL="171450" lvl="0" indent="-1714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b="1" dirty="0">
                    <a:latin typeface="Cambria Math"/>
                    <a:ea typeface="Cambria Math"/>
                    <a:sym typeface="Cambria Math"/>
                  </a:rPr>
                  <a:t>What is the Entropy of this image?</a:t>
                </a:r>
              </a:p>
              <a:p>
                <a:pPr marL="171450" lvl="0" indent="-1714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Char char="•"/>
                </a:pPr>
                <a:r>
                  <a:rPr lang="en-US" sz="2400" b="1" dirty="0">
                    <a:latin typeface="Cambria Math"/>
                    <a:ea typeface="Cambria Math"/>
                    <a:sym typeface="Cambria Math"/>
                  </a:rPr>
                  <a:t>What is redundancy of this image?</a:t>
                </a:r>
                <a:endParaRPr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None/>
                </a:pPr>
                <a:endParaRPr dirty="0"/>
              </a:p>
            </p:txBody>
          </p:sp>
        </mc:Choice>
        <mc:Fallback>
          <p:sp>
            <p:nvSpPr>
              <p:cNvPr id="302" name="Google Shape;302;p2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840294"/>
                <a:ext cx="7886700" cy="4351338"/>
              </a:xfrm>
              <a:prstGeom prst="rect">
                <a:avLst/>
              </a:prstGeom>
              <a:blipFill>
                <a:blip r:embed="rId3"/>
                <a:stretch>
                  <a:fillRect l="-10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3" name="Google Shape;303;p27" descr="gonz_p339"/>
          <p:cNvPicPr preferRelativeResize="0"/>
          <p:nvPr/>
        </p:nvPicPr>
        <p:blipFill rotWithShape="1">
          <a:blip r:embed="rId4">
            <a:alphaModFix/>
          </a:blip>
          <a:srcRect l="14363" t="8621" r="14363" b="15517"/>
          <a:stretch/>
        </p:blipFill>
        <p:spPr>
          <a:xfrm>
            <a:off x="2057400" y="1981200"/>
            <a:ext cx="4902759" cy="185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Answer without Information Theory:</a:t>
            </a:r>
            <a:endParaRPr dirty="0"/>
          </a:p>
        </p:txBody>
      </p:sp>
      <p:sp>
        <p:nvSpPr>
          <p:cNvPr id="309" name="Google Shape;309;p2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/>
              <a:t> </a:t>
            </a: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310" name="Google Shape;310;p28" descr="gonz_p339"/>
          <p:cNvPicPr preferRelativeResize="0"/>
          <p:nvPr/>
        </p:nvPicPr>
        <p:blipFill rotWithShape="1">
          <a:blip r:embed="rId3">
            <a:alphaModFix/>
          </a:blip>
          <a:srcRect l="14363" t="8621" r="14363" b="15517"/>
          <a:stretch/>
        </p:blipFill>
        <p:spPr>
          <a:xfrm>
            <a:off x="2438400" y="1981200"/>
            <a:ext cx="4521759" cy="1714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 txBox="1"/>
          <p:nvPr/>
        </p:nvSpPr>
        <p:spPr>
          <a:xfrm>
            <a:off x="1371599" y="4876800"/>
            <a:ext cx="631215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dirty="0"/>
              <a:t>Required storage space for this image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8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4x8x8 bits/pixel =256 bits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 txBox="1">
            <a:spLocks noGrp="1"/>
          </p:cNvSpPr>
          <p:nvPr>
            <p:ph type="title"/>
          </p:nvPr>
        </p:nvSpPr>
        <p:spPr>
          <a:xfrm>
            <a:off x="704850" y="11234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Answer with Information Theory and  Estimate the Entropy </a:t>
            </a:r>
            <a:endParaRPr dirty="0"/>
          </a:p>
        </p:txBody>
      </p:sp>
      <p:sp>
        <p:nvSpPr>
          <p:cNvPr id="318" name="Google Shape;318;p29"/>
          <p:cNvSpPr txBox="1">
            <a:spLocks noGrp="1"/>
          </p:cNvSpPr>
          <p:nvPr>
            <p:ph type="body" idx="1"/>
          </p:nvPr>
        </p:nvSpPr>
        <p:spPr>
          <a:xfrm>
            <a:off x="704850" y="4000848"/>
            <a:ext cx="7886700" cy="257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319" name="Google Shape;319;p29" descr="gonz_p340"/>
          <p:cNvPicPr preferRelativeResize="0"/>
          <p:nvPr/>
        </p:nvPicPr>
        <p:blipFill rotWithShape="1">
          <a:blip r:embed="rId3">
            <a:alphaModFix/>
          </a:blip>
          <a:srcRect l="8973" t="12393" r="10342" b="15812"/>
          <a:stretch/>
        </p:blipFill>
        <p:spPr>
          <a:xfrm>
            <a:off x="4985656" y="1307317"/>
            <a:ext cx="4023859" cy="1729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9" descr="gonz_p339"/>
          <p:cNvPicPr preferRelativeResize="0"/>
          <p:nvPr/>
        </p:nvPicPr>
        <p:blipFill rotWithShape="1">
          <a:blip r:embed="rId4">
            <a:alphaModFix/>
          </a:blip>
          <a:srcRect l="14363" t="8621" r="14363" b="15517"/>
          <a:stretch/>
        </p:blipFill>
        <p:spPr>
          <a:xfrm>
            <a:off x="819150" y="1302388"/>
            <a:ext cx="4023859" cy="17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9"/>
          <p:cNvPicPr preferRelativeResize="0"/>
          <p:nvPr/>
        </p:nvPicPr>
        <p:blipFill rotWithShape="1">
          <a:blip r:embed="rId5">
            <a:alphaModFix/>
          </a:blip>
          <a:srcRect b="43307"/>
          <a:stretch/>
        </p:blipFill>
        <p:spPr>
          <a:xfrm>
            <a:off x="1091682" y="3417808"/>
            <a:ext cx="6248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9"/>
          <p:cNvSpPr txBox="1"/>
          <p:nvPr/>
        </p:nvSpPr>
        <p:spPr>
          <a:xfrm>
            <a:off x="1091682" y="4332208"/>
            <a:ext cx="464664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What is the redundancy?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1091682" y="4922404"/>
            <a:ext cx="77075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R= </a:t>
            </a:r>
            <a:r>
              <a:rPr lang="en-US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</a:t>
            </a:r>
            <a:r>
              <a:rPr lang="en-US" sz="2400" baseline="-250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avg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- H      where     </a:t>
            </a:r>
            <a:r>
              <a:rPr lang="en-US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L</a:t>
            </a:r>
            <a:r>
              <a:rPr lang="en-US" sz="2400" baseline="-250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avg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= 8 bits/pixel</a:t>
            </a:r>
            <a:r>
              <a:rPr lang="en-US" sz="2400" baseline="-250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1189653" y="5668258"/>
            <a:ext cx="35219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R= 6.19 bits/pixel</a:t>
            </a:r>
            <a:r>
              <a:rPr lang="en-US" sz="2400" baseline="-250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B0129-3621-4017-B66D-9E198A00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Second order entropy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25159C8-3B10-4130-B962-EBAE1E2A413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sz="2400" dirty="0"/>
                  <a:t>Given two random variables of colors,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with the associated joint probability density functions,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), second order entropy is</a:t>
                </a:r>
              </a:p>
              <a:p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/>
                        <m:t>)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= </m:t>
                      </m:r>
                      <m:nary>
                        <m:naryPr>
                          <m:chr m:val="∑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400" dirty="0"/>
                                <m:t>)</m:t>
                              </m:r>
                              <m:func>
                                <m:func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2400" dirty="0"/>
                                    <m:t>),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25159C8-3B10-4130-B962-EBAE1E2A4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https://raw.githubusercontent.com/hazalmogultay/466Images/master/W10/L10.png">
            <a:extLst>
              <a:ext uri="{FF2B5EF4-FFF2-40B4-BE49-F238E27FC236}">
                <a16:creationId xmlns:a16="http://schemas.microsoft.com/office/drawing/2014/main" id="{1AA77C90-6E38-4FA4-89C2-B4D99F3B6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889" y="4596500"/>
            <a:ext cx="53054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847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970"/>
              <a:buFont typeface="Calibri"/>
              <a:buNone/>
            </a:pPr>
            <a:r>
              <a:rPr lang="en-US" sz="2970" dirty="0">
                <a:solidFill>
                  <a:schemeClr val="tx1"/>
                </a:solidFill>
              </a:rPr>
              <a:t>Answer with  Second order Entropy</a:t>
            </a:r>
            <a:br>
              <a:rPr lang="en-US" sz="2970" dirty="0"/>
            </a:br>
            <a:endParaRPr sz="297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0" name="Google Shape;340;p3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71500" y="1344706"/>
                <a:ext cx="7886700" cy="45226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r>
                  <a:rPr lang="en-US" sz="2400" dirty="0"/>
                  <a:t>Step 1 : Compute joint relative frequencies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) of two horizontal  neighboring pixels. </a:t>
                </a:r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endParaRPr lang="en-US" sz="2400" dirty="0"/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endParaRPr lang="en-US" sz="2400" dirty="0"/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endParaRPr lang="en-US" sz="2400" dirty="0"/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endParaRPr lang="en-US" sz="2400" dirty="0"/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endParaRPr lang="en-US" sz="2400" dirty="0"/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endParaRPr lang="en-US" sz="2400" dirty="0"/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endParaRPr lang="en-US" sz="2400" dirty="0"/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endParaRPr lang="en-US" sz="2400" dirty="0"/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r>
                  <a:rPr lang="en-US" sz="2400" dirty="0"/>
                  <a:t>Step 2: Compute second order entropy</a:t>
                </a:r>
              </a:p>
              <a:p>
                <a:pPr marL="171450" lvl="0" indent="-38100">
                  <a:spcBef>
                    <a:spcPts val="0"/>
                  </a:spcBef>
                  <a:buSzPts val="2100"/>
                  <a:buNone/>
                </a:pPr>
                <a:endParaRPr dirty="0"/>
              </a:p>
            </p:txBody>
          </p:sp>
        </mc:Choice>
        <mc:Fallback>
          <p:sp>
            <p:nvSpPr>
              <p:cNvPr id="340" name="Google Shape;340;p3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1500" y="1344706"/>
                <a:ext cx="7886700" cy="4522694"/>
              </a:xfrm>
              <a:prstGeom prst="rect">
                <a:avLst/>
              </a:prstGeom>
              <a:blipFill>
                <a:blip r:embed="rId3"/>
                <a:stretch>
                  <a:fillRect t="-16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1" name="Google Shape;341;p31" descr="gonz_p341a"/>
          <p:cNvPicPr preferRelativeResize="0"/>
          <p:nvPr/>
        </p:nvPicPr>
        <p:blipFill rotWithShape="1">
          <a:blip r:embed="rId4">
            <a:alphaModFix/>
          </a:blip>
          <a:srcRect l="9573" t="9958" r="7008" b="3734"/>
          <a:stretch/>
        </p:blipFill>
        <p:spPr>
          <a:xfrm>
            <a:off x="4819261" y="2273916"/>
            <a:ext cx="4138217" cy="1959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1" descr="gonz_p339"/>
          <p:cNvPicPr preferRelativeResize="0"/>
          <p:nvPr/>
        </p:nvPicPr>
        <p:blipFill rotWithShape="1">
          <a:blip r:embed="rId5">
            <a:alphaModFix/>
          </a:blip>
          <a:srcRect l="14363" t="8621" r="14363" b="15517"/>
          <a:stretch/>
        </p:blipFill>
        <p:spPr>
          <a:xfrm>
            <a:off x="514350" y="2327999"/>
            <a:ext cx="4015973" cy="185125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80016E-532D-4BDB-B780-575EFD2B2AE9}"/>
                  </a:ext>
                </a:extLst>
              </p:cNvPr>
              <p:cNvSpPr/>
              <p:nvPr/>
            </p:nvSpPr>
            <p:spPr>
              <a:xfrm>
                <a:off x="685800" y="5305037"/>
                <a:ext cx="7673704" cy="12485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/>
                        <m:t>) = </m:t>
                      </m:r>
                      <m:nary>
                        <m:naryPr>
                          <m:chr m:val="∑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400" dirty="0"/>
                                <m:t>)</m:t>
                              </m:r>
                              <m:func>
                                <m:func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2400" dirty="0"/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="0" i="0" dirty="0" smtClean="0"/>
                                    <m:t> =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="0" i="0" dirty="0" smtClean="0"/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="0" i="0" dirty="0" smtClean="0"/>
                                    <m:t>.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="0" i="0" dirty="0" smtClean="0"/>
                                    <m:t>25 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="0" i="0" dirty="0" smtClean="0"/>
                                    <m:t>bits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="0" i="0" dirty="0" smtClean="0"/>
                                    <m:t>/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="0" i="0" dirty="0" smtClean="0"/>
                                    <m:t>pixel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dirty="0"/>
                                    <m:t>,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80016E-532D-4BDB-B780-575EFD2B2A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305037"/>
                <a:ext cx="7673704" cy="12485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Image Compression Methods</a:t>
            </a:r>
            <a:endParaRPr dirty="0"/>
          </a:p>
        </p:txBody>
      </p:sp>
      <p:sp>
        <p:nvSpPr>
          <p:cNvPr id="401" name="Google Shape;401;p35"/>
          <p:cNvSpPr txBox="1">
            <a:spLocks noGrp="1"/>
          </p:cNvSpPr>
          <p:nvPr>
            <p:ph type="body" idx="1"/>
          </p:nvPr>
        </p:nvSpPr>
        <p:spPr>
          <a:xfrm>
            <a:off x="628650" y="1539551"/>
            <a:ext cx="8134350" cy="455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chemeClr val="accent2"/>
              </a:buClr>
              <a:buSzPts val="2400"/>
              <a:buNone/>
            </a:pPr>
            <a:r>
              <a:rPr lang="en-US" sz="2400" b="1" dirty="0"/>
              <a:t>Reduce redundancy to represent the same amount of information , measured by Entropy</a:t>
            </a:r>
          </a:p>
          <a:p>
            <a:pPr marL="171450" lvl="0" indent="-171450">
              <a:spcBef>
                <a:spcPts val="0"/>
              </a:spcBef>
              <a:buClr>
                <a:schemeClr val="accent2"/>
              </a:buClr>
              <a:buSzPts val="2400"/>
            </a:pPr>
            <a:endParaRPr lang="en-US" sz="2400" dirty="0">
              <a:solidFill>
                <a:schemeClr val="accent2"/>
              </a:solidFill>
            </a:endParaRPr>
          </a:p>
          <a:p>
            <a:pPr marL="171450" lvl="0" indent="-171450">
              <a:spcBef>
                <a:spcPts val="0"/>
              </a:spcBef>
              <a:buClr>
                <a:schemeClr val="accent2"/>
              </a:buClr>
              <a:buSzPts val="2400"/>
            </a:pPr>
            <a:r>
              <a:rPr lang="en-US" sz="2400" dirty="0">
                <a:solidFill>
                  <a:schemeClr val="accent2"/>
                </a:solidFill>
              </a:rPr>
              <a:t>Lossless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Information preserving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Low compression ratios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Lossy</a:t>
            </a:r>
            <a:endParaRPr sz="2400" dirty="0">
              <a:solidFill>
                <a:schemeClr val="accent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Information loss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High compression ratios</a:t>
            </a:r>
            <a:endParaRPr sz="2400"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u="sng" dirty="0"/>
              <a:t>Trade-off:</a:t>
            </a:r>
            <a:r>
              <a:rPr lang="en-US" sz="2400" dirty="0"/>
              <a:t> information loss </a:t>
            </a:r>
            <a:r>
              <a:rPr lang="en-US" sz="2400" b="1" dirty="0"/>
              <a:t>vs. </a:t>
            </a:r>
            <a:r>
              <a:rPr lang="en-US" sz="2400" dirty="0"/>
              <a:t>compression ratio</a:t>
            </a:r>
            <a:endParaRPr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>
            <a:spLocks noGrp="1"/>
          </p:cNvSpPr>
          <p:nvPr>
            <p:ph type="title" idx="4294967295"/>
          </p:nvPr>
        </p:nvSpPr>
        <p:spPr>
          <a:xfrm>
            <a:off x="914400" y="609600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Lossless vs. Lossy Compression</a:t>
            </a:r>
            <a:endParaRPr/>
          </a:p>
        </p:txBody>
      </p:sp>
      <p:pic>
        <p:nvPicPr>
          <p:cNvPr id="417" name="Google Shape;417;p36"/>
          <p:cNvPicPr preferRelativeResize="0"/>
          <p:nvPr/>
        </p:nvPicPr>
        <p:blipFill rotWithShape="1">
          <a:blip r:embed="rId3">
            <a:alphaModFix/>
          </a:blip>
          <a:srcRect r="13548"/>
          <a:stretch/>
        </p:blipFill>
        <p:spPr>
          <a:xfrm>
            <a:off x="2971800" y="1752600"/>
            <a:ext cx="3352800" cy="846138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6"/>
          <p:cNvSpPr txBox="1"/>
          <p:nvPr/>
        </p:nvSpPr>
        <p:spPr>
          <a:xfrm>
            <a:off x="2292427" y="5181600"/>
            <a:ext cx="4711546" cy="9541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693" t="-7999" b="-159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419" name="Google Shape;419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92250" y="2551112"/>
            <a:ext cx="5702300" cy="20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 txBox="1">
            <a:spLocks noGrp="1"/>
          </p:cNvSpPr>
          <p:nvPr>
            <p:ph type="title"/>
          </p:nvPr>
        </p:nvSpPr>
        <p:spPr>
          <a:xfrm>
            <a:off x="628650" y="35534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Image Compression Algorithms: </a:t>
            </a:r>
            <a:br>
              <a:rPr lang="en-US" dirty="0"/>
            </a:br>
            <a:endParaRPr dirty="0"/>
          </a:p>
        </p:txBody>
      </p:sp>
      <p:sp>
        <p:nvSpPr>
          <p:cNvPr id="460" name="Google Shape;460;p42"/>
          <p:cNvSpPr txBox="1">
            <a:spLocks noGrp="1"/>
          </p:cNvSpPr>
          <p:nvPr>
            <p:ph type="body" idx="1"/>
          </p:nvPr>
        </p:nvSpPr>
        <p:spPr>
          <a:xfrm>
            <a:off x="628650" y="1353497"/>
            <a:ext cx="7886700" cy="4856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400" dirty="0"/>
              <a:t>Reduces the redundancies</a:t>
            </a:r>
            <a:endParaRPr sz="2400" dirty="0"/>
          </a:p>
          <a:p>
            <a:pPr marL="457200" lvl="0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en-US" sz="2400" dirty="0"/>
              <a:t>Interpixel Redundancy: Repetition of the same color, texture or shape (Spatial or temporal)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400" dirty="0"/>
              <a:t>2. Psychovisual Redundancy: Limitations of HVS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endParaRPr lang="en-US" sz="2400" dirty="0"/>
          </a:p>
          <a:p>
            <a:pPr marL="457200" lvl="0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endParaRPr lang="en-US" sz="2400" dirty="0"/>
          </a:p>
          <a:p>
            <a:pPr marL="457200" lvl="0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400" dirty="0"/>
              <a:t>3. Coding Redundancy: Unnecessary bit allocation per pixel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br>
              <a:rPr lang="en-US" sz="2400" dirty="0"/>
            </a:br>
            <a:endParaRPr sz="2400" dirty="0"/>
          </a:p>
        </p:txBody>
      </p:sp>
      <p:pic>
        <p:nvPicPr>
          <p:cNvPr id="1026" name="Picture 2" descr="https://raw.githubusercontent.com/hazalmogultay/466Images/master/W10/7.png">
            <a:extLst>
              <a:ext uri="{FF2B5EF4-FFF2-40B4-BE49-F238E27FC236}">
                <a16:creationId xmlns:a16="http://schemas.microsoft.com/office/drawing/2014/main" id="{6B11C4CF-009F-446E-9B8E-3C54040FF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200" y="2572536"/>
            <a:ext cx="2579874" cy="82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raw.githubusercontent.com/hazalmogultay/466Images/master/W10/8.png">
            <a:extLst>
              <a:ext uri="{FF2B5EF4-FFF2-40B4-BE49-F238E27FC236}">
                <a16:creationId xmlns:a16="http://schemas.microsoft.com/office/drawing/2014/main" id="{E097B746-4527-4240-91AF-4CBF5503D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070" y="4079052"/>
            <a:ext cx="3398439" cy="141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 Image Compression Steps</a:t>
            </a:r>
            <a:br>
              <a:rPr lang="en-US" dirty="0"/>
            </a:br>
            <a:endParaRPr dirty="0"/>
          </a:p>
        </p:txBody>
      </p:sp>
      <p:sp>
        <p:nvSpPr>
          <p:cNvPr id="426" name="Google Shape;426;p38"/>
          <p:cNvSpPr txBox="1">
            <a:spLocks noGrp="1"/>
          </p:cNvSpPr>
          <p:nvPr>
            <p:ph type="body" idx="1"/>
          </p:nvPr>
        </p:nvSpPr>
        <p:spPr>
          <a:xfrm>
            <a:off x="304800" y="2514600"/>
            <a:ext cx="883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u="sng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u="sng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sz="2400" b="1" u="sng" dirty="0"/>
            </a:br>
            <a:endParaRPr sz="2400" b="1" u="sng" dirty="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u="sng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55A11"/>
              </a:buClr>
              <a:buSzPts val="2400"/>
              <a:buNone/>
            </a:pPr>
            <a:r>
              <a:rPr lang="en-US" sz="2600" b="1" dirty="0">
                <a:solidFill>
                  <a:srgbClr val="C55A11"/>
                </a:solidFill>
              </a:rPr>
              <a:t>Mapper,</a:t>
            </a:r>
            <a:r>
              <a:rPr lang="en-US" sz="2600" dirty="0">
                <a:solidFill>
                  <a:srgbClr val="C55A11"/>
                </a:solidFill>
              </a:rPr>
              <a:t> </a:t>
            </a:r>
            <a:r>
              <a:rPr lang="en-US" sz="2600" dirty="0"/>
              <a:t>reduces interpixel redundancies.</a:t>
            </a: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55A11"/>
              </a:buClr>
              <a:buSzPts val="2400"/>
              <a:buNone/>
            </a:pPr>
            <a:endParaRPr lang="en-US" sz="2600" dirty="0"/>
          </a:p>
          <a:p>
            <a:pPr indent="-457200">
              <a:spcBef>
                <a:spcPts val="0"/>
              </a:spcBef>
              <a:buSzPts val="2100"/>
            </a:pPr>
            <a:r>
              <a:rPr lang="en-US" sz="2600" b="1" dirty="0"/>
              <a:t>Spatial redundancy</a:t>
            </a:r>
            <a:r>
              <a:rPr lang="en-US" sz="2600" dirty="0"/>
              <a:t>, where the same color is repeated in large image patches.</a:t>
            </a:r>
          </a:p>
          <a:p>
            <a:pPr indent="-457200">
              <a:buSzPts val="2100"/>
            </a:pPr>
            <a:r>
              <a:rPr lang="en-US" sz="2600" b="1" dirty="0"/>
              <a:t>Geometric redundancy</a:t>
            </a:r>
            <a:r>
              <a:rPr lang="en-US" sz="2600" dirty="0"/>
              <a:t>, where the same pattern or shape is repeated to form a texture.</a:t>
            </a:r>
          </a:p>
          <a:p>
            <a:pPr indent="-457200">
              <a:buSzPts val="2100"/>
            </a:pPr>
            <a:r>
              <a:rPr lang="en-US" sz="2600" b="1" dirty="0"/>
              <a:t>Interframe redundancy</a:t>
            </a:r>
            <a:r>
              <a:rPr lang="en-US" sz="2600" dirty="0"/>
              <a:t>, where the video frames are repeated from a reference frame.</a:t>
            </a: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55A11"/>
              </a:buClr>
              <a:buSzPts val="2400"/>
              <a:buChar char="•"/>
            </a:pPr>
            <a:endParaRPr dirty="0"/>
          </a:p>
        </p:txBody>
      </p:sp>
      <p:pic>
        <p:nvPicPr>
          <p:cNvPr id="427" name="Google Shape;42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1314451"/>
            <a:ext cx="8343900" cy="22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8"/>
          <p:cNvSpPr/>
          <p:nvPr/>
        </p:nvSpPr>
        <p:spPr>
          <a:xfrm>
            <a:off x="1514475" y="1624013"/>
            <a:ext cx="1524000" cy="1219200"/>
          </a:xfrm>
          <a:prstGeom prst="ellipse">
            <a:avLst/>
          </a:prstGeom>
          <a:noFill/>
          <a:ln w="57150" cap="sq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9"/>
          <p:cNvSpPr txBox="1">
            <a:spLocks noGrp="1"/>
          </p:cNvSpPr>
          <p:nvPr>
            <p:ph type="title" idx="4294967295"/>
          </p:nvPr>
        </p:nvSpPr>
        <p:spPr>
          <a:xfrm>
            <a:off x="1371600" y="60960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  Image Compression Steps</a:t>
            </a:r>
            <a:br>
              <a:rPr lang="en-US" dirty="0"/>
            </a:br>
            <a:endParaRPr dirty="0"/>
          </a:p>
        </p:txBody>
      </p:sp>
      <p:sp>
        <p:nvSpPr>
          <p:cNvPr id="435" name="Google Shape;435;p39"/>
          <p:cNvSpPr txBox="1">
            <a:spLocks noGrp="1"/>
          </p:cNvSpPr>
          <p:nvPr>
            <p:ph type="body" idx="4294967295"/>
          </p:nvPr>
        </p:nvSpPr>
        <p:spPr>
          <a:xfrm>
            <a:off x="304800" y="2514600"/>
            <a:ext cx="8077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u="sng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u="sng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sz="2400" b="1" u="sng" dirty="0"/>
            </a:br>
            <a:endParaRPr sz="2400" b="1" u="sng" dirty="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u="sng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Quantizer:</a:t>
            </a:r>
            <a:r>
              <a:rPr lang="en-US" sz="2400" dirty="0"/>
              <a:t> Quantizes the data to reduce psychovisual redundancies.</a:t>
            </a:r>
            <a:endParaRPr dirty="0"/>
          </a:p>
        </p:txBody>
      </p:sp>
      <p:pic>
        <p:nvPicPr>
          <p:cNvPr id="436" name="Google Shape;43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752600"/>
            <a:ext cx="8343900" cy="22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9"/>
          <p:cNvSpPr/>
          <p:nvPr/>
        </p:nvSpPr>
        <p:spPr>
          <a:xfrm>
            <a:off x="3124200" y="1905000"/>
            <a:ext cx="1524000" cy="1219200"/>
          </a:xfrm>
          <a:prstGeom prst="ellipse">
            <a:avLst/>
          </a:prstGeom>
          <a:noFill/>
          <a:ln w="57150" cap="sq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 txBox="1">
            <a:spLocks noGrp="1"/>
          </p:cNvSpPr>
          <p:nvPr>
            <p:ph type="title" idx="4294967295"/>
          </p:nvPr>
        </p:nvSpPr>
        <p:spPr>
          <a:xfrm>
            <a:off x="990600" y="6096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Image Compression Steps</a:t>
            </a:r>
            <a:endParaRPr dirty="0"/>
          </a:p>
        </p:txBody>
      </p:sp>
      <p:sp>
        <p:nvSpPr>
          <p:cNvPr id="444" name="Google Shape;444;p40"/>
          <p:cNvSpPr txBox="1">
            <a:spLocks noGrp="1"/>
          </p:cNvSpPr>
          <p:nvPr>
            <p:ph type="body" idx="4294967295"/>
          </p:nvPr>
        </p:nvSpPr>
        <p:spPr>
          <a:xfrm>
            <a:off x="190501" y="2514600"/>
            <a:ext cx="8762998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u="sng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u="sng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sz="2400" b="1" u="sng" dirty="0"/>
            </a:br>
            <a:endParaRPr sz="2400" b="1" u="sng" dirty="0"/>
          </a:p>
          <a:p>
            <a:pPr marL="171450" lvl="0" indent="-19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u="sng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Symbol encoder: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encodes the data to reduce coding redundancies.</a:t>
            </a:r>
            <a:endParaRPr dirty="0"/>
          </a:p>
        </p:txBody>
      </p:sp>
      <p:pic>
        <p:nvPicPr>
          <p:cNvPr id="445" name="Google Shape;44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752600"/>
            <a:ext cx="8343900" cy="22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0"/>
          <p:cNvSpPr/>
          <p:nvPr/>
        </p:nvSpPr>
        <p:spPr>
          <a:xfrm>
            <a:off x="4724400" y="1981200"/>
            <a:ext cx="1524000" cy="1219200"/>
          </a:xfrm>
          <a:prstGeom prst="ellipse">
            <a:avLst/>
          </a:prstGeom>
          <a:noFill/>
          <a:ln w="57150" cap="sq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1. Mapper: Reduce Interpixel Redundancy</a:t>
            </a:r>
            <a:endParaRPr dirty="0"/>
          </a:p>
        </p:txBody>
      </p:sp>
      <p:sp>
        <p:nvSpPr>
          <p:cNvPr id="519" name="Google Shape;519;p5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76250">
              <a:spcBef>
                <a:spcPts val="0"/>
              </a:spcBef>
              <a:buSzPts val="2100"/>
            </a:pPr>
            <a:r>
              <a:rPr lang="en-US" sz="2400" dirty="0"/>
              <a:t>Image Transforms</a:t>
            </a:r>
          </a:p>
          <a:p>
            <a:pPr marL="476250">
              <a:spcBef>
                <a:spcPts val="0"/>
              </a:spcBef>
              <a:buSzPts val="2100"/>
            </a:pPr>
            <a:r>
              <a:rPr lang="en-US" sz="2400" dirty="0"/>
              <a:t>Run Length Coding</a:t>
            </a:r>
          </a:p>
          <a:p>
            <a:pPr marL="476250">
              <a:spcBef>
                <a:spcPts val="0"/>
              </a:spcBef>
              <a:buSzPts val="2100"/>
            </a:pPr>
            <a:r>
              <a:rPr lang="en-US" sz="2400" dirty="0"/>
              <a:t>Bit Plane Slicing and encoding</a:t>
            </a:r>
            <a:endParaRPr sz="2400" dirty="0"/>
          </a:p>
        </p:txBody>
      </p:sp>
      <p:pic>
        <p:nvPicPr>
          <p:cNvPr id="4" name="Google Shape;506;p48">
            <a:extLst>
              <a:ext uri="{FF2B5EF4-FFF2-40B4-BE49-F238E27FC236}">
                <a16:creationId xmlns:a16="http://schemas.microsoft.com/office/drawing/2014/main" id="{254B86EB-39EF-4D84-8133-64F3FB452A4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2324" y="3211512"/>
            <a:ext cx="2700338" cy="3280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05;p48">
            <a:extLst>
              <a:ext uri="{FF2B5EF4-FFF2-40B4-BE49-F238E27FC236}">
                <a16:creationId xmlns:a16="http://schemas.microsoft.com/office/drawing/2014/main" id="{F99FE666-A0F8-49A9-B89D-877E7E83FAF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3181348"/>
            <a:ext cx="2628665" cy="3295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13;p49">
            <a:extLst>
              <a:ext uri="{FF2B5EF4-FFF2-40B4-BE49-F238E27FC236}">
                <a16:creationId xmlns:a16="http://schemas.microsoft.com/office/drawing/2014/main" id="{AE53B157-A568-414D-9378-2C3CF331691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735" y="3196431"/>
            <a:ext cx="2628665" cy="335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1.1. Mapper: Image Transforms</a:t>
            </a:r>
            <a:endParaRPr dirty="0"/>
          </a:p>
        </p:txBody>
      </p:sp>
      <p:sp>
        <p:nvSpPr>
          <p:cNvPr id="526" name="Google Shape;526;p51"/>
          <p:cNvSpPr txBox="1">
            <a:spLocks noGrp="1"/>
          </p:cNvSpPr>
          <p:nvPr>
            <p:ph type="body" idx="1"/>
          </p:nvPr>
        </p:nvSpPr>
        <p:spPr>
          <a:xfrm>
            <a:off x="628650" y="2773363"/>
            <a:ext cx="7886700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T(</a:t>
            </a:r>
            <a:r>
              <a:rPr lang="en-US" dirty="0" err="1"/>
              <a:t>u,v</a:t>
            </a:r>
            <a:r>
              <a:rPr lang="en-US" dirty="0"/>
              <a:t>) can be computed using various transformations, for example: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DFT ( Discrete Fourier Transform)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DCT (Discrete Cosine Transform)</a:t>
            </a:r>
            <a:endParaRPr dirty="0"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DWT (Discrete Wavelet Transform)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JPEG uses DCT for handling interpixel redundancy.</a:t>
            </a:r>
            <a:endParaRPr dirty="0"/>
          </a:p>
        </p:txBody>
      </p:sp>
      <p:pic>
        <p:nvPicPr>
          <p:cNvPr id="527" name="Google Shape;52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400" y="1981200"/>
            <a:ext cx="5029200" cy="1087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a92266c094_0_6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Example: Fourier Transform</a:t>
            </a:r>
            <a:endParaRPr/>
          </a:p>
        </p:txBody>
      </p:sp>
      <p:pic>
        <p:nvPicPr>
          <p:cNvPr id="534" name="Google Shape;534;ga92266c094_0_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429200"/>
            <a:ext cx="7010401" cy="81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ga92266c094_0_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3400" y="3076575"/>
            <a:ext cx="1890713" cy="1963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ga92266c094_0_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86200" y="3132138"/>
            <a:ext cx="1768475" cy="1927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a92266c094_0_66"/>
          <p:cNvSpPr/>
          <p:nvPr/>
        </p:nvSpPr>
        <p:spPr>
          <a:xfrm>
            <a:off x="5846763" y="3224213"/>
            <a:ext cx="2590800" cy="13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that the magnitude of the FT decreases, as </a:t>
            </a:r>
            <a:r>
              <a:rPr lang="en-US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increase!</a:t>
            </a:r>
            <a:endParaRPr/>
          </a:p>
        </p:txBody>
      </p:sp>
      <p:pic>
        <p:nvPicPr>
          <p:cNvPr id="538" name="Google Shape;538;ga92266c094_0_6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0" y="5334000"/>
            <a:ext cx="6688138" cy="84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ga92266c094_0_6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49738" y="6197600"/>
            <a:ext cx="3962402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a92266c094_0_66"/>
          <p:cNvSpPr txBox="1"/>
          <p:nvPr/>
        </p:nvSpPr>
        <p:spPr>
          <a:xfrm>
            <a:off x="3124200" y="5334000"/>
            <a:ext cx="558900" cy="30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K-1</a:t>
            </a:r>
            <a:r>
              <a:rPr lang="en-US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541" name="Google Shape;541;ga92266c094_0_66"/>
          <p:cNvSpPr txBox="1"/>
          <p:nvPr/>
        </p:nvSpPr>
        <p:spPr>
          <a:xfrm>
            <a:off x="3657600" y="5334000"/>
            <a:ext cx="558900" cy="30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</a:pPr>
            <a:r>
              <a:rPr lang="en-US" sz="14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K-1</a:t>
            </a:r>
            <a:r>
              <a:rPr lang="en-US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542" name="Google Shape;542;ga92266c094_0_66"/>
          <p:cNvSpPr txBox="1"/>
          <p:nvPr/>
        </p:nvSpPr>
        <p:spPr>
          <a:xfrm>
            <a:off x="6553200" y="4800600"/>
            <a:ext cx="1295400" cy="45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&lt;&lt; N</a:t>
            </a:r>
            <a:r>
              <a:rPr lang="en-US" sz="14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a92266c094_0_10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Comparison of  DFT, HT and DCT</a:t>
            </a:r>
            <a:endParaRPr dirty="0"/>
          </a:p>
        </p:txBody>
      </p:sp>
      <p:pic>
        <p:nvPicPr>
          <p:cNvPr id="646" name="Google Shape;646;ga92266c094_0_10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b="50000"/>
          <a:stretch/>
        </p:blipFill>
        <p:spPr>
          <a:xfrm>
            <a:off x="2295525" y="2114550"/>
            <a:ext cx="61437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ga92266c094_0_103"/>
          <p:cNvSpPr txBox="1"/>
          <p:nvPr/>
        </p:nvSpPr>
        <p:spPr>
          <a:xfrm>
            <a:off x="2743200" y="1676400"/>
            <a:ext cx="76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DFT</a:t>
            </a:r>
            <a:endParaRPr/>
          </a:p>
        </p:txBody>
      </p:sp>
      <p:sp>
        <p:nvSpPr>
          <p:cNvPr id="648" name="Google Shape;648;ga92266c094_0_103"/>
          <p:cNvSpPr txBox="1"/>
          <p:nvPr/>
        </p:nvSpPr>
        <p:spPr>
          <a:xfrm>
            <a:off x="4474203" y="1676400"/>
            <a:ext cx="19852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Hadamard T</a:t>
            </a:r>
            <a:endParaRPr dirty="0"/>
          </a:p>
        </p:txBody>
      </p:sp>
      <p:sp>
        <p:nvSpPr>
          <p:cNvPr id="649" name="Google Shape;649;ga92266c094_0_103"/>
          <p:cNvSpPr txBox="1"/>
          <p:nvPr/>
        </p:nvSpPr>
        <p:spPr>
          <a:xfrm>
            <a:off x="6934200" y="1676400"/>
            <a:ext cx="79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DCT</a:t>
            </a:r>
            <a:endParaRPr/>
          </a:p>
        </p:txBody>
      </p:sp>
      <p:sp>
        <p:nvSpPr>
          <p:cNvPr id="650" name="Google Shape;650;ga92266c094_0_103"/>
          <p:cNvSpPr txBox="1"/>
          <p:nvPr/>
        </p:nvSpPr>
        <p:spPr>
          <a:xfrm>
            <a:off x="1009650" y="6270625"/>
            <a:ext cx="744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 error: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2.32                       1.78                      1.13</a:t>
            </a:r>
            <a:endParaRPr/>
          </a:p>
        </p:txBody>
      </p:sp>
      <p:sp>
        <p:nvSpPr>
          <p:cNvPr id="651" name="Google Shape;651;ga92266c094_0_103"/>
          <p:cNvSpPr txBox="1"/>
          <p:nvPr/>
        </p:nvSpPr>
        <p:spPr>
          <a:xfrm>
            <a:off x="112713" y="2474913"/>
            <a:ext cx="2195400" cy="3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x 8 sub-images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yields 64 coefficients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sub-image.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Reconstructed images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US" sz="16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truncating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 of the 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coefficients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DCT is a more </a:t>
            </a:r>
            <a:r>
              <a:rPr lang="en-US" sz="16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compact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transformation!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endParaRPr dirty="0"/>
          </a:p>
        </p:txBody>
      </p:sp>
      <p:pic>
        <p:nvPicPr>
          <p:cNvPr id="652" name="Google Shape;652;ga92266c094_0_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4850" y="3340100"/>
            <a:ext cx="114301" cy="17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ga92266c094_0_103"/>
          <p:cNvPicPr preferRelativeResize="0"/>
          <p:nvPr/>
        </p:nvPicPr>
        <p:blipFill rotWithShape="1">
          <a:blip r:embed="rId3">
            <a:alphaModFix/>
          </a:blip>
          <a:srcRect t="50000"/>
          <a:stretch/>
        </p:blipFill>
        <p:spPr>
          <a:xfrm>
            <a:off x="2295525" y="4318000"/>
            <a:ext cx="6143625" cy="205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"/>
          <p:cNvSpPr txBox="1">
            <a:spLocks noGrp="1"/>
          </p:cNvSpPr>
          <p:nvPr>
            <p:ph type="title" idx="4294967295"/>
          </p:nvPr>
        </p:nvSpPr>
        <p:spPr>
          <a:xfrm>
            <a:off x="304800" y="6096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1. 2. Mapper: Run-length coding (RLC)</a:t>
            </a:r>
            <a:endParaRPr dirty="0"/>
          </a:p>
        </p:txBody>
      </p:sp>
      <p:sp>
        <p:nvSpPr>
          <p:cNvPr id="549" name="Google Shape;549;p52"/>
          <p:cNvSpPr txBox="1">
            <a:spLocks noGrp="1"/>
          </p:cNvSpPr>
          <p:nvPr>
            <p:ph type="body" idx="4294967295"/>
          </p:nvPr>
        </p:nvSpPr>
        <p:spPr>
          <a:xfrm>
            <a:off x="609600" y="19812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95300" lvl="0" indent="-495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Reduce the interpixel redundancy of  repeating string of symbols (i.e., runs)</a:t>
            </a:r>
            <a:endParaRPr dirty="0"/>
          </a:p>
          <a:p>
            <a:pPr marL="495300" lvl="0" indent="-4953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dirty="0"/>
              <a:t>			</a:t>
            </a:r>
            <a:endParaRPr dirty="0"/>
          </a:p>
          <a:p>
            <a:pPr marL="495300" lvl="0" indent="-4953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lang="en-US" sz="2400" dirty="0">
                <a:solidFill>
                  <a:srgbClr val="C00000"/>
                </a:solidFill>
              </a:rPr>
              <a:t>            </a:t>
            </a:r>
            <a:r>
              <a:rPr lang="en-US" sz="3000" dirty="0">
                <a:solidFill>
                  <a:srgbClr val="C00000"/>
                </a:solidFill>
              </a:rPr>
              <a:t>1 1 1 1 1 0 0 0 0 0 0 1 ... (1,5) (0, 6) (1, 1)</a:t>
            </a:r>
            <a:endParaRPr sz="3000" dirty="0">
              <a:solidFill>
                <a:srgbClr val="C00000"/>
              </a:solidFill>
            </a:endParaRPr>
          </a:p>
          <a:p>
            <a:pPr marL="495300" lvl="0" indent="-4953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rgbClr val="C00000"/>
                </a:solidFill>
              </a:rPr>
              <a:t>         a </a:t>
            </a:r>
            <a:r>
              <a:rPr lang="en-US" sz="3200" dirty="0" err="1">
                <a:solidFill>
                  <a:srgbClr val="C00000"/>
                </a:solidFill>
              </a:rPr>
              <a:t>a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a</a:t>
            </a:r>
            <a:r>
              <a:rPr lang="en-US" sz="3200" dirty="0">
                <a:solidFill>
                  <a:srgbClr val="C00000"/>
                </a:solidFill>
              </a:rPr>
              <a:t> b </a:t>
            </a:r>
            <a:r>
              <a:rPr lang="en-US" sz="3200" dirty="0" err="1">
                <a:solidFill>
                  <a:srgbClr val="C00000"/>
                </a:solidFill>
              </a:rPr>
              <a:t>b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b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b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b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b</a:t>
            </a:r>
            <a:r>
              <a:rPr lang="en-US" sz="3200" dirty="0">
                <a:solidFill>
                  <a:srgbClr val="C00000"/>
                </a:solidFill>
              </a:rPr>
              <a:t> c </a:t>
            </a:r>
            <a:r>
              <a:rPr lang="en-US" sz="3200" dirty="0" err="1">
                <a:solidFill>
                  <a:srgbClr val="C00000"/>
                </a:solidFill>
              </a:rPr>
              <a:t>c</a:t>
            </a:r>
            <a:r>
              <a:rPr lang="en-US" sz="3200" dirty="0">
                <a:solidFill>
                  <a:srgbClr val="C00000"/>
                </a:solidFill>
              </a:rPr>
              <a:t> ... (a,3) (b, 6) (c, 2)</a:t>
            </a:r>
            <a:endParaRPr sz="3200" dirty="0">
              <a:solidFill>
                <a:srgbClr val="C00000"/>
              </a:solidFill>
            </a:endParaRPr>
          </a:p>
          <a:p>
            <a:pPr marL="4953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solidFill>
                <a:srgbClr val="C00000"/>
              </a:solidFill>
            </a:endParaRPr>
          </a:p>
          <a:p>
            <a:pPr marL="495300" lvl="0" indent="-4953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Encodes a run of symbols into two bytes: </a:t>
            </a:r>
            <a:r>
              <a:rPr lang="en-US" sz="2400" b="1" dirty="0">
                <a:solidFill>
                  <a:schemeClr val="accent6"/>
                </a:solidFill>
              </a:rPr>
              <a:t>(symbol, count) </a:t>
            </a:r>
            <a:endParaRPr sz="2400" dirty="0"/>
          </a:p>
          <a:p>
            <a:pPr marL="495300" lvl="0" indent="-4953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Can compress any type of data but cannot achieve high compression ratios compared to other compression methods.</a:t>
            </a:r>
            <a:endParaRPr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1.2. Run length Coding for Binary Images</a:t>
            </a:r>
            <a:endParaRPr dirty="0"/>
          </a:p>
        </p:txBody>
      </p:sp>
      <p:sp>
        <p:nvSpPr>
          <p:cNvPr id="555" name="Google Shape;555;p53"/>
          <p:cNvSpPr txBox="1">
            <a:spLocks noGrp="1"/>
          </p:cNvSpPr>
          <p:nvPr>
            <p:ph type="body" idx="1"/>
          </p:nvPr>
        </p:nvSpPr>
        <p:spPr>
          <a:xfrm>
            <a:off x="628650" y="5105400"/>
            <a:ext cx="7886700" cy="1185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400" dirty="0"/>
              <a:t>Image as a list of lists: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400" dirty="0"/>
              <a:t>I=(0,​​ 2,​​ 2​​) (1 1 4)(2 1 5)(3 1 6)(4 1 6)</a:t>
            </a:r>
            <a:endParaRPr sz="2400" dirty="0"/>
          </a:p>
        </p:txBody>
      </p:sp>
      <p:pic>
        <p:nvPicPr>
          <p:cNvPr id="556" name="Google Shape;556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800" y="1447800"/>
            <a:ext cx="5257800" cy="3046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6"/>
          <p:cNvSpPr txBox="1">
            <a:spLocks noGrp="1"/>
          </p:cNvSpPr>
          <p:nvPr>
            <p:ph type="title"/>
          </p:nvPr>
        </p:nvSpPr>
        <p:spPr>
          <a:xfrm>
            <a:off x="166255" y="365126"/>
            <a:ext cx="90168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r>
              <a:rPr lang="en-US" sz="3200" dirty="0"/>
              <a:t>1. 3. Bit-plane coding, reduces interpixel redundancy</a:t>
            </a:r>
            <a:endParaRPr sz="3200" dirty="0"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1"/>
          </p:nvPr>
        </p:nvSpPr>
        <p:spPr>
          <a:xfrm>
            <a:off x="685800" y="1990979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400" dirty="0"/>
              <a:t>Process each </a:t>
            </a:r>
            <a:r>
              <a:rPr lang="en-US" sz="2400" b="1" dirty="0">
                <a:solidFill>
                  <a:srgbClr val="00B050"/>
                </a:solidFill>
              </a:rPr>
              <a:t>bit plane </a:t>
            </a:r>
            <a:r>
              <a:rPr lang="en-US" sz="2400" dirty="0"/>
              <a:t>individually.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dirty="0"/>
              <a:t>(1) Decompose an image into a series of binary images.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dirty="0"/>
              <a:t>(2) Compress each binary image (e.g., using run-length coding) </a:t>
            </a:r>
            <a:endParaRPr sz="2400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587" name="Google Shape;58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4348290"/>
            <a:ext cx="4495800" cy="1744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D8FA-2CC4-40B9-8805-E005C9904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37072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1.3 Bit Plane Slicing: Remove least significant bits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26A9B-DFA1-4071-8D1A-60A624E903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03" r="12856"/>
          <a:stretch/>
        </p:blipFill>
        <p:spPr>
          <a:xfrm>
            <a:off x="1243880" y="2112213"/>
            <a:ext cx="6295159" cy="412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512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8"/>
          <p:cNvSpPr txBox="1">
            <a:spLocks noGrp="1"/>
          </p:cNvSpPr>
          <p:nvPr>
            <p:ph type="title"/>
          </p:nvPr>
        </p:nvSpPr>
        <p:spPr>
          <a:xfrm>
            <a:off x="254273" y="365126"/>
            <a:ext cx="866479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2. Quantizer: Reduce Psychovisual Redundancy</a:t>
            </a:r>
            <a:endParaRPr dirty="0"/>
          </a:p>
        </p:txBody>
      </p:sp>
      <p:sp>
        <p:nvSpPr>
          <p:cNvPr id="608" name="Google Shape;608;p58"/>
          <p:cNvSpPr txBox="1">
            <a:spLocks noGrp="1"/>
          </p:cNvSpPr>
          <p:nvPr>
            <p:ph type="body" idx="1"/>
          </p:nvPr>
        </p:nvSpPr>
        <p:spPr>
          <a:xfrm>
            <a:off x="628650" y="184518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>
              <a:buSzPts val="2800"/>
            </a:pPr>
            <a:r>
              <a:rPr lang="en-US" sz="2400" dirty="0"/>
              <a:t>Sampling and Interpolation</a:t>
            </a:r>
            <a:endParaRPr sz="2400" dirty="0"/>
          </a:p>
          <a:p>
            <a:pPr marL="514350" indent="-514350">
              <a:buSzPts val="2800"/>
            </a:pPr>
            <a:r>
              <a:rPr lang="en-US" sz="2400" dirty="0"/>
              <a:t>Quantization</a:t>
            </a:r>
            <a:endParaRPr sz="2400" dirty="0"/>
          </a:p>
          <a:p>
            <a:pPr marL="857250" lvl="1" indent="-514350">
              <a:buSzPts val="2500"/>
            </a:pPr>
            <a:r>
              <a:rPr lang="en-US" sz="2400" dirty="0"/>
              <a:t>Vector Quantization</a:t>
            </a:r>
            <a:endParaRPr sz="2400" dirty="0"/>
          </a:p>
          <a:p>
            <a:pPr marL="857250" lvl="1" indent="-514350">
              <a:buSzPts val="2500"/>
            </a:pPr>
            <a:r>
              <a:rPr lang="en-US" sz="2400" dirty="0"/>
              <a:t>Color Quantization</a:t>
            </a:r>
            <a:endParaRPr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2.1. Sampling and  Interpolation </a:t>
            </a:r>
            <a:endParaRPr dirty="0"/>
          </a:p>
        </p:txBody>
      </p:sp>
      <p:sp>
        <p:nvSpPr>
          <p:cNvPr id="674" name="Google Shape;674;p60"/>
          <p:cNvSpPr txBox="1">
            <a:spLocks noGrp="1"/>
          </p:cNvSpPr>
          <p:nvPr>
            <p:ph type="body" idx="1"/>
          </p:nvPr>
        </p:nvSpPr>
        <p:spPr>
          <a:xfrm>
            <a:off x="2819400" y="3886199"/>
            <a:ext cx="2819400" cy="229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dirty="0"/>
              <a:t>Down sampled image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675" name="Google Shape;675;p60"/>
          <p:cNvPicPr preferRelativeResize="0"/>
          <p:nvPr/>
        </p:nvPicPr>
        <p:blipFill rotWithShape="1">
          <a:blip r:embed="rId3">
            <a:alphaModFix/>
          </a:blip>
          <a:srcRect r="12413" b="53196"/>
          <a:stretch/>
        </p:blipFill>
        <p:spPr>
          <a:xfrm>
            <a:off x="381000" y="1825625"/>
            <a:ext cx="3886200" cy="221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60"/>
          <p:cNvPicPr preferRelativeResize="0"/>
          <p:nvPr/>
        </p:nvPicPr>
        <p:blipFill rotWithShape="1">
          <a:blip r:embed="rId3">
            <a:alphaModFix/>
          </a:blip>
          <a:srcRect l="51520" t="49177"/>
          <a:stretch/>
        </p:blipFill>
        <p:spPr>
          <a:xfrm>
            <a:off x="5867400" y="1586945"/>
            <a:ext cx="2151030" cy="2402999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0"/>
          <p:cNvSpPr txBox="1"/>
          <p:nvPr/>
        </p:nvSpPr>
        <p:spPr>
          <a:xfrm>
            <a:off x="628650" y="4173536"/>
            <a:ext cx="20361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Original image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8" name="Google Shape;678;p60"/>
          <p:cNvSpPr txBox="1"/>
          <p:nvPr/>
        </p:nvSpPr>
        <p:spPr>
          <a:xfrm>
            <a:off x="5793415" y="4042348"/>
            <a:ext cx="2819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Up sampled and </a:t>
            </a:r>
            <a:r>
              <a:rPr lang="en-US" sz="2400" dirty="0" err="1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sinc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interpolated image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2.2. Vector Quantization</a:t>
            </a:r>
            <a:endParaRPr dirty="0"/>
          </a:p>
        </p:txBody>
      </p:sp>
      <p:sp>
        <p:nvSpPr>
          <p:cNvPr id="684" name="Google Shape;684;p6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image is made out of similar patches that we cannot discriminate</a:t>
            </a:r>
            <a:endParaRPr/>
          </a:p>
        </p:txBody>
      </p:sp>
      <p:pic>
        <p:nvPicPr>
          <p:cNvPr id="685" name="Google Shape;685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568" y="2874486"/>
            <a:ext cx="8569114" cy="349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3125" y="3810000"/>
            <a:ext cx="4293301" cy="2870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61"/>
          <p:cNvPicPr preferRelativeResize="0"/>
          <p:nvPr/>
        </p:nvPicPr>
        <p:blipFill rotWithShape="1">
          <a:blip r:embed="rId3">
            <a:alphaModFix/>
          </a:blip>
          <a:srcRect l="47450" t="39682" b="21454"/>
          <a:stretch/>
        </p:blipFill>
        <p:spPr>
          <a:xfrm>
            <a:off x="4177862" y="2293144"/>
            <a:ext cx="4503026" cy="1357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A Simple Vector Quantization Method</a:t>
            </a:r>
            <a:endParaRPr/>
          </a:p>
        </p:txBody>
      </p:sp>
      <p:sp>
        <p:nvSpPr>
          <p:cNvPr id="693" name="Google Shape;693;p62"/>
          <p:cNvSpPr txBox="1">
            <a:spLocks noGrp="1"/>
          </p:cNvSpPr>
          <p:nvPr>
            <p:ph type="body" idx="1"/>
          </p:nvPr>
        </p:nvSpPr>
        <p:spPr>
          <a:xfrm>
            <a:off x="628650" y="1830515"/>
            <a:ext cx="78867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85" t="-23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2.. Color Quantization</a:t>
            </a:r>
            <a:endParaRPr dirty="0"/>
          </a:p>
        </p:txBody>
      </p:sp>
      <p:sp>
        <p:nvSpPr>
          <p:cNvPr id="699" name="Google Shape;699;p6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Find Color Histogram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Select Colors to represent image</a:t>
            </a:r>
            <a:endParaRPr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Discard the rest of the colors assigning them to the </a:t>
            </a:r>
            <a:r>
              <a:rPr lang="en-US" dirty="0" err="1"/>
              <a:t>nrerest</a:t>
            </a:r>
            <a:r>
              <a:rPr lang="en-US" dirty="0"/>
              <a:t> selected colors</a:t>
            </a:r>
            <a:endParaRPr dirty="0"/>
          </a:p>
        </p:txBody>
      </p:sp>
      <p:pic>
        <p:nvPicPr>
          <p:cNvPr id="700" name="Google Shape;700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950" y="3513378"/>
            <a:ext cx="7562850" cy="266358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63"/>
          <p:cNvSpPr/>
          <p:nvPr/>
        </p:nvSpPr>
        <p:spPr>
          <a:xfrm>
            <a:off x="4441195" y="3198168"/>
            <a:ext cx="2616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63"/>
          <p:cNvSpPr/>
          <p:nvPr/>
        </p:nvSpPr>
        <p:spPr>
          <a:xfrm>
            <a:off x="4441195" y="3198168"/>
            <a:ext cx="2616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4"/>
          <p:cNvSpPr txBox="1">
            <a:spLocks noGrp="1"/>
          </p:cNvSpPr>
          <p:nvPr>
            <p:ph type="title"/>
          </p:nvPr>
        </p:nvSpPr>
        <p:spPr>
          <a:xfrm>
            <a:off x="457200" y="284435"/>
            <a:ext cx="8229600" cy="15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K- Means Clustering for Color Quantization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br>
              <a:rPr lang="en-US" sz="2400" dirty="0">
                <a:latin typeface="Tahoma"/>
                <a:ea typeface="Tahoma"/>
                <a:cs typeface="Tahoma"/>
                <a:sym typeface="Tahoma"/>
              </a:rPr>
            </a:br>
            <a:r>
              <a:rPr lang="en-US" sz="2400" dirty="0">
                <a:latin typeface="Tahoma"/>
                <a:ea typeface="Tahoma"/>
                <a:cs typeface="Tahoma"/>
                <a:sym typeface="Tahoma"/>
              </a:rPr>
              <a:t>Cluster  similar colors into K- Groups, in D-Dimensional  color space</a:t>
            </a:r>
            <a:endParaRPr sz="3700" dirty="0"/>
          </a:p>
        </p:txBody>
      </p:sp>
      <p:pic>
        <p:nvPicPr>
          <p:cNvPr id="709" name="Google Shape;709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400" y="2499523"/>
            <a:ext cx="5334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64"/>
          <p:cNvPicPr preferRelativeResize="0"/>
          <p:nvPr/>
        </p:nvPicPr>
        <p:blipFill rotWithShape="1">
          <a:blip r:embed="rId4">
            <a:alphaModFix/>
          </a:blip>
          <a:srcRect r="55275"/>
          <a:stretch/>
        </p:blipFill>
        <p:spPr>
          <a:xfrm>
            <a:off x="268574" y="2874475"/>
            <a:ext cx="3134498" cy="28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17" name="Google Shape;717;p6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chemeClr val="folHlink"/>
                </a:solidFill>
              </a:rPr>
              <a:t> </a:t>
            </a:r>
            <a:r>
              <a:rPr lang="en-US" sz="3200" dirty="0"/>
              <a:t>K-means Algorithm Clustering for Color quantization </a:t>
            </a:r>
            <a:endParaRPr dirty="0"/>
          </a:p>
        </p:txBody>
      </p:sp>
      <p:sp>
        <p:nvSpPr>
          <p:cNvPr id="718" name="Google Shape;718;p65"/>
          <p:cNvSpPr txBox="1"/>
          <p:nvPr/>
        </p:nvSpPr>
        <p:spPr>
          <a:xfrm>
            <a:off x="857250" y="1981200"/>
            <a:ext cx="7429500" cy="470894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Form K-means clusters from a set of n-dimensional vectors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Set 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ic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(iteration count) to 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Choose randomly a set of K means m1(1), …, 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mK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(1).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3. </a:t>
            </a:r>
            <a:r>
              <a:rPr lang="en-US" sz="20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For each vector xi, compute E (</a:t>
            </a:r>
            <a:r>
              <a:rPr lang="en-US" sz="2000" dirty="0" err="1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xi,mk</a:t>
            </a:r>
            <a:r>
              <a:rPr lang="en-US" sz="20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000" dirty="0" err="1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ic</a:t>
            </a:r>
            <a:r>
              <a:rPr lang="en-US" sz="20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)), k=1,…K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   and assign xi to the cluster </a:t>
            </a:r>
            <a:r>
              <a:rPr lang="en-US" sz="2000" dirty="0" err="1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Cj</a:t>
            </a:r>
            <a:r>
              <a:rPr lang="en-US" sz="20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with nearest mean.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4.  Increment 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ic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by 1, update the means to get m1(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ic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),…,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mK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ic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5. Repeat steps 3 and 4 until Ck(</a:t>
            </a:r>
            <a:r>
              <a:rPr lang="en-US" sz="20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ic</a:t>
            </a: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= Ck(ic+1) for all k.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highlight>
                  <a:srgbClr val="FFFF00"/>
                </a:highlight>
                <a:latin typeface="Tahoma"/>
                <a:ea typeface="Tahoma"/>
                <a:cs typeface="Tahoma"/>
                <a:sym typeface="Tahoma"/>
              </a:rPr>
              <a:t>6. Select the colors as cluster mean colors  and assign all the colors to the color of the nearest mean.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190194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K- Means Color Quantization</a:t>
            </a:r>
            <a:endParaRPr/>
          </a:p>
        </p:txBody>
      </p:sp>
      <p:sp>
        <p:nvSpPr>
          <p:cNvPr id="730" name="Google Shape;730;p67"/>
          <p:cNvSpPr txBox="1">
            <a:spLocks noGrp="1"/>
          </p:cNvSpPr>
          <p:nvPr>
            <p:ph type="body" idx="1"/>
          </p:nvPr>
        </p:nvSpPr>
        <p:spPr>
          <a:xfrm>
            <a:off x="628650" y="183051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731" name="Google Shape;731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1825625"/>
            <a:ext cx="5654794" cy="4741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768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en-US" sz="2970" dirty="0"/>
              <a:t>A Fast Color Quantization Algorithm Using a Set of One Dimensional Color Intervals </a:t>
            </a:r>
            <a:br>
              <a:rPr lang="en-US" sz="2970" dirty="0"/>
            </a:br>
            <a:r>
              <a:rPr lang="en-US" sz="2970" dirty="0"/>
              <a:t> M. </a:t>
            </a:r>
            <a:r>
              <a:rPr lang="en-US" sz="2970" dirty="0" err="1"/>
              <a:t>Uysal</a:t>
            </a:r>
            <a:r>
              <a:rPr lang="en-US" sz="2970" dirty="0"/>
              <a:t> , F.T. </a:t>
            </a:r>
            <a:r>
              <a:rPr lang="en-US" sz="2970" dirty="0" err="1"/>
              <a:t>Yarman</a:t>
            </a:r>
            <a:r>
              <a:rPr lang="en-US" sz="2970" dirty="0"/>
              <a:t> </a:t>
            </a:r>
            <a:r>
              <a:rPr lang="en-US" sz="2970" dirty="0" err="1"/>
              <a:t>Vural</a:t>
            </a:r>
            <a:r>
              <a:rPr lang="en-US" sz="2970" dirty="0"/>
              <a:t>, </a:t>
            </a:r>
            <a:r>
              <a:rPr lang="en-US" sz="2970" u="sng" dirty="0"/>
              <a:t>IEEE-ICIP</a:t>
            </a:r>
            <a:br>
              <a:rPr lang="en-US" sz="2970" b="1" dirty="0"/>
            </a:br>
            <a:endParaRPr sz="2970" dirty="0"/>
          </a:p>
        </p:txBody>
      </p:sp>
      <p:sp>
        <p:nvSpPr>
          <p:cNvPr id="737" name="Google Shape;737;p68"/>
          <p:cNvSpPr txBox="1">
            <a:spLocks noGrp="1"/>
          </p:cNvSpPr>
          <p:nvPr>
            <p:ph type="body" idx="1"/>
          </p:nvPr>
        </p:nvSpPr>
        <p:spPr>
          <a:xfrm>
            <a:off x="703296" y="2199133"/>
            <a:ext cx="7419004" cy="29793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446" t="-2640" r="-128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Placeholder 13">
                <a:extLst>
                  <a:ext uri="{FF2B5EF4-FFF2-40B4-BE49-F238E27FC236}">
                    <a16:creationId xmlns:a16="http://schemas.microsoft.com/office/drawing/2014/main" id="{C8B357B1-F765-4643-BE27-A15AC70F4F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04788" y="424655"/>
                <a:ext cx="4810125" cy="5376071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Form Color Similarity Matrix (CSM)</a:t>
                </a:r>
              </a:p>
              <a:p>
                <a:r>
                  <a:rPr lang="en-US" sz="2400" dirty="0"/>
                  <a:t>For each row of CSM, compute error for color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𝑟𝑘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>
          <p:sp>
            <p:nvSpPr>
              <p:cNvPr id="14" name="Text Placeholder 13">
                <a:extLst>
                  <a:ext uri="{FF2B5EF4-FFF2-40B4-BE49-F238E27FC236}">
                    <a16:creationId xmlns:a16="http://schemas.microsoft.com/office/drawing/2014/main" id="{C8B357B1-F765-4643-BE27-A15AC70F4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4788" y="424655"/>
                <a:ext cx="4810125" cy="537607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F6563323-D76F-4543-AC54-DF5672BDA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05064"/>
            <a:ext cx="3892007" cy="1084314"/>
          </a:xfrm>
          <a:prstGeom prst="rect">
            <a:avLst/>
          </a:prstGeom>
        </p:spPr>
      </p:pic>
      <p:sp>
        <p:nvSpPr>
          <p:cNvPr id="18" name="Google Shape;749;p70">
            <a:extLst>
              <a:ext uri="{FF2B5EF4-FFF2-40B4-BE49-F238E27FC236}">
                <a16:creationId xmlns:a16="http://schemas.microsoft.com/office/drawing/2014/main" id="{EF1EDC9B-624B-4A89-A6E6-DA598D017A53}"/>
              </a:ext>
            </a:extLst>
          </p:cNvPr>
          <p:cNvSpPr txBox="1">
            <a:spLocks/>
          </p:cNvSpPr>
          <p:nvPr/>
        </p:nvSpPr>
        <p:spPr>
          <a:xfrm>
            <a:off x="781050" y="3713643"/>
            <a:ext cx="7334250" cy="223373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446" t="-3152" r="-96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71450" indent="0">
              <a:spcBef>
                <a:spcPts val="0"/>
              </a:spcBef>
              <a:buFont typeface="Arial"/>
              <a:buNone/>
            </a:pPr>
            <a:r>
              <a:rPr lang="en-US"/>
              <a:t> </a:t>
            </a:r>
          </a:p>
        </p:txBody>
      </p:sp>
      <p:sp>
        <p:nvSpPr>
          <p:cNvPr id="19" name="Google Shape;751;p70">
            <a:extLst>
              <a:ext uri="{FF2B5EF4-FFF2-40B4-BE49-F238E27FC236}">
                <a16:creationId xmlns:a16="http://schemas.microsoft.com/office/drawing/2014/main" id="{00975156-32D9-497E-9EA6-0052D4EB71F3}"/>
              </a:ext>
            </a:extLst>
          </p:cNvPr>
          <p:cNvSpPr txBox="1"/>
          <p:nvPr/>
        </p:nvSpPr>
        <p:spPr>
          <a:xfrm>
            <a:off x="2676524" y="5641760"/>
            <a:ext cx="4333875" cy="45900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2380" t="-132482" b="-2074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20" name="Google Shape;743;p69">
            <a:extLst>
              <a:ext uri="{FF2B5EF4-FFF2-40B4-BE49-F238E27FC236}">
                <a16:creationId xmlns:a16="http://schemas.microsoft.com/office/drawing/2014/main" id="{E4177309-3F9A-4DE6-B9B8-9798F0B65DD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0468" y="677588"/>
            <a:ext cx="4349232" cy="2466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1"/>
          <p:cNvSpPr txBox="1">
            <a:spLocks noGrp="1"/>
          </p:cNvSpPr>
          <p:nvPr>
            <p:ph type="title"/>
          </p:nvPr>
        </p:nvSpPr>
        <p:spPr>
          <a:xfrm>
            <a:off x="249383" y="365126"/>
            <a:ext cx="879193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3. Symbol Encoder: Reduces Coding Redundancy </a:t>
            </a:r>
            <a:endParaRPr dirty="0"/>
          </a:p>
        </p:txBody>
      </p:sp>
      <p:sp>
        <p:nvSpPr>
          <p:cNvPr id="758" name="Google Shape;758;p71"/>
          <p:cNvSpPr txBox="1"/>
          <p:nvPr/>
        </p:nvSpPr>
        <p:spPr>
          <a:xfrm>
            <a:off x="1219200" y="3547111"/>
            <a:ext cx="67056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="1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     k-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gray level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l(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="1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bits,  allocated for coding color 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="1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2400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="1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of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24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71"/>
          <p:cNvPicPr preferRelativeResize="0"/>
          <p:nvPr/>
        </p:nvPicPr>
        <p:blipFill rotWithShape="1">
          <a:blip r:embed="rId3">
            <a:alphaModFix/>
          </a:blip>
          <a:srcRect t="29378" b="27462"/>
          <a:stretch/>
        </p:blipFill>
        <p:spPr>
          <a:xfrm>
            <a:off x="1256675" y="2511994"/>
            <a:ext cx="7391895" cy="1044813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71"/>
          <p:cNvSpPr txBox="1"/>
          <p:nvPr/>
        </p:nvSpPr>
        <p:spPr>
          <a:xfrm>
            <a:off x="762000" y="1727200"/>
            <a:ext cx="7391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the Average Number of bits per pixel is defined as,</a:t>
            </a:r>
            <a:endParaRPr dirty="0"/>
          </a:p>
        </p:txBody>
      </p:sp>
      <p:pic>
        <p:nvPicPr>
          <p:cNvPr id="761" name="Google Shape;761;p71"/>
          <p:cNvPicPr preferRelativeResize="0"/>
          <p:nvPr/>
        </p:nvPicPr>
        <p:blipFill rotWithShape="1">
          <a:blip r:embed="rId4">
            <a:alphaModFix/>
          </a:blip>
          <a:srcRect l="29294" t="68613" r="49065"/>
          <a:stretch/>
        </p:blipFill>
        <p:spPr>
          <a:xfrm>
            <a:off x="5287681" y="4965306"/>
            <a:ext cx="1284288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71"/>
          <p:cNvSpPr txBox="1"/>
          <p:nvPr/>
        </p:nvSpPr>
        <p:spPr>
          <a:xfrm>
            <a:off x="1017345" y="5119648"/>
            <a:ext cx="42703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size of an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NxM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Image: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68" name="Google Shape;768;p72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28650" y="365126"/>
                <a:ext cx="7886700" cy="1325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300"/>
                  <a:buFont typeface="Calibri"/>
                  <a:buNone/>
                </a:pPr>
                <a:r>
                  <a:rPr lang="en-US" dirty="0"/>
                  <a:t>Case 1:  Code length 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/>
                        <a:sym typeface="Cambria Math"/>
                      </a:rPr>
                      <m:t>𝑙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𝑟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/>
                        <a:cs typeface="Cambria Math"/>
                        <a:sym typeface="Cambria Math"/>
                      </a:rPr>
                      <m:t>) </m:t>
                    </m:r>
                  </m:oMath>
                </a14:m>
                <a:r>
                  <a:rPr lang="en-US" dirty="0"/>
                  <a:t>has  fixed length </a:t>
                </a:r>
                <a:endParaRPr dirty="0"/>
              </a:p>
            </p:txBody>
          </p:sp>
        </mc:Choice>
        <mc:Fallback xmlns="">
          <p:sp>
            <p:nvSpPr>
              <p:cNvPr id="768" name="Google Shape;768;p7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365126"/>
                <a:ext cx="7886700" cy="1325563"/>
              </a:xfrm>
              <a:prstGeom prst="rect">
                <a:avLst/>
              </a:prstGeom>
              <a:blipFill>
                <a:blip r:embed="rId3"/>
                <a:stretch>
                  <a:fillRect l="-2087" r="-6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9" name="Google Shape;769;p72"/>
          <p:cNvSpPr txBox="1">
            <a:spLocks noGrp="1"/>
          </p:cNvSpPr>
          <p:nvPr>
            <p:ph type="body" idx="1"/>
          </p:nvPr>
        </p:nvSpPr>
        <p:spPr>
          <a:xfrm>
            <a:off x="838200" y="1828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770" name="Google Shape;770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9800" y="4724400"/>
            <a:ext cx="5943600" cy="1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2800" y="6096000"/>
            <a:ext cx="31242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72" descr="gonz_p311"/>
          <p:cNvPicPr preferRelativeResize="0"/>
          <p:nvPr/>
        </p:nvPicPr>
        <p:blipFill rotWithShape="1">
          <a:blip r:embed="rId6">
            <a:alphaModFix/>
          </a:blip>
          <a:srcRect l="9959" t="18297" r="34473" b="11937"/>
          <a:stretch/>
        </p:blipFill>
        <p:spPr>
          <a:xfrm>
            <a:off x="3048000" y="2438400"/>
            <a:ext cx="3886200" cy="2119313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72"/>
          <p:cNvSpPr txBox="1"/>
          <p:nvPr/>
        </p:nvSpPr>
        <p:spPr>
          <a:xfrm>
            <a:off x="1600200" y="3217863"/>
            <a:ext cx="136048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Case 2 Code length 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l(r</a:t>
            </a:r>
            <a:r>
              <a:rPr lang="en-US" baseline="-25000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</a:t>
            </a:r>
            <a:r>
              <a:rPr lang="en-US"/>
              <a:t>has  variable length </a:t>
            </a:r>
            <a:endParaRPr/>
          </a:p>
        </p:txBody>
      </p:sp>
      <p:sp>
        <p:nvSpPr>
          <p:cNvPr id="780" name="Google Shape;780;p73"/>
          <p:cNvSpPr txBox="1">
            <a:spLocks noGrp="1"/>
          </p:cNvSpPr>
          <p:nvPr>
            <p:ph type="body" idx="1"/>
          </p:nvPr>
        </p:nvSpPr>
        <p:spPr>
          <a:xfrm>
            <a:off x="914400" y="1782763"/>
            <a:ext cx="8153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781" name="Google Shape;781;p73"/>
          <p:cNvPicPr preferRelativeResize="0"/>
          <p:nvPr/>
        </p:nvPicPr>
        <p:blipFill rotWithShape="1">
          <a:blip r:embed="rId3">
            <a:alphaModFix/>
          </a:blip>
          <a:srcRect b="64751"/>
          <a:stretch/>
        </p:blipFill>
        <p:spPr>
          <a:xfrm>
            <a:off x="2382838" y="5087938"/>
            <a:ext cx="2662237" cy="62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73" descr="gonz_p311"/>
          <p:cNvPicPr preferRelativeResize="0"/>
          <p:nvPr/>
        </p:nvPicPr>
        <p:blipFill rotWithShape="1">
          <a:blip r:embed="rId4">
            <a:alphaModFix/>
          </a:blip>
          <a:srcRect l="8696" t="6671" r="2899" b="9938"/>
          <a:stretch/>
        </p:blipFill>
        <p:spPr>
          <a:xfrm>
            <a:off x="2133600" y="2487613"/>
            <a:ext cx="5334000" cy="21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73"/>
          <p:cNvPicPr preferRelativeResize="0"/>
          <p:nvPr/>
        </p:nvPicPr>
        <p:blipFill rotWithShape="1">
          <a:blip r:embed="rId5">
            <a:alphaModFix/>
          </a:blip>
          <a:srcRect t="27831"/>
          <a:stretch/>
        </p:blipFill>
        <p:spPr>
          <a:xfrm>
            <a:off x="5800725" y="5097463"/>
            <a:ext cx="2662238" cy="12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73"/>
          <p:cNvSpPr txBox="1"/>
          <p:nvPr/>
        </p:nvSpPr>
        <p:spPr>
          <a:xfrm>
            <a:off x="1851025" y="5918200"/>
            <a:ext cx="372427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number of bits: 2.7NM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Huffman Coding</a:t>
            </a:r>
            <a:endParaRPr/>
          </a:p>
        </p:txBody>
      </p:sp>
      <p:pic>
        <p:nvPicPr>
          <p:cNvPr id="791" name="Google Shape;791;p74" descr="gonz_p344"/>
          <p:cNvPicPr preferRelativeResize="0"/>
          <p:nvPr/>
        </p:nvPicPr>
        <p:blipFill rotWithShape="1">
          <a:blip r:embed="rId3">
            <a:alphaModFix/>
          </a:blip>
          <a:srcRect l="2611" t="2856" r="9949" b="11429"/>
          <a:stretch/>
        </p:blipFill>
        <p:spPr>
          <a:xfrm>
            <a:off x="1143000" y="3429000"/>
            <a:ext cx="7086600" cy="31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4"/>
          <p:cNvSpPr/>
          <p:nvPr/>
        </p:nvSpPr>
        <p:spPr>
          <a:xfrm>
            <a:off x="688975" y="1676400"/>
            <a:ext cx="7848600" cy="157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-152400" algn="l" rtl="0">
              <a:spcBef>
                <a:spcPts val="0"/>
              </a:spcBef>
              <a:spcAft>
                <a:spcPts val="0"/>
              </a:spcAft>
              <a:buClr>
                <a:srgbClr val="E78A2D"/>
              </a:buClr>
              <a:buSzPts val="2400"/>
              <a:buFont typeface="Times New Roman"/>
              <a:buChar char="•"/>
            </a:pPr>
            <a:r>
              <a:rPr lang="en-US" sz="2400" b="0" i="1" u="none" strike="noStrike" cap="none">
                <a:solidFill>
                  <a:srgbClr val="E78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b="0" i="1" u="sng" strike="noStrike" cap="none">
                <a:solidFill>
                  <a:srgbClr val="E78A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Pass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 Sort probabilities per symbol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2. Combine the lowest two probabilities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3. Repeat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until only two probabilities remain.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Huffman Coding </a:t>
            </a:r>
            <a:endParaRPr dirty="0"/>
          </a:p>
        </p:txBody>
      </p:sp>
      <p:sp>
        <p:nvSpPr>
          <p:cNvPr id="799" name="Google Shape;799;p75"/>
          <p:cNvSpPr txBox="1">
            <a:spLocks noGrp="1"/>
          </p:cNvSpPr>
          <p:nvPr>
            <p:ph type="body" idx="1"/>
          </p:nvPr>
        </p:nvSpPr>
        <p:spPr>
          <a:xfrm>
            <a:off x="762000" y="1600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i="1" u="sng">
              <a:solidFill>
                <a:schemeClr val="accent6"/>
              </a:solidFill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</a:pPr>
            <a:r>
              <a:rPr lang="en-US" sz="2400" i="1" u="sng">
                <a:solidFill>
                  <a:schemeClr val="accent6"/>
                </a:solidFill>
              </a:rPr>
              <a:t>Backward Pass</a:t>
            </a:r>
            <a:endParaRPr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Assign code symbols going backwards</a:t>
            </a:r>
            <a:endParaRPr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/>
          </a:p>
        </p:txBody>
      </p:sp>
      <p:pic>
        <p:nvPicPr>
          <p:cNvPr id="800" name="Google Shape;800;p75" descr="gonz_p345"/>
          <p:cNvPicPr preferRelativeResize="0"/>
          <p:nvPr/>
        </p:nvPicPr>
        <p:blipFill rotWithShape="1">
          <a:blip r:embed="rId3">
            <a:alphaModFix/>
          </a:blip>
          <a:srcRect l="7013" t="7120" r="6592" b="20389"/>
          <a:stretch/>
        </p:blipFill>
        <p:spPr>
          <a:xfrm>
            <a:off x="990600" y="3200400"/>
            <a:ext cx="7391400" cy="268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Huffman Coding </a:t>
            </a:r>
            <a:endParaRPr dirty="0"/>
          </a:p>
        </p:txBody>
      </p:sp>
      <p:sp>
        <p:nvSpPr>
          <p:cNvPr id="807" name="Google Shape;807;p76"/>
          <p:cNvSpPr txBox="1">
            <a:spLocks noGrp="1"/>
          </p:cNvSpPr>
          <p:nvPr>
            <p:ph type="body" idx="1"/>
          </p:nvPr>
        </p:nvSpPr>
        <p:spPr>
          <a:xfrm>
            <a:off x="762000" y="1752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</a:t>
            </a:r>
            <a:r>
              <a:rPr lang="en-US" baseline="-25000"/>
              <a:t>avg </a:t>
            </a:r>
            <a:r>
              <a:rPr lang="en-US"/>
              <a:t>assuming binary coding:</a:t>
            </a:r>
            <a:endParaRPr baseline="-2500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>
              <a:solidFill>
                <a:srgbClr val="FFFF00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>
              <a:solidFill>
                <a:srgbClr val="FFFF00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>
              <a:solidFill>
                <a:srgbClr val="FFFF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808" name="Google Shape;808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9062" y="4281487"/>
            <a:ext cx="3825875" cy="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4913" y="5270499"/>
            <a:ext cx="72675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" y="2362200"/>
            <a:ext cx="6492875" cy="16891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5C936A-DA6A-4273-8208-D4903061DFAE}"/>
                  </a:ext>
                </a:extLst>
              </p:cNvPr>
              <p:cNvSpPr txBox="1"/>
              <p:nvPr/>
            </p:nvSpPr>
            <p:spPr>
              <a:xfrm>
                <a:off x="977731" y="5867400"/>
                <a:ext cx="7229030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~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𝑏𝑖𝑡𝑠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𝑝𝑖𝑥𝑒𝑙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5C936A-DA6A-4273-8208-D4903061D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31" y="5867400"/>
                <a:ext cx="7229030" cy="894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Huffman Coding-Decoding</a:t>
            </a:r>
            <a:endParaRPr/>
          </a:p>
        </p:txBody>
      </p:sp>
      <p:sp>
        <p:nvSpPr>
          <p:cNvPr id="817" name="Google Shape;817;p77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543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Both coding and decoding</a:t>
            </a:r>
            <a:r>
              <a:rPr lang="en-US" i="1"/>
              <a:t> </a:t>
            </a:r>
            <a:r>
              <a:rPr lang="en-US"/>
              <a:t>can be implemented using a look-up table.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Note that decoding can be done unambiguously.</a:t>
            </a:r>
            <a:endParaRPr/>
          </a:p>
        </p:txBody>
      </p:sp>
      <p:pic>
        <p:nvPicPr>
          <p:cNvPr id="818" name="Google Shape;818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4114800"/>
            <a:ext cx="3429000" cy="1344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77" descr="gonz_p345"/>
          <p:cNvPicPr preferRelativeResize="0"/>
          <p:nvPr/>
        </p:nvPicPr>
        <p:blipFill rotWithShape="1">
          <a:blip r:embed="rId4">
            <a:alphaModFix/>
          </a:blip>
          <a:srcRect l="7013" t="7120" r="68593" b="20389"/>
          <a:stretch/>
        </p:blipFill>
        <p:spPr>
          <a:xfrm>
            <a:off x="5638800" y="3589338"/>
            <a:ext cx="213042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a92266c094_0_10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1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US" sz="2400" dirty="0"/>
              <a:t>Image Fidelity Criteria:</a:t>
            </a:r>
            <a:br>
              <a:rPr lang="en-US" sz="2400" dirty="0"/>
            </a:br>
            <a:r>
              <a:rPr lang="en-US" sz="2400" dirty="0"/>
              <a:t>1. Subjective: based on human observers  </a:t>
            </a:r>
            <a:br>
              <a:rPr lang="en-US" sz="2400" dirty="0"/>
            </a:br>
            <a:r>
              <a:rPr lang="en-US" sz="2400" dirty="0"/>
              <a:t>2. Objective: mathematically defined criteria</a:t>
            </a:r>
            <a:br>
              <a:rPr lang="en-US" dirty="0"/>
            </a:br>
            <a:r>
              <a:rPr lang="en-US" dirty="0"/>
              <a:t> </a:t>
            </a:r>
            <a:endParaRPr dirty="0"/>
          </a:p>
        </p:txBody>
      </p:sp>
      <p:pic>
        <p:nvPicPr>
          <p:cNvPr id="646" name="Google Shape;646;ga92266c094_0_10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b="50000"/>
          <a:stretch/>
        </p:blipFill>
        <p:spPr>
          <a:xfrm>
            <a:off x="2295525" y="2114550"/>
            <a:ext cx="61437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ga92266c094_0_103"/>
          <p:cNvSpPr txBox="1"/>
          <p:nvPr/>
        </p:nvSpPr>
        <p:spPr>
          <a:xfrm>
            <a:off x="2743200" y="1676400"/>
            <a:ext cx="76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DFT</a:t>
            </a:r>
            <a:endParaRPr/>
          </a:p>
        </p:txBody>
      </p:sp>
      <p:sp>
        <p:nvSpPr>
          <p:cNvPr id="648" name="Google Shape;648;ga92266c094_0_103"/>
          <p:cNvSpPr txBox="1"/>
          <p:nvPr/>
        </p:nvSpPr>
        <p:spPr>
          <a:xfrm>
            <a:off x="4474203" y="1676400"/>
            <a:ext cx="19852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Hadamard T</a:t>
            </a:r>
            <a:endParaRPr dirty="0"/>
          </a:p>
        </p:txBody>
      </p:sp>
      <p:sp>
        <p:nvSpPr>
          <p:cNvPr id="649" name="Google Shape;649;ga92266c094_0_103"/>
          <p:cNvSpPr txBox="1"/>
          <p:nvPr/>
        </p:nvSpPr>
        <p:spPr>
          <a:xfrm>
            <a:off x="6934200" y="1676400"/>
            <a:ext cx="79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DCT</a:t>
            </a:r>
            <a:endParaRPr/>
          </a:p>
        </p:txBody>
      </p:sp>
      <p:sp>
        <p:nvSpPr>
          <p:cNvPr id="650" name="Google Shape;650;ga92266c094_0_103"/>
          <p:cNvSpPr txBox="1"/>
          <p:nvPr/>
        </p:nvSpPr>
        <p:spPr>
          <a:xfrm>
            <a:off x="1009650" y="6270625"/>
            <a:ext cx="744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 error: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2.32                       1.78                      1.13</a:t>
            </a:r>
            <a:endParaRPr/>
          </a:p>
        </p:txBody>
      </p:sp>
      <p:sp>
        <p:nvSpPr>
          <p:cNvPr id="651" name="Google Shape;651;ga92266c094_0_103"/>
          <p:cNvSpPr txBox="1"/>
          <p:nvPr/>
        </p:nvSpPr>
        <p:spPr>
          <a:xfrm>
            <a:off x="112713" y="2474913"/>
            <a:ext cx="2195400" cy="3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x 8 sub-images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yields 64 coefficients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sub-image.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Reconstructed images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US" sz="16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truncating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 of the 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coefficients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DCT is a more </a:t>
            </a:r>
            <a:r>
              <a:rPr lang="en-US" sz="16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compact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transformation!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endParaRPr dirty="0"/>
          </a:p>
        </p:txBody>
      </p:sp>
      <p:pic>
        <p:nvPicPr>
          <p:cNvPr id="652" name="Google Shape;652;ga92266c094_0_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4850" y="3340100"/>
            <a:ext cx="114301" cy="17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ga92266c094_0_103"/>
          <p:cNvPicPr preferRelativeResize="0"/>
          <p:nvPr/>
        </p:nvPicPr>
        <p:blipFill rotWithShape="1">
          <a:blip r:embed="rId3">
            <a:alphaModFix/>
          </a:blip>
          <a:srcRect t="50000"/>
          <a:stretch/>
        </p:blipFill>
        <p:spPr>
          <a:xfrm>
            <a:off x="2295525" y="4318000"/>
            <a:ext cx="6143625" cy="2057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4093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Subjective Fidelity Criteria</a:t>
            </a:r>
            <a:endParaRPr/>
          </a:p>
        </p:txBody>
      </p:sp>
      <p:pic>
        <p:nvPicPr>
          <p:cNvPr id="834" name="Google Shape;834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2286000"/>
            <a:ext cx="7339013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0"/>
          <p:cNvSpPr txBox="1">
            <a:spLocks noGrp="1"/>
          </p:cNvSpPr>
          <p:nvPr>
            <p:ph type="title" idx="4294967295"/>
          </p:nvPr>
        </p:nvSpPr>
        <p:spPr>
          <a:xfrm>
            <a:off x="1173560" y="609600"/>
            <a:ext cx="659883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Objective Fidelity Criteria</a:t>
            </a:r>
            <a:endParaRPr dirty="0"/>
          </a:p>
        </p:txBody>
      </p:sp>
      <p:sp>
        <p:nvSpPr>
          <p:cNvPr id="841" name="Google Shape;841;p80"/>
          <p:cNvSpPr txBox="1">
            <a:spLocks noGrp="1"/>
          </p:cNvSpPr>
          <p:nvPr>
            <p:ph type="body" idx="4294967295"/>
          </p:nvPr>
        </p:nvSpPr>
        <p:spPr>
          <a:xfrm>
            <a:off x="914400" y="1981200"/>
            <a:ext cx="6858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Root mean square error (RMS)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Mean-square signal-to-noise ratio (SNR)</a:t>
            </a:r>
            <a:endParaRPr/>
          </a:p>
        </p:txBody>
      </p:sp>
      <p:pic>
        <p:nvPicPr>
          <p:cNvPr id="842" name="Google Shape;842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2438400"/>
            <a:ext cx="5257800" cy="106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9800" y="4405312"/>
            <a:ext cx="4267200" cy="1690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8200</TotalTime>
  <Words>2314</Words>
  <Application>Microsoft Office PowerPoint</Application>
  <PresentationFormat>On-screen Show (4:3)</PresentationFormat>
  <Paragraphs>422</Paragraphs>
  <Slides>62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Lato</vt:lpstr>
      <vt:lpstr>Calibri</vt:lpstr>
      <vt:lpstr>Cambria Math</vt:lpstr>
      <vt:lpstr>Arial</vt:lpstr>
      <vt:lpstr>KaTeX_Main</vt:lpstr>
      <vt:lpstr>Times New Roman</vt:lpstr>
      <vt:lpstr>Tahoma</vt:lpstr>
      <vt:lpstr>Office Theme</vt:lpstr>
      <vt:lpstr>Week 10: Image Compression</vt:lpstr>
      <vt:lpstr>Image Compression</vt:lpstr>
      <vt:lpstr>Hierarchy of Abstraction for Information Representation</vt:lpstr>
      <vt:lpstr>Although the concept of data and information are not the same, they are strongly related to each other. </vt:lpstr>
      <vt:lpstr>Ex: Two types of data convey same information</vt:lpstr>
      <vt:lpstr>The key question in image compression:  </vt:lpstr>
      <vt:lpstr>Information- Inform-Informatio-  ”To give form to the mind” </vt:lpstr>
      <vt:lpstr>Information Theory (Shannon, 1948)</vt:lpstr>
      <vt:lpstr> </vt:lpstr>
      <vt:lpstr>Information, as degree of uncertainty to be resolved, can be measured by a function of the probability density function, p(x)</vt:lpstr>
      <vt:lpstr>Self Information: I(x) =    -log⁡(P(x))   </vt:lpstr>
      <vt:lpstr>How much information  does a pixel value contain?</vt:lpstr>
      <vt:lpstr>Information Channel</vt:lpstr>
      <vt:lpstr>What is the minimum space for storing an image with the same amount of information?</vt:lpstr>
      <vt:lpstr>PowerPoint Presentation</vt:lpstr>
      <vt:lpstr>Exercise: Consider an image with a flat histogram of  L=4 colors</vt:lpstr>
      <vt:lpstr>Answer:</vt:lpstr>
      <vt:lpstr>Measuring average  amount of  information and average amount of data</vt:lpstr>
      <vt:lpstr>Coding Theorem: Relationship between the data and information  The lower bound for the average number of codelengths in a compressed image approaches to entropy, as we increase the number of colors, L.</vt:lpstr>
      <vt:lpstr>PowerPoint Presentation</vt:lpstr>
      <vt:lpstr>Ex: Consider a binary image of checkerboard </vt:lpstr>
      <vt:lpstr>Answer:</vt:lpstr>
      <vt:lpstr>Compression Ratio:   Relevant Redundancy: </vt:lpstr>
      <vt:lpstr>Example: What is the required storage space for this image region?</vt:lpstr>
      <vt:lpstr>Answer without Information Theory:</vt:lpstr>
      <vt:lpstr>Answer with Information Theory and  Estimate the Entropy </vt:lpstr>
      <vt:lpstr>Definition: Second order entropy</vt:lpstr>
      <vt:lpstr>Answer with  Second order Entropy </vt:lpstr>
      <vt:lpstr>Image Compression Methods</vt:lpstr>
      <vt:lpstr>Lossless vs. Lossy Compression</vt:lpstr>
      <vt:lpstr>Image Compression Algorithms:  </vt:lpstr>
      <vt:lpstr> Image Compression Steps </vt:lpstr>
      <vt:lpstr>  Image Compression Steps </vt:lpstr>
      <vt:lpstr>Image Compression Steps</vt:lpstr>
      <vt:lpstr>1. Mapper: Reduce Interpixel Redundancy</vt:lpstr>
      <vt:lpstr>1.1. Mapper: Image Transforms</vt:lpstr>
      <vt:lpstr>Example: Fourier Transform</vt:lpstr>
      <vt:lpstr>Comparison of  DFT, HT and DCT</vt:lpstr>
      <vt:lpstr>1. 2. Mapper: Run-length coding (RLC)</vt:lpstr>
      <vt:lpstr>1.2. Run length Coding for Binary Images</vt:lpstr>
      <vt:lpstr>1. 3. Bit-plane coding, reduces interpixel redundancy</vt:lpstr>
      <vt:lpstr>1.3 Bit Plane Slicing: Remove least significant bits</vt:lpstr>
      <vt:lpstr>2. Quantizer: Reduce Psychovisual Redundancy</vt:lpstr>
      <vt:lpstr>2.1. Sampling and  Interpolation </vt:lpstr>
      <vt:lpstr>2.2. Vector Quantization</vt:lpstr>
      <vt:lpstr>A Simple Vector Quantization Method</vt:lpstr>
      <vt:lpstr>2.. Color Quantization</vt:lpstr>
      <vt:lpstr>K- Means Clustering for Color Quantization  Cluster  similar colors into K- Groups, in D-Dimensional  color space</vt:lpstr>
      <vt:lpstr> K-means Algorithm Clustering for Color quantization </vt:lpstr>
      <vt:lpstr>K- Means Color Quantization</vt:lpstr>
      <vt:lpstr>A Fast Color Quantization Algorithm Using a Set of One Dimensional Color Intervals   M. Uysal , F.T. Yarman Vural, IEEE-ICIP </vt:lpstr>
      <vt:lpstr>PowerPoint Presentation</vt:lpstr>
      <vt:lpstr>3. Symbol Encoder: Reduces Coding Redundancy </vt:lpstr>
      <vt:lpstr>Case 1:  Code length , l(rk) has  fixed length </vt:lpstr>
      <vt:lpstr>Case 2 Code length , l(rk) has  variable length </vt:lpstr>
      <vt:lpstr>Huffman Coding</vt:lpstr>
      <vt:lpstr>Huffman Coding </vt:lpstr>
      <vt:lpstr>Huffman Coding </vt:lpstr>
      <vt:lpstr>Huffman Coding-Decoding</vt:lpstr>
      <vt:lpstr>Image Fidelity Criteria: 1. Subjective: based on human observers   2. Objective: mathematically defined criteria  </vt:lpstr>
      <vt:lpstr>Subjective Fidelity Criteria</vt:lpstr>
      <vt:lpstr>Objective Fidelity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10: Image Compression</dc:title>
  <dc:creator>George Bebis</dc:creator>
  <cp:lastModifiedBy>Fatos</cp:lastModifiedBy>
  <cp:revision>84</cp:revision>
  <dcterms:created xsi:type="dcterms:W3CDTF">2001-02-05T00:45:24Z</dcterms:created>
  <dcterms:modified xsi:type="dcterms:W3CDTF">2022-11-20T17:52:04Z</dcterms:modified>
</cp:coreProperties>
</file>