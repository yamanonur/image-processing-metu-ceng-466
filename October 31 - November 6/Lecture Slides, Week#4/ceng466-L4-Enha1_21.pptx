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364" r:id="rId2"/>
    <p:sldId id="375" r:id="rId3"/>
    <p:sldId id="365" r:id="rId4"/>
    <p:sldId id="274" r:id="rId5"/>
    <p:sldId id="463" r:id="rId6"/>
    <p:sldId id="381" r:id="rId7"/>
    <p:sldId id="366" r:id="rId8"/>
    <p:sldId id="277" r:id="rId9"/>
    <p:sldId id="382" r:id="rId10"/>
    <p:sldId id="490" r:id="rId11"/>
    <p:sldId id="491" r:id="rId12"/>
    <p:sldId id="280" r:id="rId13"/>
    <p:sldId id="464" r:id="rId14"/>
    <p:sldId id="284" r:id="rId15"/>
    <p:sldId id="275" r:id="rId16"/>
    <p:sldId id="279" r:id="rId17"/>
    <p:sldId id="281" r:id="rId18"/>
    <p:sldId id="282" r:id="rId19"/>
    <p:sldId id="369" r:id="rId20"/>
    <p:sldId id="370" r:id="rId21"/>
    <p:sldId id="371" r:id="rId22"/>
    <p:sldId id="376" r:id="rId23"/>
    <p:sldId id="278" r:id="rId24"/>
    <p:sldId id="470" r:id="rId25"/>
    <p:sldId id="288" r:id="rId26"/>
    <p:sldId id="492" r:id="rId27"/>
    <p:sldId id="465" r:id="rId28"/>
    <p:sldId id="473" r:id="rId29"/>
    <p:sldId id="484" r:id="rId30"/>
    <p:sldId id="486" r:id="rId31"/>
    <p:sldId id="468" r:id="rId32"/>
    <p:sldId id="467" r:id="rId33"/>
    <p:sldId id="487" r:id="rId34"/>
    <p:sldId id="488" r:id="rId35"/>
    <p:sldId id="289" r:id="rId36"/>
    <p:sldId id="493" r:id="rId37"/>
    <p:sldId id="477" r:id="rId38"/>
    <p:sldId id="482" r:id="rId39"/>
    <p:sldId id="293" r:id="rId40"/>
    <p:sldId id="469" r:id="rId41"/>
    <p:sldId id="481" r:id="rId42"/>
    <p:sldId id="485" r:id="rId43"/>
    <p:sldId id="295" r:id="rId44"/>
    <p:sldId id="311" r:id="rId45"/>
    <p:sldId id="296" r:id="rId46"/>
    <p:sldId id="313" r:id="rId47"/>
    <p:sldId id="314" r:id="rId48"/>
    <p:sldId id="315" r:id="rId49"/>
    <p:sldId id="483" r:id="rId50"/>
    <p:sldId id="489" r:id="rId5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91"/>
    <p:restoredTop sz="94682"/>
  </p:normalViewPr>
  <p:slideViewPr>
    <p:cSldViewPr snapToGrid="0" snapToObjects="1">
      <p:cViewPr varScale="1">
        <p:scale>
          <a:sx n="91" d="100"/>
          <a:sy n="91" d="100"/>
        </p:scale>
        <p:origin x="89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CF0825-00FE-304E-B130-70E0AEF689DF}" type="datetimeFigureOut">
              <a:rPr lang="tr-TR" smtClean="0"/>
              <a:t>15.10.2022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58C311-5875-4F48-B706-0DD989165E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47622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7">
            <a:extLst>
              <a:ext uri="{FF2B5EF4-FFF2-40B4-BE49-F238E27FC236}">
                <a16:creationId xmlns:a16="http://schemas.microsoft.com/office/drawing/2014/main" id="{C9433C4E-513F-2446-AA14-6AEEE50E90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C32D98B-E423-E441-8F95-9D5DFAE8D57A}" type="slidenum">
              <a:rPr lang="en-US" altLang="tr-TR" sz="1200" smtClean="0"/>
              <a:pPr/>
              <a:t>6</a:t>
            </a:fld>
            <a:endParaRPr lang="en-US" altLang="tr-TR" sz="1200"/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E9429D93-280B-F949-A0FA-953B0A3A3D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ABD96C1A-39B0-7245-9716-60AB7A68D8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709476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>
            <a:extLst>
              <a:ext uri="{FF2B5EF4-FFF2-40B4-BE49-F238E27FC236}">
                <a16:creationId xmlns:a16="http://schemas.microsoft.com/office/drawing/2014/main" id="{938470EE-D069-6C42-9EB5-54481DF749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1E3D120D-E018-9D47-B884-8BF9D4093AF5}" type="slidenum">
              <a:rPr lang="en-US" altLang="tr-TR" sz="1200" smtClean="0"/>
              <a:pPr/>
              <a:t>9</a:t>
            </a:fld>
            <a:endParaRPr lang="en-US" altLang="tr-TR" sz="1200"/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41FD6E9E-2776-074D-B110-BB37AB3DDD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2F23E1DA-B018-F64F-A585-1C1F37B938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789650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B1467-5A1D-B849-9330-EA53C5BCE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D638C-D6EB-F547-A4A9-DF05A1FCA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9889D-C525-9643-A556-D1A13A810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BC8A-B9E9-074B-91E1-541B467E7F94}" type="datetimeFigureOut">
              <a:rPr lang="tr-TR" smtClean="0"/>
              <a:t>15.10.2022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392D6-0B6C-AF4A-B974-7ED03500F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0D1BA-988F-B64D-849B-AD5024CEA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9ADE-A952-A343-96F4-CDC32DA2B0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07980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B9639-89AE-7B4D-8CB8-58A6D10A2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E85C7-6A0B-5741-9AD6-DF4E7D0BE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10EEE-86A5-3247-8009-A83D4EF2A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BC8A-B9E9-074B-91E1-541B467E7F94}" type="datetimeFigureOut">
              <a:rPr lang="tr-TR" smtClean="0"/>
              <a:t>15.10.2022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A5F02-BA34-B141-B9ED-1FBF8D59B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4837E-921C-8447-80DB-E9C2F63F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9ADE-A952-A343-96F4-CDC32DA2B0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27530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B6639-E49F-2D47-872D-EC78D8A25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FB520-9A90-2A47-B078-63440C0CB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E0034-3127-FB4E-B999-64A7DF184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BC8A-B9E9-074B-91E1-541B467E7F94}" type="datetimeFigureOut">
              <a:rPr lang="tr-TR" smtClean="0"/>
              <a:t>15.10.2022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5FF4A-9E10-7544-A610-8EC19972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0185B-A05C-B94E-9554-A1F26DE3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9ADE-A952-A343-96F4-CDC32DA2B0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835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23E32-B6AC-414D-85EB-4E888B0D5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4C43C-54BD-9647-B7EB-5D235E8BAE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17EE03-5FD4-6642-B3CA-EA20A3DAB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EAABD-79E1-CF4D-BBFD-9FE72E477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BC8A-B9E9-074B-91E1-541B467E7F94}" type="datetimeFigureOut">
              <a:rPr lang="tr-TR" smtClean="0"/>
              <a:t>15.10.2022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0EC51-5AB7-B842-BA74-7C3EE4296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22704-9E2D-764E-98FB-07A49D224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9ADE-A952-A343-96F4-CDC32DA2B0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9239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3B22-56F2-BA42-B2B0-F78C60DA1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9EC11-F996-3246-8F6F-DB5D6B9A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99B439-F9A5-2F45-917B-2FBC78AD1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810280-BAB6-7049-8635-2A11A5B0F1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F1588B-2B41-5047-8901-8EC889B69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8FADF-034B-2D45-A503-A5ECBCB0D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BC8A-B9E9-074B-91E1-541B467E7F94}" type="datetimeFigureOut">
              <a:rPr lang="tr-TR" smtClean="0"/>
              <a:t>15.10.2022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8A62D5-59CF-D548-91C2-7149689FC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3910DA-2906-D84D-99CE-048D381D0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9ADE-A952-A343-96F4-CDC32DA2B0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03753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5AC19-385F-ED41-A3E0-30D809E1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12E1C4-EC00-D94B-8665-447E510C0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BC8A-B9E9-074B-91E1-541B467E7F94}" type="datetimeFigureOut">
              <a:rPr lang="tr-TR" smtClean="0"/>
              <a:t>15.10.2022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7C43EA-40A9-6B40-8911-14C1E473A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4A4E6F-1CCA-6B43-A06C-FBE2A5E5D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9ADE-A952-A343-96F4-CDC32DA2B0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8977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3A2C62-7BCD-D84B-9579-DAB99992A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BC8A-B9E9-074B-91E1-541B467E7F94}" type="datetimeFigureOut">
              <a:rPr lang="tr-TR" smtClean="0"/>
              <a:t>15.10.2022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06C465-0511-754E-9716-E8B51F61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99903-2D4F-F348-A336-88BEA7849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9ADE-A952-A343-96F4-CDC32DA2B0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9637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E546E-0D27-8B48-8A40-5D8D8650E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958B5-203E-8E41-837E-067DFB726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EC68E0-7919-4348-AC54-7EBE6885A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37689-8A49-D549-8367-B5A327EBA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BC8A-B9E9-074B-91E1-541B467E7F94}" type="datetimeFigureOut">
              <a:rPr lang="tr-TR" smtClean="0"/>
              <a:t>15.10.2022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16362-C39A-FA41-955F-963B8D03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244B9-F153-1A4C-B3CE-55E6B8A77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9ADE-A952-A343-96F4-CDC32DA2B0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2318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54AA8-539D-8E4A-B0E0-73806059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915ACC-B1E2-064C-A7BF-5D53F494CB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C702AA-14E2-C041-82A1-8F608B062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11AAC-34EE-CD48-9500-A5174DED6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BC8A-B9E9-074B-91E1-541B467E7F94}" type="datetimeFigureOut">
              <a:rPr lang="tr-TR" smtClean="0"/>
              <a:t>15.10.2022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87F79-C620-1849-8BC2-A02577FF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A2896-0A69-D847-B69D-A9CB32C81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9ADE-A952-A343-96F4-CDC32DA2B0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1817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A2769-94A3-E548-8DB4-8506642D5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51BFC-B808-4C41-B469-FD9FF28B4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AFF1D-EFB2-6041-8557-09A31641C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BC8A-B9E9-074B-91E1-541B467E7F94}" type="datetimeFigureOut">
              <a:rPr lang="tr-TR" smtClean="0"/>
              <a:t>15.10.2022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C2FF7-AB5A-B945-82A8-F5CCA7238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B885B-6ABD-F44A-AC1A-660B794C2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9ADE-A952-A343-96F4-CDC32DA2B0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91798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5F5357-6F0A-DE40-BEF3-9062704137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9D8D54-5A28-344A-895F-E6D6A3FDC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2DF04-15A0-DF44-B721-D886EEB6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BC8A-B9E9-074B-91E1-541B467E7F94}" type="datetimeFigureOut">
              <a:rPr lang="tr-TR" smtClean="0"/>
              <a:t>15.10.2022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E6A23-6EF3-1849-B38A-BA4D1045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6512F-0AB4-F54D-97ED-D9AF606D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9ADE-A952-A343-96F4-CDC32DA2B0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3864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20238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7499BE-8A14-7B45-ADDC-89FBD9D65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8AD8C-F995-2C4D-82AD-07D0F67D3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9855E-1613-2E43-A6A6-66462F1C84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9BC8A-B9E9-074B-91E1-541B467E7F94}" type="datetimeFigureOut">
              <a:rPr lang="tr-TR" smtClean="0"/>
              <a:t>15.10.2022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60145-5B54-1344-9487-B0E1A6D7C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AA7C7-AA04-AE42-A328-805472659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509ADE-A952-A343-96F4-CDC32DA2B0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7524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8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7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32.tif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3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3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tif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7.emf"/><Relationship Id="rId4" Type="http://schemas.openxmlformats.org/officeDocument/2006/relationships/oleObject" Target="../embeddings/oleObject5.bin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le 1">
            <a:extLst>
              <a:ext uri="{FF2B5EF4-FFF2-40B4-BE49-F238E27FC236}">
                <a16:creationId xmlns:a16="http://schemas.microsoft.com/office/drawing/2014/main" id="{7CE0B376-A3B6-A440-8D08-490A7669C15E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1524000" y="1907771"/>
            <a:ext cx="9144000" cy="223612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tr-TR" altLang="tr-TR" dirty="0" err="1"/>
              <a:t>Week</a:t>
            </a:r>
            <a:r>
              <a:rPr lang="tr-TR" altLang="tr-TR" dirty="0"/>
              <a:t> 4: Image Enhancement</a:t>
            </a:r>
            <a:br>
              <a:rPr lang="en-US" altLang="tr-TR" dirty="0"/>
            </a:br>
            <a:r>
              <a:rPr lang="en-US" altLang="tr-TR" sz="4000" dirty="0"/>
              <a:t>Fatos </a:t>
            </a:r>
            <a:r>
              <a:rPr lang="en-US" altLang="tr-TR" sz="4000" dirty="0" err="1"/>
              <a:t>Yarman</a:t>
            </a:r>
            <a:r>
              <a:rPr lang="en-US" altLang="tr-TR" sz="4000" dirty="0"/>
              <a:t> </a:t>
            </a:r>
            <a:r>
              <a:rPr lang="en-US" altLang="tr-TR" sz="4000" dirty="0" err="1"/>
              <a:t>Vural</a:t>
            </a:r>
            <a:r>
              <a:rPr lang="en-US" altLang="tr-TR" sz="4000" dirty="0"/>
              <a:t>  and </a:t>
            </a:r>
            <a:r>
              <a:rPr lang="en-US" altLang="tr-TR" sz="4000" dirty="0" err="1"/>
              <a:t>Hazal</a:t>
            </a:r>
            <a:r>
              <a:rPr lang="en-US" altLang="tr-TR" sz="4000" dirty="0"/>
              <a:t> </a:t>
            </a:r>
            <a:r>
              <a:rPr lang="en-US" altLang="tr-TR" sz="4000" dirty="0" err="1"/>
              <a:t>Moğultay</a:t>
            </a:r>
            <a:endParaRPr lang="tr-TR" altLang="tr-TR" sz="4000" dirty="0"/>
          </a:p>
        </p:txBody>
      </p:sp>
      <p:sp>
        <p:nvSpPr>
          <p:cNvPr id="4098" name="Subtitle 2">
            <a:extLst>
              <a:ext uri="{FF2B5EF4-FFF2-40B4-BE49-F238E27FC236}">
                <a16:creationId xmlns:a16="http://schemas.microsoft.com/office/drawing/2014/main" id="{67847083-A745-6D4D-867E-D41F48B9EB94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1524000" y="4796443"/>
            <a:ext cx="9144000" cy="79802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/>
              <a:t>Prepare image for further processing steps for specific applications</a:t>
            </a:r>
            <a:endParaRPr lang="en-US" altLang="tr-TR" dirty="0"/>
          </a:p>
        </p:txBody>
      </p:sp>
    </p:spTree>
    <p:extLst>
      <p:ext uri="{BB962C8B-B14F-4D97-AF65-F5344CB8AC3E}">
        <p14:creationId xmlns:p14="http://schemas.microsoft.com/office/powerpoint/2010/main" val="303946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le 1">
            <a:extLst>
              <a:ext uri="{FF2B5EF4-FFF2-40B4-BE49-F238E27FC236}">
                <a16:creationId xmlns:a16="http://schemas.microsoft.com/office/drawing/2014/main" id="{4D3A911E-6834-1744-8921-7FB6B8DC7B0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22350" y="514350"/>
            <a:ext cx="10864850" cy="21447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sz="4000">
                <a:latin typeface="+mn-lt"/>
              </a:rPr>
              <a:t>Image Enhancement:</a:t>
            </a:r>
            <a:br>
              <a:rPr lang="en-US" altLang="tr-TR" sz="4000">
                <a:latin typeface="+mn-lt"/>
              </a:rPr>
            </a:br>
            <a:r>
              <a:rPr lang="en-US" altLang="tr-TR" sz="4000">
                <a:latin typeface="+mn-lt"/>
              </a:rPr>
              <a:t>Accentuating some characteristics of image for a predefined goal</a:t>
            </a:r>
            <a:endParaRPr lang="en-US" altLang="tr-TR" sz="4000" dirty="0">
              <a:latin typeface="+mn-lt"/>
            </a:endParaRPr>
          </a:p>
        </p:txBody>
      </p:sp>
      <p:sp>
        <p:nvSpPr>
          <p:cNvPr id="5122" name="Content Placeholder 2">
            <a:extLst>
              <a:ext uri="{FF2B5EF4-FFF2-40B4-BE49-F238E27FC236}">
                <a16:creationId xmlns:a16="http://schemas.microsoft.com/office/drawing/2014/main" id="{E476D704-2190-C645-B2B4-D8CB848901FE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981200" y="2584174"/>
            <a:ext cx="8229600" cy="354198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dirty="0"/>
              <a:t>Blurring</a:t>
            </a:r>
          </a:p>
          <a:p>
            <a:r>
              <a:rPr lang="en-US" altLang="tr-TR" dirty="0"/>
              <a:t>Smoothing</a:t>
            </a:r>
          </a:p>
          <a:p>
            <a:r>
              <a:rPr lang="en-US" altLang="tr-TR" dirty="0"/>
              <a:t>Sharpening</a:t>
            </a:r>
          </a:p>
          <a:p>
            <a:r>
              <a:rPr lang="en-US" altLang="tr-TR" dirty="0"/>
              <a:t>Contrast Stretching</a:t>
            </a:r>
          </a:p>
          <a:p>
            <a:r>
              <a:rPr lang="en-US" altLang="tr-TR" dirty="0"/>
              <a:t>Edge-line-boundary detection</a:t>
            </a:r>
          </a:p>
        </p:txBody>
      </p:sp>
    </p:spTree>
    <p:extLst>
      <p:ext uri="{BB962C8B-B14F-4D97-AF65-F5344CB8AC3E}">
        <p14:creationId xmlns:p14="http://schemas.microsoft.com/office/powerpoint/2010/main" val="3654322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DB9ECA89-A237-114B-987F-A048646CF6E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981200" y="522288"/>
            <a:ext cx="8356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tr-TR" altLang="tr-TR" sz="4000" dirty="0">
                <a:latin typeface="+mn-lt"/>
              </a:rPr>
              <a:t>Image Enhancement </a:t>
            </a:r>
            <a:r>
              <a:rPr lang="en-US" altLang="tr-TR" sz="4000" dirty="0">
                <a:latin typeface="+mn-lt"/>
              </a:rPr>
              <a:t>Techniques</a:t>
            </a:r>
            <a:endParaRPr lang="tr-TR" altLang="tr-TR" sz="40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33A7CC79-B4ED-FE46-9987-DDB7513495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 bwMode="auto"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>
                  <a:buFontTx/>
                  <a:buNone/>
                </a:pPr>
                <a:r>
                  <a:rPr lang="en-US" altLang="tr-TR" dirty="0"/>
                  <a:t>1. </a:t>
                </a:r>
                <a:r>
                  <a:rPr lang="en-US" altLang="tr-TR" b="1" dirty="0"/>
                  <a:t>Spatial Domain Techniques</a:t>
                </a:r>
                <a:r>
                  <a:rPr lang="en-US" altLang="tr-TR" dirty="0"/>
                  <a:t>: Find a mapping </a:t>
                </a:r>
                <a:r>
                  <a:rPr lang="en-US" altLang="tr-TR" b="1" dirty="0"/>
                  <a:t>T</a:t>
                </a:r>
                <a:r>
                  <a:rPr lang="en-US" altLang="tr-TR" dirty="0"/>
                  <a:t>, in space domain</a:t>
                </a:r>
              </a:p>
              <a:p>
                <a:pPr>
                  <a:buFontTx/>
                  <a:buNone/>
                </a:pPr>
                <a:r>
                  <a:rPr lang="en-US" altLang="tr-TR" b="1" dirty="0"/>
                  <a:t> </a:t>
                </a:r>
                <a:r>
                  <a:rPr lang="en-US" altLang="tr-TR" dirty="0"/>
                  <a:t>                            </a:t>
                </a:r>
                <a14:m>
                  <m:oMath xmlns:m="http://schemas.openxmlformats.org/officeDocument/2006/math">
                    <m:r>
                      <a:rPr lang="en-US" altLang="tr-TR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tr-TR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tr-TR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tr-T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tr-TR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tr-TR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tr-TR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tr-TR" i="1" dirty="0">
                        <a:latin typeface="Cambria Math" panose="02040503050406030204" pitchFamily="18" charset="0"/>
                      </a:rPr>
                      <m:t>)             </m:t>
                    </m:r>
                    <m:r>
                      <a:rPr lang="en-US" altLang="tr-TR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tr-T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tr-TR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tr-TR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tr-TR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tr-T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tr-TR" dirty="0"/>
              </a:p>
              <a:p>
                <a:pPr marL="0" indent="0">
                  <a:buNone/>
                </a:pPr>
                <a:r>
                  <a:rPr lang="en-US" altLang="tr-TR" dirty="0"/>
                  <a:t>2. </a:t>
                </a:r>
                <a:r>
                  <a:rPr lang="en-US" altLang="tr-TR" b="1" dirty="0"/>
                  <a:t>Transform  Domain Techniques: </a:t>
                </a:r>
                <a:r>
                  <a:rPr lang="en-US" altLang="tr-TR" dirty="0"/>
                  <a:t>Change the domain of the image.</a:t>
                </a:r>
              </a:p>
              <a:p>
                <a:pPr marL="0" indent="0">
                  <a:buNone/>
                </a:pPr>
                <a:r>
                  <a:rPr lang="en-US" altLang="tr-TR" dirty="0"/>
                  <a:t>And enhance it in the </a:t>
                </a:r>
                <a:r>
                  <a:rPr lang="en-US" altLang="tr-TR" b="1" dirty="0" err="1"/>
                  <a:t>tansform</a:t>
                </a:r>
                <a:r>
                  <a:rPr lang="en-US" altLang="tr-TR" b="1" dirty="0"/>
                  <a:t> domain </a:t>
                </a:r>
                <a:r>
                  <a:rPr lang="en-US" altLang="tr-TR" dirty="0"/>
                  <a:t>and convert it back to the space domain</a:t>
                </a:r>
              </a:p>
              <a:p>
                <a:pPr marL="0" indent="0">
                  <a:buNone/>
                </a:pPr>
                <a:endParaRPr lang="en-US" altLang="tr-TR" dirty="0"/>
              </a:p>
              <a:p>
                <a:pPr marL="0" indent="0">
                  <a:buNone/>
                </a:pPr>
                <a:r>
                  <a:rPr lang="en-US" altLang="tr-TR" dirty="0"/>
                  <a:t>	</a:t>
                </a:r>
                <a14:m>
                  <m:oMath xmlns:m="http://schemas.openxmlformats.org/officeDocument/2006/math">
                    <m:r>
                      <a:rPr lang="en-US" altLang="tr-TR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tr-T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tr-TR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tr-TR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tr-TR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tr-TR" i="1" dirty="0">
                        <a:latin typeface="Cambria Math" panose="02040503050406030204" pitchFamily="18" charset="0"/>
                      </a:rPr>
                      <m:t>)               </m:t>
                    </m:r>
                    <m:r>
                      <a:rPr lang="en-US" altLang="tr-TR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tr-T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tr-TR" i="1" dirty="0" err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tr-TR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tr-TR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tr-TR" i="1" dirty="0">
                        <a:latin typeface="Cambria Math" panose="02040503050406030204" pitchFamily="18" charset="0"/>
                      </a:rPr>
                      <m:t>)                  </m:t>
                    </m:r>
                    <m:r>
                      <a:rPr lang="en-US" altLang="tr-TR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tr-T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tr-TR" i="1" dirty="0" err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tr-TR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tr-TR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tr-TR" i="1" dirty="0">
                        <a:latin typeface="Cambria Math" panose="02040503050406030204" pitchFamily="18" charset="0"/>
                      </a:rPr>
                      <m:t>)               </m:t>
                    </m:r>
                    <m:r>
                      <a:rPr lang="en-US" altLang="tr-TR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tr-T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tr-TR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tr-TR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tr-TR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tr-TR" i="1" dirty="0">
                        <a:latin typeface="Cambria Math" panose="02040503050406030204" pitchFamily="18" charset="0"/>
                      </a:rPr>
                      <m:t>)   </m:t>
                    </m:r>
                  </m:oMath>
                </a14:m>
                <a:endParaRPr lang="en-US" altLang="tr-TR" dirty="0"/>
              </a:p>
            </p:txBody>
          </p:sp>
        </mc:Choice>
        <mc:Fallback xmlns=""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33A7CC79-B4ED-FE46-9987-DDB7513495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blipFill>
                <a:blip r:embed="rId2"/>
                <a:stretch>
                  <a:fillRect l="-1217" t="-2241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7" name="Right Arrow 3">
            <a:extLst>
              <a:ext uri="{FF2B5EF4-FFF2-40B4-BE49-F238E27FC236}">
                <a16:creationId xmlns:a16="http://schemas.microsoft.com/office/drawing/2014/main" id="{51265CB3-CFB6-8E46-8D1E-9E3CF1161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456" y="2576412"/>
            <a:ext cx="668993" cy="66122"/>
          </a:xfrm>
          <a:prstGeom prst="rightArrow">
            <a:avLst>
              <a:gd name="adj1" fmla="val 50000"/>
              <a:gd name="adj2" fmla="val 5000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tr-TR" altLang="tr-TR"/>
          </a:p>
        </p:txBody>
      </p:sp>
      <p:sp>
        <p:nvSpPr>
          <p:cNvPr id="6148" name="Right Arrow 4">
            <a:extLst>
              <a:ext uri="{FF2B5EF4-FFF2-40B4-BE49-F238E27FC236}">
                <a16:creationId xmlns:a16="http://schemas.microsoft.com/office/drawing/2014/main" id="{DFE95D8C-0EF7-034A-A3EA-ABB715DFE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7049" y="4918648"/>
            <a:ext cx="787400" cy="215900"/>
          </a:xfrm>
          <a:prstGeom prst="rightArrow">
            <a:avLst>
              <a:gd name="adj1" fmla="val 50000"/>
              <a:gd name="adj2" fmla="val 49995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tr-TR" altLang="tr-TR"/>
          </a:p>
        </p:txBody>
      </p:sp>
      <p:sp>
        <p:nvSpPr>
          <p:cNvPr id="6149" name="Right Arrow 8">
            <a:extLst>
              <a:ext uri="{FF2B5EF4-FFF2-40B4-BE49-F238E27FC236}">
                <a16:creationId xmlns:a16="http://schemas.microsoft.com/office/drawing/2014/main" id="{67900736-DD2D-424F-8B20-B9896B9E4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4432" y="4918648"/>
            <a:ext cx="787400" cy="215900"/>
          </a:xfrm>
          <a:prstGeom prst="rightArrow">
            <a:avLst>
              <a:gd name="adj1" fmla="val 50000"/>
              <a:gd name="adj2" fmla="val 49995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tr-TR" altLang="tr-TR"/>
          </a:p>
        </p:txBody>
      </p:sp>
      <p:sp>
        <p:nvSpPr>
          <p:cNvPr id="6150" name="Right Arrow 9">
            <a:extLst>
              <a:ext uri="{FF2B5EF4-FFF2-40B4-BE49-F238E27FC236}">
                <a16:creationId xmlns:a16="http://schemas.microsoft.com/office/drawing/2014/main" id="{AC7BC95B-D829-E749-900A-65A5AFE01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711" y="4918648"/>
            <a:ext cx="787400" cy="215900"/>
          </a:xfrm>
          <a:prstGeom prst="rightArrow">
            <a:avLst>
              <a:gd name="adj1" fmla="val 50000"/>
              <a:gd name="adj2" fmla="val 49995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tr-TR" altLang="tr-TR"/>
          </a:p>
        </p:txBody>
      </p:sp>
      <p:sp>
        <p:nvSpPr>
          <p:cNvPr id="6151" name="TextBox 10">
            <a:extLst>
              <a:ext uri="{FF2B5EF4-FFF2-40B4-BE49-F238E27FC236}">
                <a16:creationId xmlns:a16="http://schemas.microsoft.com/office/drawing/2014/main" id="{C7A2148A-810D-7C4D-9CF7-896FA4B13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7825" y="438284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tr-TR" altLang="tr-TR" dirty="0">
                <a:latin typeface="Script MT Bold" pitchFamily="66" charset="0"/>
              </a:rPr>
              <a:t>F</a:t>
            </a:r>
            <a:r>
              <a:rPr lang="tr-TR" altLang="tr-TR" baseline="30000" dirty="0">
                <a:latin typeface="Script MT Bold" pitchFamily="66" charset="0"/>
              </a:rPr>
              <a:t>-1</a:t>
            </a:r>
          </a:p>
        </p:txBody>
      </p:sp>
      <p:sp>
        <p:nvSpPr>
          <p:cNvPr id="6153" name="TextBox 12">
            <a:extLst>
              <a:ext uri="{FF2B5EF4-FFF2-40B4-BE49-F238E27FC236}">
                <a16:creationId xmlns:a16="http://schemas.microsoft.com/office/drawing/2014/main" id="{8D4D9BCE-BEAA-E543-90DE-56BAB21FF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9728" y="4382542"/>
            <a:ext cx="371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tr-TR" altLang="tr-TR" dirty="0"/>
              <a:t>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3E9C72-10FD-D947-A8AC-4A93ECDC4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655" y="4441902"/>
            <a:ext cx="325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tr-TR" altLang="tr-TR" dirty="0">
                <a:latin typeface="Script MT Bold" pitchFamily="66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4082253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3">
            <a:extLst>
              <a:ext uri="{FF2B5EF4-FFF2-40B4-BE49-F238E27FC236}">
                <a16:creationId xmlns:a16="http://schemas.microsoft.com/office/drawing/2014/main" id="{FBCD969D-C1C6-6F42-BBAB-02B427D4C17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769776"/>
            <a:ext cx="10515600" cy="9209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dirty="0"/>
              <a:t>Spatial Domain Techniques</a:t>
            </a:r>
          </a:p>
        </p:txBody>
      </p:sp>
      <p:sp>
        <p:nvSpPr>
          <p:cNvPr id="5122" name="Content Placeholder 4">
            <a:extLst>
              <a:ext uri="{FF2B5EF4-FFF2-40B4-BE49-F238E27FC236}">
                <a16:creationId xmlns:a16="http://schemas.microsoft.com/office/drawing/2014/main" id="{FAAD6ED0-7B43-8F4B-86B5-4E14A862E70B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981200" y="2082801"/>
            <a:ext cx="8229600" cy="404336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Intensity transform, point operations</a:t>
            </a:r>
            <a:r>
              <a:rPr lang="en-US" dirty="0"/>
              <a:t>, which changes the color palette of an image, independent of the position of a pixel.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Spatial Filtering</a:t>
            </a:r>
            <a:r>
              <a:rPr lang="en-US" dirty="0"/>
              <a:t>, which changes the brightness value of a pixel, depending on its position.</a:t>
            </a:r>
          </a:p>
          <a:p>
            <a:pPr marL="0" indent="0">
              <a:buNone/>
              <a:defRPr/>
            </a:pPr>
            <a:endParaRPr lang="tr-TR" altLang="tr-TR" dirty="0"/>
          </a:p>
        </p:txBody>
      </p:sp>
    </p:spTree>
    <p:extLst>
      <p:ext uri="{BB962C8B-B14F-4D97-AF65-F5344CB8AC3E}">
        <p14:creationId xmlns:p14="http://schemas.microsoft.com/office/powerpoint/2010/main" val="1826933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D867D8-0FE6-C24C-A3FD-27C22296E33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Intensity Transform: Changes the color palette only,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		       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D867D8-0FE6-C24C-A3FD-27C22296E3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10138" b="-17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A38EB-82E4-1149-94B4-CBF7C1A05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754" y="2435087"/>
            <a:ext cx="9687046" cy="3741876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Gray Scale transform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Bit plane slicing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Histogram processing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285CEE0F-0935-5345-92E6-507919FA3E86}"/>
              </a:ext>
            </a:extLst>
          </p:cNvPr>
          <p:cNvSpPr/>
          <p:nvPr/>
        </p:nvSpPr>
        <p:spPr>
          <a:xfrm>
            <a:off x="2563657" y="1292087"/>
            <a:ext cx="894522" cy="1093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802" name="Picture 2" descr="Graphic design color palette typography">
            <a:extLst>
              <a:ext uri="{FF2B5EF4-FFF2-40B4-BE49-F238E27FC236}">
                <a16:creationId xmlns:a16="http://schemas.microsoft.com/office/drawing/2014/main" id="{AE7E3810-1EDE-4117-A9E5-AFAAB90431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20"/>
          <a:stretch/>
        </p:blipFill>
        <p:spPr bwMode="auto">
          <a:xfrm>
            <a:off x="2133211" y="4491038"/>
            <a:ext cx="2933700" cy="151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804" name="Picture 4" descr="Best Color Palette Generators — HTML Color Codes">
            <a:extLst>
              <a:ext uri="{FF2B5EF4-FFF2-40B4-BE49-F238E27FC236}">
                <a16:creationId xmlns:a16="http://schemas.microsoft.com/office/drawing/2014/main" id="{5835992D-55C3-45F7-873D-4229858B8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450" y="4491038"/>
            <a:ext cx="27051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ight Arrow 3">
            <a:extLst>
              <a:ext uri="{FF2B5EF4-FFF2-40B4-BE49-F238E27FC236}">
                <a16:creationId xmlns:a16="http://schemas.microsoft.com/office/drawing/2014/main" id="{2899B253-26A8-4000-8172-9DBACAC687E9}"/>
              </a:ext>
            </a:extLst>
          </p:cNvPr>
          <p:cNvSpPr/>
          <p:nvPr/>
        </p:nvSpPr>
        <p:spPr>
          <a:xfrm>
            <a:off x="5533368" y="5428658"/>
            <a:ext cx="894522" cy="1093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8114DEC-38EE-421B-B5B1-52CA49D62D07}"/>
                  </a:ext>
                </a:extLst>
              </p:cNvPr>
              <p:cNvSpPr/>
              <p:nvPr/>
            </p:nvSpPr>
            <p:spPr>
              <a:xfrm>
                <a:off x="3237694" y="5945470"/>
                <a:ext cx="583814" cy="7139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3600" i="1" dirty="0">
                          <a:latin typeface="Cambria Math" panose="02040503050406030204" pitchFamily="18" charset="0"/>
                        </a:rPr>
                        <m:t>		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8114DEC-38EE-421B-B5B1-52CA49D62D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694" y="5945470"/>
                <a:ext cx="583814" cy="7139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6AAC1CA-540F-44C8-BE8F-832FED3383F1}"/>
                  </a:ext>
                </a:extLst>
              </p:cNvPr>
              <p:cNvSpPr/>
              <p:nvPr/>
            </p:nvSpPr>
            <p:spPr>
              <a:xfrm>
                <a:off x="8138263" y="6061217"/>
                <a:ext cx="74353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3600" i="1" dirty="0">
                          <a:latin typeface="Cambria Math" panose="02040503050406030204" pitchFamily="18" charset="0"/>
                        </a:rPr>
                        <m:t>		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6AAC1CA-540F-44C8-BE8F-832FED3383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263" y="6061217"/>
                <a:ext cx="74353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8008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1FC813FE-3470-7849-A620-FFB15F86D9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73866" y="725714"/>
            <a:ext cx="10515600" cy="97370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tr-TR" sz="4000" b="1" dirty="0"/>
              <a:t>1. </a:t>
            </a:r>
            <a:r>
              <a:rPr lang="tr-TR" sz="4000" b="1" dirty="0" err="1"/>
              <a:t>Grayscale</a:t>
            </a:r>
            <a:r>
              <a:rPr lang="tr-TR" sz="4000" b="1" dirty="0"/>
              <a:t> </a:t>
            </a:r>
            <a:r>
              <a:rPr lang="tr-TR" sz="4000" b="1" dirty="0" err="1"/>
              <a:t>tansform</a:t>
            </a:r>
            <a:r>
              <a:rPr lang="tr-TR" sz="4000" dirty="0"/>
              <a:t>, </a:t>
            </a:r>
            <a:r>
              <a:rPr lang="tr-TR" sz="4000" b="1" i="1" dirty="0"/>
              <a:t>s=T(r)</a:t>
            </a:r>
            <a:endParaRPr lang="en-US" altLang="tr-TR" sz="4000" b="1" i="1" dirty="0"/>
          </a:p>
        </p:txBody>
      </p:sp>
      <p:sp>
        <p:nvSpPr>
          <p:cNvPr id="10242" name="Rectangle 3">
            <a:extLst>
              <a:ext uri="{FF2B5EF4-FFF2-40B4-BE49-F238E27FC236}">
                <a16:creationId xmlns:a16="http://schemas.microsoft.com/office/drawing/2014/main" id="{537DBC12-4371-8442-BEBB-FE5F73B7A3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08881" y="2206171"/>
            <a:ext cx="8373319" cy="381362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sz="2200" dirty="0"/>
              <a:t>C</a:t>
            </a:r>
            <a:r>
              <a:rPr lang="en-US" altLang="tr-TR" sz="2400" dirty="0"/>
              <a:t>onvert a given brightness value to a new  value based on some predefined function, independent of its location. </a:t>
            </a:r>
          </a:p>
        </p:txBody>
      </p:sp>
      <p:pic>
        <p:nvPicPr>
          <p:cNvPr id="10243" name="Picture 4">
            <a:extLst>
              <a:ext uri="{FF2B5EF4-FFF2-40B4-BE49-F238E27FC236}">
                <a16:creationId xmlns:a16="http://schemas.microsoft.com/office/drawing/2014/main" id="{6969D499-4DD6-0940-B9ED-847B7A9A4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91"/>
          <a:stretch>
            <a:fillRect/>
          </a:stretch>
        </p:blipFill>
        <p:spPr bwMode="auto">
          <a:xfrm>
            <a:off x="4550779" y="2912268"/>
            <a:ext cx="3581400" cy="331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1768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9CAC18D6-8928-6945-B22B-3274EBD2C94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723900"/>
            <a:ext cx="10515600" cy="966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tr-TR" altLang="tr-TR" dirty="0"/>
              <a:t>1. </a:t>
            </a:r>
            <a:r>
              <a:rPr lang="tr-TR" altLang="tr-TR" dirty="0" err="1"/>
              <a:t>Grayscale</a:t>
            </a:r>
            <a:r>
              <a:rPr lang="tr-TR" altLang="tr-TR" dirty="0"/>
              <a:t> </a:t>
            </a:r>
            <a:r>
              <a:rPr lang="tr-TR" altLang="tr-TR" dirty="0" err="1"/>
              <a:t>transform</a:t>
            </a:r>
            <a:r>
              <a:rPr lang="tr-TR" altLang="tr-TR" dirty="0"/>
              <a:t>: </a:t>
            </a:r>
            <a:r>
              <a:rPr lang="en-US" altLang="tr-TR" dirty="0"/>
              <a:t>Linear Transforms, </a:t>
            </a:r>
            <a:br>
              <a:rPr lang="en-US" altLang="tr-TR" dirty="0"/>
            </a:br>
            <a:endParaRPr lang="tr-TR" altLang="tr-TR" b="1" dirty="0"/>
          </a:p>
        </p:txBody>
      </p:sp>
      <p:sp>
        <p:nvSpPr>
          <p:cNvPr id="14338" name="Content Placeholder 2">
            <a:extLst>
              <a:ext uri="{FF2B5EF4-FFF2-40B4-BE49-F238E27FC236}">
                <a16:creationId xmlns:a16="http://schemas.microsoft.com/office/drawing/2014/main" id="{A98069DA-A369-E044-9E3D-F4F60A652AA9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200" y="2108717"/>
            <a:ext cx="10515600" cy="406824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endParaRPr lang="en-US" altLang="tr-TR" b="1" dirty="0"/>
          </a:p>
          <a:p>
            <a:endParaRPr lang="en-US" altLang="tr-TR" b="1" dirty="0"/>
          </a:p>
          <a:p>
            <a:endParaRPr lang="en-US" altLang="tr-TR" b="1" dirty="0"/>
          </a:p>
          <a:p>
            <a:endParaRPr lang="en-US" altLang="tr-TR" b="1" dirty="0"/>
          </a:p>
          <a:p>
            <a:endParaRPr lang="en-US" altLang="tr-TR" b="1" dirty="0"/>
          </a:p>
          <a:p>
            <a:endParaRPr lang="en-US" altLang="tr-TR" b="1" dirty="0"/>
          </a:p>
          <a:p>
            <a:endParaRPr lang="en-US" altLang="tr-TR" b="1" dirty="0"/>
          </a:p>
          <a:p>
            <a:endParaRPr lang="en-US" altLang="tr-TR" b="1" dirty="0"/>
          </a:p>
          <a:p>
            <a:r>
              <a:rPr lang="tr-TR" altLang="tr-TR" b="1" dirty="0"/>
              <a:t>r</a:t>
            </a:r>
            <a:r>
              <a:rPr lang="tr-TR" altLang="tr-TR" dirty="0"/>
              <a:t> </a:t>
            </a:r>
            <a:r>
              <a:rPr lang="tr-TR" altLang="tr-TR" dirty="0" err="1"/>
              <a:t>original</a:t>
            </a:r>
            <a:r>
              <a:rPr lang="tr-TR" altLang="tr-TR" dirty="0"/>
              <a:t> </a:t>
            </a:r>
            <a:r>
              <a:rPr lang="tr-TR" altLang="tr-TR" dirty="0" err="1"/>
              <a:t>color</a:t>
            </a:r>
            <a:r>
              <a:rPr lang="tr-TR" altLang="tr-TR" dirty="0"/>
              <a:t>, </a:t>
            </a:r>
            <a:r>
              <a:rPr lang="tr-TR" altLang="tr-TR" b="1" dirty="0"/>
              <a:t>s</a:t>
            </a:r>
            <a:r>
              <a:rPr lang="tr-TR" altLang="tr-TR" dirty="0"/>
              <a:t> </a:t>
            </a:r>
            <a:r>
              <a:rPr lang="tr-TR" altLang="tr-TR" dirty="0" err="1"/>
              <a:t>transformed</a:t>
            </a:r>
            <a:r>
              <a:rPr lang="tr-TR" altLang="tr-TR" dirty="0"/>
              <a:t> </a:t>
            </a:r>
            <a:r>
              <a:rPr lang="tr-TR" altLang="tr-TR" dirty="0" err="1"/>
              <a:t>color</a:t>
            </a:r>
            <a:endParaRPr lang="tr-TR" altLang="tr-TR" dirty="0"/>
          </a:p>
        </p:txBody>
      </p:sp>
      <p:sp>
        <p:nvSpPr>
          <p:cNvPr id="14339" name="Rectangle 4">
            <a:extLst>
              <a:ext uri="{FF2B5EF4-FFF2-40B4-BE49-F238E27FC236}">
                <a16:creationId xmlns:a16="http://schemas.microsoft.com/office/drawing/2014/main" id="{FC03F8C1-F901-7548-ACE2-343B8B880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0" y="2692400"/>
            <a:ext cx="2921000" cy="26543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tr-TR" altLang="tr-TR"/>
          </a:p>
        </p:txBody>
      </p:sp>
      <p:cxnSp>
        <p:nvCxnSpPr>
          <p:cNvPr id="14340" name="Straight Connector 8">
            <a:extLst>
              <a:ext uri="{FF2B5EF4-FFF2-40B4-BE49-F238E27FC236}">
                <a16:creationId xmlns:a16="http://schemas.microsoft.com/office/drawing/2014/main" id="{145A7035-8FDD-2D46-A31B-297D83AF27F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781300" y="2717800"/>
            <a:ext cx="293370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1" name="Straight Connector 10">
            <a:extLst>
              <a:ext uri="{FF2B5EF4-FFF2-40B4-BE49-F238E27FC236}">
                <a16:creationId xmlns:a16="http://schemas.microsoft.com/office/drawing/2014/main" id="{98D61293-DE0E-E447-A549-E6997D4E15A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32100" y="4051300"/>
            <a:ext cx="2933700" cy="1308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2" name="Straight Connector 12">
            <a:extLst>
              <a:ext uri="{FF2B5EF4-FFF2-40B4-BE49-F238E27FC236}">
                <a16:creationId xmlns:a16="http://schemas.microsoft.com/office/drawing/2014/main" id="{A732ACE9-532B-5E4E-9896-E33D428BE27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2070100" y="3441700"/>
            <a:ext cx="2590800" cy="109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3" name="Straight Arrow Connector 14">
            <a:extLst>
              <a:ext uri="{FF2B5EF4-FFF2-40B4-BE49-F238E27FC236}">
                <a16:creationId xmlns:a16="http://schemas.microsoft.com/office/drawing/2014/main" id="{1B6A9643-C8D3-8544-9654-0B0DD4A7F7F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575300" y="5334000"/>
            <a:ext cx="1270000" cy="12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4" name="Straight Arrow Connector 16">
            <a:extLst>
              <a:ext uri="{FF2B5EF4-FFF2-40B4-BE49-F238E27FC236}">
                <a16:creationId xmlns:a16="http://schemas.microsoft.com/office/drawing/2014/main" id="{4AB29733-5AA6-994A-8F93-1B502C13C56A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2444750" y="2597150"/>
            <a:ext cx="711200" cy="12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45" name="TextBox 17">
            <a:extLst>
              <a:ext uri="{FF2B5EF4-FFF2-40B4-BE49-F238E27FC236}">
                <a16:creationId xmlns:a16="http://schemas.microsoft.com/office/drawing/2014/main" id="{0A4D62A1-0D4A-9A48-9224-FD2B474EA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374901"/>
            <a:ext cx="628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tr-TR" altLang="tr-TR"/>
              <a:t>L-1</a:t>
            </a:r>
          </a:p>
        </p:txBody>
      </p:sp>
      <p:sp>
        <p:nvSpPr>
          <p:cNvPr id="14346" name="TextBox 18">
            <a:extLst>
              <a:ext uri="{FF2B5EF4-FFF2-40B4-BE49-F238E27FC236}">
                <a16:creationId xmlns:a16="http://schemas.microsoft.com/office/drawing/2014/main" id="{6DC22C75-7C38-B34A-9FBE-887A11BFC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5397501"/>
            <a:ext cx="628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tr-TR" altLang="tr-TR"/>
              <a:t>L-1</a:t>
            </a:r>
          </a:p>
        </p:txBody>
      </p:sp>
      <p:sp>
        <p:nvSpPr>
          <p:cNvPr id="14347" name="TextBox 19">
            <a:extLst>
              <a:ext uri="{FF2B5EF4-FFF2-40B4-BE49-F238E27FC236}">
                <a16:creationId xmlns:a16="http://schemas.microsoft.com/office/drawing/2014/main" id="{6FB35C3E-95F2-5E47-B981-AF57F0F81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100" y="5283201"/>
            <a:ext cx="2873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tr-TR" altLang="tr-TR"/>
              <a:t>r</a:t>
            </a:r>
          </a:p>
        </p:txBody>
      </p:sp>
      <p:sp>
        <p:nvSpPr>
          <p:cNvPr id="14348" name="TextBox 20">
            <a:extLst>
              <a:ext uri="{FF2B5EF4-FFF2-40B4-BE49-F238E27FC236}">
                <a16:creationId xmlns:a16="http://schemas.microsoft.com/office/drawing/2014/main" id="{5FF5F655-B03E-D844-9C68-F655B0811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3700" y="2057401"/>
            <a:ext cx="304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tr-TR" altLang="tr-TR"/>
              <a:t>s</a:t>
            </a:r>
          </a:p>
        </p:txBody>
      </p:sp>
      <p:sp>
        <p:nvSpPr>
          <p:cNvPr id="14349" name="TextBox 21">
            <a:extLst>
              <a:ext uri="{FF2B5EF4-FFF2-40B4-BE49-F238E27FC236}">
                <a16:creationId xmlns:a16="http://schemas.microsoft.com/office/drawing/2014/main" id="{19662221-5FF9-C74D-9656-BFB0721AD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0400" y="2361406"/>
            <a:ext cx="581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tr-TR" altLang="tr-TR" dirty="0"/>
              <a:t>s=r</a:t>
            </a:r>
          </a:p>
        </p:txBody>
      </p:sp>
      <p:sp>
        <p:nvSpPr>
          <p:cNvPr id="14350" name="TextBox 22">
            <a:extLst>
              <a:ext uri="{FF2B5EF4-FFF2-40B4-BE49-F238E27FC236}">
                <a16:creationId xmlns:a16="http://schemas.microsoft.com/office/drawing/2014/main" id="{B6C43D11-A5B2-E944-BA97-ACB1F3B6F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950" y="3770312"/>
            <a:ext cx="965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tr-TR" altLang="tr-TR" dirty="0"/>
              <a:t>s=0.5r</a:t>
            </a:r>
          </a:p>
        </p:txBody>
      </p:sp>
      <p:sp>
        <p:nvSpPr>
          <p:cNvPr id="14351" name="TextBox 23">
            <a:extLst>
              <a:ext uri="{FF2B5EF4-FFF2-40B4-BE49-F238E27FC236}">
                <a16:creationId xmlns:a16="http://schemas.microsoft.com/office/drawing/2014/main" id="{0BFFA00A-1F5E-F848-AC6B-640ABACA2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844" y="2255837"/>
            <a:ext cx="7350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tr-TR" altLang="tr-TR" dirty="0"/>
              <a:t>s=2r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4F7DAE-7E95-40E5-9606-B8BF1D1E3818}"/>
                  </a:ext>
                </a:extLst>
              </p:cNvPr>
              <p:cNvSpPr txBox="1"/>
              <p:nvPr/>
            </p:nvSpPr>
            <p:spPr>
              <a:xfrm>
                <a:off x="7658100" y="3558064"/>
                <a:ext cx="352933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altLang="tr-TR" sz="32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tr-TR" altLang="tr-TR" sz="3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altLang="tr-TR" sz="32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tr-TR" altLang="tr-TR" sz="32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altLang="tr-TR" sz="32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tr-TR" altLang="tr-TR" sz="3200" b="0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tr-TR" altLang="tr-TR" sz="3200" b="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tr-TR" altLang="tr-TR" sz="3200" b="0" i="1" dirty="0" err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tr-TR" altLang="tr-TR" sz="3200" b="0" i="1" dirty="0" err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4F7DAE-7E95-40E5-9606-B8BF1D1E3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100" y="3558064"/>
                <a:ext cx="3529331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3694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3">
            <a:extLst>
              <a:ext uri="{FF2B5EF4-FFF2-40B4-BE49-F238E27FC236}">
                <a16:creationId xmlns:a16="http://schemas.microsoft.com/office/drawing/2014/main" id="{E7298E3E-6D70-A147-A5BD-860803FA5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7709" y="3186437"/>
            <a:ext cx="6316662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73641223-F0FE-4FDB-8A22-21BF44E20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72" y="2133600"/>
            <a:ext cx="3659916" cy="3827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96F54AE-8647-4566-BC29-1CDCFDBA6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tr-TR" sz="3600" dirty="0"/>
              <a:t>Gray Scale transform- </a:t>
            </a:r>
            <a:r>
              <a:rPr lang="en-US" altLang="tr-TR" sz="3100" dirty="0">
                <a:latin typeface="Verdana" panose="020B0604030504040204" pitchFamily="34" charset="0"/>
              </a:rPr>
              <a:t>Negation: s= T(r)</a:t>
            </a:r>
            <a:endParaRPr lang="tr-TR" sz="3100" dirty="0"/>
          </a:p>
        </p:txBody>
      </p:sp>
    </p:spTree>
    <p:extLst>
      <p:ext uri="{BB962C8B-B14F-4D97-AF65-F5344CB8AC3E}">
        <p14:creationId xmlns:p14="http://schemas.microsoft.com/office/powerpoint/2010/main" val="3145385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D6E3D73C-3CD0-4B47-9437-CF9FBDB171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sz="4000" dirty="0"/>
              <a:t>Gray Scale transform- </a:t>
            </a:r>
            <a:br>
              <a:rPr lang="en-US" altLang="tr-TR" sz="4000" dirty="0"/>
            </a:br>
            <a:r>
              <a:rPr lang="en-US" altLang="tr-TR" sz="4000" dirty="0"/>
              <a:t>Contrast stretching, Thresholding</a:t>
            </a:r>
          </a:p>
        </p:txBody>
      </p:sp>
      <p:pic>
        <p:nvPicPr>
          <p:cNvPr id="12292" name="Picture 7">
            <a:extLst>
              <a:ext uri="{FF2B5EF4-FFF2-40B4-BE49-F238E27FC236}">
                <a16:creationId xmlns:a16="http://schemas.microsoft.com/office/drawing/2014/main" id="{A6CF5277-FFE5-154F-8208-976CE85E7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127" y="2331098"/>
            <a:ext cx="3584543" cy="3889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2293" name="Rectangle 8">
            <a:extLst>
              <a:ext uri="{FF2B5EF4-FFF2-40B4-BE49-F238E27FC236}">
                <a16:creationId xmlns:a16="http://schemas.microsoft.com/office/drawing/2014/main" id="{AFC38BC8-3FF0-194D-96C8-B75A58B37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320" y="1781532"/>
            <a:ext cx="23018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kumimoji="1" lang="en-US" altLang="tr-TR" sz="2200" dirty="0"/>
              <a:t>Contrast stretching</a:t>
            </a:r>
          </a:p>
        </p:txBody>
      </p:sp>
      <p:pic>
        <p:nvPicPr>
          <p:cNvPr id="12294" name="Picture 9">
            <a:extLst>
              <a:ext uri="{FF2B5EF4-FFF2-40B4-BE49-F238E27FC236}">
                <a16:creationId xmlns:a16="http://schemas.microsoft.com/office/drawing/2014/main" id="{9C5E24AB-C2D0-294B-86BE-368687667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153"/>
          <a:stretch>
            <a:fillRect/>
          </a:stretch>
        </p:blipFill>
        <p:spPr bwMode="auto">
          <a:xfrm>
            <a:off x="8686798" y="2381700"/>
            <a:ext cx="2863393" cy="21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2295" name="Picture 10">
            <a:extLst>
              <a:ext uri="{FF2B5EF4-FFF2-40B4-BE49-F238E27FC236}">
                <a16:creationId xmlns:a16="http://schemas.microsoft.com/office/drawing/2014/main" id="{1521414A-82A6-EE41-8D23-B4C95C441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47" r="5084" b="9689"/>
          <a:stretch>
            <a:fillRect/>
          </a:stretch>
        </p:blipFill>
        <p:spPr bwMode="auto">
          <a:xfrm>
            <a:off x="9715499" y="4757436"/>
            <a:ext cx="1834693" cy="134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2296" name="Picture 11">
            <a:extLst>
              <a:ext uri="{FF2B5EF4-FFF2-40B4-BE49-F238E27FC236}">
                <a16:creationId xmlns:a16="http://schemas.microsoft.com/office/drawing/2014/main" id="{6BACE88B-5C29-DD41-898F-E1819ED10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67" r="2083" b="20369"/>
          <a:stretch>
            <a:fillRect/>
          </a:stretch>
        </p:blipFill>
        <p:spPr bwMode="auto">
          <a:xfrm>
            <a:off x="8115299" y="4757436"/>
            <a:ext cx="16002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2297" name="Rectangle 12">
            <a:extLst>
              <a:ext uri="{FF2B5EF4-FFF2-40B4-BE49-F238E27FC236}">
                <a16:creationId xmlns:a16="http://schemas.microsoft.com/office/drawing/2014/main" id="{DFF01230-F9B6-C947-95D6-DE9C40476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74" y="1607835"/>
            <a:ext cx="167481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kumimoji="1" lang="en-US" altLang="tr-TR" sz="2200" dirty="0"/>
              <a:t>Thresholding</a:t>
            </a:r>
          </a:p>
        </p:txBody>
      </p:sp>
    </p:spTree>
    <p:extLst>
      <p:ext uri="{BB962C8B-B14F-4D97-AF65-F5344CB8AC3E}">
        <p14:creationId xmlns:p14="http://schemas.microsoft.com/office/powerpoint/2010/main" val="837998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2FFC0-E674-4468-BD42-322F79569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What type of a transform do you suggest to enhance the contrast of the left image?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0AFFCD-10DB-4DA7-9A75-DB6690260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250" y="1987897"/>
            <a:ext cx="8877300" cy="459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83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F0014-46C5-44F9-872B-3212058B5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6802" name="Picture 2" descr="https://camo.githubusercontent.com/c8cceb0f7b5e317e577b6e140308597316208672fe820c1cbc60c070de38e58f/68747470733a2f2f7261772e67697468756275736572636f6e74656e742e636f6d2f68617a616c6d6f67756c7461792f343636496d616765732f6d61737465722f57342f342d362d632e64726177696f2e706e67">
            <a:extLst>
              <a:ext uri="{FF2B5EF4-FFF2-40B4-BE49-F238E27FC236}">
                <a16:creationId xmlns:a16="http://schemas.microsoft.com/office/drawing/2014/main" id="{CFD37A52-0615-4A03-A585-C02B58188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0549" y="2173288"/>
            <a:ext cx="4010025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3E758F-5D5E-4BF3-9792-810D00F88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30" y="2127597"/>
            <a:ext cx="7864219" cy="407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32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3">
            <a:extLst>
              <a:ext uri="{FF2B5EF4-FFF2-40B4-BE49-F238E27FC236}">
                <a16:creationId xmlns:a16="http://schemas.microsoft.com/office/drawing/2014/main" id="{5B62C0A9-FF1A-2E4B-A7A0-7D81BD66C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5538" y="1909763"/>
            <a:ext cx="6900862" cy="473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E3A777-773F-48E6-B93E-7845BDC71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Gray Scale Transform- Gamma Correction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942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3">
            <a:extLst>
              <a:ext uri="{FF2B5EF4-FFF2-40B4-BE49-F238E27FC236}">
                <a16:creationId xmlns:a16="http://schemas.microsoft.com/office/drawing/2014/main" id="{03E23311-7097-894F-9745-12CFB3E81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239" y="1565275"/>
            <a:ext cx="6302375" cy="507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72B16A-D705-439B-8649-A81C9055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Gray scale transform-</a:t>
            </a:r>
            <a:r>
              <a:rPr lang="en-US" altLang="tr-TR" dirty="0"/>
              <a:t> Contrast Stretching</a:t>
            </a:r>
            <a:br>
              <a:rPr lang="en-US" dirty="0">
                <a:solidFill>
                  <a:srgbClr val="FF0000"/>
                </a:solidFill>
              </a:rPr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10016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3">
            <a:extLst>
              <a:ext uri="{FF2B5EF4-FFF2-40B4-BE49-F238E27FC236}">
                <a16:creationId xmlns:a16="http://schemas.microsoft.com/office/drawing/2014/main" id="{78ACF075-A396-F948-91A0-CDA2C1243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6" y="1579564"/>
            <a:ext cx="6278563" cy="459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17585F-282E-4384-8730-08DA334C5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Gray scale transform-</a:t>
            </a:r>
            <a:r>
              <a:rPr lang="en-US" altLang="tr-TR" sz="4000" dirty="0"/>
              <a:t> Highlight</a:t>
            </a:r>
            <a:endParaRPr lang="tr-TR" sz="4000" dirty="0"/>
          </a:p>
        </p:txBody>
      </p:sp>
    </p:spTree>
    <p:extLst>
      <p:ext uri="{BB962C8B-B14F-4D97-AF65-F5344CB8AC3E}">
        <p14:creationId xmlns:p14="http://schemas.microsoft.com/office/powerpoint/2010/main" val="4107036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Picture 3">
            <a:extLst>
              <a:ext uri="{FF2B5EF4-FFF2-40B4-BE49-F238E27FC236}">
                <a16:creationId xmlns:a16="http://schemas.microsoft.com/office/drawing/2014/main" id="{B3DEC728-B2F7-C44D-B8BA-7DB082EA0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70" y="2687637"/>
            <a:ext cx="5965825" cy="210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2" name="Text Box 4">
            <a:extLst>
              <a:ext uri="{FF2B5EF4-FFF2-40B4-BE49-F238E27FC236}">
                <a16:creationId xmlns:a16="http://schemas.microsoft.com/office/drawing/2014/main" id="{832454CD-C549-A047-A77D-690BCB384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425" y="189865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tr-TR" altLang="tr-TR"/>
          </a:p>
        </p:txBody>
      </p:sp>
      <p:sp>
        <p:nvSpPr>
          <p:cNvPr id="15363" name="Title 4">
            <a:extLst>
              <a:ext uri="{FF2B5EF4-FFF2-40B4-BE49-F238E27FC236}">
                <a16:creationId xmlns:a16="http://schemas.microsoft.com/office/drawing/2014/main" id="{0681F054-EB6E-554F-BFD7-DCF1725AEAC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987550" y="620081"/>
            <a:ext cx="8216900" cy="9983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sz="4000" b="1" dirty="0"/>
              <a:t>Gray Scale Transform: Binarization</a:t>
            </a:r>
            <a:endParaRPr lang="tr-TR" altLang="tr-TR" dirty="0"/>
          </a:p>
        </p:txBody>
      </p:sp>
      <p:sp>
        <p:nvSpPr>
          <p:cNvPr id="15364" name="Content Placeholder 5">
            <a:extLst>
              <a:ext uri="{FF2B5EF4-FFF2-40B4-BE49-F238E27FC236}">
                <a16:creationId xmlns:a16="http://schemas.microsoft.com/office/drawing/2014/main" id="{8DD06954-E9CA-504F-B009-E864C289C9C7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tr-TR" altLang="tr-TR"/>
              <a:t>Thresholding to Binarize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FBB3313-A02C-7141-96D4-8735E8711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814" y="2127250"/>
            <a:ext cx="76454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99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3">
            <a:extLst>
              <a:ext uri="{FF2B5EF4-FFF2-40B4-BE49-F238E27FC236}">
                <a16:creationId xmlns:a16="http://schemas.microsoft.com/office/drawing/2014/main" id="{600EF32A-E432-2E4B-8FE2-C03DA1127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1717172"/>
            <a:ext cx="7358743" cy="5231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4BA12C-149A-4FFD-BE51-D0D3A4D4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tr-TR" altLang="tr-TR" sz="4000" dirty="0" err="1">
                <a:latin typeface="Verdana" panose="020B0604030504040204" pitchFamily="34" charset="0"/>
              </a:rPr>
              <a:t>Gray</a:t>
            </a:r>
            <a:r>
              <a:rPr lang="en-US" altLang="tr-TR" sz="4000" dirty="0">
                <a:latin typeface="Verdana" panose="020B0604030504040204" pitchFamily="34" charset="0"/>
              </a:rPr>
              <a:t> </a:t>
            </a:r>
            <a:r>
              <a:rPr lang="tr-TR" altLang="tr-TR" sz="4000" dirty="0" err="1">
                <a:latin typeface="Verdana" panose="020B0604030504040204" pitchFamily="34" charset="0"/>
              </a:rPr>
              <a:t>scale</a:t>
            </a:r>
            <a:r>
              <a:rPr lang="tr-TR" altLang="tr-TR" sz="4000" dirty="0">
                <a:latin typeface="Verdana" panose="020B0604030504040204" pitchFamily="34" charset="0"/>
              </a:rPr>
              <a:t> </a:t>
            </a:r>
            <a:r>
              <a:rPr lang="tr-TR" altLang="tr-TR" sz="4000" dirty="0" err="1">
                <a:latin typeface="Verdana" panose="020B0604030504040204" pitchFamily="34" charset="0"/>
              </a:rPr>
              <a:t>tansform</a:t>
            </a:r>
            <a:r>
              <a:rPr lang="tr-TR" altLang="tr-TR" sz="4000" dirty="0">
                <a:latin typeface="Verdana" panose="020B0604030504040204" pitchFamily="34" charset="0"/>
              </a:rPr>
              <a:t> </a:t>
            </a:r>
            <a:br>
              <a:rPr lang="tr-TR" altLang="tr-TR" sz="4000" dirty="0">
                <a:latin typeface="Verdana" panose="020B0604030504040204" pitchFamily="34" charset="0"/>
              </a:rPr>
            </a:br>
            <a:r>
              <a:rPr lang="tr-TR" altLang="tr-TR" sz="4000" dirty="0" err="1">
                <a:latin typeface="Verdana" panose="020B0604030504040204" pitchFamily="34" charset="0"/>
              </a:rPr>
              <a:t>Power</a:t>
            </a:r>
            <a:r>
              <a:rPr lang="tr-TR" altLang="tr-TR" sz="4000" dirty="0">
                <a:latin typeface="Verdana" panose="020B0604030504040204" pitchFamily="34" charset="0"/>
              </a:rPr>
              <a:t> </a:t>
            </a:r>
            <a:r>
              <a:rPr lang="tr-TR" altLang="tr-TR" sz="4000" dirty="0" err="1">
                <a:latin typeface="Verdana" panose="020B0604030504040204" pitchFamily="34" charset="0"/>
              </a:rPr>
              <a:t>law</a:t>
            </a:r>
            <a:r>
              <a:rPr lang="tr-TR" altLang="tr-TR" sz="4000" dirty="0">
                <a:latin typeface="Verdana" panose="020B0604030504040204" pitchFamily="34" charset="0"/>
              </a:rPr>
              <a:t> </a:t>
            </a:r>
            <a:r>
              <a:rPr lang="tr-TR" altLang="tr-TR" sz="4000" dirty="0" err="1">
                <a:latin typeface="Verdana" panose="020B0604030504040204" pitchFamily="34" charset="0"/>
              </a:rPr>
              <a:t>transform</a:t>
            </a:r>
            <a:r>
              <a:rPr lang="tr-TR" altLang="tr-TR" sz="4000" dirty="0">
                <a:latin typeface="Verdana" panose="020B0604030504040204" pitchFamily="34" charset="0"/>
              </a:rPr>
              <a:t>:  s =</a:t>
            </a:r>
            <a:r>
              <a:rPr lang="tr-TR" altLang="tr-TR" sz="4000" dirty="0" err="1">
                <a:latin typeface="Verdana" panose="020B0604030504040204" pitchFamily="34" charset="0"/>
              </a:rPr>
              <a:t>cr</a:t>
            </a:r>
            <a:r>
              <a:rPr lang="tr-TR" altLang="tr-TR" sz="4000" baseline="30000" dirty="0" err="1">
                <a:latin typeface="Symbol" pitchFamily="2" charset="2"/>
              </a:rPr>
              <a:t>g</a:t>
            </a:r>
            <a:endParaRPr lang="tr-TR" sz="4000" dirty="0"/>
          </a:p>
        </p:txBody>
      </p:sp>
    </p:spTree>
    <p:extLst>
      <p:ext uri="{BB962C8B-B14F-4D97-AF65-F5344CB8AC3E}">
        <p14:creationId xmlns:p14="http://schemas.microsoft.com/office/powerpoint/2010/main" val="2697803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3">
            <a:extLst>
              <a:ext uri="{FF2B5EF4-FFF2-40B4-BE49-F238E27FC236}">
                <a16:creationId xmlns:a16="http://schemas.microsoft.com/office/drawing/2014/main" id="{A5081E23-DA9D-2F48-8287-22BEDF29B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52" y="1670188"/>
            <a:ext cx="7280729" cy="518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C30575-FA07-5F4A-A08F-C25DFF787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258" y="3478696"/>
            <a:ext cx="4543742" cy="3230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FAD89D-EFF4-4DC1-9981-3D10FD3D6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br>
              <a:rPr lang="en-US" altLang="tr-TR" dirty="0"/>
            </a:br>
            <a:r>
              <a:rPr lang="en-US" dirty="0"/>
              <a:t>Power Low Transform </a:t>
            </a:r>
            <a:r>
              <a:rPr lang="en-US" altLang="tr-TR" dirty="0"/>
              <a:t>Examples</a:t>
            </a:r>
            <a:br>
              <a:rPr lang="en-US" dirty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33402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>
            <a:extLst>
              <a:ext uri="{FF2B5EF4-FFF2-40B4-BE49-F238E27FC236}">
                <a16:creationId xmlns:a16="http://schemas.microsoft.com/office/drawing/2014/main" id="{D1C71B8D-DABD-744C-865E-88AD230ED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962" y="427946"/>
            <a:ext cx="10871200" cy="2308324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sz="4000" dirty="0"/>
              <a:t>Power Low Transform </a:t>
            </a:r>
            <a:r>
              <a:rPr lang="en-US" altLang="tr-TR" sz="4000" dirty="0"/>
              <a:t>Examples</a:t>
            </a:r>
          </a:p>
          <a:p>
            <a:pPr algn="ctr">
              <a:defRPr/>
            </a:pPr>
            <a:r>
              <a:rPr lang="en-US" sz="4000" dirty="0">
                <a:solidFill>
                  <a:srgbClr val="FF0000"/>
                </a:solidFill>
              </a:rPr>
              <a:t> </a:t>
            </a:r>
          </a:p>
          <a:p>
            <a:pPr algn="ctr">
              <a:defRPr/>
            </a:pPr>
            <a:endParaRPr lang="en-US" altLang="tr-TR" sz="4000" dirty="0"/>
          </a:p>
          <a:p>
            <a:pPr algn="ctr">
              <a:defRPr/>
            </a:pPr>
            <a:endParaRPr lang="en-US" altLang="tr-TR" dirty="0"/>
          </a:p>
        </p:txBody>
      </p:sp>
      <p:pic>
        <p:nvPicPr>
          <p:cNvPr id="22530" name="Picture 3">
            <a:extLst>
              <a:ext uri="{FF2B5EF4-FFF2-40B4-BE49-F238E27FC236}">
                <a16:creationId xmlns:a16="http://schemas.microsoft.com/office/drawing/2014/main" id="{25E3A8EE-65B1-C34F-BBA9-07D8EC402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62" y="1591439"/>
            <a:ext cx="6374268" cy="5111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E8874B-4C43-3142-A29B-31ACC9C15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6192" y="3240895"/>
            <a:ext cx="4810445" cy="3419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6549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5" name="Picture 3">
            <a:extLst>
              <a:ext uri="{FF2B5EF4-FFF2-40B4-BE49-F238E27FC236}">
                <a16:creationId xmlns:a16="http://schemas.microsoft.com/office/drawing/2014/main" id="{F6816A35-1040-D643-A2FB-16128F092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941" y="4039637"/>
            <a:ext cx="7510551" cy="2291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6" name="Title 7">
            <a:extLst>
              <a:ext uri="{FF2B5EF4-FFF2-40B4-BE49-F238E27FC236}">
                <a16:creationId xmlns:a16="http://schemas.microsoft.com/office/drawing/2014/main" id="{FDA1DA90-3C36-6948-B2D8-382A4BAB6F1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tr-TR" altLang="tr-TR" dirty="0"/>
              <a:t>2. Bit </a:t>
            </a:r>
            <a:r>
              <a:rPr lang="tr-TR" altLang="tr-TR" dirty="0" err="1"/>
              <a:t>plane</a:t>
            </a:r>
            <a:r>
              <a:rPr lang="tr-TR" altLang="tr-TR" dirty="0"/>
              <a:t> </a:t>
            </a:r>
            <a:r>
              <a:rPr lang="tr-TR" altLang="tr-TR" dirty="0" err="1"/>
              <a:t>slicing</a:t>
            </a:r>
            <a:endParaRPr lang="tr-TR" alt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7" name="Content Placeholder 8">
                <a:extLst>
                  <a:ext uri="{FF2B5EF4-FFF2-40B4-BE49-F238E27FC236}">
                    <a16:creationId xmlns:a16="http://schemas.microsoft.com/office/drawing/2014/main" id="{CB51CA63-CBC4-5846-B4BA-99431F478E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 bwMode="auto">
              <a:xfrm>
                <a:off x="735496" y="1320802"/>
                <a:ext cx="9475304" cy="2237408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rmAutofit fontScale="92500" lnSpcReduction="10000"/>
              </a:bodyPr>
              <a:lstStyle/>
              <a:p>
                <a:r>
                  <a:rPr lang="tr-TR" altLang="tr-TR" dirty="0"/>
                  <a:t>S</a:t>
                </a:r>
                <a:r>
                  <a:rPr lang="en-US" altLang="tr-TR" dirty="0"/>
                  <a:t>u</a:t>
                </a:r>
                <a:r>
                  <a:rPr lang="tr-TR" altLang="tr-TR" dirty="0" err="1"/>
                  <a:t>ppose</a:t>
                </a:r>
                <a:r>
                  <a:rPr lang="tr-TR" altLang="tr-TR" dirty="0"/>
                  <a:t> </a:t>
                </a:r>
                <a:r>
                  <a:rPr lang="tr-TR" altLang="tr-TR" dirty="0" err="1"/>
                  <a:t>each</a:t>
                </a:r>
                <a:r>
                  <a:rPr lang="tr-TR" altLang="tr-TR" dirty="0"/>
                  <a:t> </a:t>
                </a:r>
                <a:r>
                  <a:rPr lang="tr-TR" altLang="tr-TR" dirty="0" err="1"/>
                  <a:t>pixel</a:t>
                </a:r>
                <a:r>
                  <a:rPr lang="tr-TR" altLang="tr-TR" dirty="0"/>
                  <a:t> is </a:t>
                </a:r>
                <a:r>
                  <a:rPr lang="tr-TR" altLang="tr-TR" dirty="0" err="1"/>
                  <a:t>represented</a:t>
                </a:r>
                <a:r>
                  <a:rPr lang="tr-TR" altLang="tr-TR" dirty="0"/>
                  <a:t> </a:t>
                </a:r>
                <a:r>
                  <a:rPr lang="tr-TR" altLang="tr-TR" dirty="0" err="1"/>
                  <a:t>by</a:t>
                </a:r>
                <a:r>
                  <a:rPr lang="tr-TR" altLang="tr-TR" dirty="0"/>
                  <a:t> k-</a:t>
                </a:r>
                <a:r>
                  <a:rPr lang="tr-TR" altLang="tr-TR" dirty="0" err="1"/>
                  <a:t>bits</a:t>
                </a:r>
                <a:r>
                  <a:rPr lang="tr-TR" altLang="tr-TR" dirty="0"/>
                  <a:t>.</a:t>
                </a:r>
              </a:p>
              <a:p>
                <a:r>
                  <a:rPr lang="tr-TR" altLang="tr-TR" dirty="0" err="1"/>
                  <a:t>Represent</a:t>
                </a:r>
                <a:r>
                  <a:rPr lang="tr-TR" altLang="tr-TR" dirty="0"/>
                  <a:t> </a:t>
                </a:r>
                <a:r>
                  <a:rPr lang="tr-TR" altLang="tr-TR" dirty="0" err="1"/>
                  <a:t>each</a:t>
                </a:r>
                <a:r>
                  <a:rPr lang="tr-TR" altLang="tr-TR" dirty="0"/>
                  <a:t> bit </a:t>
                </a:r>
                <a:r>
                  <a:rPr lang="tr-TR" altLang="tr-TR" dirty="0" err="1"/>
                  <a:t>by</a:t>
                </a:r>
                <a:r>
                  <a:rPr lang="tr-TR" altLang="tr-TR" dirty="0"/>
                  <a:t> an </a:t>
                </a:r>
                <a:r>
                  <a:rPr lang="tr-TR" altLang="tr-TR" dirty="0" err="1"/>
                  <a:t>image</a:t>
                </a:r>
                <a:r>
                  <a:rPr lang="tr-TR" altLang="tr-TR" dirty="0"/>
                  <a:t> </a:t>
                </a:r>
                <a:r>
                  <a:rPr lang="tr-TR" altLang="tr-TR" dirty="0" err="1"/>
                  <a:t>plane</a:t>
                </a:r>
                <a:endParaRPr lang="tr-TR" altLang="tr-TR" dirty="0"/>
              </a:p>
              <a:p>
                <a:r>
                  <a:rPr lang="tr-TR" altLang="tr-TR" dirty="0" err="1"/>
                  <a:t>Ex</a:t>
                </a:r>
                <a14:m>
                  <m:oMath xmlns:m="http://schemas.openxmlformats.org/officeDocument/2006/math">
                    <m:r>
                      <a:rPr lang="tr-TR" altLang="tr-TR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tr-TR" altLang="tr-TR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tr-TR" altLang="tr-TR" i="1" dirty="0" smtClean="0">
                        <a:latin typeface="Cambria Math" panose="02040503050406030204" pitchFamily="18" charset="0"/>
                      </a:rPr>
                      <m:t>  [0, 255]10 = [00000000, 111111</m:t>
                    </m:r>
                    <m:r>
                      <a:rPr lang="tr-TR" altLang="tr-TR" i="1" dirty="0">
                        <a:latin typeface="Cambria Math" panose="02040503050406030204" pitchFamily="18" charset="0"/>
                      </a:rPr>
                      <m:t>11]2</m:t>
                    </m:r>
                  </m:oMath>
                </a14:m>
                <a:endParaRPr lang="tr-TR" altLang="tr-TR" baseline="-25000" dirty="0"/>
              </a:p>
              <a:p>
                <a:pPr marL="0" indent="0">
                  <a:buNone/>
                </a:pPr>
                <a:r>
                  <a:rPr lang="tr-TR" altLang="tr-TR" dirty="0"/>
                  <a:t>8 </a:t>
                </a:r>
                <a:r>
                  <a:rPr lang="tr-TR" altLang="tr-TR" dirty="0" err="1"/>
                  <a:t>bits</a:t>
                </a:r>
                <a:r>
                  <a:rPr lang="tr-TR" altLang="tr-TR" dirty="0"/>
                  <a:t> </a:t>
                </a:r>
                <a:r>
                  <a:rPr lang="tr-TR" altLang="tr-TR" dirty="0" err="1"/>
                  <a:t>per</a:t>
                </a:r>
                <a:r>
                  <a:rPr lang="tr-TR" altLang="tr-TR" dirty="0"/>
                  <a:t> </a:t>
                </a:r>
                <a:r>
                  <a:rPr lang="tr-TR" altLang="tr-TR" dirty="0" err="1"/>
                  <a:t>pixel</a:t>
                </a:r>
                <a:r>
                  <a:rPr lang="tr-TR" altLang="tr-TR" dirty="0"/>
                  <a:t> : 8 </a:t>
                </a:r>
                <a:r>
                  <a:rPr lang="tr-TR" altLang="tr-TR" dirty="0" err="1"/>
                  <a:t>binary</a:t>
                </a:r>
                <a:r>
                  <a:rPr lang="tr-TR" altLang="tr-TR" dirty="0"/>
                  <a:t> </a:t>
                </a:r>
                <a:r>
                  <a:rPr lang="tr-TR" altLang="tr-TR" dirty="0" err="1"/>
                  <a:t>images</a:t>
                </a:r>
                <a:r>
                  <a:rPr lang="tr-TR" altLang="tr-TR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tr-TR" altLang="tr-TR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tr-TR" altLang="tr-T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alt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tr-TR" altLang="tr-T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tr-TR" altLang="tr-T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tr-TR" altLang="tr-T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tr-TR" alt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altLang="tr-TR" b="0" i="1" smtClean="0">
                            <a:latin typeface="Cambria Math" panose="02040503050406030204" pitchFamily="18" charset="0"/>
                          </a:rPr>
                          <m:t>(3)</m:t>
                        </m:r>
                      </m:e>
                      <m:sub>
                        <m:r>
                          <a:rPr lang="tr-TR" altLang="tr-T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altLang="tr-T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tr-TR" altLang="tr-TR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altLang="tr-T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tr-TR" altLang="tr-TR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tr-TR" altLang="tr-TR" dirty="0"/>
                          <m:t>00000011</m:t>
                        </m:r>
                        <m:r>
                          <m:rPr>
                            <m:nor/>
                          </m:rPr>
                          <a:rPr lang="tr-TR" altLang="tr-TR" b="0" i="0" dirty="0" smtClean="0"/>
                          <m:t>)</m:t>
                        </m:r>
                      </m:e>
                      <m:sub>
                        <m:r>
                          <a:rPr lang="tr-TR" altLang="tr-T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tr-TR" altLang="tr-TR" dirty="0"/>
              </a:p>
            </p:txBody>
          </p:sp>
        </mc:Choice>
        <mc:Fallback xmlns="">
          <p:sp>
            <p:nvSpPr>
              <p:cNvPr id="26627" name="Content Placeholder 8">
                <a:extLst>
                  <a:ext uri="{FF2B5EF4-FFF2-40B4-BE49-F238E27FC236}">
                    <a16:creationId xmlns:a16="http://schemas.microsoft.com/office/drawing/2014/main" id="{CB51CA63-CBC4-5846-B4BA-99431F478E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735496" y="1320802"/>
                <a:ext cx="9475304" cy="2237408"/>
              </a:xfrm>
              <a:blipFill>
                <a:blip r:embed="rId3"/>
                <a:stretch>
                  <a:fillRect l="-1158" t="-5722" b="-4905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979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2">
            <a:extLst>
              <a:ext uri="{FF2B5EF4-FFF2-40B4-BE49-F238E27FC236}">
                <a16:creationId xmlns:a16="http://schemas.microsoft.com/office/drawing/2014/main" id="{A29E028A-C0FB-2A49-A9D6-0D49536F7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999" y="458334"/>
            <a:ext cx="9913257" cy="707886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tr-TR" altLang="tr-TR" sz="4000" dirty="0">
                <a:solidFill>
                  <a:srgbClr val="FF0000"/>
                </a:solidFill>
                <a:latin typeface="Verdana" panose="020B0604030504040204" pitchFamily="34" charset="0"/>
              </a:rPr>
              <a:t> Bit-</a:t>
            </a:r>
            <a:r>
              <a:rPr lang="tr-TR" altLang="tr-TR" sz="4000" dirty="0" err="1">
                <a:solidFill>
                  <a:srgbClr val="FF0000"/>
                </a:solidFill>
                <a:latin typeface="Verdana" panose="020B0604030504040204" pitchFamily="34" charset="0"/>
              </a:rPr>
              <a:t>plane</a:t>
            </a:r>
            <a:r>
              <a:rPr lang="tr-TR" altLang="tr-TR" sz="4000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sz="4000" dirty="0" err="1">
                <a:solidFill>
                  <a:srgbClr val="FF0000"/>
                </a:solidFill>
                <a:latin typeface="Verdana" panose="020B0604030504040204" pitchFamily="34" charset="0"/>
              </a:rPr>
              <a:t>slicing</a:t>
            </a:r>
            <a:endParaRPr lang="en-US" altLang="tr-TR" sz="4000" dirty="0"/>
          </a:p>
        </p:txBody>
      </p:sp>
      <p:pic>
        <p:nvPicPr>
          <p:cNvPr id="27650" name="Picture 3">
            <a:extLst>
              <a:ext uri="{FF2B5EF4-FFF2-40B4-BE49-F238E27FC236}">
                <a16:creationId xmlns:a16="http://schemas.microsoft.com/office/drawing/2014/main" id="{38DB9099-87A9-ED4C-8456-BE2793397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239" y="1679576"/>
            <a:ext cx="5089525" cy="349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5806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ext Box 2">
            <a:extLst>
              <a:ext uri="{FF2B5EF4-FFF2-40B4-BE49-F238E27FC236}">
                <a16:creationId xmlns:a16="http://schemas.microsoft.com/office/drawing/2014/main" id="{7627A60F-011A-6A48-8944-D78DB7A17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5000" y="385764"/>
            <a:ext cx="2667717" cy="461665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Bit Plane Slicing</a:t>
            </a:r>
            <a:endParaRPr lang="en-US" altLang="tr-TR" dirty="0"/>
          </a:p>
        </p:txBody>
      </p:sp>
      <p:pic>
        <p:nvPicPr>
          <p:cNvPr id="28674" name="Picture 3">
            <a:extLst>
              <a:ext uri="{FF2B5EF4-FFF2-40B4-BE49-F238E27FC236}">
                <a16:creationId xmlns:a16="http://schemas.microsoft.com/office/drawing/2014/main" id="{40134C79-D028-ED44-9079-6B01B0F9C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139" y="1616076"/>
            <a:ext cx="4714875" cy="494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8728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" name="Picture 2" descr="https://spin.atomicobject.com/wp-content/uploads/bit-plane-slices.png">
            <a:extLst>
              <a:ext uri="{FF2B5EF4-FFF2-40B4-BE49-F238E27FC236}">
                <a16:creationId xmlns:a16="http://schemas.microsoft.com/office/drawing/2014/main" id="{1516F32F-773C-E441-BB43-6EE60F0ED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39" y="725488"/>
            <a:ext cx="11224889" cy="592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44002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C4C11253-769D-6E4B-A4E8-6203FCC22FE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tr-TR" sz="4000" dirty="0">
                <a:latin typeface="+mn-lt"/>
              </a:rPr>
              <a:t>3. Histogram Processing</a:t>
            </a:r>
          </a:p>
        </p:txBody>
      </p:sp>
      <p:sp>
        <p:nvSpPr>
          <p:cNvPr id="58371" name="Rectangle 5">
            <a:extLst>
              <a:ext uri="{FF2B5EF4-FFF2-40B4-BE49-F238E27FC236}">
                <a16:creationId xmlns:a16="http://schemas.microsoft.com/office/drawing/2014/main" id="{BA7DB6BF-2F1D-0E4C-835E-3FA1850B32D7}"/>
              </a:ext>
            </a:extLst>
          </p:cNvPr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 typeface="+mj-lt"/>
              <a:buAutoNum type="arabicPeriod"/>
            </a:pPr>
            <a:r>
              <a:rPr lang="en-US" altLang="tr-TR" dirty="0"/>
              <a:t>Histogram Equalization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altLang="tr-TR" dirty="0"/>
              <a:t>Histogram Specification (Matching)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altLang="tr-TR" dirty="0"/>
              <a:t>Using Histogram Statistics for Image Enhancement</a:t>
            </a:r>
          </a:p>
          <a:p>
            <a:pPr eaLnBrk="1" hangingPunct="1"/>
            <a:endParaRPr lang="en-US" altLang="tr-TR" sz="2400" dirty="0"/>
          </a:p>
        </p:txBody>
      </p:sp>
      <p:sp>
        <p:nvSpPr>
          <p:cNvPr id="58373" name="Slide Number Placeholder 5">
            <a:extLst>
              <a:ext uri="{FF2B5EF4-FFF2-40B4-BE49-F238E27FC236}">
                <a16:creationId xmlns:a16="http://schemas.microsoft.com/office/drawing/2014/main" id="{834BB0D2-FBED-FF4C-8C38-A805F3274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FF7176D-DFCF-2049-8276-7AB0AA6BCF1B}" type="slidenum">
              <a:rPr lang="en-US" altLang="tr-TR"/>
              <a:pPr/>
              <a:t>23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23948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>
            <a:extLst>
              <a:ext uri="{FF2B5EF4-FFF2-40B4-BE49-F238E27FC236}">
                <a16:creationId xmlns:a16="http://schemas.microsoft.com/office/drawing/2014/main" id="{A45AD876-31CC-FE4A-B4D7-56BEC0796B5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sz="3200" dirty="0"/>
              <a:t>Definition: Histogram and Normalized Histogram</a:t>
            </a:r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5F3D5F7E-6DED-9C4F-B4A2-15B2E6BAC074}"/>
              </a:ext>
            </a:extLst>
          </p:cNvPr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1825625" y="1609531"/>
            <a:ext cx="8432800" cy="4557713"/>
          </a:xfrm>
          <a:noFill/>
        </p:spPr>
        <p:txBody>
          <a:bodyPr/>
          <a:lstStyle/>
          <a:p>
            <a:pPr eaLnBrk="1" hangingPunct="1"/>
            <a:endParaRPr lang="en-US" altLang="tr-TR" sz="200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tr-TR" sz="2000"/>
              <a:t>   </a:t>
            </a:r>
          </a:p>
        </p:txBody>
      </p:sp>
      <p:graphicFrame>
        <p:nvGraphicFramePr>
          <p:cNvPr id="260105" name="Object 9">
            <a:extLst>
              <a:ext uri="{FF2B5EF4-FFF2-40B4-BE49-F238E27FC236}">
                <a16:creationId xmlns:a16="http://schemas.microsoft.com/office/drawing/2014/main" id="{66CDF2CC-03B5-C24E-958F-0FF6BD34D988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18628601"/>
              </p:ext>
            </p:extLst>
          </p:nvPr>
        </p:nvGraphicFramePr>
        <p:xfrm>
          <a:off x="1473200" y="3187700"/>
          <a:ext cx="6254750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53" name="Equation" r:id="rId3" imgW="57632600" imgH="19900900" progId="Equation.DSMT4">
                  <p:embed/>
                </p:oleObj>
              </mc:Choice>
              <mc:Fallback>
                <p:oleObj name="Equation" r:id="rId3" imgW="57632600" imgH="19900900" progId="Equation.DSMT4">
                  <p:embed/>
                  <p:pic>
                    <p:nvPicPr>
                      <p:cNvPr id="260105" name="Object 9">
                        <a:extLst>
                          <a:ext uri="{FF2B5EF4-FFF2-40B4-BE49-F238E27FC236}">
                            <a16:creationId xmlns:a16="http://schemas.microsoft.com/office/drawing/2014/main" id="{66CDF2CC-03B5-C24E-958F-0FF6BD34D9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3200" y="3187700"/>
                        <a:ext cx="6254750" cy="215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5">
            <a:extLst>
              <a:ext uri="{FF2B5EF4-FFF2-40B4-BE49-F238E27FC236}">
                <a16:creationId xmlns:a16="http://schemas.microsoft.com/office/drawing/2014/main" id="{B1DE8D2E-F19A-234F-9563-DAB9E65852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543608"/>
              </p:ext>
            </p:extLst>
          </p:nvPr>
        </p:nvGraphicFramePr>
        <p:xfrm>
          <a:off x="1837531" y="1233489"/>
          <a:ext cx="8516938" cy="176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54" name="Equation" r:id="rId5" imgW="79286100" imgH="16383000" progId="Equation.DSMT4">
                  <p:embed/>
                </p:oleObj>
              </mc:Choice>
              <mc:Fallback>
                <p:oleObj name="Equation" r:id="rId5" imgW="79286100" imgH="16383000" progId="Equation.DSMT4">
                  <p:embed/>
                  <p:pic>
                    <p:nvPicPr>
                      <p:cNvPr id="6147" name="Object 5">
                        <a:extLst>
                          <a:ext uri="{FF2B5EF4-FFF2-40B4-BE49-F238E27FC236}">
                            <a16:creationId xmlns:a16="http://schemas.microsoft.com/office/drawing/2014/main" id="{B1DE8D2E-F19A-234F-9563-DAB9E65852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7531" y="1233489"/>
                        <a:ext cx="8516938" cy="176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86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60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4">
            <a:extLst>
              <a:ext uri="{FF2B5EF4-FFF2-40B4-BE49-F238E27FC236}">
                <a16:creationId xmlns:a16="http://schemas.microsoft.com/office/drawing/2014/main" id="{6C276008-9269-DA4F-B9E6-9D4D9C682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213" y="1593850"/>
            <a:ext cx="3090862" cy="522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7" name="Picture 5">
            <a:extLst>
              <a:ext uri="{FF2B5EF4-FFF2-40B4-BE49-F238E27FC236}">
                <a16:creationId xmlns:a16="http://schemas.microsoft.com/office/drawing/2014/main" id="{924442A6-15DD-CA4F-A55D-E44495E1B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364" y="6219826"/>
            <a:ext cx="3830637" cy="60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8EB7DE5-E2E4-394D-8C48-C0184BE46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4964" y="365125"/>
            <a:ext cx="8898835" cy="1325563"/>
          </a:xfrm>
        </p:spPr>
        <p:txBody>
          <a:bodyPr/>
          <a:lstStyle/>
          <a:p>
            <a:r>
              <a:rPr lang="en-US" altLang="tr-TR" dirty="0">
                <a:solidFill>
                  <a:srgbClr val="FF0000"/>
                </a:solidFill>
              </a:rPr>
              <a:t>Histograms of Various Images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095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7DDD9-4044-4A7C-BC47-0B0E72934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74815F-289E-45B6-B2A3-2730578E6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753" y="0"/>
            <a:ext cx="60124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858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373A38-E96C-0D45-8FC1-0A8AD0E1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619" y="2426477"/>
            <a:ext cx="8059758" cy="361405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E926C0D-C7AF-B548-9751-E0E98CEE0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tr-TR" sz="4000" dirty="0"/>
              <a:t>3.1. Histogram Equalization: Find a transformation, </a:t>
            </a:r>
            <a:r>
              <a:rPr lang="en-US" altLang="tr-TR" sz="4000" b="1" dirty="0"/>
              <a:t>T,</a:t>
            </a:r>
            <a:r>
              <a:rPr lang="en-US" altLang="tr-TR" sz="4000" dirty="0"/>
              <a:t> which yields a histogram with uniform density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C5B42-53A5-6F40-9B38-B40A7CD6DB12}"/>
              </a:ext>
            </a:extLst>
          </p:cNvPr>
          <p:cNvSpPr txBox="1"/>
          <p:nvPr/>
        </p:nvSpPr>
        <p:spPr>
          <a:xfrm>
            <a:off x="1746806" y="6193360"/>
            <a:ext cx="41079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Histogram of the original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B7273-5EDB-764E-964F-EA48EB4FFB7E}"/>
              </a:ext>
            </a:extLst>
          </p:cNvPr>
          <p:cNvSpPr txBox="1"/>
          <p:nvPr/>
        </p:nvSpPr>
        <p:spPr>
          <a:xfrm>
            <a:off x="6398635" y="6193359"/>
            <a:ext cx="4370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Histogram of the equalized image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5C376D6-E557-2647-81D4-1BF937A9C114}"/>
                  </a:ext>
                </a:extLst>
              </p:cNvPr>
              <p:cNvSpPr txBox="1"/>
              <p:nvPr/>
            </p:nvSpPr>
            <p:spPr>
              <a:xfrm>
                <a:off x="7926456" y="2643809"/>
                <a:ext cx="2453236" cy="9578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4400" dirty="0"/>
                  <a:t>g(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4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tr-TR" sz="4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4400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sz="4400" b="0" i="1" smtClean="0">
                            <a:latin typeface="Cambria Math" panose="02040503050406030204" pitchFamily="18" charset="0"/>
                          </a:rPr>
                          <m:t>𝑁𝑀</m:t>
                        </m:r>
                      </m:num>
                      <m:den>
                        <m:r>
                          <a:rPr lang="tr-TR" sz="4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tr-TR" sz="4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endParaRPr lang="en-US" sz="4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5C376D6-E557-2647-81D4-1BF937A9C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456" y="2643809"/>
                <a:ext cx="2453236" cy="957891"/>
              </a:xfrm>
              <a:prstGeom prst="rect">
                <a:avLst/>
              </a:prstGeom>
              <a:blipFill>
                <a:blip r:embed="rId3"/>
                <a:stretch>
                  <a:fillRect l="-13990" t="-1299" r="-4145" b="-20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EFDBCC-2CB0-4CB2-B178-0B6C000AE21E}"/>
                  </a:ext>
                </a:extLst>
              </p:cNvPr>
              <p:cNvSpPr txBox="1"/>
              <p:nvPr/>
            </p:nvSpPr>
            <p:spPr>
              <a:xfrm>
                <a:off x="3268926" y="1947531"/>
                <a:ext cx="125746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4400" dirty="0"/>
                  <a:t>h(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tr-TR" sz="4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4400" dirty="0"/>
                  <a:t>)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EFDBCC-2CB0-4CB2-B178-0B6C000A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926" y="1947531"/>
                <a:ext cx="1257460" cy="677108"/>
              </a:xfrm>
              <a:prstGeom prst="rect">
                <a:avLst/>
              </a:prstGeom>
              <a:blipFill>
                <a:blip r:embed="rId4"/>
                <a:stretch>
                  <a:fillRect l="-26570" t="-25000" r="-26087" b="-4821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86193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>
            <a:extLst>
              <a:ext uri="{FF2B5EF4-FFF2-40B4-BE49-F238E27FC236}">
                <a16:creationId xmlns:a16="http://schemas.microsoft.com/office/drawing/2014/main" id="{B17C3FB3-F996-C34D-BB03-3C368D5E9C1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sz="3200" dirty="0"/>
              <a:t>3.1. Histogram Equalization</a:t>
            </a:r>
          </a:p>
        </p:txBody>
      </p:sp>
      <p:graphicFrame>
        <p:nvGraphicFramePr>
          <p:cNvPr id="263174" name="Object 6">
            <a:extLst>
              <a:ext uri="{FF2B5EF4-FFF2-40B4-BE49-F238E27FC236}">
                <a16:creationId xmlns:a16="http://schemas.microsoft.com/office/drawing/2014/main" id="{7F977888-95C5-5646-B319-47724AE87146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9851964"/>
              </p:ext>
            </p:extLst>
          </p:nvPr>
        </p:nvGraphicFramePr>
        <p:xfrm>
          <a:off x="2514600" y="2282825"/>
          <a:ext cx="7210425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9" name="Equation" r:id="rId3" imgW="76949300" imgH="15214600" progId="Equation.DSMT4">
                  <p:embed/>
                </p:oleObj>
              </mc:Choice>
              <mc:Fallback>
                <p:oleObj name="Equation" r:id="rId3" imgW="76949300" imgH="15214600" progId="Equation.DSMT4">
                  <p:embed/>
                  <p:pic>
                    <p:nvPicPr>
                      <p:cNvPr id="263174" name="Object 6">
                        <a:extLst>
                          <a:ext uri="{FF2B5EF4-FFF2-40B4-BE49-F238E27FC236}">
                            <a16:creationId xmlns:a16="http://schemas.microsoft.com/office/drawing/2014/main" id="{7F977888-95C5-5646-B319-47724AE871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282825"/>
                        <a:ext cx="7210425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Slide Number Placeholder 5">
            <a:extLst>
              <a:ext uri="{FF2B5EF4-FFF2-40B4-BE49-F238E27FC236}">
                <a16:creationId xmlns:a16="http://schemas.microsoft.com/office/drawing/2014/main" id="{4E3038ED-EC90-B942-8AF2-2DA4678D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2CDBEDD-AF11-4D4D-B448-AD352470EF17}" type="slidenum">
              <a:rPr lang="en-US" altLang="tr-TR"/>
              <a:pPr/>
              <a:t>28</a:t>
            </a:fld>
            <a:endParaRPr lang="en-US" altLang="tr-TR"/>
          </a:p>
        </p:txBody>
      </p:sp>
      <p:graphicFrame>
        <p:nvGraphicFramePr>
          <p:cNvPr id="8195" name="Object 5">
            <a:extLst>
              <a:ext uri="{FF2B5EF4-FFF2-40B4-BE49-F238E27FC236}">
                <a16:creationId xmlns:a16="http://schemas.microsoft.com/office/drawing/2014/main" id="{40A1CC0C-7485-3F47-9D87-DF6B7500C9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543954"/>
              </p:ext>
            </p:extLst>
          </p:nvPr>
        </p:nvGraphicFramePr>
        <p:xfrm>
          <a:off x="2836864" y="1585914"/>
          <a:ext cx="334327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0" name="Equation" r:id="rId5" imgW="33642300" imgH="4686300" progId="Equation.DSMT4">
                  <p:embed/>
                </p:oleObj>
              </mc:Choice>
              <mc:Fallback>
                <p:oleObj name="Equation" r:id="rId5" imgW="33642300" imgH="4686300" progId="Equation.DSMT4">
                  <p:embed/>
                  <p:pic>
                    <p:nvPicPr>
                      <p:cNvPr id="8195" name="Object 5">
                        <a:extLst>
                          <a:ext uri="{FF2B5EF4-FFF2-40B4-BE49-F238E27FC236}">
                            <a16:creationId xmlns:a16="http://schemas.microsoft.com/office/drawing/2014/main" id="{40A1CC0C-7485-3F47-9D87-DF6B7500C9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6864" y="1585914"/>
                        <a:ext cx="3343275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3176" name="Picture 8">
            <a:extLst>
              <a:ext uri="{FF2B5EF4-FFF2-40B4-BE49-F238E27FC236}">
                <a16:creationId xmlns:a16="http://schemas.microsoft.com/office/drawing/2014/main" id="{75768001-9EF0-AF47-95AA-86986041F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163" y="3836988"/>
            <a:ext cx="5969000" cy="288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8628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6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6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35311-5D85-1140-8821-791A5B66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Cumulative Histogram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D59E7FD-5AC7-9A43-82EF-7AD4CEF589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 monotonically increasing function: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4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tr-TR" sz="4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4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40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tr-TR" sz="40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4000" dirty="0"/>
                  <a:t>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4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4000" b="0" i="1" dirty="0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sub/>
                        </m:sSub>
                      </m:sub>
                      <m:sup>
                        <m:sSub>
                          <m:sSubPr>
                            <m:ctrlPr>
                              <a:rPr lang="en-US" sz="4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/>
                        </m:sSub>
                      </m:sup>
                      <m:e>
                        <m:r>
                          <a:rPr lang="tr-TR" sz="4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tr-TR" sz="4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nary>
                  </m:oMath>
                </a14:m>
                <a:r>
                  <a:rPr lang="en-US" sz="4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40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tr-TR" sz="40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4000" dirty="0"/>
                  <a:t>)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D59E7FD-5AC7-9A43-82EF-7AD4CEF589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77341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B87E-5237-41AF-9A4B-01554D7F1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Example:Find</a:t>
            </a:r>
            <a:r>
              <a:rPr lang="en-US" sz="2800" dirty="0"/>
              <a:t> the histograms and cumulative histograms of the following 2 bits/pixel images: </a:t>
            </a:r>
            <a:endParaRPr lang="tr-TR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205D7B-1495-49B6-956F-055FB61CD1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0    0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1    2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1    2</m:t>
                          </m:r>
                        </m:e>
                      </m:mr>
                    </m:m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2    3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2    3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2    3</m:t>
                          </m:r>
                        </m:e>
                      </m:mr>
                    </m:m>
                  </m:oMath>
                </a14:m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205D7B-1495-49B6-956F-055FB61CD1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07184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768FB-A5F2-3F42-A2F0-905C70689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cumulative histograms and equate them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740692-9692-E24A-B14F-9ED7AFA42B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Cumulative histogram of the original image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tr-TR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tr-TR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/>
                        </m:sSub>
                      </m:sup>
                      <m:e>
                        <m:r>
                          <a:rPr lang="tr-T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tr-T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nary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tr-TR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Cumulative histogram of the desired image (uniform density)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tr-TR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tr-TR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) 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/>
                        </m:sSub>
                      </m:sup>
                      <m:e>
                        <m:r>
                          <a:rPr lang="tr-T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tr-TR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)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Equate them and solve for new colors, </a:t>
                </a:r>
                <a:r>
                  <a:rPr lang="en-US" dirty="0" err="1"/>
                  <a:t>sk</a:t>
                </a: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𝑁𝑀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tr-TR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tr-TR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740692-9692-E24A-B14F-9ED7AFA42B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8500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0595A-7322-144E-B322-0108CEDF4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Algorithm</a:t>
            </a:r>
            <a:r>
              <a:rPr lang="tr-TR" b="1" dirty="0"/>
              <a:t>: </a:t>
            </a:r>
            <a:r>
              <a:rPr lang="tr-TR" b="1" dirty="0" err="1"/>
              <a:t>Histogram</a:t>
            </a:r>
            <a:r>
              <a:rPr lang="tr-TR" b="1" dirty="0"/>
              <a:t> </a:t>
            </a:r>
            <a:r>
              <a:rPr lang="tr-TR" b="1" dirty="0" err="1"/>
              <a:t>Equalization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A81731-359B-0245-B29C-73B5E4EDB3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tr-TR" dirty="0"/>
                  <a:t>Find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histogram</a:t>
                </a:r>
                <a:r>
                  <a:rPr lang="tr-TR" dirty="0"/>
                  <a:t> </a:t>
                </a:r>
                <a14:m>
                  <m:oMath xmlns:m="http://schemas.openxmlformats.org/officeDocument/2006/math">
                    <m:r>
                      <a:rPr lang="tr-TR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tr-T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i="1" dirty="0" err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tr-TR" i="1" baseline="-25000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tr-TR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tr-TR" dirty="0" err="1"/>
                  <a:t>Find</a:t>
                </a:r>
                <a:r>
                  <a:rPr lang="tr-TR" dirty="0"/>
                  <a:t> </a:t>
                </a:r>
                <a:r>
                  <a:rPr lang="tr-TR" dirty="0" err="1"/>
                  <a:t>cumulative</a:t>
                </a:r>
                <a:r>
                  <a:rPr lang="tr-TR" dirty="0"/>
                  <a:t> </a:t>
                </a:r>
                <a:r>
                  <a:rPr lang="tr-TR" dirty="0" err="1"/>
                  <a:t>histogram</a:t>
                </a:r>
                <a:r>
                  <a:rPr lang="en-US" dirty="0"/>
                  <a:t>,</a:t>
                </a:r>
                <a:r>
                  <a:rPr lang="tr-TR" dirty="0"/>
                  <a:t> </a:t>
                </a:r>
                <a14:m>
                  <m:oMath xmlns:m="http://schemas.openxmlformats.org/officeDocument/2006/math">
                    <m:r>
                      <a:rPr lang="tr-TR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tr-TR" i="1" baseline="-25000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i="1" dirty="0" err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tr-TR" i="1" baseline="-25000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tr-TR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tr-TR" dirty="0"/>
                  <a:t>Set  </a:t>
                </a:r>
                <a14:m>
                  <m:oMath xmlns:m="http://schemas.openxmlformats.org/officeDocument/2006/math">
                    <m:r>
                      <a:rPr lang="tr-TR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tr-TR" i="1" baseline="-25000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i="1" dirty="0" err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tr-TR" i="1" baseline="-25000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tr-TR" i="1" dirty="0" err="1">
                        <a:latin typeface="Cambria Math" panose="02040503050406030204" pitchFamily="18" charset="0"/>
                      </a:rPr>
                      <m:t>𝑟𝑜𝑢𝑛𝑑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tr-TR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i="1" dirty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tr-TR" i="1" dirty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tr-TR" i="1" dirty="0">
                            <a:latin typeface="Cambria Math" panose="02040503050406030204" pitchFamily="18" charset="0"/>
                          </a:rPr>
                          <m:t>𝑁𝑀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].</m:t>
                    </m:r>
                    <m:r>
                      <a:rPr lang="tr-TR" i="1" dirty="0" err="1">
                        <a:latin typeface="Cambria Math" panose="02040503050406030204" pitchFamily="18" charset="0"/>
                      </a:rPr>
                      <m:t>h</m:t>
                    </m:r>
                    <m:r>
                      <a:rPr lang="tr-TR" i="1" baseline="-25000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i="1" dirty="0" err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tr-TR" i="1" baseline="-25000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tr-TR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tr-TR" dirty="0" err="1"/>
                  <a:t>Create</a:t>
                </a:r>
                <a:r>
                  <a:rPr lang="tr-TR" dirty="0"/>
                  <a:t> </a:t>
                </a:r>
                <a:r>
                  <a:rPr lang="tr-TR" dirty="0" err="1"/>
                  <a:t>equalized</a:t>
                </a:r>
                <a:r>
                  <a:rPr lang="tr-TR" dirty="0"/>
                  <a:t> </a:t>
                </a:r>
                <a:r>
                  <a:rPr lang="tr-TR" dirty="0" err="1"/>
                  <a:t>image</a:t>
                </a:r>
                <a:r>
                  <a:rPr lang="tr-TR" dirty="0"/>
                  <a:t> </a:t>
                </a:r>
                <a:r>
                  <a:rPr lang="tr-TR" dirty="0" err="1"/>
                  <a:t>with</a:t>
                </a:r>
                <a:r>
                  <a:rPr lang="tr-TR" dirty="0"/>
                  <a:t>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new</a:t>
                </a:r>
                <a:r>
                  <a:rPr lang="tr-TR" dirty="0"/>
                  <a:t> </a:t>
                </a:r>
                <a:r>
                  <a:rPr lang="tr-TR" dirty="0" err="1"/>
                  <a:t>color</a:t>
                </a:r>
                <a:r>
                  <a:rPr lang="tr-TR" dirty="0"/>
                  <a:t> </a:t>
                </a:r>
                <a:r>
                  <a:rPr lang="tr-TR" dirty="0" err="1"/>
                  <a:t>palatte</a:t>
                </a:r>
                <a:r>
                  <a:rPr lang="tr-TR" dirty="0"/>
                  <a:t>,  </a:t>
                </a:r>
                <a:r>
                  <a:rPr lang="tr-TR" dirty="0" err="1"/>
                  <a:t>s</a:t>
                </a:r>
                <a:r>
                  <a:rPr lang="tr-TR" baseline="-25000" dirty="0" err="1"/>
                  <a:t>k</a:t>
                </a:r>
                <a:r>
                  <a:rPr lang="tr-TR" dirty="0"/>
                  <a:t>= T(</a:t>
                </a:r>
                <a:r>
                  <a:rPr lang="tr-TR" dirty="0" err="1"/>
                  <a:t>r</a:t>
                </a:r>
                <a:r>
                  <a:rPr lang="tr-TR" baseline="-25000" dirty="0" err="1"/>
                  <a:t>k</a:t>
                </a:r>
                <a:r>
                  <a:rPr lang="tr-TR" dirty="0"/>
                  <a:t>)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A81731-359B-0245-B29C-73B5E4EDB3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18028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89C6-A323-4B03-934B-C31CF0518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Example: Find the equalized histogram and the corresponding image of the following 3 bits/pixel image:</a:t>
            </a:r>
            <a:endParaRPr lang="tr-TR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EC26EA-5035-4151-AE16-2F20A4342A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f(</a:t>
                </a:r>
                <a:r>
                  <a:rPr lang="en-US" dirty="0" err="1"/>
                  <a:t>x,y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1     1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2     3</m:t>
                          </m:r>
                        </m:e>
                      </m:mr>
                      <m:m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eqArr>
                        </m:e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3     3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3     4</m:t>
                              </m:r>
                            </m:e>
                          </m:eqArr>
                        </m:e>
                      </m:mr>
                    </m:m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    </a:t>
                </a:r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EC26EA-5035-4151-AE16-2F20A4342A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420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09648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89C6-A323-4B03-934B-C31CF0518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Example: Find the equalized histogram and the corresponding image of the following 3 bits/pixel image:</a:t>
            </a:r>
            <a:endParaRPr lang="tr-TR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EC26EA-5035-4151-AE16-2F20A4342A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                                                                                     </a:t>
                </a:r>
              </a:p>
              <a:p>
                <a:pPr marL="0" indent="0">
                  <a:buNone/>
                </a:pPr>
                <a:r>
                  <a:rPr lang="en-US" dirty="0"/>
                  <a:t>f(</a:t>
                </a:r>
                <a:r>
                  <a:rPr lang="en-US" dirty="0" err="1"/>
                  <a:t>x,y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tr-TR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1     1</m:t>
                          </m:r>
                        </m:e>
                      </m:mr>
                      <m:m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2     3</m:t>
                          </m:r>
                        </m:e>
                      </m:mr>
                      <m:m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eqArr>
                        </m:e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3     3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3     4</m:t>
                              </m:r>
                            </m:e>
                          </m:eqArr>
                        </m:e>
                      </m:mr>
                    </m:m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			g(</a:t>
                </a:r>
                <a:r>
                  <a:rPr lang="en-US" dirty="0" err="1"/>
                  <a:t>x,y</a:t>
                </a:r>
                <a:r>
                  <a:rPr lang="en-US" dirty="0"/>
                  <a:t>)  =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4    4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5     7</m:t>
                          </m:r>
                        </m:e>
                      </m:mr>
                      <m:m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eqArr>
                        </m:e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eqArr>
                        </m:e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7     7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7     7</m:t>
                              </m:r>
                            </m:e>
                          </m:eqArr>
                        </m:e>
                      </m:mr>
                    </m:m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Original Image					Equalized Image    </a:t>
                </a:r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EC26EA-5035-4151-AE16-2F20A4342A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74770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2">
            <a:extLst>
              <a:ext uri="{FF2B5EF4-FFF2-40B4-BE49-F238E27FC236}">
                <a16:creationId xmlns:a16="http://schemas.microsoft.com/office/drawing/2014/main" id="{FCD768D5-E12D-D649-9233-67EF8BDD7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626" y="585788"/>
            <a:ext cx="10108024" cy="1508105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tr-TR" sz="4000" dirty="0">
                <a:latin typeface="+mn-lt"/>
              </a:rPr>
              <a:t>Histogram Equalization</a:t>
            </a:r>
          </a:p>
          <a:p>
            <a:pPr algn="ctr">
              <a:defRPr/>
            </a:pPr>
            <a:r>
              <a:rPr lang="en-US" altLang="tr-TR" sz="2800" dirty="0">
                <a:latin typeface="+mn-lt"/>
              </a:rPr>
              <a:t>Find a transformation which yields a histogram with uniform density</a:t>
            </a:r>
          </a:p>
          <a:p>
            <a:pPr algn="ctr">
              <a:defRPr/>
            </a:pPr>
            <a:endParaRPr lang="en-US" altLang="tr-TR" b="1" dirty="0">
              <a:solidFill>
                <a:srgbClr val="FF0000"/>
              </a:solidFill>
            </a:endParaRPr>
          </a:p>
        </p:txBody>
      </p:sp>
      <p:pic>
        <p:nvPicPr>
          <p:cNvPr id="32770" name="Picture 4">
            <a:extLst>
              <a:ext uri="{FF2B5EF4-FFF2-40B4-BE49-F238E27FC236}">
                <a16:creationId xmlns:a16="http://schemas.microsoft.com/office/drawing/2014/main" id="{46B1114F-BBAB-0D47-9914-A66FBB50E6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625"/>
          <a:stretch/>
        </p:blipFill>
        <p:spPr bwMode="auto">
          <a:xfrm>
            <a:off x="4735514" y="2119957"/>
            <a:ext cx="2922841" cy="19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Text Box 5">
            <a:extLst>
              <a:ext uri="{FF2B5EF4-FFF2-40B4-BE49-F238E27FC236}">
                <a16:creationId xmlns:a16="http://schemas.microsoft.com/office/drawing/2014/main" id="{EE57C0B4-4DD0-F74B-B5AE-2BC94166D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5591" y="4208765"/>
            <a:ext cx="141760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tr-TR" altLang="tr-TR" sz="4000" dirty="0"/>
              <a:t>T </a:t>
            </a:r>
            <a:r>
              <a:rPr lang="en-US" altLang="tr-TR" sz="4000" dirty="0"/>
              <a:t>?</a:t>
            </a:r>
          </a:p>
        </p:txBody>
      </p:sp>
      <p:pic>
        <p:nvPicPr>
          <p:cNvPr id="5" name="Picture 13" descr="300px-Unequalized_Hawkes_Bay_NZ">
            <a:extLst>
              <a:ext uri="{FF2B5EF4-FFF2-40B4-BE49-F238E27FC236}">
                <a16:creationId xmlns:a16="http://schemas.microsoft.com/office/drawing/2014/main" id="{03B077A8-A7F2-554D-BEFD-9CE30DFEB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1" y="4724400"/>
            <a:ext cx="2525713" cy="168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4" descr="300px-Equalized_Hawkes_Bay_NZ">
            <a:extLst>
              <a:ext uri="{FF2B5EF4-FFF2-40B4-BE49-F238E27FC236}">
                <a16:creationId xmlns:a16="http://schemas.microsoft.com/office/drawing/2014/main" id="{4D101704-66ED-DE42-8438-8529FA93E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876800"/>
            <a:ext cx="243840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Line 15">
            <a:extLst>
              <a:ext uri="{FF2B5EF4-FFF2-40B4-BE49-F238E27FC236}">
                <a16:creationId xmlns:a16="http://schemas.microsoft.com/office/drawing/2014/main" id="{6550FBE6-5C44-5443-9C61-20DA58FACE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5943600"/>
            <a:ext cx="1066800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BE2C97CA-CDAA-C242-9E7F-2B3F85C67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761" y="4852448"/>
            <a:ext cx="1611339" cy="83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kumimoji="1" lang="en-US" altLang="tr-TR" sz="2200" dirty="0"/>
              <a:t>Histogram</a:t>
            </a:r>
          </a:p>
          <a:p>
            <a:pPr>
              <a:spcBef>
                <a:spcPct val="20000"/>
              </a:spcBef>
            </a:pPr>
            <a:r>
              <a:rPr kumimoji="1" lang="en-US" altLang="tr-TR" sz="2200" dirty="0"/>
              <a:t>Equalization</a:t>
            </a:r>
          </a:p>
        </p:txBody>
      </p:sp>
    </p:spTree>
    <p:extLst>
      <p:ext uri="{BB962C8B-B14F-4D97-AF65-F5344CB8AC3E}">
        <p14:creationId xmlns:p14="http://schemas.microsoft.com/office/powerpoint/2010/main" val="32964109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2" descr="https://camo.githubusercontent.com/08b35538b08df214ce389548f7f84c32f8f603621358197a09cccd900e9a2f59/68747470733a2f2f7261772e67697468756275736572636f6e74656e742e636f6d2f68617a616c6d6f67756c7461792f343636496d616765732f6d61737465722f57342f6931325f746f6c755f632e706e67">
            <a:extLst>
              <a:ext uri="{FF2B5EF4-FFF2-40B4-BE49-F238E27FC236}">
                <a16:creationId xmlns:a16="http://schemas.microsoft.com/office/drawing/2014/main" id="{51CDF4C9-8ADB-432F-B48D-FDE5FDEB3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1462088"/>
            <a:ext cx="90487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90678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3F27CA08-CC9A-0942-9E46-21F8FBD9918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Question</a:t>
            </a:r>
          </a:p>
        </p:txBody>
      </p:sp>
      <p:sp>
        <p:nvSpPr>
          <p:cNvPr id="287747" name="Rectangle 3">
            <a:extLst>
              <a:ext uri="{FF2B5EF4-FFF2-40B4-BE49-F238E27FC236}">
                <a16:creationId xmlns:a16="http://schemas.microsoft.com/office/drawing/2014/main" id="{1598B062-5FCF-EA49-90F1-FD7311BE660F}"/>
              </a:ext>
            </a:extLst>
          </p:cNvPr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tr-TR"/>
              <a:t>     Is histogram equalization always good?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tr-TR"/>
              <a:t>                         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tr-TR"/>
              <a:t>                             </a:t>
            </a:r>
            <a:r>
              <a:rPr lang="en-US" altLang="tr-TR" sz="400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64517" name="Slide Number Placeholder 5">
            <a:extLst>
              <a:ext uri="{FF2B5EF4-FFF2-40B4-BE49-F238E27FC236}">
                <a16:creationId xmlns:a16="http://schemas.microsoft.com/office/drawing/2014/main" id="{2E498136-608B-3547-B369-EB8BFFEA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5EFE62A-B6E7-A84A-937F-99039115A452}" type="slidenum">
              <a:rPr lang="en-US" altLang="tr-TR"/>
              <a:pPr/>
              <a:t>37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7257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87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5310F-6B08-9843-B430-A01DF7A0A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Applying histogram equalization does not always provide the desired image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FEC31-6DC7-2340-9677-029A03B6E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tr-TR" dirty="0"/>
          </a:p>
          <a:p>
            <a:r>
              <a:rPr lang="en-US" dirty="0"/>
              <a:t>While stretching the contrast, we may lose some important colors</a:t>
            </a:r>
          </a:p>
          <a:p>
            <a:r>
              <a:rPr lang="en-US" dirty="0"/>
              <a:t>We cannot remove the undesired colors.</a:t>
            </a:r>
          </a:p>
          <a:p>
            <a:r>
              <a:rPr lang="en-US" dirty="0"/>
              <a:t>Histogram equalization spoils the high contrast images.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1833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2">
            <a:extLst>
              <a:ext uri="{FF2B5EF4-FFF2-40B4-BE49-F238E27FC236}">
                <a16:creationId xmlns:a16="http://schemas.microsoft.com/office/drawing/2014/main" id="{5FF85E14-AC7B-3B42-971E-342C86C73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9955" y="388938"/>
            <a:ext cx="7452105" cy="461665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Histogram of a dark image and its equalization</a:t>
            </a:r>
            <a:endParaRPr lang="en-US" altLang="tr-TR" dirty="0"/>
          </a:p>
        </p:txBody>
      </p:sp>
      <p:pic>
        <p:nvPicPr>
          <p:cNvPr id="33794" name="Picture 3">
            <a:extLst>
              <a:ext uri="{FF2B5EF4-FFF2-40B4-BE49-F238E27FC236}">
                <a16:creationId xmlns:a16="http://schemas.microsoft.com/office/drawing/2014/main" id="{C518F032-8960-7D46-AACE-62683BC56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344" y="1583982"/>
            <a:ext cx="5105400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D9E8EB-924F-A745-B5A3-BAD9360F9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541" y="1659282"/>
            <a:ext cx="4879991" cy="3290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95778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01C69-4728-844F-89E2-6909CA517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 specification: </a:t>
            </a:r>
            <a:br>
              <a:rPr lang="en-US" dirty="0"/>
            </a:br>
            <a:r>
              <a:rPr lang="en-US" dirty="0"/>
              <a:t>Match the histogram to a desired histogram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AD75D6-D523-1B47-889A-5E22B9CF6F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8481"/>
          <a:stretch/>
        </p:blipFill>
        <p:spPr>
          <a:xfrm>
            <a:off x="947006" y="2535582"/>
            <a:ext cx="3137978" cy="3378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62E5AD-E33E-3840-A983-13B47B4B32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320"/>
          <a:stretch/>
        </p:blipFill>
        <p:spPr>
          <a:xfrm>
            <a:off x="7116142" y="2458451"/>
            <a:ext cx="2954959" cy="3378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588F35-2C31-8C49-9936-33106F0F0A37}"/>
              </a:ext>
            </a:extLst>
          </p:cNvPr>
          <p:cNvSpPr/>
          <p:nvPr/>
        </p:nvSpPr>
        <p:spPr>
          <a:xfrm>
            <a:off x="2604052" y="3051313"/>
            <a:ext cx="2117035" cy="8746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641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E0025-107A-C440-B0BB-EC88F184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Equalize both the original and desired histograms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10066-7842-F041-B6D3-91F86A11D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6802" name="Picture 2" descr="https://camo.githubusercontent.com/a37798edbe27446455cfbc0f1cf375a407e65719dfe8137bde7a4b222bb5c895/68747470733a2f2f7261772e67697468756275736572636f6e74656e742e636f6d2f68617a616c6d6f67756c7461792f343636496d616765732f6d61737465722f57342f342d32322e64726177696f2e706e67">
            <a:extLst>
              <a:ext uri="{FF2B5EF4-FFF2-40B4-BE49-F238E27FC236}">
                <a16:creationId xmlns:a16="http://schemas.microsoft.com/office/drawing/2014/main" id="{C8FC33B5-B643-4FB2-B529-E3B2623CA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58938"/>
            <a:ext cx="12192000" cy="354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43112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30D95-3C53-324D-AD02-68EF98F4A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Histogram Specification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16F0B0-1936-EC40-BB93-398C8517D0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tr-TR" dirty="0"/>
                  <a:t>Equalize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histogram</a:t>
                </a:r>
                <a:r>
                  <a:rPr lang="tr-TR" dirty="0"/>
                  <a:t> of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original</a:t>
                </a:r>
                <a:r>
                  <a:rPr lang="tr-TR" dirty="0"/>
                  <a:t> </a:t>
                </a:r>
                <a:r>
                  <a:rPr lang="tr-TR" dirty="0" err="1"/>
                  <a:t>image</a:t>
                </a:r>
                <a:r>
                  <a:rPr lang="tr-TR" dirty="0"/>
                  <a:t> </a:t>
                </a:r>
                <a:r>
                  <a:rPr lang="tr-TR" dirty="0" err="1"/>
                  <a:t>and</a:t>
                </a:r>
                <a:r>
                  <a:rPr lang="tr-TR" dirty="0"/>
                  <a:t> </a:t>
                </a:r>
                <a:r>
                  <a:rPr lang="tr-TR" dirty="0" err="1"/>
                  <a:t>obtain</a:t>
                </a:r>
                <a:r>
                  <a:rPr lang="tr-TR" dirty="0"/>
                  <a:t>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transformation</a:t>
                </a:r>
                <a:r>
                  <a:rPr lang="tr-TR" dirty="0"/>
                  <a:t> </a:t>
                </a:r>
                <a:r>
                  <a:rPr lang="tr-TR" i="1" dirty="0"/>
                  <a:t>T</a:t>
                </a:r>
                <a:r>
                  <a:rPr lang="tr-TR" dirty="0"/>
                  <a:t>1​ 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  <a:endParaRPr lang="tr-TR" dirty="0"/>
              </a:p>
              <a:p>
                <a:pPr marL="0" indent="0">
                  <a:buNone/>
                </a:pPr>
                <a:endParaRPr lang="tr-TR" dirty="0"/>
              </a:p>
              <a:p>
                <a:r>
                  <a:rPr lang="tr-TR" dirty="0" err="1"/>
                  <a:t>Equalize</a:t>
                </a:r>
                <a:r>
                  <a:rPr lang="tr-TR" dirty="0"/>
                  <a:t>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histogram</a:t>
                </a:r>
                <a:r>
                  <a:rPr lang="tr-TR" dirty="0"/>
                  <a:t> of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desired</a:t>
                </a:r>
                <a:r>
                  <a:rPr lang="tr-TR" dirty="0"/>
                  <a:t> </a:t>
                </a:r>
                <a:r>
                  <a:rPr lang="tr-TR" dirty="0" err="1"/>
                  <a:t>image</a:t>
                </a:r>
                <a:r>
                  <a:rPr lang="tr-TR" dirty="0"/>
                  <a:t> </a:t>
                </a:r>
                <a:r>
                  <a:rPr lang="tr-TR" dirty="0" err="1"/>
                  <a:t>and</a:t>
                </a:r>
                <a:r>
                  <a:rPr lang="tr-TR" dirty="0"/>
                  <a:t> </a:t>
                </a:r>
                <a:r>
                  <a:rPr lang="tr-TR" dirty="0" err="1"/>
                  <a:t>obtain</a:t>
                </a:r>
                <a:r>
                  <a:rPr lang="tr-TR" dirty="0"/>
                  <a:t>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transformation</a:t>
                </a:r>
                <a:r>
                  <a:rPr lang="tr-TR" dirty="0"/>
                  <a:t> </a:t>
                </a:r>
                <a:r>
                  <a:rPr lang="tr-TR" i="1" dirty="0"/>
                  <a:t>T</a:t>
                </a:r>
                <a:r>
                  <a:rPr lang="tr-TR" dirty="0"/>
                  <a:t>2​ 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  <a:endParaRPr lang="tr-TR" dirty="0"/>
              </a:p>
              <a:p>
                <a:pPr marL="0" indent="0">
                  <a:buNone/>
                </a:pPr>
                <a:endParaRPr lang="tr-TR" dirty="0"/>
              </a:p>
              <a:p>
                <a:r>
                  <a:rPr lang="tr-TR" dirty="0" err="1"/>
                  <a:t>Obtain</a:t>
                </a:r>
                <a:r>
                  <a:rPr lang="tr-TR" dirty="0"/>
                  <a:t>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colors</a:t>
                </a:r>
                <a:r>
                  <a:rPr lang="tr-TR" dirty="0"/>
                  <a:t> of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desired</a:t>
                </a:r>
                <a:r>
                  <a:rPr lang="tr-TR" dirty="0"/>
                  <a:t> </a:t>
                </a:r>
                <a:r>
                  <a:rPr lang="tr-TR" dirty="0" err="1"/>
                  <a:t>image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𝑟𝑜𝑢𝑛𝑑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)))</a:t>
                </a:r>
                <a:endParaRPr lang="tr-TR" dirty="0"/>
              </a:p>
              <a:p>
                <a:pPr marL="0" indent="0">
                  <a:buNone/>
                </a:pPr>
                <a:endParaRPr lang="tr-TR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16F0B0-1936-EC40-BB93-398C8517D0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11692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2">
            <a:extLst>
              <a:ext uri="{FF2B5EF4-FFF2-40B4-BE49-F238E27FC236}">
                <a16:creationId xmlns:a16="http://schemas.microsoft.com/office/drawing/2014/main" id="{37EADAE3-7043-184B-A185-7CD3F3453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6424" y="388938"/>
            <a:ext cx="5166799" cy="461665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Dark image and specified image</a:t>
            </a:r>
            <a:endParaRPr lang="en-US" altLang="tr-TR" dirty="0"/>
          </a:p>
        </p:txBody>
      </p:sp>
      <p:pic>
        <p:nvPicPr>
          <p:cNvPr id="35842" name="Picture 3">
            <a:extLst>
              <a:ext uri="{FF2B5EF4-FFF2-40B4-BE49-F238E27FC236}">
                <a16:creationId xmlns:a16="http://schemas.microsoft.com/office/drawing/2014/main" id="{1C171B49-8964-1744-A933-4B81B4FBE2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926"/>
          <a:stretch/>
        </p:blipFill>
        <p:spPr bwMode="auto">
          <a:xfrm>
            <a:off x="4541838" y="1569526"/>
            <a:ext cx="7264400" cy="3444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66AED8-80D6-F94F-93BE-AA0F17EF6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344" y="1583982"/>
            <a:ext cx="5105400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A90F1382-6787-7E48-BC67-3EB01D9CB3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4" t="67151" r="29066" b="-7321"/>
          <a:stretch/>
        </p:blipFill>
        <p:spPr bwMode="auto">
          <a:xfrm>
            <a:off x="6265553" y="3428999"/>
            <a:ext cx="3381685" cy="2117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C7961D2-54A3-334F-845A-5E3C5BF81B3B}"/>
              </a:ext>
            </a:extLst>
          </p:cNvPr>
          <p:cNvCxnSpPr/>
          <p:nvPr/>
        </p:nvCxnSpPr>
        <p:spPr>
          <a:xfrm flipH="1">
            <a:off x="2633870" y="844826"/>
            <a:ext cx="606287" cy="606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9F4128-538F-614F-96E8-3DE548948F3B}"/>
              </a:ext>
            </a:extLst>
          </p:cNvPr>
          <p:cNvCxnSpPr>
            <a:cxnSpLocks/>
          </p:cNvCxnSpPr>
          <p:nvPr/>
        </p:nvCxnSpPr>
        <p:spPr>
          <a:xfrm>
            <a:off x="8915400" y="904587"/>
            <a:ext cx="552935" cy="546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6562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89D9D881-DB78-BE4B-AF5D-4DEBC9D6198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sz="3200"/>
              <a:t>Local Histogram Processing</a:t>
            </a:r>
          </a:p>
        </p:txBody>
      </p:sp>
      <p:sp>
        <p:nvSpPr>
          <p:cNvPr id="70659" name="Date Placeholder 3">
            <a:extLst>
              <a:ext uri="{FF2B5EF4-FFF2-40B4-BE49-F238E27FC236}">
                <a16:creationId xmlns:a16="http://schemas.microsoft.com/office/drawing/2014/main" id="{11C837C1-010C-AC49-9313-24264AA6D0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6D6FD30-F1A6-2546-AD5E-FE4EE21E4DA4}" type="datetime1">
              <a:rPr lang="en-US" altLang="tr-TR" smtClean="0"/>
              <a:pPr/>
              <a:t>10/15/2022</a:t>
            </a:fld>
            <a:endParaRPr lang="en-US" altLang="tr-TR"/>
          </a:p>
        </p:txBody>
      </p:sp>
      <p:sp>
        <p:nvSpPr>
          <p:cNvPr id="70660" name="Slide Number Placeholder 5">
            <a:extLst>
              <a:ext uri="{FF2B5EF4-FFF2-40B4-BE49-F238E27FC236}">
                <a16:creationId xmlns:a16="http://schemas.microsoft.com/office/drawing/2014/main" id="{0CB51F5C-8914-A046-89E2-F5FA4EF4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807DE99-7EEB-4946-B99F-A0C874AFBD9F}" type="slidenum">
              <a:rPr lang="en-US" altLang="tr-TR"/>
              <a:pPr/>
              <a:t>44</a:t>
            </a:fld>
            <a:endParaRPr lang="en-US" altLang="tr-TR"/>
          </a:p>
        </p:txBody>
      </p:sp>
      <p:sp>
        <p:nvSpPr>
          <p:cNvPr id="70662" name="Rectangle 4">
            <a:extLst>
              <a:ext uri="{FF2B5EF4-FFF2-40B4-BE49-F238E27FC236}">
                <a16:creationId xmlns:a16="http://schemas.microsoft.com/office/drawing/2014/main" id="{76C1F84C-9D2F-9F46-9D1E-AFBF749FF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3000" y="4759326"/>
            <a:ext cx="515938" cy="365125"/>
          </a:xfrm>
          <a:prstGeom prst="rect">
            <a:avLst/>
          </a:prstGeom>
          <a:solidFill>
            <a:srgbClr val="F3F2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tr-TR" altLang="tr-TR"/>
          </a:p>
        </p:txBody>
      </p:sp>
      <p:sp>
        <p:nvSpPr>
          <p:cNvPr id="308232" name="Rectangle 8">
            <a:extLst>
              <a:ext uri="{FF2B5EF4-FFF2-40B4-BE49-F238E27FC236}">
                <a16:creationId xmlns:a16="http://schemas.microsoft.com/office/drawing/2014/main" id="{5C2D0928-7D75-F14F-86D2-8D54864DD544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978061" y="1600201"/>
            <a:ext cx="9158128" cy="4176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None/>
            </a:pPr>
            <a:r>
              <a:rPr lang="en-US" altLang="tr-TR" sz="2400" dirty="0"/>
              <a:t>    Define a neighborhood and move its center from pixel to pixel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None/>
            </a:pPr>
            <a:endParaRPr lang="en-US" altLang="tr-TR" sz="2400" dirty="0"/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None/>
            </a:pPr>
            <a:r>
              <a:rPr lang="en-US" altLang="tr-TR" sz="2400" dirty="0"/>
              <a:t>    At each location, the histogram of the points in the neighborhood is computed. Either histogram equalization or histogram specification transformation function is obtained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None/>
            </a:pPr>
            <a:endParaRPr lang="en-US" altLang="tr-TR" sz="2400" dirty="0"/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None/>
            </a:pPr>
            <a:r>
              <a:rPr lang="en-US" altLang="tr-TR" sz="2400" dirty="0"/>
              <a:t>    Map the intensity of the pixel centered in the neighborhood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None/>
            </a:pPr>
            <a:endParaRPr lang="en-US" altLang="tr-TR" sz="2400" dirty="0"/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None/>
            </a:pPr>
            <a:r>
              <a:rPr lang="en-US" altLang="tr-TR" sz="2400" dirty="0"/>
              <a:t>    Move to the next location and repeat the procedure</a:t>
            </a:r>
          </a:p>
        </p:txBody>
      </p:sp>
    </p:spTree>
    <p:extLst>
      <p:ext uri="{BB962C8B-B14F-4D97-AF65-F5344CB8AC3E}">
        <p14:creationId xmlns:p14="http://schemas.microsoft.com/office/powerpoint/2010/main" val="7193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8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8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82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82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2">
            <a:extLst>
              <a:ext uri="{FF2B5EF4-FFF2-40B4-BE49-F238E27FC236}">
                <a16:creationId xmlns:a16="http://schemas.microsoft.com/office/drawing/2014/main" id="{410F4804-5735-F34B-9FB5-F68F009ED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963" y="833438"/>
            <a:ext cx="6299200" cy="46196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tr-TR">
                <a:solidFill>
                  <a:srgbClr val="FF0000"/>
                </a:solidFill>
                <a:latin typeface="Verdana" panose="020B0604030504040204" pitchFamily="34" charset="0"/>
              </a:rPr>
              <a:t>Local</a:t>
            </a:r>
            <a:r>
              <a:rPr lang="tr-TR" altLang="tr-TR">
                <a:solidFill>
                  <a:srgbClr val="FF0000"/>
                </a:solidFill>
                <a:latin typeface="Verdana" panose="020B0604030504040204" pitchFamily="34" charset="0"/>
              </a:rPr>
              <a:t> vs. Global</a:t>
            </a:r>
            <a:r>
              <a:rPr lang="en-US" altLang="tr-TR">
                <a:solidFill>
                  <a:srgbClr val="FF0000"/>
                </a:solidFill>
                <a:latin typeface="Verdana" panose="020B0604030504040204" pitchFamily="34" charset="0"/>
              </a:rPr>
              <a:t> Histogram Equalization</a:t>
            </a:r>
            <a:endParaRPr lang="en-US" altLang="tr-TR"/>
          </a:p>
        </p:txBody>
      </p:sp>
      <p:pic>
        <p:nvPicPr>
          <p:cNvPr id="36866" name="Picture 3">
            <a:extLst>
              <a:ext uri="{FF2B5EF4-FFF2-40B4-BE49-F238E27FC236}">
                <a16:creationId xmlns:a16="http://schemas.microsoft.com/office/drawing/2014/main" id="{C3B7E18B-6B2E-6840-BB6C-9DADDB046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76" y="2038350"/>
            <a:ext cx="6316663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72800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7" name="Rectangle 2">
            <a:extLst>
              <a:ext uri="{FF2B5EF4-FFF2-40B4-BE49-F238E27FC236}">
                <a16:creationId xmlns:a16="http://schemas.microsoft.com/office/drawing/2014/main" id="{E63E0F0F-6CF8-3F4F-A7E2-DDE3539EAC0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tr-TR" sz="3600" dirty="0"/>
              <a:t>Using Histogram Statistics for Image Enhancement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2" name="Object 10">
                <a:extLst>
                  <a:ext uri="{FF2B5EF4-FFF2-40B4-BE49-F238E27FC236}">
                    <a16:creationId xmlns:a16="http://schemas.microsoft.com/office/drawing/2014/main" id="{AC9C4476-C9D6-3A4B-813C-39A4982E0E9A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3114675" y="4690408"/>
                <a:ext cx="4383088" cy="1049338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85000" lnSpcReduction="1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tr-T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µ</m:t>
                          </m:r>
                        </m:e>
                        <m:sub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tr-T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tr-T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tr-T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tr-T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tr-T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tr-T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tr-T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tr-T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tr-T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tr-TR" dirty="0"/>
              </a:p>
            </p:txBody>
          </p:sp>
        </mc:Choice>
        <mc:Fallback xmlns="">
          <p:sp>
            <p:nvSpPr>
              <p:cNvPr id="25602" name="Object 10">
                <a:extLst>
                  <a:ext uri="{FF2B5EF4-FFF2-40B4-BE49-F238E27FC236}">
                    <a16:creationId xmlns:a16="http://schemas.microsoft.com/office/drawing/2014/main" id="{AC9C4476-C9D6-3A4B-813C-39A4982E0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3114675" y="4690408"/>
                <a:ext cx="4383088" cy="10493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09" name="Slide Number Placeholder 5">
            <a:extLst>
              <a:ext uri="{FF2B5EF4-FFF2-40B4-BE49-F238E27FC236}">
                <a16:creationId xmlns:a16="http://schemas.microsoft.com/office/drawing/2014/main" id="{93BDFDDD-A057-F84A-BA18-32D68C74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62D8D42-D65E-6A44-9C23-69E10759671D}" type="slidenum">
              <a:rPr lang="en-US" altLang="tr-TR"/>
              <a:pPr/>
              <a:t>46</a:t>
            </a:fld>
            <a:endParaRPr lang="en-US" altLang="tr-TR"/>
          </a:p>
        </p:txBody>
      </p:sp>
      <p:sp>
        <p:nvSpPr>
          <p:cNvPr id="25611" name="Rectangle 4">
            <a:extLst>
              <a:ext uri="{FF2B5EF4-FFF2-40B4-BE49-F238E27FC236}">
                <a16:creationId xmlns:a16="http://schemas.microsoft.com/office/drawing/2014/main" id="{AD95CFA0-BB13-2940-986E-3E41ED8EE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3000" y="4759326"/>
            <a:ext cx="515938" cy="365125"/>
          </a:xfrm>
          <a:prstGeom prst="rect">
            <a:avLst/>
          </a:prstGeom>
          <a:solidFill>
            <a:srgbClr val="F3F2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tr-TR" altLang="tr-TR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3" name="Object 8">
                <a:extLst>
                  <a:ext uri="{FF2B5EF4-FFF2-40B4-BE49-F238E27FC236}">
                    <a16:creationId xmlns:a16="http://schemas.microsoft.com/office/drawing/2014/main" id="{C1065141-4E53-CE42-A5BC-2F522F03B901}"/>
                  </a:ext>
                </a:extLst>
              </p:cNvPr>
              <p:cNvSpPr txBox="1"/>
              <p:nvPr/>
            </p:nvSpPr>
            <p:spPr bwMode="auto">
              <a:xfrm>
                <a:off x="3170238" y="1928019"/>
                <a:ext cx="2286000" cy="11430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µ</m:t>
                      </m:r>
                      <m:r>
                        <a:rPr lang="tr-T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tr-TR" sz="2800" dirty="0"/>
              </a:p>
            </p:txBody>
          </p:sp>
        </mc:Choice>
        <mc:Fallback xmlns="">
          <p:sp>
            <p:nvSpPr>
              <p:cNvPr id="25603" name="Object 8">
                <a:extLst>
                  <a:ext uri="{FF2B5EF4-FFF2-40B4-BE49-F238E27FC236}">
                    <a16:creationId xmlns:a16="http://schemas.microsoft.com/office/drawing/2014/main" id="{C1065141-4E53-CE42-A5BC-2F522F03B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0238" y="1928019"/>
                <a:ext cx="2286000" cy="1143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04" name="Object 9">
                <a:extLst>
                  <a:ext uri="{FF2B5EF4-FFF2-40B4-BE49-F238E27FC236}">
                    <a16:creationId xmlns:a16="http://schemas.microsoft.com/office/drawing/2014/main" id="{00F2FEC4-F502-5541-BB84-73511E8A61BD}"/>
                  </a:ext>
                </a:extLst>
              </p:cNvPr>
              <p:cNvSpPr txBox="1"/>
              <p:nvPr/>
            </p:nvSpPr>
            <p:spPr bwMode="auto">
              <a:xfrm>
                <a:off x="2975768" y="3117850"/>
                <a:ext cx="3830638" cy="1112838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77500" lnSpcReduction="20000"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µ</m:t>
                          </m:r>
                        </m:e>
                        <m:sub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tr-T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−µ</m:t>
                          </m:r>
                          <m:sSup>
                            <m:sSupPr>
                              <m:ctrlP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tr-T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tr-T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tr-T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tr-TR" sz="2800" dirty="0"/>
              </a:p>
            </p:txBody>
          </p:sp>
        </mc:Choice>
        <mc:Fallback xmlns="">
          <p:sp>
            <p:nvSpPr>
              <p:cNvPr id="25604" name="Object 9">
                <a:extLst>
                  <a:ext uri="{FF2B5EF4-FFF2-40B4-BE49-F238E27FC236}">
                    <a16:creationId xmlns:a16="http://schemas.microsoft.com/office/drawing/2014/main" id="{00F2FEC4-F502-5541-BB84-73511E8A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5768" y="3117850"/>
                <a:ext cx="3830638" cy="11128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1308" name="Object 12">
                <a:extLst>
                  <a:ext uri="{FF2B5EF4-FFF2-40B4-BE49-F238E27FC236}">
                    <a16:creationId xmlns:a16="http://schemas.microsoft.com/office/drawing/2014/main" id="{85C6E0B4-EFD0-A543-B99E-1E1D1D0FBF56}"/>
                  </a:ext>
                </a:extLst>
              </p:cNvPr>
              <p:cNvSpPr txBox="1"/>
              <p:nvPr/>
            </p:nvSpPr>
            <p:spPr bwMode="auto">
              <a:xfrm>
                <a:off x="5165585" y="2158673"/>
                <a:ext cx="2598737" cy="909638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tr-TR" sz="2800" dirty="0"/>
              </a:p>
            </p:txBody>
          </p:sp>
        </mc:Choice>
        <mc:Fallback xmlns="">
          <p:sp>
            <p:nvSpPr>
              <p:cNvPr id="311308" name="Object 12">
                <a:extLst>
                  <a:ext uri="{FF2B5EF4-FFF2-40B4-BE49-F238E27FC236}">
                    <a16:creationId xmlns:a16="http://schemas.microsoft.com/office/drawing/2014/main" id="{85C6E0B4-EFD0-A543-B99E-1E1D1D0FB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65585" y="2158673"/>
                <a:ext cx="2598737" cy="9096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1309" name="Object 13">
                <a:extLst>
                  <a:ext uri="{FF2B5EF4-FFF2-40B4-BE49-F238E27FC236}">
                    <a16:creationId xmlns:a16="http://schemas.microsoft.com/office/drawing/2014/main" id="{920FC60A-4CB0-1346-97B4-004BD5A9174D}"/>
                  </a:ext>
                </a:extLst>
              </p:cNvPr>
              <p:cNvSpPr txBox="1"/>
              <p:nvPr/>
            </p:nvSpPr>
            <p:spPr bwMode="auto">
              <a:xfrm>
                <a:off x="6917532" y="4759326"/>
                <a:ext cx="3668048" cy="98042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tr-T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tr-T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tr-T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tr-T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tr-T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tr-TR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tr-TR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tr-TR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tr-TR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tr-TR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tr-TR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tr-TR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tr-TR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tr-TR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tr-TR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tr-TR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tr-TR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tr-TR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)−µ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tr-TR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tr-TR" sz="3200" dirty="0"/>
              </a:p>
            </p:txBody>
          </p:sp>
        </mc:Choice>
        <mc:Fallback xmlns="">
          <p:sp>
            <p:nvSpPr>
              <p:cNvPr id="311309" name="Object 13">
                <a:extLst>
                  <a:ext uri="{FF2B5EF4-FFF2-40B4-BE49-F238E27FC236}">
                    <a16:creationId xmlns:a16="http://schemas.microsoft.com/office/drawing/2014/main" id="{920FC60A-4CB0-1346-97B4-004BD5A91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17532" y="4759326"/>
                <a:ext cx="3668048" cy="9804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1310" name="Text Box 14">
            <a:extLst>
              <a:ext uri="{FF2B5EF4-FFF2-40B4-BE49-F238E27FC236}">
                <a16:creationId xmlns:a16="http://schemas.microsoft.com/office/drawing/2014/main" id="{CA049576-1C4A-424D-BFCC-CBAB143CA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7959" y="1427280"/>
            <a:ext cx="29556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tr-TR" sz="2800" dirty="0"/>
              <a:t>Average Intensity</a:t>
            </a:r>
          </a:p>
        </p:txBody>
      </p:sp>
      <p:sp>
        <p:nvSpPr>
          <p:cNvPr id="311311" name="Text Box 15">
            <a:extLst>
              <a:ext uri="{FF2B5EF4-FFF2-40B4-BE49-F238E27FC236}">
                <a16:creationId xmlns:a16="http://schemas.microsoft.com/office/drawing/2014/main" id="{4CB48B10-4EC1-BE4A-99F0-BAC872ABF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4167188"/>
            <a:ext cx="15275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tr-TR" sz="2800"/>
              <a:t>Variance</a:t>
            </a:r>
          </a:p>
        </p:txBody>
      </p:sp>
    </p:spTree>
    <p:extLst>
      <p:ext uri="{BB962C8B-B14F-4D97-AF65-F5344CB8AC3E}">
        <p14:creationId xmlns:p14="http://schemas.microsoft.com/office/powerpoint/2010/main" val="398295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1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10" grpId="0"/>
      <p:bldP spid="31131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>
            <a:extLst>
              <a:ext uri="{FF2B5EF4-FFF2-40B4-BE49-F238E27FC236}">
                <a16:creationId xmlns:a16="http://schemas.microsoft.com/office/drawing/2014/main" id="{92802929-416C-1040-B9D2-4B634C57401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sz="3200"/>
              <a:t>Using Histogram Statistics for Image Enhancement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Object 7">
                <a:extLst>
                  <a:ext uri="{FF2B5EF4-FFF2-40B4-BE49-F238E27FC236}">
                    <a16:creationId xmlns:a16="http://schemas.microsoft.com/office/drawing/2014/main" id="{573CEF23-2401-5343-B266-19F2E0F90CD2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1909822" y="4362450"/>
                <a:ext cx="6649655" cy="1630363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tr-T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Local</m:t>
                      </m:r>
                      <m:r>
                        <m:rPr>
                          <m:nor/>
                        </m:rPr>
                        <a:rPr lang="tr-T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tr-T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variance</m:t>
                      </m:r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tr-T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tr-T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sub>
                        <m:sup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tr-T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tr-T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tr-T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tr-T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µ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tr-T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tr-T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</m:sub>
                          </m:sSub>
                          <m:sSup>
                            <m:sSupPr>
                              <m:ctrlPr>
                                <a:rPr lang="tr-T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tr-T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tr-T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sSub>
                            <m:sSubPr>
                              <m:ctrlPr>
                                <a:rPr lang="tr-T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tr-T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sub>
                      </m:sSub>
                      <m:r>
                        <a:rPr lang="tr-T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tr-T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tr-T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tr-TR" dirty="0"/>
              </a:p>
            </p:txBody>
          </p:sp>
        </mc:Choice>
        <mc:Fallback xmlns="">
          <p:sp>
            <p:nvSpPr>
              <p:cNvPr id="26626" name="Object 7">
                <a:extLst>
                  <a:ext uri="{FF2B5EF4-FFF2-40B4-BE49-F238E27FC236}">
                    <a16:creationId xmlns:a16="http://schemas.microsoft.com/office/drawing/2014/main" id="{573CEF23-2401-5343-B266-19F2E0F90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909822" y="4362450"/>
                <a:ext cx="6649655" cy="16303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29" name="Date Placeholder 3">
            <a:extLst>
              <a:ext uri="{FF2B5EF4-FFF2-40B4-BE49-F238E27FC236}">
                <a16:creationId xmlns:a16="http://schemas.microsoft.com/office/drawing/2014/main" id="{CE9D5768-EC85-BF4B-AA2E-106EFA019E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D002AC2-27C5-FC46-81F8-2D6CDB70FA4A}" type="datetime1">
              <a:rPr lang="en-US" altLang="tr-TR" smtClean="0"/>
              <a:pPr/>
              <a:t>10/15/2022</a:t>
            </a:fld>
            <a:endParaRPr lang="en-US" altLang="tr-TR"/>
          </a:p>
        </p:txBody>
      </p:sp>
      <p:sp>
        <p:nvSpPr>
          <p:cNvPr id="26630" name="Slide Number Placeholder 5">
            <a:extLst>
              <a:ext uri="{FF2B5EF4-FFF2-40B4-BE49-F238E27FC236}">
                <a16:creationId xmlns:a16="http://schemas.microsoft.com/office/drawing/2014/main" id="{D7201F78-C842-4742-B8C4-65D70C206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79DC75A-2274-E040-8FAF-532AB4915E75}" type="slidenum">
              <a:rPr lang="en-US" altLang="tr-TR"/>
              <a:pPr/>
              <a:t>47</a:t>
            </a:fld>
            <a:endParaRPr lang="en-US" altLang="tr-TR"/>
          </a:p>
        </p:txBody>
      </p:sp>
      <p:sp>
        <p:nvSpPr>
          <p:cNvPr id="26632" name="Rectangle 4">
            <a:extLst>
              <a:ext uri="{FF2B5EF4-FFF2-40B4-BE49-F238E27FC236}">
                <a16:creationId xmlns:a16="http://schemas.microsoft.com/office/drawing/2014/main" id="{EE3E28BE-3469-8F4E-8F6A-9B658F283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3000" y="4759326"/>
            <a:ext cx="515938" cy="365125"/>
          </a:xfrm>
          <a:prstGeom prst="rect">
            <a:avLst/>
          </a:prstGeom>
          <a:solidFill>
            <a:srgbClr val="F3F2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tr-TR" altLang="tr-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7" name="Object 5">
                <a:extLst>
                  <a:ext uri="{FF2B5EF4-FFF2-40B4-BE49-F238E27FC236}">
                    <a16:creationId xmlns:a16="http://schemas.microsoft.com/office/drawing/2014/main" id="{3D388B08-5D54-764C-BA0E-FC1C4B49180F}"/>
                  </a:ext>
                </a:extLst>
              </p:cNvPr>
              <p:cNvSpPr txBox="1"/>
              <p:nvPr/>
            </p:nvSpPr>
            <p:spPr bwMode="auto">
              <a:xfrm>
                <a:off x="3027966" y="1592162"/>
                <a:ext cx="4537075" cy="2386013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925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tr-TR" sz="28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Local</m:t>
                      </m:r>
                      <m:r>
                        <m:rPr>
                          <m:nor/>
                        </m:rPr>
                        <a:rPr lang="tr-TR" sz="28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tr-TR" sz="28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average</m:t>
                      </m:r>
                      <m:r>
                        <m:rPr>
                          <m:nor/>
                        </m:rPr>
                        <a:rPr lang="tr-TR" sz="28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tr-TR" sz="28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intensity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µ</m:t>
                          </m:r>
                        </m:e>
                        <m:sub>
                          <m:sSub>
                            <m:sSubPr>
                              <m:ctrlP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sub>
                      </m:sSub>
                      <m:r>
                        <a:rPr lang="tr-T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tr-T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tr-T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</m:sub>
                          </m:sSub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tr-T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tr-TR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tr-T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m:rPr>
                          <m:nor/>
                        </m:rPr>
                        <a:rPr lang="tr-TR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tr-TR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denotes</m:t>
                      </m:r>
                      <m:r>
                        <m:rPr>
                          <m:nor/>
                        </m:rPr>
                        <a:rPr lang="tr-TR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tr-TR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tr-TR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tr-TR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neighborhood</m:t>
                      </m:r>
                    </m:oMath>
                  </m:oMathPara>
                </a14:m>
                <a:endParaRPr lang="tr-TR" sz="2800" dirty="0"/>
              </a:p>
            </p:txBody>
          </p:sp>
        </mc:Choice>
        <mc:Fallback xmlns="">
          <p:sp>
            <p:nvSpPr>
              <p:cNvPr id="26627" name="Object 5">
                <a:extLst>
                  <a:ext uri="{FF2B5EF4-FFF2-40B4-BE49-F238E27FC236}">
                    <a16:creationId xmlns:a16="http://schemas.microsoft.com/office/drawing/2014/main" id="{3D388B08-5D54-764C-BA0E-FC1C4B491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7966" y="1592162"/>
                <a:ext cx="4537075" cy="2386013"/>
              </a:xfrm>
              <a:prstGeom prst="rect">
                <a:avLst/>
              </a:prstGeom>
              <a:blipFill>
                <a:blip r:embed="rId3"/>
                <a:stretch>
                  <a:fillRect b="-1276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44946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219F46E9-768E-6448-8B1F-18451B3645F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sz="3200"/>
              <a:t>Using Histogram Statistics for Image Enhancement: Example</a:t>
            </a:r>
          </a:p>
        </p:txBody>
      </p:sp>
      <p:sp>
        <p:nvSpPr>
          <p:cNvPr id="27652" name="Date Placeholder 3">
            <a:extLst>
              <a:ext uri="{FF2B5EF4-FFF2-40B4-BE49-F238E27FC236}">
                <a16:creationId xmlns:a16="http://schemas.microsoft.com/office/drawing/2014/main" id="{7E13DBC9-8F90-9D44-8113-401D1A3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579E294-6668-6D45-BECC-1D3007F16911}" type="datetime1">
              <a:rPr lang="en-US" altLang="tr-TR" smtClean="0"/>
              <a:pPr/>
              <a:t>10/15/2022</a:t>
            </a:fld>
            <a:endParaRPr lang="en-US" altLang="tr-TR"/>
          </a:p>
        </p:txBody>
      </p:sp>
      <p:sp>
        <p:nvSpPr>
          <p:cNvPr id="27653" name="Slide Number Placeholder 5">
            <a:extLst>
              <a:ext uri="{FF2B5EF4-FFF2-40B4-BE49-F238E27FC236}">
                <a16:creationId xmlns:a16="http://schemas.microsoft.com/office/drawing/2014/main" id="{6A343702-F316-E044-BC72-CF3CDFC1E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791B51B-98DA-3246-B940-70ADB5136626}" type="slidenum">
              <a:rPr lang="en-US" altLang="tr-TR"/>
              <a:pPr/>
              <a:t>48</a:t>
            </a:fld>
            <a:endParaRPr lang="en-US" altLang="tr-TR"/>
          </a:p>
        </p:txBody>
      </p:sp>
      <p:sp>
        <p:nvSpPr>
          <p:cNvPr id="27655" name="Rectangle 4">
            <a:extLst>
              <a:ext uri="{FF2B5EF4-FFF2-40B4-BE49-F238E27FC236}">
                <a16:creationId xmlns:a16="http://schemas.microsoft.com/office/drawing/2014/main" id="{1A117C96-178D-DD4A-919F-B6F2788C8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3000" y="4759326"/>
            <a:ext cx="515938" cy="365125"/>
          </a:xfrm>
          <a:prstGeom prst="rect">
            <a:avLst/>
          </a:prstGeom>
          <a:solidFill>
            <a:srgbClr val="F3F2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tr-TR" altLang="tr-TR"/>
          </a:p>
        </p:txBody>
      </p:sp>
      <p:pic>
        <p:nvPicPr>
          <p:cNvPr id="27656" name="Picture 8">
            <a:extLst>
              <a:ext uri="{FF2B5EF4-FFF2-40B4-BE49-F238E27FC236}">
                <a16:creationId xmlns:a16="http://schemas.microsoft.com/office/drawing/2014/main" id="{74FF44FD-736E-C34A-A94B-1433160AE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151" y="1417639"/>
            <a:ext cx="8043863" cy="471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585836C-BB79-7B43-9ABC-0539C593B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1882" y="1318418"/>
            <a:ext cx="5791200" cy="320833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tr-TR" altLang="tr-TR">
              <a:latin typeface="Verdana" panose="020B0604030504040204" pitchFamily="34" charset="0"/>
            </a:endParaRPr>
          </a:p>
        </p:txBody>
      </p:sp>
      <p:graphicFrame>
        <p:nvGraphicFramePr>
          <p:cNvPr id="313358" name="Object 14">
            <a:extLst>
              <a:ext uri="{FF2B5EF4-FFF2-40B4-BE49-F238E27FC236}">
                <a16:creationId xmlns:a16="http://schemas.microsoft.com/office/drawing/2014/main" id="{410C2116-90F6-D541-A2C0-0CD8C81584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8871034"/>
              </p:ext>
            </p:extLst>
          </p:nvPr>
        </p:nvGraphicFramePr>
        <p:xfrm>
          <a:off x="4906963" y="1841500"/>
          <a:ext cx="5761037" cy="190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1" name="Equation" r:id="rId4" imgW="83388200" imgH="27495500" progId="Equation.DSMT4">
                  <p:embed/>
                </p:oleObj>
              </mc:Choice>
              <mc:Fallback>
                <p:oleObj name="Equation" r:id="rId4" imgW="83388200" imgH="27495500" progId="Equation.DSMT4">
                  <p:embed/>
                  <p:pic>
                    <p:nvPicPr>
                      <p:cNvPr id="313358" name="Object 14">
                        <a:extLst>
                          <a:ext uri="{FF2B5EF4-FFF2-40B4-BE49-F238E27FC236}">
                            <a16:creationId xmlns:a16="http://schemas.microsoft.com/office/drawing/2014/main" id="{410C2116-90F6-D541-A2C0-0CD8C81584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6963" y="1841500"/>
                        <a:ext cx="5761037" cy="19002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934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13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219F46E9-768E-6448-8B1F-18451B3645F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sz="3200"/>
              <a:t>Using Histogram Statistics for Image Enhancement: Example</a:t>
            </a:r>
          </a:p>
        </p:txBody>
      </p:sp>
      <p:sp>
        <p:nvSpPr>
          <p:cNvPr id="27652" name="Date Placeholder 3">
            <a:extLst>
              <a:ext uri="{FF2B5EF4-FFF2-40B4-BE49-F238E27FC236}">
                <a16:creationId xmlns:a16="http://schemas.microsoft.com/office/drawing/2014/main" id="{7E13DBC9-8F90-9D44-8113-401D1A3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579E294-6668-6D45-BECC-1D3007F16911}" type="datetime1">
              <a:rPr lang="en-US" altLang="tr-TR" smtClean="0"/>
              <a:pPr/>
              <a:t>10/15/2022</a:t>
            </a:fld>
            <a:endParaRPr lang="en-US" altLang="tr-TR"/>
          </a:p>
        </p:txBody>
      </p:sp>
      <p:sp>
        <p:nvSpPr>
          <p:cNvPr id="27653" name="Slide Number Placeholder 5">
            <a:extLst>
              <a:ext uri="{FF2B5EF4-FFF2-40B4-BE49-F238E27FC236}">
                <a16:creationId xmlns:a16="http://schemas.microsoft.com/office/drawing/2014/main" id="{6A343702-F316-E044-BC72-CF3CDFC1E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791B51B-98DA-3246-B940-70ADB5136626}" type="slidenum">
              <a:rPr lang="en-US" altLang="tr-TR"/>
              <a:pPr/>
              <a:t>49</a:t>
            </a:fld>
            <a:endParaRPr lang="en-US" altLang="tr-TR"/>
          </a:p>
        </p:txBody>
      </p:sp>
      <p:sp>
        <p:nvSpPr>
          <p:cNvPr id="27655" name="Rectangle 4">
            <a:extLst>
              <a:ext uri="{FF2B5EF4-FFF2-40B4-BE49-F238E27FC236}">
                <a16:creationId xmlns:a16="http://schemas.microsoft.com/office/drawing/2014/main" id="{1A117C96-178D-DD4A-919F-B6F2788C8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3000" y="4759326"/>
            <a:ext cx="515938" cy="365125"/>
          </a:xfrm>
          <a:prstGeom prst="rect">
            <a:avLst/>
          </a:prstGeom>
          <a:solidFill>
            <a:srgbClr val="F3F2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tr-TR" altLang="tr-TR"/>
          </a:p>
        </p:txBody>
      </p:sp>
      <p:pic>
        <p:nvPicPr>
          <p:cNvPr id="27656" name="Picture 8">
            <a:extLst>
              <a:ext uri="{FF2B5EF4-FFF2-40B4-BE49-F238E27FC236}">
                <a16:creationId xmlns:a16="http://schemas.microsoft.com/office/drawing/2014/main" id="{74FF44FD-736E-C34A-A94B-1433160AE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151" y="1417639"/>
            <a:ext cx="8043863" cy="471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93004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FC214-D032-49BA-86C7-4E5B7F5EF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Quiz#2: Find the bit plane representation of the following image</a:t>
            </a:r>
            <a:endParaRPr lang="tr-T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4943C8-9C09-4BF4-951D-7407C50A77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                                     f(</a:t>
                </a:r>
                <a:r>
                  <a:rPr lang="en-US" dirty="0" err="1"/>
                  <a:t>x,y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tr-TR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1     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2     3</m:t>
                          </m:r>
                        </m:e>
                      </m:mr>
                      <m:m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eqArr>
                        </m:e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0</m:t>
                              </m:r>
                            </m:e>
                          </m:eqArr>
                        </m:e>
                      </m:mr>
                    </m:m>
                  </m:oMath>
                </a14:m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4943C8-9C09-4BF4-951D-7407C50A77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20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3482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6721</TotalTime>
  <Words>1059</Words>
  <Application>Microsoft Office PowerPoint</Application>
  <PresentationFormat>Widescreen</PresentationFormat>
  <Paragraphs>174</Paragraphs>
  <Slides>50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1" baseType="lpstr">
      <vt:lpstr>Arial</vt:lpstr>
      <vt:lpstr>Calibri</vt:lpstr>
      <vt:lpstr>Calibri Light</vt:lpstr>
      <vt:lpstr>Cambria Math</vt:lpstr>
      <vt:lpstr>Script MT Bold</vt:lpstr>
      <vt:lpstr>Symbol</vt:lpstr>
      <vt:lpstr>Tahoma</vt:lpstr>
      <vt:lpstr>Times New Roman</vt:lpstr>
      <vt:lpstr>Verdana</vt:lpstr>
      <vt:lpstr>Office Theme</vt:lpstr>
      <vt:lpstr>Equation</vt:lpstr>
      <vt:lpstr>Week 4: Image Enhancement Fatos Yarman Vural  and Hazal Moğultay</vt:lpstr>
      <vt:lpstr>Image Enhancement: Accentuating some characteristics of image for a predefined goal</vt:lpstr>
      <vt:lpstr>Image Enhancement Techniques</vt:lpstr>
      <vt:lpstr>Spatial Domain Techniques</vt:lpstr>
      <vt:lpstr>Intensity Transform: Changes the color palette only,   R           S</vt:lpstr>
      <vt:lpstr>1. Grayscale tansform, s=T(r)</vt:lpstr>
      <vt:lpstr>1. Grayscale transform: Linear Transforms,  </vt:lpstr>
      <vt:lpstr>Gray Scale transform- Negation: s= T(r)</vt:lpstr>
      <vt:lpstr>Gray Scale transform-  Contrast stretching, Thresholding</vt:lpstr>
      <vt:lpstr>Q: What type of a transform do you suggest to enhance the contrast of the left image?</vt:lpstr>
      <vt:lpstr>PowerPoint Presentation</vt:lpstr>
      <vt:lpstr>Gray Scale Transform- Gamma Correction</vt:lpstr>
      <vt:lpstr>Gray scale transform- Contrast Stretching </vt:lpstr>
      <vt:lpstr>Gray scale transform- Highlight</vt:lpstr>
      <vt:lpstr>Gray Scale Transform: Binarization</vt:lpstr>
      <vt:lpstr>Gray scale tansform  Power law transform:  s =crg</vt:lpstr>
      <vt:lpstr> Power Low Transform Examples </vt:lpstr>
      <vt:lpstr>PowerPoint Presentation</vt:lpstr>
      <vt:lpstr>2. Bit plane slicing</vt:lpstr>
      <vt:lpstr>PowerPoint Presentation</vt:lpstr>
      <vt:lpstr>PowerPoint Presentation</vt:lpstr>
      <vt:lpstr>PowerPoint Presentation</vt:lpstr>
      <vt:lpstr>3. Histogram Processing</vt:lpstr>
      <vt:lpstr>Definition: Histogram and Normalized Histogram</vt:lpstr>
      <vt:lpstr>Histograms of Various Images</vt:lpstr>
      <vt:lpstr>PowerPoint Presentation</vt:lpstr>
      <vt:lpstr>3.1. Histogram Equalization: Find a transformation, T, which yields a histogram with uniform density</vt:lpstr>
      <vt:lpstr>3.1. Histogram Equalization</vt:lpstr>
      <vt:lpstr>Definition: Cumulative Histogram</vt:lpstr>
      <vt:lpstr>Example:Find the histograms and cumulative histograms of the following 2 bits/pixel images: </vt:lpstr>
      <vt:lpstr>Define cumulative histograms and equate them</vt:lpstr>
      <vt:lpstr>Algorithm: Histogram Equalization</vt:lpstr>
      <vt:lpstr>Example: Find the equalized histogram and the corresponding image of the following 3 bits/pixel image:</vt:lpstr>
      <vt:lpstr>Example: Find the equalized histogram and the corresponding image of the following 3 bits/pixel image:</vt:lpstr>
      <vt:lpstr>PowerPoint Presentation</vt:lpstr>
      <vt:lpstr>PowerPoint Presentation</vt:lpstr>
      <vt:lpstr>Question</vt:lpstr>
      <vt:lpstr>Applying histogram equalization does not always provide the desired image </vt:lpstr>
      <vt:lpstr>PowerPoint Presentation</vt:lpstr>
      <vt:lpstr>Histogram specification:  Match the histogram to a desired histogram</vt:lpstr>
      <vt:lpstr>Equalize both the original and desired histograms</vt:lpstr>
      <vt:lpstr>Algorithm: Histogram Specification</vt:lpstr>
      <vt:lpstr>PowerPoint Presentation</vt:lpstr>
      <vt:lpstr>Local Histogram Processing</vt:lpstr>
      <vt:lpstr>PowerPoint Presentation</vt:lpstr>
      <vt:lpstr>Using Histogram Statistics for Image Enhancement</vt:lpstr>
      <vt:lpstr>Using Histogram Statistics for Image Enhancement</vt:lpstr>
      <vt:lpstr>Using Histogram Statistics for Image Enhancement: Example</vt:lpstr>
      <vt:lpstr>Using Histogram Statistics for Image Enhancement: Example</vt:lpstr>
      <vt:lpstr>Quiz#2: Find the bit plane representation of the following image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fatosyarmanvural</dc:creator>
  <cp:lastModifiedBy>Fatos</cp:lastModifiedBy>
  <cp:revision>66</cp:revision>
  <dcterms:created xsi:type="dcterms:W3CDTF">2020-09-11T05:07:43Z</dcterms:created>
  <dcterms:modified xsi:type="dcterms:W3CDTF">2022-10-15T17:54:42Z</dcterms:modified>
</cp:coreProperties>
</file>