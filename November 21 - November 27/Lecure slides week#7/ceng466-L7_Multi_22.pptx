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321" r:id="rId6"/>
    <p:sldId id="322" r:id="rId7"/>
    <p:sldId id="264" r:id="rId8"/>
    <p:sldId id="265" r:id="rId9"/>
    <p:sldId id="268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323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24" r:id="rId46"/>
    <p:sldId id="301" r:id="rId47"/>
    <p:sldId id="302" r:id="rId48"/>
    <p:sldId id="326" r:id="rId49"/>
    <p:sldId id="303" r:id="rId50"/>
    <p:sldId id="327" r:id="rId51"/>
    <p:sldId id="304" r:id="rId52"/>
    <p:sldId id="305" r:id="rId53"/>
    <p:sldId id="306" r:id="rId54"/>
    <p:sldId id="307" r:id="rId55"/>
    <p:sldId id="308" r:id="rId56"/>
    <p:sldId id="32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29" r:id="rId66"/>
    <p:sldId id="317" r:id="rId67"/>
    <p:sldId id="318" r:id="rId68"/>
    <p:sldId id="319" r:id="rId69"/>
    <p:sldId id="320" r:id="rId70"/>
  </p:sldIdLst>
  <p:sldSz cx="12192000" cy="6858000"/>
  <p:notesSz cx="6858000" cy="9144000"/>
  <p:embeddedFontLst>
    <p:embeddedFont>
      <p:font typeface="Calibri" panose="020F0502020204030204" pitchFamily="34" charset="0"/>
      <p:regular r:id="rId72"/>
      <p:bold r:id="rId73"/>
      <p:italic r:id="rId74"/>
      <p:boldItalic r:id="rId75"/>
    </p:embeddedFont>
    <p:embeddedFont>
      <p:font typeface="Cambria Math" panose="02040503050406030204" pitchFamily="18" charset="0"/>
      <p:regular r:id="rId76"/>
    </p:embeddedFont>
    <p:embeddedFont>
      <p:font typeface="Lato" panose="020B0604020202020204" charset="0"/>
      <p:regular r:id="rId77"/>
      <p:bold r:id="rId78"/>
      <p:italic r:id="rId79"/>
      <p:boldItalic r:id="rId80"/>
    </p:embeddedFont>
    <p:embeddedFont>
      <p:font typeface="Tahoma" panose="020B0604030504040204" pitchFamily="34" charset="0"/>
      <p:regular r:id="rId81"/>
      <p:bold r:id="rId82"/>
    </p:embeddedFont>
    <p:embeddedFont>
      <p:font typeface="Verdana" panose="020B0604030504040204" pitchFamily="34" charset="0"/>
      <p:regular r:id="rId83"/>
      <p:bold r:id="rId84"/>
      <p:italic r:id="rId85"/>
      <p:boldItalic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0" roundtripDataSignature="AMtx7mh++Po7Xv+2mPODasRFbfXqJH/e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CF66B8-7CB3-4167-A3A2-2995271110A2}">
  <a:tblStyle styleId="{99CF66B8-7CB3-4167-A3A2-2995271110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7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9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4.xml"/><Relationship Id="rId90" Type="http://customschemas.google.com/relationships/presentationmetadata" Target="metadata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font" Target="fonts/font11.fntdata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4809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7842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8" name="Google Shape;1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4" name="Google Shape;2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10" name="Google Shape;2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22" name="Google Shape;2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6" name="Google Shape;426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900" tIns="43950" rIns="87900" bIns="43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72796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af764f1e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af764f1eb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af764f1eb0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53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af764f1eb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af764f1eb0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af764f1eb0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59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28" name="Google Shape;52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af764f1eb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af764f1eb0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gaf764f1eb0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68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af764f1eb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af764f1eb0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af764f1eb0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tr-TR"/>
              <a:t>69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7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7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6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5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tr-TR" sz="5400" dirty="0" err="1"/>
              <a:t>Week</a:t>
            </a:r>
            <a:r>
              <a:rPr lang="tr-TR" sz="5400" dirty="0"/>
              <a:t> </a:t>
            </a:r>
            <a:r>
              <a:rPr lang="en-US" sz="5400" dirty="0"/>
              <a:t>7</a:t>
            </a:r>
            <a:r>
              <a:rPr lang="tr-TR" sz="5400" dirty="0"/>
              <a:t>: </a:t>
            </a:r>
            <a:r>
              <a:rPr lang="tr-TR" sz="5400" dirty="0" err="1"/>
              <a:t>Multiresolution</a:t>
            </a:r>
            <a:r>
              <a:rPr lang="tr-TR" sz="5400" dirty="0"/>
              <a:t> Image Analysis</a:t>
            </a:r>
            <a:endParaRPr sz="5400"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/>
              <a:t> Hazal Mogultay and Fatoş T. Yarman Vural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1063885" y="127137"/>
            <a:ext cx="10581205" cy="113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tr-TR" sz="3959" dirty="0" err="1"/>
              <a:t>What</a:t>
            </a:r>
            <a:r>
              <a:rPr lang="tr-TR" sz="3959" dirty="0"/>
              <a:t> </a:t>
            </a:r>
            <a:r>
              <a:rPr lang="tr-TR" sz="3959" dirty="0" err="1"/>
              <a:t>if</a:t>
            </a:r>
            <a:r>
              <a:rPr lang="tr-TR" sz="3959" dirty="0"/>
              <a:t> </a:t>
            </a:r>
            <a:r>
              <a:rPr lang="tr-TR" sz="3959" dirty="0" err="1"/>
              <a:t>we</a:t>
            </a:r>
            <a:r>
              <a:rPr lang="tr-TR" sz="3959" dirty="0"/>
              <a:t> </a:t>
            </a:r>
            <a:r>
              <a:rPr lang="tr-TR" sz="3959" dirty="0" err="1"/>
              <a:t>need</a:t>
            </a:r>
            <a:r>
              <a:rPr lang="tr-TR" sz="3959" dirty="0"/>
              <a:t> </a:t>
            </a:r>
            <a:r>
              <a:rPr lang="tr-TR" sz="3959" dirty="0" err="1"/>
              <a:t>to</a:t>
            </a:r>
            <a:r>
              <a:rPr lang="tr-TR" sz="3959" dirty="0"/>
              <a:t> </a:t>
            </a:r>
            <a:r>
              <a:rPr lang="tr-TR" sz="3959" dirty="0" err="1"/>
              <a:t>detect</a:t>
            </a:r>
            <a:r>
              <a:rPr lang="tr-TR" sz="3959" dirty="0"/>
              <a:t> </a:t>
            </a:r>
            <a:r>
              <a:rPr lang="tr-TR" sz="3959" dirty="0" err="1"/>
              <a:t>sea</a:t>
            </a:r>
            <a:r>
              <a:rPr lang="tr-TR" sz="3959" dirty="0"/>
              <a:t>, </a:t>
            </a:r>
            <a:r>
              <a:rPr lang="tr-TR" sz="3959" dirty="0" err="1"/>
              <a:t>forest</a:t>
            </a:r>
            <a:r>
              <a:rPr lang="tr-TR" sz="3959" dirty="0"/>
              <a:t>, </a:t>
            </a:r>
            <a:r>
              <a:rPr lang="tr-TR" sz="3959" dirty="0" err="1"/>
              <a:t>rural</a:t>
            </a:r>
            <a:r>
              <a:rPr lang="tr-TR" sz="3959" dirty="0"/>
              <a:t> </a:t>
            </a:r>
            <a:r>
              <a:rPr lang="tr-TR" sz="3959" dirty="0" err="1"/>
              <a:t>areas</a:t>
            </a:r>
            <a:r>
              <a:rPr lang="tr-TR" sz="3959" dirty="0"/>
              <a:t>, </a:t>
            </a:r>
            <a:r>
              <a:rPr lang="tr-TR" sz="3959" dirty="0" err="1"/>
              <a:t>highways</a:t>
            </a:r>
            <a:r>
              <a:rPr lang="tr-TR" sz="3959" dirty="0"/>
              <a:t>, </a:t>
            </a:r>
            <a:r>
              <a:rPr lang="tr-TR" sz="3959" dirty="0" err="1"/>
              <a:t>bridges</a:t>
            </a:r>
            <a:r>
              <a:rPr lang="tr-TR" sz="3959" dirty="0"/>
              <a:t>, </a:t>
            </a:r>
            <a:r>
              <a:rPr lang="tr-TR" sz="3959" dirty="0" err="1"/>
              <a:t>cars</a:t>
            </a:r>
            <a:r>
              <a:rPr lang="tr-TR" sz="3959" dirty="0"/>
              <a:t>, </a:t>
            </a:r>
            <a:r>
              <a:rPr lang="tr-TR" sz="3959" dirty="0" err="1"/>
              <a:t>buildings</a:t>
            </a:r>
            <a:r>
              <a:rPr lang="tr-TR" sz="3959" dirty="0"/>
              <a:t>, </a:t>
            </a:r>
            <a:r>
              <a:rPr lang="tr-TR" sz="3959" dirty="0" err="1"/>
              <a:t>boats</a:t>
            </a:r>
            <a:r>
              <a:rPr lang="tr-TR" sz="3959" dirty="0"/>
              <a:t> </a:t>
            </a:r>
            <a:r>
              <a:rPr lang="tr-TR" sz="3959" dirty="0" err="1"/>
              <a:t>etc</a:t>
            </a:r>
            <a:r>
              <a:rPr lang="tr-TR" sz="3959" dirty="0"/>
              <a:t>.?</a:t>
            </a:r>
            <a:endParaRPr sz="3959" dirty="0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l="8906" r="67070"/>
          <a:stretch/>
        </p:blipFill>
        <p:spPr>
          <a:xfrm>
            <a:off x="838199" y="1667389"/>
            <a:ext cx="4897583" cy="5260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l="71749"/>
          <a:stretch/>
        </p:blipFill>
        <p:spPr>
          <a:xfrm>
            <a:off x="6096000" y="1623427"/>
            <a:ext cx="5719749" cy="5260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492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tr-TR"/>
              <a:t>Multiresolution Analysis</a:t>
            </a:r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1524000" y="2615184"/>
            <a:ext cx="9144000" cy="2642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tr-TR" sz="2800"/>
              <a:t>Wavelets transforms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tr-TR" sz="2800"/>
              <a:t>Image pyramids and trees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tr-TR" sz="2800"/>
              <a:t>Sub-band coding</a:t>
            </a:r>
            <a:br>
              <a:rPr lang="tr-TR" sz="2800"/>
            </a:b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1. Wavelet Transforms</a:t>
            </a:r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720844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5" t="-2631" r="-23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tr-TR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709027" y="365127"/>
            <a:ext cx="111048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3300"/>
            </a:pPr>
            <a:r>
              <a:rPr lang="tr-TR" dirty="0" err="1"/>
              <a:t>Recall</a:t>
            </a:r>
            <a:r>
              <a:rPr lang="tr-TR" dirty="0"/>
              <a:t> </a:t>
            </a:r>
            <a:r>
              <a:rPr lang="tr-TR" dirty="0" err="1"/>
              <a:t>Fourier</a:t>
            </a:r>
            <a:r>
              <a:rPr lang="tr-TR" dirty="0"/>
              <a:t> </a:t>
            </a:r>
            <a:r>
              <a:rPr lang="tr-TR" dirty="0" err="1"/>
              <a:t>Transform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Discrete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Google Shape;218;p1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594088" y="1931488"/>
                <a:ext cx="8445262" cy="4245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indent="0" algn="ctr"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)=∑ ∑​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ar-AE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𝑥𝑢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𝑦𝑣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sup>
                      </m:sSup>
                      <m:r>
                        <a:rPr lang="ar-AE" i="1" baseline="3000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dirty="0"/>
              </a:p>
              <a:p>
                <a:pPr marL="0" indent="0" algn="ctr">
                  <a:spcBef>
                    <a:spcPts val="750"/>
                  </a:spcBef>
                  <a:buSzPts val="2800"/>
                  <a:buNone/>
                </a:pPr>
                <a:endParaRPr lang="ar-AE" dirty="0"/>
              </a:p>
              <a:p>
                <a:pPr marL="0" indent="0" algn="ctr"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r>
                        <a:rPr lang="ar-AE" i="1" dirty="0">
                          <a:latin typeface="Cambria Math" panose="02040503050406030204" pitchFamily="18" charset="0"/>
                        </a:rPr>
                        <m:t>∑  ∑​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ar-AE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𝑥𝑢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𝑦𝑣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sup>
                      </m:sSup>
                      <m:r>
                        <a:rPr lang="ar-AE" i="1" baseline="3000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r>
                  <a:rPr lang="en-US" dirty="0"/>
                  <a:t>In matrix </a:t>
                </a:r>
                <a:r>
                  <a:rPr lang="en-US" dirty="0" err="1"/>
                  <a:t>transorm</a:t>
                </a:r>
                <a:r>
                  <a:rPr lang="en-US" dirty="0"/>
                  <a:t> form</a:t>
                </a:r>
              </a:p>
              <a:p>
                <a:pPr marL="0" indent="0" algn="ctr">
                  <a:buSzPts val="2800"/>
                  <a:buNone/>
                </a:pPr>
                <a:endParaRPr lang="en-US" dirty="0"/>
              </a:p>
              <a:p>
                <a:pPr marL="0" indent="0" algn="ctr">
                  <a:buSzPts val="280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groupChr>
                      <m:groupChrPr>
                        <m:chr m:val="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𝑜𝑢𝑟𝑖𝑒𝑟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 algn="ctr">
                  <a:buSzPts val="2800"/>
                  <a:buNone/>
                </a:pPr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endParaRPr baseline="30000" dirty="0"/>
              </a:p>
            </p:txBody>
          </p:sp>
        </mc:Choice>
        <mc:Fallback xmlns="">
          <p:sp>
            <p:nvSpPr>
              <p:cNvPr id="218" name="Google Shape;218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94088" y="1931488"/>
                <a:ext cx="8445262" cy="42454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Google Shape;217;p19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581891" y="193983"/>
                <a:ext cx="11104825" cy="1325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>
                  <a:buSzPts val="3300"/>
                </a:pPr>
                <a:r>
                  <a:rPr lang="en-US" sz="3600" dirty="0">
                    <a:latin typeface="+mj-lt"/>
                  </a:rPr>
                  <a:t>Wavelet transform: Define a set of basis functions,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to</m:t>
                    </m:r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represent</m:t>
                    </m:r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image</m:t>
                    </m:r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</m:t>
                    </m:r>
                  </m:oMath>
                </a14:m>
                <a:r>
                  <a:rPr lang="en-US" sz="3600" dirty="0">
                    <a:latin typeface="+mj-lt"/>
                  </a:rPr>
                  <a:t> multiple resolution</a:t>
                </a:r>
                <a:endParaRPr sz="3600" dirty="0">
                  <a:latin typeface="+mj-lt"/>
                </a:endParaRPr>
              </a:p>
            </p:txBody>
          </p:sp>
        </mc:Choice>
        <mc:Fallback xmlns="">
          <p:sp>
            <p:nvSpPr>
              <p:cNvPr id="217" name="Google Shape;217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81891" y="193983"/>
                <a:ext cx="11104825" cy="1325563"/>
              </a:xfrm>
              <a:prstGeom prst="rect">
                <a:avLst/>
              </a:prstGeom>
              <a:blipFill>
                <a:blip r:embed="rId3"/>
                <a:stretch>
                  <a:fillRect l="-1647" t="-1843" b="-82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Google Shape;218;p1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594088" y="1931488"/>
                <a:ext cx="8445262" cy="4245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indent="0" algn="ctr"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)=∑ ∑​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 algn="ctr">
                  <a:spcBef>
                    <a:spcPts val="750"/>
                  </a:spcBef>
                  <a:buSzPts val="2800"/>
                  <a:buNone/>
                </a:pPr>
                <a:endParaRPr lang="ar-AE" dirty="0"/>
              </a:p>
              <a:p>
                <a:pPr marL="0" indent="0" algn="ctr"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𝑀𝑁</m:t>
                          </m:r>
                        </m:den>
                      </m:f>
                      <m:r>
                        <a:rPr lang="ar-AE" i="1" dirty="0">
                          <a:latin typeface="Cambria Math" panose="02040503050406030204" pitchFamily="18" charset="0"/>
                        </a:rPr>
                        <m:t>∑  ∑​</m:t>
                      </m:r>
                      <m:sSub>
                        <m:sSubPr>
                          <m:ctrlPr>
                            <a:rPr lang="ar-A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i="1" dirty="0" err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r>
                  <a:rPr lang="en-US" dirty="0"/>
                  <a:t>In matrix transform form</a:t>
                </a:r>
              </a:p>
              <a:p>
                <a:pPr marL="0" indent="0" algn="ctr">
                  <a:buSzPts val="2800"/>
                  <a:buNone/>
                </a:pPr>
                <a:endParaRPr lang="en-US" dirty="0"/>
              </a:p>
              <a:p>
                <a:pPr marL="0" indent="0" algn="ctr">
                  <a:buSzPts val="28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𝑊𝑓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groupChr>
                      <m:groupChrPr>
                        <m:chr m:val="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𝑤𝑎𝑣𝑒𝑙𝑒𝑡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/>
                    </m:sSup>
                  </m:oMath>
                </a14:m>
                <a:endParaRPr lang="en-US" dirty="0"/>
              </a:p>
              <a:p>
                <a:pPr marL="0" indent="0" algn="ctr">
                  <a:buSzPts val="2800"/>
                  <a:buNone/>
                </a:pPr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endParaRPr lang="en-US" baseline="30000" dirty="0"/>
              </a:p>
              <a:p>
                <a:pPr marL="0" indent="0" algn="ctr">
                  <a:buSzPts val="2800"/>
                  <a:buNone/>
                </a:pPr>
                <a:endParaRPr baseline="30000" dirty="0"/>
              </a:p>
            </p:txBody>
          </p:sp>
        </mc:Choice>
        <mc:Fallback xmlns="">
          <p:sp>
            <p:nvSpPr>
              <p:cNvPr id="218" name="Google Shape;218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94088" y="1931488"/>
                <a:ext cx="8445262" cy="4245476"/>
              </a:xfrm>
              <a:prstGeom prst="rect">
                <a:avLst/>
              </a:prstGeom>
              <a:blipFill>
                <a:blip r:embed="rId4"/>
                <a:stretch>
                  <a:fillRect t="-24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51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>
                <a:latin typeface="Calibri"/>
                <a:ea typeface="Calibri"/>
                <a:cs typeface="Calibri"/>
                <a:sym typeface="Calibri"/>
              </a:rPr>
              <a:t>How to design transform matrix W   ?</a:t>
            </a:r>
            <a:r>
              <a:rPr lang="tr-TR" sz="4000" baseline="30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dirty="0" err="1"/>
              <a:t>Recall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columns</a:t>
            </a:r>
            <a:r>
              <a:rPr lang="tr-TR" dirty="0"/>
              <a:t> of W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transform</a:t>
            </a:r>
            <a:r>
              <a:rPr lang="tr-TR" dirty="0"/>
              <a:t> domain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dirty="0"/>
              <a:t>W has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invertible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dirty="0"/>
              <a:t>W is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preferably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en-US" dirty="0"/>
              <a:t> and orthogonal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dirty="0"/>
              <a:t>W has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en-US" dirty="0"/>
              <a:t>decompose an 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 </a:t>
            </a:r>
            <a:r>
              <a:rPr lang="en-US" dirty="0"/>
              <a:t>into </a:t>
            </a:r>
            <a:r>
              <a:rPr lang="tr-TR" b="1" dirty="0" err="1"/>
              <a:t>multiple</a:t>
            </a:r>
            <a:r>
              <a:rPr lang="tr-TR" b="1" dirty="0"/>
              <a:t> </a:t>
            </a:r>
            <a:r>
              <a:rPr lang="tr-TR" b="1" dirty="0" err="1"/>
              <a:t>scale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b="1" dirty="0"/>
              <a:t>				      </a:t>
            </a:r>
            <a:r>
              <a:rPr lang="tr-TR" sz="3600" b="1" dirty="0" err="1"/>
              <a:t>Wavelets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39" name="Google Shape;139;p9"/>
          <p:cNvSpPr/>
          <p:nvPr/>
        </p:nvSpPr>
        <p:spPr>
          <a:xfrm>
            <a:off x="5614416" y="4206240"/>
            <a:ext cx="310896" cy="89611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What is </a:t>
            </a:r>
            <a:r>
              <a:rPr lang="tr-TR" dirty="0" err="1"/>
              <a:t>Wavelet</a:t>
            </a:r>
            <a:r>
              <a:rPr lang="en-US" dirty="0"/>
              <a:t>?</a:t>
            </a:r>
            <a:br>
              <a:rPr lang="tr-TR" dirty="0"/>
            </a:b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dimensional</a:t>
            </a:r>
            <a:r>
              <a:rPr lang="tr-TR" dirty="0"/>
              <a:t> </a:t>
            </a:r>
            <a:r>
              <a:rPr lang="tr-TR" dirty="0" err="1"/>
              <a:t>case</a:t>
            </a:r>
            <a:endParaRPr dirty="0"/>
          </a:p>
        </p:txBody>
      </p:sp>
      <p:pic>
        <p:nvPicPr>
          <p:cNvPr id="145" name="Google Shape;145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52106" y="2219092"/>
            <a:ext cx="5396405" cy="3332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521" y="1825625"/>
            <a:ext cx="3771553" cy="409168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 txBox="1"/>
          <p:nvPr/>
        </p:nvSpPr>
        <p:spPr>
          <a:xfrm>
            <a:off x="1239345" y="6052247"/>
            <a:ext cx="37448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Waves: infinite duration 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7121568" y="5818166"/>
            <a:ext cx="454558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Wavelet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inite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durations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body" idx="1"/>
          </p:nvPr>
        </p:nvSpPr>
        <p:spPr>
          <a:xfrm>
            <a:off x="1136480" y="2294601"/>
            <a:ext cx="10515600" cy="17373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56519" b="-615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Admissible 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35A201-8227-4DBA-BB3D-BA4D8CA6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 (1D Case): Basic Wavelet is any real and admissible function with finite duration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DB2020-D7BF-49C0-9015-3AE4A2CE3849}"/>
                  </a:ext>
                </a:extLst>
              </p:cNvPr>
              <p:cNvSpPr txBox="1"/>
              <p:nvPr/>
            </p:nvSpPr>
            <p:spPr>
              <a:xfrm flipH="1">
                <a:off x="2207027" y="4200371"/>
                <a:ext cx="6658251" cy="1547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where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groupChr>
                        <m:groupChrPr>
                          <m:chr m:val="⇔"/>
                          <m:vertJc m:val="bot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𝑜𝑢𝑟𝑖𝑒𝑟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𝑡𝑟𝑎𝑛𝑠𝑓𝑜𝑟𝑚</m:t>
                          </m:r>
                        </m:e>
                      </m:groupChr>
                      <m:r>
                        <a:rPr lang="en-US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DB2020-D7BF-49C0-9015-3AE4A2CE3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07027" y="4200371"/>
                <a:ext cx="6658251" cy="1547924"/>
              </a:xfrm>
              <a:prstGeom prst="rect">
                <a:avLst/>
              </a:prstGeom>
              <a:blipFill>
                <a:blip r:embed="rId4"/>
                <a:stretch>
                  <a:fillRect l="-1832" t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73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Example: Mexican hat basic wavelet function</a:t>
            </a:r>
            <a:endParaRPr/>
          </a:p>
        </p:txBody>
      </p:sp>
      <p:pic>
        <p:nvPicPr>
          <p:cNvPr id="154" name="Google Shape;154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688"/>
            <a:ext cx="5047350" cy="3116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5976" y="1805882"/>
            <a:ext cx="4551172" cy="288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/>
          <p:nvPr/>
        </p:nvSpPr>
        <p:spPr>
          <a:xfrm>
            <a:off x="228600" y="5536504"/>
            <a:ext cx="5783893" cy="11103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438" b="-227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Some Basic Wavelet Functions</a:t>
            </a:r>
            <a:endParaRPr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1328" y="1602345"/>
            <a:ext cx="8924544" cy="481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form a set of  </a:t>
            </a:r>
            <a:r>
              <a:rPr lang="en-US" dirty="0"/>
              <a:t>b</a:t>
            </a:r>
            <a:r>
              <a:rPr lang="tr-TR" dirty="0" err="1"/>
              <a:t>asis</a:t>
            </a:r>
            <a:r>
              <a:rPr lang="tr-TR" dirty="0"/>
              <a:t> </a:t>
            </a:r>
            <a:r>
              <a:rPr lang="en-US" dirty="0"/>
              <a:t>f</a:t>
            </a:r>
            <a:r>
              <a:rPr lang="tr-TR" dirty="0" err="1"/>
              <a:t>unctions</a:t>
            </a:r>
            <a:r>
              <a:rPr lang="tr-TR" dirty="0"/>
              <a:t> </a:t>
            </a:r>
            <a:r>
              <a:rPr lang="en-US" dirty="0"/>
              <a:t>from a basic wavelet </a:t>
            </a:r>
            <a:r>
              <a:rPr lang="tr-TR" dirty="0"/>
              <a:t>(1-D)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175" name="Google Shape;175;p14"/>
          <p:cNvSpPr txBox="1">
            <a:spLocks noGrp="1"/>
          </p:cNvSpPr>
          <p:nvPr>
            <p:ph type="body" idx="1"/>
          </p:nvPr>
        </p:nvSpPr>
        <p:spPr>
          <a:xfrm>
            <a:off x="1501254" y="1825625"/>
            <a:ext cx="985254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dirty="0"/>
              <a:t>Basic </a:t>
            </a:r>
            <a:r>
              <a:rPr lang="tr-TR" dirty="0" err="1"/>
              <a:t>Wavelet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dirty="0" err="1"/>
              <a:t>Squish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shift</a:t>
            </a:r>
            <a:r>
              <a:rPr lang="tr-TR" dirty="0"/>
              <a:t> </a:t>
            </a:r>
            <a:endParaRPr dirty="0"/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t="8399" b="49579"/>
          <a:stretch/>
        </p:blipFill>
        <p:spPr>
          <a:xfrm>
            <a:off x="3991970" y="1825625"/>
            <a:ext cx="7620000" cy="2364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t="55931"/>
          <a:stretch/>
        </p:blipFill>
        <p:spPr>
          <a:xfrm>
            <a:off x="3991970" y="4189769"/>
            <a:ext cx="7620000" cy="247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 err="1"/>
              <a:t>Scale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translate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times</a:t>
            </a:r>
            <a:r>
              <a:rPr lang="tr-TR" dirty="0"/>
              <a:t> (1-D)</a:t>
            </a:r>
            <a:endParaRPr dirty="0"/>
          </a:p>
        </p:txBody>
      </p:sp>
      <p:pic>
        <p:nvPicPr>
          <p:cNvPr id="183" name="Google Shape;183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27127" y="1825625"/>
            <a:ext cx="393774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sz="4000" dirty="0" err="1"/>
              <a:t>Generation</a:t>
            </a:r>
            <a:r>
              <a:rPr lang="tr-TR" sz="4000" dirty="0"/>
              <a:t> of </a:t>
            </a:r>
            <a:r>
              <a:rPr lang="tr-TR" sz="4000" dirty="0" err="1"/>
              <a:t>One</a:t>
            </a:r>
            <a:r>
              <a:rPr lang="tr-TR" sz="4000" dirty="0"/>
              <a:t> </a:t>
            </a:r>
            <a:r>
              <a:rPr lang="tr-TR" sz="4000" dirty="0" err="1"/>
              <a:t>Dimensional</a:t>
            </a:r>
            <a:r>
              <a:rPr lang="tr-TR" sz="4000" dirty="0"/>
              <a:t> </a:t>
            </a:r>
            <a:br>
              <a:rPr lang="tr-TR" sz="4000" dirty="0"/>
            </a:br>
            <a:r>
              <a:rPr lang="tr-TR" sz="4000" dirty="0" err="1"/>
              <a:t>Basis</a:t>
            </a:r>
            <a:r>
              <a:rPr lang="tr-TR" sz="4000" dirty="0"/>
              <a:t> </a:t>
            </a:r>
            <a:r>
              <a:rPr lang="tr-TR" sz="4000" dirty="0" err="1"/>
              <a:t>Functions</a:t>
            </a:r>
            <a:r>
              <a:rPr lang="tr-TR" sz="4000" dirty="0"/>
              <a:t> </a:t>
            </a:r>
            <a:r>
              <a:rPr lang="tr-TR" sz="4000" dirty="0" err="1"/>
              <a:t>from</a:t>
            </a:r>
            <a:r>
              <a:rPr lang="tr-TR" sz="4000" dirty="0"/>
              <a:t> a Basic </a:t>
            </a:r>
            <a:r>
              <a:rPr lang="tr-TR" sz="4000" dirty="0" err="1"/>
              <a:t>Function</a:t>
            </a:r>
            <a:endParaRPr sz="4000" dirty="0"/>
          </a:p>
        </p:txBody>
      </p:sp>
      <p:sp>
        <p:nvSpPr>
          <p:cNvPr id="189" name="Google Shape;189;p16"/>
          <p:cNvSpPr txBox="1">
            <a:spLocks noGrp="1"/>
          </p:cNvSpPr>
          <p:nvPr>
            <p:ph type="body" idx="1"/>
          </p:nvPr>
        </p:nvSpPr>
        <p:spPr>
          <a:xfrm>
            <a:off x="931107" y="1690688"/>
            <a:ext cx="10515600" cy="50046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tr-TR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Morlet Basis Functions obtained by scaling</a:t>
            </a:r>
            <a:endParaRPr/>
          </a:p>
        </p:txBody>
      </p:sp>
      <p:pic>
        <p:nvPicPr>
          <p:cNvPr id="195" name="Google Shape;195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8364"/>
          <a:stretch/>
        </p:blipFill>
        <p:spPr>
          <a:xfrm>
            <a:off x="4307534" y="1408175"/>
            <a:ext cx="3702609" cy="4907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21051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290" r="-1085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tr-TR"/>
              <a:t> </a:t>
            </a:r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body" idx="1"/>
          </p:nvPr>
        </p:nvSpPr>
        <p:spPr>
          <a:xfrm>
            <a:off x="329184" y="3236975"/>
            <a:ext cx="11430000" cy="120700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93746" r="-1219" b="-9061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tr-TR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1152144" y="365127"/>
            <a:ext cx="10076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tr-TR" sz="4000"/>
              <a:t>Recall, 1-D Continuous  Fourier Transform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body" idx="1"/>
          </p:nvPr>
        </p:nvSpPr>
        <p:spPr>
          <a:xfrm>
            <a:off x="2152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F(u ) ≜     ∫    f(x )exp</a:t>
            </a:r>
            <a:r>
              <a:rPr lang="tr-TR" sz="4000" baseline="30000">
                <a:latin typeface="Cambria Math"/>
                <a:ea typeface="Cambria Math"/>
                <a:cs typeface="Cambria Math"/>
                <a:sym typeface="Cambria Math"/>
              </a:rPr>
              <a:t>−2πjux          </a:t>
            </a: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dx,</a:t>
            </a:r>
            <a:endParaRPr sz="400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00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f(x  ) = ∫​   F(u  ) exp</a:t>
            </a:r>
            <a:r>
              <a:rPr lang="tr-TR" sz="4000" baseline="30000">
                <a:latin typeface="Cambria Math"/>
                <a:ea typeface="Cambria Math"/>
                <a:cs typeface="Cambria Math"/>
                <a:sym typeface="Cambria Math"/>
              </a:rPr>
              <a:t>2πjux              </a:t>
            </a: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du</a:t>
            </a:r>
            <a:endParaRPr sz="400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00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804672" y="365127"/>
            <a:ext cx="107350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tr-TR" sz="4000" dirty="0" err="1"/>
              <a:t>Replace</a:t>
            </a:r>
            <a:r>
              <a:rPr lang="tr-TR" sz="4000" dirty="0"/>
              <a:t> </a:t>
            </a:r>
            <a:r>
              <a:rPr lang="tr-TR" sz="4000" dirty="0" err="1"/>
              <a:t>Fourier</a:t>
            </a:r>
            <a:r>
              <a:rPr lang="tr-TR" sz="4000" dirty="0"/>
              <a:t> </a:t>
            </a:r>
            <a:r>
              <a:rPr lang="tr-TR" sz="4000" dirty="0" err="1"/>
              <a:t>Basis</a:t>
            </a:r>
            <a:r>
              <a:rPr lang="tr-TR" sz="4000" dirty="0"/>
              <a:t> </a:t>
            </a:r>
            <a:r>
              <a:rPr lang="tr-TR" sz="4000" dirty="0" err="1"/>
              <a:t>by</a:t>
            </a:r>
            <a:r>
              <a:rPr lang="tr-TR" sz="4000" dirty="0"/>
              <a:t> </a:t>
            </a:r>
            <a:r>
              <a:rPr lang="tr-TR" sz="4000" dirty="0" err="1"/>
              <a:t>Wavelet</a:t>
            </a:r>
            <a:r>
              <a:rPr lang="tr-TR" sz="4000" dirty="0"/>
              <a:t> </a:t>
            </a:r>
            <a:r>
              <a:rPr lang="tr-TR" sz="4000" dirty="0" err="1"/>
              <a:t>basis</a:t>
            </a:r>
            <a:r>
              <a:rPr lang="tr-TR" sz="4000" dirty="0"/>
              <a:t>: </a:t>
            </a:r>
            <a:br>
              <a:rPr lang="tr-TR" sz="4000" dirty="0"/>
            </a:br>
            <a:r>
              <a:rPr lang="tr-TR" sz="4000" dirty="0"/>
              <a:t>1-D </a:t>
            </a:r>
            <a:r>
              <a:rPr lang="tr-TR" sz="4000" dirty="0" err="1"/>
              <a:t>continuous</a:t>
            </a:r>
            <a:r>
              <a:rPr lang="tr-TR" sz="4000" dirty="0"/>
              <a:t> </a:t>
            </a:r>
            <a:r>
              <a:rPr lang="tr-TR" sz="4000" dirty="0" err="1"/>
              <a:t>wavelet</a:t>
            </a:r>
            <a:r>
              <a:rPr lang="tr-TR" sz="4000" dirty="0"/>
              <a:t> </a:t>
            </a:r>
            <a:r>
              <a:rPr lang="tr-TR" sz="4000" dirty="0" err="1"/>
              <a:t>transform</a:t>
            </a:r>
            <a:endParaRPr sz="4000" dirty="0"/>
          </a:p>
        </p:txBody>
      </p:sp>
      <p:sp>
        <p:nvSpPr>
          <p:cNvPr id="213" name="Google Shape;213;p20"/>
          <p:cNvSpPr txBox="1">
            <a:spLocks noGrp="1"/>
          </p:cNvSpPr>
          <p:nvPr>
            <p:ph type="body" idx="1"/>
          </p:nvPr>
        </p:nvSpPr>
        <p:spPr>
          <a:xfrm>
            <a:off x="2152650" y="1825625"/>
            <a:ext cx="78867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438912" y="365125"/>
            <a:ext cx="117530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/>
              <a:t>Two Dimensional Continuous Wavelet Basis Function</a:t>
            </a:r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body" idx="1"/>
          </p:nvPr>
        </p:nvSpPr>
        <p:spPr>
          <a:xfrm>
            <a:off x="838200" y="2224585"/>
            <a:ext cx="10515600" cy="39523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224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tr-TR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>
            <a:spLocks noGrp="1"/>
          </p:cNvSpPr>
          <p:nvPr>
            <p:ph type="title"/>
          </p:nvPr>
        </p:nvSpPr>
        <p:spPr>
          <a:xfrm>
            <a:off x="786384" y="365127"/>
            <a:ext cx="102412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tr-TR" sz="4000"/>
              <a:t>Two dimensional continuous wavelet transform</a:t>
            </a:r>
            <a:endParaRPr sz="4000"/>
          </a:p>
        </p:txBody>
      </p:sp>
      <p:sp>
        <p:nvSpPr>
          <p:cNvPr id="225" name="Google Shape;225;p22"/>
          <p:cNvSpPr txBox="1">
            <a:spLocks noGrp="1"/>
          </p:cNvSpPr>
          <p:nvPr>
            <p:ph type="body" idx="1"/>
          </p:nvPr>
        </p:nvSpPr>
        <p:spPr>
          <a:xfrm>
            <a:off x="658368" y="1825625"/>
            <a:ext cx="10369296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/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5E22D3-24B8-4217-B610-DC5CC57BA54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normalization factor,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5E22D3-24B8-4217-B610-DC5CC57BA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168;p13">
            <a:extLst>
              <a:ext uri="{FF2B5EF4-FFF2-40B4-BE49-F238E27FC236}">
                <a16:creationId xmlns:a16="http://schemas.microsoft.com/office/drawing/2014/main" id="{B5511A9E-6D83-4DAE-B15C-B04D8D611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6480" y="2294601"/>
            <a:ext cx="10515600" cy="17373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56519" b="-615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Admissible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5036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/>
              <a:t>FT </a:t>
            </a:r>
            <a:r>
              <a:rPr lang="tr-TR" dirty="0" err="1"/>
              <a:t>vs</a:t>
            </a:r>
            <a:r>
              <a:rPr lang="tr-TR" dirty="0"/>
              <a:t> WT</a:t>
            </a:r>
            <a:endParaRPr dirty="0"/>
          </a:p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1905000"/>
            <a:ext cx="76962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401" y="4114801"/>
            <a:ext cx="7673975" cy="221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6477001" y="1924051"/>
            <a:ext cx="230346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by F(u)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5638800" y="4114801"/>
            <a:ext cx="250348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by C(τ,s)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DFT </a:t>
            </a:r>
            <a:r>
              <a:rPr lang="tr-TR">
                <a:solidFill>
                  <a:schemeClr val="accent2"/>
                </a:solidFill>
              </a:rPr>
              <a:t>vs</a:t>
            </a:r>
            <a:r>
              <a:rPr lang="tr-TR"/>
              <a:t> DWT</a:t>
            </a:r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body"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Fourier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Wavelet</a:t>
            </a:r>
            <a:endParaRPr/>
          </a:p>
        </p:txBody>
      </p:sp>
      <p:pic>
        <p:nvPicPr>
          <p:cNvPr id="241" name="Google Shape;241;p24"/>
          <p:cNvPicPr preferRelativeResize="0"/>
          <p:nvPr/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2640014" y="2562225"/>
            <a:ext cx="2971800" cy="104933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6008688" y="1500188"/>
            <a:ext cx="26019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parameter basis</a:t>
            </a:r>
            <a:endParaRPr/>
          </a:p>
        </p:txBody>
      </p:sp>
      <p:cxnSp>
        <p:nvCxnSpPr>
          <p:cNvPr id="243" name="Google Shape;243;p24"/>
          <p:cNvCxnSpPr/>
          <p:nvPr/>
        </p:nvCxnSpPr>
        <p:spPr>
          <a:xfrm flipH="1">
            <a:off x="5913438" y="2166938"/>
            <a:ext cx="325437" cy="4762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44" name="Google Shape;244;p24"/>
          <p:cNvSpPr txBox="1"/>
          <p:nvPr/>
        </p:nvSpPr>
        <p:spPr>
          <a:xfrm>
            <a:off x="5014914" y="4291013"/>
            <a:ext cx="2619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parameter basis</a:t>
            </a:r>
            <a:endParaRPr/>
          </a:p>
        </p:txBody>
      </p:sp>
      <p:cxnSp>
        <p:nvCxnSpPr>
          <p:cNvPr id="245" name="Google Shape;245;p24"/>
          <p:cNvCxnSpPr/>
          <p:nvPr/>
        </p:nvCxnSpPr>
        <p:spPr>
          <a:xfrm flipH="1">
            <a:off x="5307014" y="4748214"/>
            <a:ext cx="636587" cy="5667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pic>
        <p:nvPicPr>
          <p:cNvPr id="246" name="Google Shape;24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1300" y="4759325"/>
            <a:ext cx="3467100" cy="176053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/>
          <p:nvPr/>
        </p:nvSpPr>
        <p:spPr>
          <a:xfrm>
            <a:off x="1538289" y="5163236"/>
            <a:ext cx="4700586" cy="5421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9301" b="-279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>
            <a:spLocks noGrp="1"/>
          </p:cNvSpPr>
          <p:nvPr>
            <p:ph type="title" idx="4294967295"/>
          </p:nvPr>
        </p:nvSpPr>
        <p:spPr>
          <a:xfrm>
            <a:off x="660400" y="762000"/>
            <a:ext cx="909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tr-TR" sz="3959"/>
              <a:t>Multiresolution Representation  </a:t>
            </a:r>
            <a:endParaRPr/>
          </a:p>
        </p:txBody>
      </p:sp>
      <p:pic>
        <p:nvPicPr>
          <p:cNvPr id="253" name="Google Shape;253;p25" descr="fourier_demo_18"/>
          <p:cNvPicPr preferRelativeResize="0"/>
          <p:nvPr/>
        </p:nvPicPr>
        <p:blipFill rotWithShape="1">
          <a:blip r:embed="rId3">
            <a:alphaModFix/>
          </a:blip>
          <a:srcRect t="48796"/>
          <a:stretch/>
        </p:blipFill>
        <p:spPr>
          <a:xfrm>
            <a:off x="2819400" y="1752600"/>
            <a:ext cx="6172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descr="fourier_demo_14"/>
          <p:cNvPicPr preferRelativeResize="0"/>
          <p:nvPr/>
        </p:nvPicPr>
        <p:blipFill rotWithShape="1">
          <a:blip r:embed="rId4">
            <a:alphaModFix/>
          </a:blip>
          <a:srcRect t="50081"/>
          <a:stretch/>
        </p:blipFill>
        <p:spPr>
          <a:xfrm>
            <a:off x="2905125" y="3106738"/>
            <a:ext cx="61722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2270125" y="491807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68900" y="4152901"/>
            <a:ext cx="4572000" cy="232251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/>
          <p:nvPr/>
        </p:nvSpPr>
        <p:spPr>
          <a:xfrm>
            <a:off x="5168900" y="4119563"/>
            <a:ext cx="4343400" cy="965200"/>
          </a:xfrm>
          <a:prstGeom prst="ellipse">
            <a:avLst/>
          </a:prstGeom>
          <a:noFill/>
          <a:ln w="38100" cap="sq" cmpd="sng">
            <a:solidFill>
              <a:srgbClr val="FF9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05475" y="2530475"/>
            <a:ext cx="571500" cy="51593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9" name="Google Shape;259;p25"/>
          <p:cNvCxnSpPr/>
          <p:nvPr/>
        </p:nvCxnSpPr>
        <p:spPr>
          <a:xfrm rot="10800000">
            <a:off x="9982200" y="4608513"/>
            <a:ext cx="0" cy="1295400"/>
          </a:xfrm>
          <a:prstGeom prst="straightConnector1">
            <a:avLst/>
          </a:prstGeom>
          <a:noFill/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60" name="Google Shape;260;p25"/>
          <p:cNvSpPr txBox="1"/>
          <p:nvPr/>
        </p:nvSpPr>
        <p:spPr>
          <a:xfrm>
            <a:off x="10099675" y="5127626"/>
            <a:ext cx="26828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9782175" y="3657601"/>
            <a:ext cx="787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9721850" y="6096001"/>
            <a:ext cx="787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coarse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573214" y="4152901"/>
            <a:ext cx="3595687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narrower, small translations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1290639" y="5573713"/>
            <a:ext cx="4700586" cy="54213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t="-9089" b="-24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9806843" y="1439076"/>
            <a:ext cx="1151726" cy="5421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2173" t="-9088" r="-9781" b="-2727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913467" y="1752600"/>
            <a:ext cx="73770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>
            <a:spLocks noGrp="1"/>
          </p:cNvSpPr>
          <p:nvPr>
            <p:ph type="title" idx="4294967295"/>
          </p:nvPr>
        </p:nvSpPr>
        <p:spPr>
          <a:xfrm>
            <a:off x="2514600" y="762000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tr-TR" sz="3959" dirty="0" err="1"/>
              <a:t>Multiresolution</a:t>
            </a:r>
            <a:r>
              <a:rPr lang="tr-TR" sz="3959" dirty="0"/>
              <a:t> </a:t>
            </a:r>
            <a:r>
              <a:rPr lang="tr-TR" sz="3959" dirty="0" err="1"/>
              <a:t>Representation</a:t>
            </a:r>
            <a:r>
              <a:rPr lang="tr-TR" sz="3959" dirty="0"/>
              <a:t> </a:t>
            </a:r>
            <a:r>
              <a:rPr lang="tr-TR" sz="3959" dirty="0" err="1"/>
              <a:t>using</a:t>
            </a:r>
            <a:r>
              <a:rPr lang="tr-TR" sz="3959" dirty="0"/>
              <a:t> </a:t>
            </a:r>
            <a:endParaRPr dirty="0"/>
          </a:p>
        </p:txBody>
      </p:sp>
      <p:pic>
        <p:nvPicPr>
          <p:cNvPr id="272" name="Google Shape;272;p26" descr="fourier_demo_18"/>
          <p:cNvPicPr preferRelativeResize="0"/>
          <p:nvPr/>
        </p:nvPicPr>
        <p:blipFill rotWithShape="1">
          <a:blip r:embed="rId3">
            <a:alphaModFix/>
          </a:blip>
          <a:srcRect t="48796"/>
          <a:stretch/>
        </p:blipFill>
        <p:spPr>
          <a:xfrm>
            <a:off x="2819400" y="1752600"/>
            <a:ext cx="61722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2036763" y="496252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01200" y="914401"/>
            <a:ext cx="909638" cy="460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9239" y="4249738"/>
            <a:ext cx="4359275" cy="221456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/>
          <p:nvPr/>
        </p:nvSpPr>
        <p:spPr>
          <a:xfrm>
            <a:off x="5329238" y="4783138"/>
            <a:ext cx="4343400" cy="963612"/>
          </a:xfrm>
          <a:prstGeom prst="ellipse">
            <a:avLst/>
          </a:prstGeom>
          <a:noFill/>
          <a:ln w="38100" cap="sq" cmpd="sng">
            <a:solidFill>
              <a:srgbClr val="FF9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705475" y="2530475"/>
            <a:ext cx="571500" cy="51593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" name="Google Shape;278;p26" descr="fourier_demo_12"/>
          <p:cNvPicPr preferRelativeResize="0"/>
          <p:nvPr/>
        </p:nvPicPr>
        <p:blipFill rotWithShape="1">
          <a:blip r:embed="rId6">
            <a:alphaModFix/>
          </a:blip>
          <a:srcRect t="46129"/>
          <a:stretch/>
        </p:blipFill>
        <p:spPr>
          <a:xfrm>
            <a:off x="2905125" y="3238500"/>
            <a:ext cx="6172200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26"/>
          <p:cNvCxnSpPr/>
          <p:nvPr/>
        </p:nvCxnSpPr>
        <p:spPr>
          <a:xfrm rot="10800000">
            <a:off x="9906000" y="4657725"/>
            <a:ext cx="0" cy="1295400"/>
          </a:xfrm>
          <a:prstGeom prst="straightConnector1">
            <a:avLst/>
          </a:prstGeom>
          <a:noFill/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80" name="Google Shape;280;p26"/>
          <p:cNvSpPr txBox="1"/>
          <p:nvPr/>
        </p:nvSpPr>
        <p:spPr>
          <a:xfrm>
            <a:off x="10099675" y="5127626"/>
            <a:ext cx="26828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9782175" y="3657601"/>
            <a:ext cx="787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9721850" y="6096001"/>
            <a:ext cx="787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coarse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1913467" y="1752600"/>
            <a:ext cx="73770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740518" y="5605478"/>
            <a:ext cx="3821303" cy="60638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3309" t="-10202" r="-3310" b="-265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>
            <a:spLocks noGrp="1"/>
          </p:cNvSpPr>
          <p:nvPr>
            <p:ph type="title" idx="4294967295"/>
          </p:nvPr>
        </p:nvSpPr>
        <p:spPr>
          <a:xfrm>
            <a:off x="1327693" y="762000"/>
            <a:ext cx="997573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tr-TR" sz="3959" dirty="0" err="1"/>
              <a:t>Multiresolution</a:t>
            </a:r>
            <a:r>
              <a:rPr lang="tr-TR" sz="3959" dirty="0"/>
              <a:t> </a:t>
            </a:r>
            <a:r>
              <a:rPr lang="tr-TR" sz="3959" dirty="0" err="1"/>
              <a:t>Representation</a:t>
            </a:r>
            <a:r>
              <a:rPr lang="tr-TR" sz="3959" dirty="0"/>
              <a:t> </a:t>
            </a:r>
            <a:r>
              <a:rPr lang="tr-TR" sz="3959" dirty="0" err="1"/>
              <a:t>using</a:t>
            </a:r>
            <a:r>
              <a:rPr lang="en-US" sz="3959" dirty="0"/>
              <a:t> wavelets</a:t>
            </a:r>
            <a:r>
              <a:rPr lang="tr-TR" sz="3959" dirty="0"/>
              <a:t> </a:t>
            </a:r>
            <a:endParaRPr dirty="0"/>
          </a:p>
        </p:txBody>
      </p:sp>
      <p:pic>
        <p:nvPicPr>
          <p:cNvPr id="290" name="Google Shape;290;p27" descr="fourier_demo_18"/>
          <p:cNvPicPr preferRelativeResize="0"/>
          <p:nvPr/>
        </p:nvPicPr>
        <p:blipFill rotWithShape="1">
          <a:blip r:embed="rId3">
            <a:alphaModFix/>
          </a:blip>
          <a:srcRect t="48796"/>
          <a:stretch/>
        </p:blipFill>
        <p:spPr>
          <a:xfrm>
            <a:off x="2819400" y="1752600"/>
            <a:ext cx="61722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1909763" y="4960938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02239" y="4248151"/>
            <a:ext cx="4359275" cy="221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7"/>
          <p:cNvSpPr/>
          <p:nvPr/>
        </p:nvSpPr>
        <p:spPr>
          <a:xfrm>
            <a:off x="5029200" y="5454650"/>
            <a:ext cx="4343400" cy="965200"/>
          </a:xfrm>
          <a:prstGeom prst="ellipse">
            <a:avLst/>
          </a:prstGeom>
          <a:noFill/>
          <a:ln w="38100" cap="sq" cmpd="sng">
            <a:solidFill>
              <a:srgbClr val="FF9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5705475" y="2530475"/>
            <a:ext cx="571500" cy="51593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p27" descr="fourier_demo_06"/>
          <p:cNvPicPr preferRelativeResize="0"/>
          <p:nvPr/>
        </p:nvPicPr>
        <p:blipFill rotWithShape="1">
          <a:blip r:embed="rId5">
            <a:alphaModFix/>
          </a:blip>
          <a:srcRect t="49974"/>
          <a:stretch/>
        </p:blipFill>
        <p:spPr>
          <a:xfrm>
            <a:off x="2936875" y="3186113"/>
            <a:ext cx="6096000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27"/>
          <p:cNvCxnSpPr/>
          <p:nvPr/>
        </p:nvCxnSpPr>
        <p:spPr>
          <a:xfrm rot="10800000">
            <a:off x="9736138" y="4641850"/>
            <a:ext cx="0" cy="1295400"/>
          </a:xfrm>
          <a:prstGeom prst="straightConnector1">
            <a:avLst/>
          </a:prstGeom>
          <a:noFill/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8" name="Google Shape;298;p27"/>
          <p:cNvSpPr txBox="1"/>
          <p:nvPr/>
        </p:nvSpPr>
        <p:spPr>
          <a:xfrm>
            <a:off x="10099675" y="5127626"/>
            <a:ext cx="26828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9782175" y="3657601"/>
            <a:ext cx="787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9721850" y="6096001"/>
            <a:ext cx="787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coarse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1614488" y="4254501"/>
            <a:ext cx="31305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wider, large translations</a:t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740518" y="5605478"/>
            <a:ext cx="3821303" cy="60638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3309" t="-10202" r="-3310" b="-265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1913467" y="1752600"/>
            <a:ext cx="73770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>
            <a:spLocks noGrp="1"/>
          </p:cNvSpPr>
          <p:nvPr>
            <p:ph type="title" idx="4294967295"/>
          </p:nvPr>
        </p:nvSpPr>
        <p:spPr>
          <a:xfrm>
            <a:off x="2514600" y="762000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tr-TR" sz="3959"/>
              <a:t>Multiresolution Representation using </a:t>
            </a:r>
            <a:endParaRPr/>
          </a:p>
        </p:txBody>
      </p:sp>
      <p:pic>
        <p:nvPicPr>
          <p:cNvPr id="309" name="Google Shape;309;p28" descr="fourier_demo_06"/>
          <p:cNvPicPr preferRelativeResize="0"/>
          <p:nvPr/>
        </p:nvPicPr>
        <p:blipFill rotWithShape="1">
          <a:blip r:embed="rId3">
            <a:alphaModFix/>
          </a:blip>
          <a:srcRect t="49974"/>
          <a:stretch/>
        </p:blipFill>
        <p:spPr>
          <a:xfrm>
            <a:off x="2895600" y="4876800"/>
            <a:ext cx="6096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8" descr="fourier_demo_12"/>
          <p:cNvPicPr preferRelativeResize="0"/>
          <p:nvPr/>
        </p:nvPicPr>
        <p:blipFill rotWithShape="1">
          <a:blip r:embed="rId4">
            <a:alphaModFix/>
          </a:blip>
          <a:srcRect t="46129"/>
          <a:stretch/>
        </p:blipFill>
        <p:spPr>
          <a:xfrm>
            <a:off x="2819400" y="3581400"/>
            <a:ext cx="6172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8" descr="fourier_demo_18"/>
          <p:cNvPicPr preferRelativeResize="0"/>
          <p:nvPr/>
        </p:nvPicPr>
        <p:blipFill rotWithShape="1">
          <a:blip r:embed="rId5">
            <a:alphaModFix/>
          </a:blip>
          <a:srcRect t="48796"/>
          <a:stretch/>
        </p:blipFill>
        <p:spPr>
          <a:xfrm>
            <a:off x="2819400" y="1752600"/>
            <a:ext cx="61722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8" descr="fourier_demo_14"/>
          <p:cNvPicPr preferRelativeResize="0"/>
          <p:nvPr/>
        </p:nvPicPr>
        <p:blipFill rotWithShape="1">
          <a:blip r:embed="rId6">
            <a:alphaModFix/>
          </a:blip>
          <a:srcRect t="50081"/>
          <a:stretch/>
        </p:blipFill>
        <p:spPr>
          <a:xfrm>
            <a:off x="2819400" y="2667000"/>
            <a:ext cx="61722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/>
        </p:nvSpPr>
        <p:spPr>
          <a:xfrm>
            <a:off x="8915400" y="1752600"/>
            <a:ext cx="18288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resolution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(more details)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8991600" y="4800600"/>
            <a:ext cx="182880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resolution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(less details)</a:t>
            </a:r>
            <a:endParaRPr/>
          </a:p>
        </p:txBody>
      </p:sp>
      <p:cxnSp>
        <p:nvCxnSpPr>
          <p:cNvPr id="315" name="Google Shape;315;p28"/>
          <p:cNvCxnSpPr/>
          <p:nvPr/>
        </p:nvCxnSpPr>
        <p:spPr>
          <a:xfrm rot="10800000">
            <a:off x="9677400" y="2630488"/>
            <a:ext cx="0" cy="1905000"/>
          </a:xfrm>
          <a:prstGeom prst="straightConnector1">
            <a:avLst/>
          </a:prstGeom>
          <a:noFill/>
          <a:ln w="57150" cap="sq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6" name="Google Shape;316;p28"/>
          <p:cNvSpPr txBox="1"/>
          <p:nvPr/>
        </p:nvSpPr>
        <p:spPr>
          <a:xfrm>
            <a:off x="5410200" y="4038601"/>
            <a:ext cx="10668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2270125" y="491807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01200" y="914401"/>
            <a:ext cx="909638" cy="460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9890126" y="3278188"/>
            <a:ext cx="2698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913467" y="1752600"/>
            <a:ext cx="73770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1913467" y="2630488"/>
            <a:ext cx="9460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f1(x)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1840949" y="3667125"/>
            <a:ext cx="9460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f2(x)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1824016" y="4820663"/>
            <a:ext cx="94609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f3(x)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How to Scale and Shift?</a:t>
            </a:r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 dirty="0" err="1"/>
              <a:t>Dyadic</a:t>
            </a:r>
            <a:r>
              <a:rPr lang="tr-TR" sz="4000" dirty="0"/>
              <a:t> </a:t>
            </a:r>
            <a:r>
              <a:rPr lang="tr-TR" sz="4000" dirty="0" err="1"/>
              <a:t>Wavelets</a:t>
            </a:r>
            <a:r>
              <a:rPr lang="tr-TR" sz="4000" dirty="0"/>
              <a:t> as a Set of </a:t>
            </a:r>
            <a:r>
              <a:rPr lang="tr-TR" sz="4000" dirty="0" err="1"/>
              <a:t>Basis</a:t>
            </a:r>
            <a:r>
              <a:rPr lang="tr-TR" sz="4000" dirty="0"/>
              <a:t> </a:t>
            </a:r>
            <a:r>
              <a:rPr lang="tr-TR" sz="4000" dirty="0" err="1"/>
              <a:t>Functions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F22489-DB7D-4761-9D19-584A888F370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Binary scaling</a:t>
                </a:r>
                <a:r>
                  <a:rPr lang="en-US" sz="2400" dirty="0"/>
                  <a:t> iteratively scales the basic wavelet, ϕ(x). by a factor of 2.</a:t>
                </a:r>
              </a:p>
              <a:p>
                <a:r>
                  <a:rPr lang="en-US" sz="2400" b="1" dirty="0"/>
                  <a:t>Dyadic translation</a:t>
                </a:r>
                <a:r>
                  <a:rPr lang="en-US" sz="2400" dirty="0"/>
                  <a:t> shifts the basic wavelet function iteratively by integer multiples of binary scale factor, k=j.2</a:t>
                </a:r>
                <a:r>
                  <a:rPr lang="en-US" sz="2400" baseline="30000" dirty="0"/>
                  <a:t>j</a:t>
                </a:r>
                <a:r>
                  <a:rPr lang="en-US" sz="2400" dirty="0"/>
                  <a:t>. 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baseline="-25000" dirty="0" smtClean="0">
                          <a:latin typeface="Cambria Math" panose="02040503050406030204" pitchFamily="18" charset="0"/>
                        </a:rPr>
                        <m:t>𝑗𝑘</m:t>
                      </m:r>
                      <m:d>
                        <m:dPr>
                          <m:ctrlPr>
                            <a:rPr lang="en-US" sz="2400" b="0" i="1" baseline="-2500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baseline="3000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baseline="30000" dirty="0"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en-US" sz="2400" i="1" baseline="30000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400" dirty="0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2400" baseline="30000" dirty="0"/>
                                <m:t>j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where  for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−∞&lt;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2400" dirty="0"/>
                  <a:t> are integer values.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F22489-DB7D-4761-9D19-584A888F37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Dyadic wavelets</a:t>
            </a:r>
            <a:endParaRPr/>
          </a:p>
        </p:txBody>
      </p:sp>
      <p:pic>
        <p:nvPicPr>
          <p:cNvPr id="341" name="Google Shape;341;p3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29984" y="1517702"/>
            <a:ext cx="4276411" cy="47324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Google Shape;342;p31"/>
              <p:cNvSpPr/>
              <p:nvPr/>
            </p:nvSpPr>
            <p:spPr>
              <a:xfrm>
                <a:off x="548640" y="3705114"/>
                <a:ext cx="5596128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tr-TR" sz="4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rPr>
                      <m:t>𝜑</m:t>
                    </m:r>
                  </m:oMath>
                </a14:m>
                <a:r>
                  <a:rPr lang="tr-TR" sz="4000" baseline="-25000" dirty="0" err="1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j,k</a:t>
                </a:r>
                <a:r>
                  <a:rPr lang="tr-TR" sz="40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​(x)=2</a:t>
                </a:r>
                <a:r>
                  <a:rPr lang="tr-TR" sz="4000" baseline="300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j​/2</a:t>
                </a:r>
                <a:r>
                  <a:rPr lang="tr-TR" sz="40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  </a:t>
                </a:r>
                <a14:m>
                  <m:oMath xmlns:m="http://schemas.openxmlformats.org/officeDocument/2006/math">
                    <m:r>
                      <a:rPr lang="tr-TR" sz="4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  <a:sym typeface="Cambria Math"/>
                      </a:rPr>
                      <m:t>𝜑</m:t>
                    </m:r>
                  </m:oMath>
                </a14:m>
                <a:r>
                  <a:rPr lang="tr-TR" sz="40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(2</a:t>
                </a:r>
                <a:r>
                  <a:rPr lang="tr-TR" sz="4000" baseline="300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j​</a:t>
                </a:r>
                <a:r>
                  <a:rPr lang="tr-TR" sz="40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 x−k),</a:t>
                </a:r>
                <a:endParaRPr sz="40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</mc:Choice>
        <mc:Fallback xmlns="">
          <p:sp>
            <p:nvSpPr>
              <p:cNvPr id="342" name="Google Shape;342;p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705114"/>
                <a:ext cx="5596128" cy="707886"/>
              </a:xfrm>
              <a:prstGeom prst="rect">
                <a:avLst/>
              </a:prstGeom>
              <a:blipFill>
                <a:blip r:embed="rId4"/>
                <a:stretch>
                  <a:fillRect t="-15517" b="-36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Compact dyadic wavelets: Get rid of two indeces, j,k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300728-373D-4934-A538-68505A670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550" y="5270069"/>
            <a:ext cx="4748450" cy="755277"/>
          </a:xfrm>
          <a:prstGeom prst="rect">
            <a:avLst/>
          </a:prstGeom>
        </p:spPr>
      </p:pic>
      <p:graphicFrame>
        <p:nvGraphicFramePr>
          <p:cNvPr id="349" name="Google Shape;349;p32"/>
          <p:cNvGraphicFramePr/>
          <p:nvPr>
            <p:extLst>
              <p:ext uri="{D42A27DB-BD31-4B8C-83A1-F6EECF244321}">
                <p14:modId xmlns:p14="http://schemas.microsoft.com/office/powerpoint/2010/main" val="3618125259"/>
              </p:ext>
            </p:extLst>
          </p:nvPr>
        </p:nvGraphicFramePr>
        <p:xfrm>
          <a:off x="3028950" y="3004577"/>
          <a:ext cx="4972050" cy="1706880"/>
        </p:xfrm>
        <a:graphic>
          <a:graphicData uri="http://schemas.openxmlformats.org/drawingml/2006/table">
            <a:tbl>
              <a:tblPr>
                <a:noFill/>
                <a:tableStyleId>{99CF66B8-7CB3-4167-A3A2-2995271110A2}</a:tableStyleId>
              </a:tblPr>
              <a:tblGrid>
                <a:gridCol w="867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39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9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n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0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1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2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3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…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39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j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0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0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1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1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…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9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k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0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1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1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2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 dirty="0"/>
                        <a:t>…</a:t>
                      </a:r>
                      <a:endParaRPr dirty="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6F9984D-A21D-4831-AEE9-FCA85FE77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274" y="2249300"/>
            <a:ext cx="6043409" cy="67414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A Compact Dyadic Wavelet Basis Functions</a:t>
            </a:r>
            <a:br>
              <a:rPr lang="tr-TR"/>
            </a:br>
            <a:r>
              <a:rPr lang="tr-TR"/>
              <a:t>One Dimensional </a:t>
            </a:r>
            <a:r>
              <a:rPr lang="tr-TR" b="1">
                <a:solidFill>
                  <a:srgbClr val="FF0000"/>
                </a:solidFill>
              </a:rPr>
              <a:t>Haar Function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4AE30-0DD1-49C0-923D-B8E8A8C89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617" y="2110153"/>
            <a:ext cx="7466616" cy="429064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/>
              <a:t>Haar Functions: </a:t>
            </a:r>
            <a:br>
              <a:rPr lang="tr-TR" sz="4000"/>
            </a:br>
            <a:r>
              <a:rPr lang="tr-TR" sz="4000"/>
              <a:t>Compact Dyadic Wavelet Basis Functions</a:t>
            </a:r>
            <a:endParaRPr sz="4000"/>
          </a:p>
        </p:txBody>
      </p:sp>
      <p:sp>
        <p:nvSpPr>
          <p:cNvPr id="361" name="Google Shape;361;p34"/>
          <p:cNvSpPr txBox="1">
            <a:spLocks noGrp="1"/>
          </p:cNvSpPr>
          <p:nvPr>
            <p:ph type="body" idx="1"/>
          </p:nvPr>
        </p:nvSpPr>
        <p:spPr>
          <a:xfrm>
            <a:off x="2527788" y="2826727"/>
            <a:ext cx="7221415" cy="2966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0" t="-26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tr-TR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Two Dimensional Haar Basis Functions</a:t>
            </a:r>
            <a:endParaRPr/>
          </a:p>
        </p:txBody>
      </p:sp>
      <p:sp>
        <p:nvSpPr>
          <p:cNvPr id="367" name="Google Shape;367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dirty="0"/>
              <a:t>2D </a:t>
            </a:r>
            <a:r>
              <a:rPr lang="tr-TR" dirty="0" err="1"/>
              <a:t>Haar</a:t>
            </a:r>
            <a:r>
              <a:rPr lang="tr-TR" dirty="0"/>
              <a:t> </a:t>
            </a:r>
            <a:r>
              <a:rPr lang="en-US" dirty="0"/>
              <a:t>Basis </a:t>
            </a:r>
            <a:r>
              <a:rPr lang="tr-TR" dirty="0" err="1"/>
              <a:t>wavelets</a:t>
            </a:r>
            <a:r>
              <a:rPr lang="tr-TR" dirty="0"/>
              <a:t>:</a:t>
            </a:r>
            <a:r>
              <a:rPr lang="tr-TR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tr-TR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368" name="Google Shape;368;p35" descr="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8825" y="2017714"/>
            <a:ext cx="2478088" cy="165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5" descr="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0688" y="4229101"/>
            <a:ext cx="2311400" cy="19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5" descr="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62551" y="4327525"/>
            <a:ext cx="2505075" cy="172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5" descr="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7426" y="4114801"/>
            <a:ext cx="2822575" cy="169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Two-Dimensional Discrete Haar Transform</a:t>
            </a:r>
            <a:endParaRPr/>
          </a:p>
        </p:txBody>
      </p:sp>
      <p:sp>
        <p:nvSpPr>
          <p:cNvPr id="377" name="Google Shape;377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/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290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tr-TR"/>
              <a:t> </a:t>
            </a:r>
            <a:endParaRPr/>
          </a:p>
        </p:txBody>
      </p:sp>
      <p:sp>
        <p:nvSpPr>
          <p:cNvPr id="383" name="Google Shape;383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/>
              <a:t>Normalize and Sample x of </a:t>
            </a:r>
            <a:r>
              <a:rPr lang="tr-TR">
                <a:latin typeface="Cambria Math"/>
                <a:ea typeface="Cambria Math"/>
                <a:cs typeface="Cambria Math"/>
                <a:sym typeface="Cambria Math"/>
              </a:rPr>
              <a:t>h</a:t>
            </a:r>
            <a:r>
              <a:rPr lang="tr-TR" baseline="-25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tr-TR">
                <a:latin typeface="Cambria Math"/>
                <a:ea typeface="Cambria Math"/>
                <a:cs typeface="Cambria Math"/>
                <a:sym typeface="Cambria Math"/>
              </a:rPr>
              <a:t>(x) = h</a:t>
            </a:r>
            <a:r>
              <a:rPr lang="tr-TR" baseline="-25000">
                <a:latin typeface="Cambria Math"/>
                <a:ea typeface="Cambria Math"/>
                <a:cs typeface="Cambria Math"/>
                <a:sym typeface="Cambria Math"/>
              </a:rPr>
              <a:t>jk</a:t>
            </a:r>
            <a:r>
              <a:rPr lang="tr-TR">
                <a:latin typeface="Cambria Math"/>
                <a:ea typeface="Cambria Math"/>
                <a:cs typeface="Cambria Math"/>
                <a:sym typeface="Cambria Math"/>
              </a:rPr>
              <a:t>(x) </a:t>
            </a:r>
            <a:r>
              <a:rPr lang="tr-TR"/>
              <a:t>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x=(0/N)​,  (1/N)​,…,  (N−1/N)​.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>
                <a:latin typeface="Cambria Math"/>
                <a:ea typeface="Cambria Math"/>
                <a:cs typeface="Cambria Math"/>
                <a:sym typeface="Cambria Math"/>
              </a:rPr>
              <a:t>For each scale index n, we obtain a vector of N dimension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endParaRPr sz="4000" b="1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tr-TR" sz="4000" b="1">
                <a:latin typeface="Cambria Math"/>
                <a:ea typeface="Cambria Math"/>
                <a:cs typeface="Cambria Math"/>
                <a:sym typeface="Cambria Math"/>
              </a:rPr>
              <a:t>h</a:t>
            </a:r>
            <a:r>
              <a:rPr lang="tr-TR" sz="4000" b="1" baseline="-25000"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= [h</a:t>
            </a:r>
            <a:r>
              <a:rPr lang="tr-TR" sz="4000" baseline="-25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tr-TR" sz="4000" b="1" baseline="-25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(0), h</a:t>
            </a:r>
            <a:r>
              <a:rPr lang="tr-TR" sz="4000" baseline="-25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(1/N), ……., h</a:t>
            </a:r>
            <a:r>
              <a:rPr lang="tr-TR" sz="4000" baseline="-25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tr-TR" sz="4000">
                <a:latin typeface="Cambria Math"/>
                <a:ea typeface="Cambria Math"/>
                <a:cs typeface="Cambria Math"/>
                <a:sym typeface="Cambria Math"/>
              </a:rPr>
              <a:t>(N-1/N)]</a:t>
            </a:r>
            <a:endParaRPr sz="4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Haar matrix of NxN dimension</a:t>
            </a:r>
            <a:endParaRPr/>
          </a:p>
        </p:txBody>
      </p:sp>
      <p:sp>
        <p:nvSpPr>
          <p:cNvPr id="389" name="Google Shape;389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/>
              <a:t> 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Ex: Find 2x2 Haar Matrix</a:t>
            </a:r>
            <a:endParaRPr/>
          </a:p>
        </p:txBody>
      </p:sp>
      <p:sp>
        <p:nvSpPr>
          <p:cNvPr id="395" name="Google Shape;395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96" name="Google Shape;396;p39"/>
          <p:cNvSpPr/>
          <p:nvPr/>
        </p:nvSpPr>
        <p:spPr>
          <a:xfrm>
            <a:off x="5026091" y="3244334"/>
            <a:ext cx="21398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2x2 Haar Matrix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2x2 Haar Matrix</a:t>
            </a:r>
            <a:endParaRPr/>
          </a:p>
        </p:txBody>
      </p:sp>
      <p:sp>
        <p:nvSpPr>
          <p:cNvPr id="402" name="Google Shape;402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238067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614" t="-23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/>
              <a:t> 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tr-TR" sz="4000" b="1"/>
              <a:t>Recall that</a:t>
            </a:r>
            <a:endParaRPr sz="4000" b="1"/>
          </a:p>
        </p:txBody>
      </p:sp>
      <p:sp>
        <p:nvSpPr>
          <p:cNvPr id="408" name="Google Shape;408;p41"/>
          <p:cNvSpPr txBox="1">
            <a:spLocks noGrp="1"/>
          </p:cNvSpPr>
          <p:nvPr>
            <p:ph type="body" idx="1"/>
          </p:nvPr>
        </p:nvSpPr>
        <p:spPr>
          <a:xfrm>
            <a:off x="838199" y="1825624"/>
            <a:ext cx="7967133" cy="477634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86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/>
              <a:t> </a:t>
            </a:r>
            <a:endParaRPr/>
          </a:p>
        </p:txBody>
      </p:sp>
      <p:graphicFrame>
        <p:nvGraphicFramePr>
          <p:cNvPr id="409" name="Google Shape;409;p41"/>
          <p:cNvGraphicFramePr/>
          <p:nvPr/>
        </p:nvGraphicFramePr>
        <p:xfrm>
          <a:off x="6911508" y="-16192"/>
          <a:ext cx="5280450" cy="1706880"/>
        </p:xfrm>
        <a:graphic>
          <a:graphicData uri="http://schemas.openxmlformats.org/drawingml/2006/table">
            <a:tbl>
              <a:tblPr>
                <a:noFill/>
                <a:tableStyleId>{99CF66B8-7CB3-4167-A3A2-2995271110A2}</a:tableStyleId>
              </a:tblPr>
              <a:tblGrid>
                <a:gridCol w="88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n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0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1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2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3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…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j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0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0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1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1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…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k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0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1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1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2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800"/>
                        <a:t>…</a:t>
                      </a:r>
                      <a:endParaRPr/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DC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415" name="Google Shape;41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599897"/>
            <a:ext cx="8909258" cy="313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Haar Transform of Lena Image</a:t>
            </a:r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422" name="Google Shape;42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4592" y="2466731"/>
            <a:ext cx="12192000" cy="3845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Wavelet Decomposition:</a:t>
            </a:r>
            <a:r>
              <a:rPr lang="tr-TR" sz="2800"/>
              <a:t>Example</a:t>
            </a:r>
            <a:endParaRPr/>
          </a:p>
        </p:txBody>
      </p:sp>
      <p:grpSp>
        <p:nvGrpSpPr>
          <p:cNvPr id="429" name="Google Shape;429;p44"/>
          <p:cNvGrpSpPr/>
          <p:nvPr/>
        </p:nvGrpSpPr>
        <p:grpSpPr>
          <a:xfrm>
            <a:off x="1919289" y="1916114"/>
            <a:ext cx="3889375" cy="4321175"/>
            <a:chOff x="564" y="1974"/>
            <a:chExt cx="2202" cy="2202"/>
          </a:xfrm>
        </p:grpSpPr>
        <p:sp>
          <p:nvSpPr>
            <p:cNvPr id="430" name="Google Shape;430;p44"/>
            <p:cNvSpPr/>
            <p:nvPr/>
          </p:nvSpPr>
          <p:spPr>
            <a:xfrm>
              <a:off x="564" y="1974"/>
              <a:ext cx="2202" cy="2202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431" name="Google Shape;431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0" y="2049"/>
              <a:ext cx="2042" cy="20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2" name="Google Shape;432;p44"/>
            <p:cNvCxnSpPr/>
            <p:nvPr/>
          </p:nvCxnSpPr>
          <p:spPr>
            <a:xfrm>
              <a:off x="1662" y="1998"/>
              <a:ext cx="0" cy="2141"/>
            </a:xfrm>
            <a:prstGeom prst="straightConnector1">
              <a:avLst/>
            </a:prstGeom>
            <a:noFill/>
            <a:ln w="508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3" name="Google Shape;433;p44"/>
            <p:cNvCxnSpPr/>
            <p:nvPr/>
          </p:nvCxnSpPr>
          <p:spPr>
            <a:xfrm>
              <a:off x="606" y="3072"/>
              <a:ext cx="2118" cy="0"/>
            </a:xfrm>
            <a:prstGeom prst="straightConnector1">
              <a:avLst/>
            </a:prstGeom>
            <a:noFill/>
            <a:ln w="508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4" name="Google Shape;434;p44"/>
            <p:cNvCxnSpPr/>
            <p:nvPr/>
          </p:nvCxnSpPr>
          <p:spPr>
            <a:xfrm>
              <a:off x="1152" y="2004"/>
              <a:ext cx="0" cy="1068"/>
            </a:xfrm>
            <a:prstGeom prst="straightConnector1">
              <a:avLst/>
            </a:prstGeom>
            <a:noFill/>
            <a:ln w="508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5" name="Google Shape;435;p44"/>
            <p:cNvCxnSpPr/>
            <p:nvPr/>
          </p:nvCxnSpPr>
          <p:spPr>
            <a:xfrm>
              <a:off x="600" y="2562"/>
              <a:ext cx="1062" cy="0"/>
            </a:xfrm>
            <a:prstGeom prst="straightConnector1">
              <a:avLst/>
            </a:prstGeom>
            <a:noFill/>
            <a:ln w="508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6" name="Google Shape;436;p44"/>
            <p:cNvCxnSpPr/>
            <p:nvPr/>
          </p:nvCxnSpPr>
          <p:spPr>
            <a:xfrm>
              <a:off x="612" y="2304"/>
              <a:ext cx="546" cy="0"/>
            </a:xfrm>
            <a:prstGeom prst="straightConnector1">
              <a:avLst/>
            </a:prstGeom>
            <a:noFill/>
            <a:ln w="508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7" name="Google Shape;437;p44"/>
            <p:cNvCxnSpPr/>
            <p:nvPr/>
          </p:nvCxnSpPr>
          <p:spPr>
            <a:xfrm>
              <a:off x="900" y="2010"/>
              <a:ext cx="0" cy="552"/>
            </a:xfrm>
            <a:prstGeom prst="straightConnector1">
              <a:avLst/>
            </a:prstGeom>
            <a:noFill/>
            <a:ln w="508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aphicFrame>
        <p:nvGraphicFramePr>
          <p:cNvPr id="438" name="Google Shape;438;p44"/>
          <p:cNvGraphicFramePr/>
          <p:nvPr/>
        </p:nvGraphicFramePr>
        <p:xfrm>
          <a:off x="6383339" y="1916113"/>
          <a:ext cx="3716337" cy="442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r:id="rId5" imgW="3716337" imgH="4425950" progId="MgxDesigner">
                  <p:embed/>
                </p:oleObj>
              </mc:Choice>
              <mc:Fallback>
                <p:oleObj r:id="rId5" imgW="3716337" imgH="4425950" progId="MgxDesigner">
                  <p:embed/>
                  <p:pic>
                    <p:nvPicPr>
                      <p:cNvPr id="438" name="Google Shape;438;p4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6383339" y="1916113"/>
                        <a:ext cx="3716337" cy="442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" name="Google Shape;439;p44"/>
          <p:cNvSpPr/>
          <p:nvPr/>
        </p:nvSpPr>
        <p:spPr>
          <a:xfrm>
            <a:off x="2154238" y="1484313"/>
            <a:ext cx="989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rgbClr val="2B6532"/>
                </a:solidFill>
                <a:latin typeface="Tahoma"/>
                <a:ea typeface="Tahoma"/>
                <a:cs typeface="Tahoma"/>
                <a:sym typeface="Tahoma"/>
              </a:rPr>
              <a:t>LENA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Two Dimensional Extension of Wavelet Transform for Discrete Functions</a:t>
            </a:r>
            <a:endParaRPr/>
          </a:p>
        </p:txBody>
      </p:sp>
      <p:sp>
        <p:nvSpPr>
          <p:cNvPr id="445" name="Google Shape;44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4" t="-263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/>
              <a:t> 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959"/>
            </a:pPr>
            <a:r>
              <a:rPr lang="tr-TR" sz="4000" dirty="0" err="1"/>
              <a:t>Multiresolution</a:t>
            </a:r>
            <a:r>
              <a:rPr lang="tr-TR" sz="4000" dirty="0"/>
              <a:t> Analysis</a:t>
            </a:r>
            <a:endParaRPr sz="3959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67196-EFE2-476B-AA06-A57543C27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457200">
              <a:spcBef>
                <a:spcPts val="0"/>
              </a:spcBef>
              <a:buSzPts val="2800"/>
              <a:buFont typeface="Calibri"/>
              <a:buAutoNum type="arabicPeriod"/>
            </a:pPr>
            <a:r>
              <a:rPr lang="en-US" dirty="0"/>
              <a:t>Wavelets transforms</a:t>
            </a:r>
          </a:p>
          <a:p>
            <a:pPr lvl="0" indent="-457200">
              <a:buSzPts val="2800"/>
              <a:buFont typeface="Calibri"/>
              <a:buAutoNum type="arabicPeriod"/>
            </a:pPr>
            <a:r>
              <a:rPr lang="en-US" dirty="0"/>
              <a:t>Image pyramids and trees</a:t>
            </a:r>
          </a:p>
          <a:p>
            <a:pPr lvl="0" indent="-457200">
              <a:buSzPts val="2800"/>
              <a:buFont typeface="Calibri"/>
              <a:buAutoNum type="arabicPeriod"/>
            </a:pPr>
            <a:r>
              <a:rPr lang="en-US" dirty="0"/>
              <a:t>Sub-band coding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l="8906" r="67070"/>
          <a:stretch/>
        </p:blipFill>
        <p:spPr>
          <a:xfrm>
            <a:off x="2892669" y="3534508"/>
            <a:ext cx="3069982" cy="3516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l="71749"/>
          <a:stretch/>
        </p:blipFill>
        <p:spPr>
          <a:xfrm>
            <a:off x="6229350" y="3534508"/>
            <a:ext cx="3002573" cy="3397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4768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2. Image Pyramids</a:t>
            </a:r>
            <a:endParaRPr/>
          </a:p>
        </p:txBody>
      </p:sp>
      <p:pic>
        <p:nvPicPr>
          <p:cNvPr id="452" name="Google Shape;45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0013" y="3274552"/>
            <a:ext cx="5111125" cy="37043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1" name="Google Shape;451;p4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199" y="1825625"/>
                <a:ext cx="10659533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Given </a:t>
                </a:r>
                <a:r>
                  <a:rPr lang="tr-TR" sz="24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N×N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image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matrix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 </a:t>
                </a:r>
                <a:r>
                  <a:rPr lang="tr-TR" sz="2400" b="1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f,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where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tr-TR" sz="2400" b="1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N=2</a:t>
                </a:r>
                <a:r>
                  <a:rPr lang="tr-TR" sz="2400" b="1" baseline="300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J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generate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stack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images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tr-TR" sz="24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At level </a:t>
                </a:r>
                <a:r>
                  <a:rPr lang="tr-TR" sz="2400" b="1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j:</a:t>
                </a:r>
                <a:r>
                  <a:rPr lang="tr-TR" sz="24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 </a:t>
                </a:r>
                <a:r>
                  <a:rPr lang="tr-TR" sz="2400" dirty="0" err="1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Resolution</a:t>
                </a:r>
                <a:r>
                  <a:rPr lang="tr-TR" sz="24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 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tr-TR" sz="24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( </m:t>
                    </m:r>
                    <m:r>
                      <a:rPr lang="tr-TR" sz="2400" i="1" dirty="0" err="1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𝑓</m:t>
                    </m:r>
                    <m:r>
                      <a:rPr lang="tr-TR" sz="2400" i="1" baseline="-25000" dirty="0" err="1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𝑗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​ )= ½ ​</m:t>
                    </m:r>
                    <m:r>
                      <a:rPr lang="tr-TR" sz="2400" i="1" dirty="0" err="1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𝑅𝑒𝑠𝑜𝑙𝑢𝑡𝑖𝑜𝑛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 (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𝑓𝑗</m:t>
                    </m:r>
                    <m:r>
                      <a:rPr lang="en-US" sz="2400" b="0" i="1" baseline="-25000" dirty="0" smtClean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+</m:t>
                    </m:r>
                    <m:r>
                      <a:rPr lang="tr-TR" sz="2400" i="1" baseline="-25000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1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​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 ) ,   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𝑗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=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0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,…,(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𝐽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−</m:t>
                    </m:r>
                    <m:r>
                      <a:rPr lang="tr-TR" sz="2400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1</m:t>
                    </m:r>
                    <m:r>
                      <a:rPr lang="tr-TR" sz="2400" i="1" dirty="0" smtClean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)</m:t>
                    </m:r>
                  </m:oMath>
                </a14:m>
                <a:endParaRPr lang="tr-TR" sz="240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  <a:sym typeface="Cambria Math"/>
                </a:endParaRP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lang="tr-TR" sz="240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  <a:sym typeface="Cambria Math"/>
                </a:endParaRP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Q: How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replace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tr-TR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color</a:t>
                </a:r>
                <a:r>
                  <a:rPr lang="tr-TR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4 pixels by a single color?</a:t>
                </a:r>
                <a:endParaRPr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51" name="Google Shape;451;p4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825625"/>
                <a:ext cx="10659533" cy="4351338"/>
              </a:xfrm>
              <a:prstGeom prst="rect">
                <a:avLst/>
              </a:prstGeom>
              <a:blipFill>
                <a:blip r:embed="rId4"/>
                <a:stretch>
                  <a:fillRect l="-858" t="-22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Use some approximation filter</a:t>
            </a:r>
            <a:endParaRPr/>
          </a:p>
        </p:txBody>
      </p:sp>
      <p:sp>
        <p:nvSpPr>
          <p:cNvPr id="458" name="Google Shape;458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459" name="Google Shape;45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133" y="1660043"/>
            <a:ext cx="9567332" cy="468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EFD-E020-40A8-80B4-DA3EBD9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Space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660DC2-A5B9-4CE4-819F-A67E377F7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5200" y="1611821"/>
            <a:ext cx="924052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Roboto"/>
              </a:rPr>
              <a:t>Storing a pyramid, consisting of images of multiple resolutions is expensive compared to that of Wavelet transform.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Robo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Roboto"/>
            </a:endParaRPr>
          </a:p>
          <a:p>
            <a:pPr marL="0" lvl="0" indent="0" algn="ctr">
              <a:lnSpc>
                <a:spcPct val="100000"/>
              </a:lnSpc>
              <a:buClrTx/>
              <a:buSz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th-italic"/>
              </a:rPr>
              <a:t>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th-italic"/>
              </a:rPr>
              <a:t>N</a:t>
            </a:r>
            <a:r>
              <a:rPr kumimoji="0" lang="en-US" altLang="en-US" b="1" i="0" u="none" strike="noStrike" cap="none" normalizeH="0" baseline="3000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2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(1+1/4+1/16+…)) =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th-italic"/>
              </a:rPr>
              <a:t>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(1.33</a:t>
            </a:r>
            <a:r>
              <a:rPr lang="en-US" altLang="en-US" b="1" dirty="0">
                <a:solidFill>
                  <a:srgbClr val="212121"/>
                </a:solidFill>
                <a:latin typeface="MathJax_Math-italic"/>
              </a:rPr>
              <a:t>N</a:t>
            </a:r>
            <a:r>
              <a:rPr lang="en-US" altLang="en-US" b="1" baseline="30000" dirty="0">
                <a:solidFill>
                  <a:srgbClr val="212121"/>
                </a:solidFill>
                <a:latin typeface="MathJax_Main"/>
              </a:rPr>
              <a:t>2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MathJax_Main"/>
              </a:rPr>
              <a:t>).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928685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/>
              <a:t>Image </a:t>
            </a:r>
            <a:r>
              <a:rPr lang="en-US" dirty="0"/>
              <a:t>T</a:t>
            </a:r>
            <a:r>
              <a:rPr lang="tr-TR" dirty="0" err="1"/>
              <a:t>rees</a:t>
            </a:r>
            <a:r>
              <a:rPr lang="tr-TR" dirty="0"/>
              <a:t>: </a:t>
            </a:r>
            <a:r>
              <a:rPr lang="tr-TR" dirty="0">
                <a:latin typeface="Cambria Math"/>
                <a:ea typeface="Cambria Math"/>
                <a:cs typeface="Cambria Math"/>
                <a:sym typeface="Cambria Math"/>
              </a:rPr>
              <a:t>T={</a:t>
            </a:r>
            <a:r>
              <a:rPr lang="tr-TR" dirty="0" err="1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tr-TR" baseline="-25000" dirty="0" err="1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tr-TR" dirty="0">
                <a:latin typeface="Cambria Math"/>
                <a:ea typeface="Cambria Math"/>
                <a:cs typeface="Cambria Math"/>
                <a:sym typeface="Cambria Math"/>
              </a:rPr>
              <a:t>​ , R(</a:t>
            </a:r>
            <a:r>
              <a:rPr lang="tr-TR" dirty="0" err="1">
                <a:latin typeface="Cambria Math"/>
                <a:ea typeface="Cambria Math"/>
                <a:cs typeface="Cambria Math"/>
                <a:sym typeface="Cambria Math"/>
              </a:rPr>
              <a:t>k,i,j</a:t>
            </a:r>
            <a:r>
              <a:rPr lang="tr-TR" dirty="0">
                <a:latin typeface="Cambria Math"/>
                <a:ea typeface="Cambria Math"/>
                <a:cs typeface="Cambria Math"/>
                <a:sym typeface="Cambria Math"/>
              </a:rPr>
              <a:t>)}</a:t>
            </a:r>
            <a:endParaRPr dirty="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466" name="Google Shape;46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5399" y="2757976"/>
            <a:ext cx="4899300" cy="396455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57232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3000" dirty="0">
                <a:latin typeface="Cambria Math"/>
                <a:ea typeface="Cambria Math"/>
                <a:cs typeface="Cambria Math"/>
                <a:sym typeface="Cambria Math"/>
              </a:rPr>
              <a:t>The set of n</a:t>
            </a:r>
            <a:r>
              <a:rPr lang="tr-TR" sz="3000" dirty="0" err="1">
                <a:latin typeface="Cambria Math"/>
                <a:ea typeface="Cambria Math"/>
                <a:cs typeface="Cambria Math"/>
                <a:sym typeface="Cambria Math"/>
              </a:rPr>
              <a:t>odes</a:t>
            </a:r>
            <a:r>
              <a:rPr lang="en-US" sz="3000" dirty="0">
                <a:latin typeface="Cambria Math"/>
                <a:ea typeface="Cambria Math"/>
                <a:cs typeface="Cambria Math"/>
                <a:sym typeface="Cambria Math"/>
              </a:rPr>
              <a:t> at level k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: 	</a:t>
            </a:r>
            <a:endParaRPr lang="en-US" sz="3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	</a:t>
            </a:r>
            <a:endParaRPr lang="en-US" sz="3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3000" dirty="0" err="1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tr-TR" sz="3000" baseline="-25000" dirty="0" err="1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​={p=(</a:t>
            </a:r>
            <a:r>
              <a:rPr lang="tr-TR" sz="3000" dirty="0" err="1">
                <a:latin typeface="Cambria Math"/>
                <a:ea typeface="Cambria Math"/>
                <a:cs typeface="Cambria Math"/>
                <a:sym typeface="Cambria Math"/>
              </a:rPr>
              <a:t>k,i,j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),</a:t>
            </a:r>
            <a:r>
              <a:rPr lang="en-US" sz="3000" dirty="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k=(0, (J−1)) , (</a:t>
            </a:r>
            <a:r>
              <a:rPr lang="tr-TR" sz="3000" dirty="0" err="1">
                <a:latin typeface="Cambria Math"/>
                <a:ea typeface="Cambria Math"/>
                <a:cs typeface="Cambria Math"/>
                <a:sym typeface="Cambria Math"/>
              </a:rPr>
              <a:t>i,j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)∈[0,2</a:t>
            </a:r>
            <a:r>
              <a:rPr lang="tr-TR" sz="3000" baseline="30000" dirty="0">
                <a:latin typeface="Cambria Math"/>
                <a:ea typeface="Cambria Math"/>
                <a:cs typeface="Cambria Math"/>
                <a:sym typeface="Cambria Math"/>
              </a:rPr>
              <a:t>k−1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]}</a:t>
            </a:r>
            <a:endParaRPr lang="en-US" sz="3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3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3000" dirty="0"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3000" dirty="0" err="1">
                <a:latin typeface="Cambria Math"/>
                <a:ea typeface="Cambria Math"/>
                <a:cs typeface="Cambria Math"/>
                <a:sym typeface="Cambria Math"/>
              </a:rPr>
              <a:t>Relations</a:t>
            </a:r>
            <a:r>
              <a:rPr lang="en-US" sz="3000" dirty="0">
                <a:latin typeface="Cambria Math"/>
                <a:ea typeface="Cambria Math"/>
                <a:cs typeface="Cambria Math"/>
                <a:sym typeface="Cambria Math"/>
              </a:rPr>
              <a:t> between the parent and children: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3000" dirty="0">
                <a:latin typeface="Cambria Math"/>
                <a:ea typeface="Cambria Math"/>
                <a:cs typeface="Cambria Math"/>
                <a:sym typeface="Cambria Math"/>
              </a:rPr>
              <a:t>                  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R(</a:t>
            </a:r>
            <a:r>
              <a:rPr lang="tr-TR" sz="3000" dirty="0" err="1">
                <a:latin typeface="Cambria Math"/>
                <a:ea typeface="Cambria Math"/>
                <a:cs typeface="Cambria Math"/>
                <a:sym typeface="Cambria Math"/>
              </a:rPr>
              <a:t>k,i,j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):</a:t>
            </a:r>
            <a:r>
              <a:rPr lang="en-US" sz="3000" dirty="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tr-TR" sz="3000" baseline="-25000" dirty="0">
                <a:latin typeface="Cambria Math"/>
                <a:ea typeface="Cambria Math"/>
                <a:cs typeface="Cambria Math"/>
                <a:sym typeface="Cambria Math"/>
              </a:rPr>
              <a:t>k-1</a:t>
            </a:r>
            <a:r>
              <a:rPr lang="tr-TR" sz="3000" dirty="0">
                <a:latin typeface="Cambria Math"/>
                <a:ea typeface="Cambria Math"/>
                <a:cs typeface="Cambria Math"/>
                <a:sym typeface="Cambria Math"/>
              </a:rPr>
              <a:t>→P</a:t>
            </a:r>
            <a:r>
              <a:rPr lang="tr-TR" sz="3000" baseline="-25000" dirty="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endParaRPr sz="3000" dirty="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877B2-E6F9-4181-922B-78AE96AB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of Image Tree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CBAC8-7A05-4B8D-8394-33D210C76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indent="-514350">
              <a:buFont typeface="+mj-lt"/>
              <a:buAutoNum type="arabicPeriod"/>
            </a:pPr>
            <a:r>
              <a:rPr lang="en-US" dirty="0"/>
              <a:t>Down-sample by a predefined ratio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Quad trees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Uniformity trees</a:t>
            </a:r>
          </a:p>
        </p:txBody>
      </p:sp>
    </p:spTree>
    <p:extLst>
      <p:ext uri="{BB962C8B-B14F-4D97-AF65-F5344CB8AC3E}">
        <p14:creationId xmlns:p14="http://schemas.microsoft.com/office/powerpoint/2010/main" val="1881753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 err="1"/>
              <a:t>Quad</a:t>
            </a:r>
            <a:r>
              <a:rPr lang="tr-TR" dirty="0"/>
              <a:t> </a:t>
            </a:r>
            <a:r>
              <a:rPr lang="tr-TR" dirty="0" err="1"/>
              <a:t>Tree</a:t>
            </a:r>
            <a:r>
              <a:rPr lang="en-US" dirty="0"/>
              <a:t>: Split image into homogenous regions </a:t>
            </a:r>
            <a:r>
              <a:rPr lang="en-US" dirty="0" err="1"/>
              <a:t>hierarchicaly</a:t>
            </a:r>
            <a:endParaRPr dirty="0"/>
          </a:p>
        </p:txBody>
      </p:sp>
      <p:pic>
        <p:nvPicPr>
          <p:cNvPr id="472" name="Google Shape;47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203" y="1825625"/>
            <a:ext cx="9520063" cy="4457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Image compression </a:t>
            </a:r>
            <a:endParaRPr/>
          </a:p>
        </p:txBody>
      </p:sp>
      <p:sp>
        <p:nvSpPr>
          <p:cNvPr id="478" name="Google Shape;478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479" name="Google Shape;47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866" y="2457175"/>
            <a:ext cx="3648285" cy="39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475" y="2457176"/>
            <a:ext cx="6498324" cy="345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af764f1eb0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Content description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af764f1eb0_0_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8" name="Google Shape;488;gaf764f1eb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677" y="2226227"/>
            <a:ext cx="3789875" cy="37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af764f1eb0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98" y="2315987"/>
            <a:ext cx="6427575" cy="358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Uniformity Tree</a:t>
            </a:r>
            <a:endParaRPr/>
          </a:p>
        </p:txBody>
      </p:sp>
      <p:sp>
        <p:nvSpPr>
          <p:cNvPr id="495" name="Google Shape;495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496" name="Google Shape;49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800" y="1933010"/>
            <a:ext cx="10414000" cy="44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Uniformity Tree (Pınar’s Tree)</a:t>
            </a:r>
            <a:br>
              <a:rPr lang="tr-TR" b="1"/>
            </a:br>
            <a:endParaRPr/>
          </a:p>
        </p:txBody>
      </p:sp>
      <p:pic>
        <p:nvPicPr>
          <p:cNvPr id="502" name="Google Shape;502;p5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077186" y="2507049"/>
            <a:ext cx="5119704" cy="374426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2"/>
          <p:cNvSpPr/>
          <p:nvPr/>
        </p:nvSpPr>
        <p:spPr>
          <a:xfrm>
            <a:off x="414275" y="1388599"/>
            <a:ext cx="8876420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At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level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merge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all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neighboring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pixels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with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same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color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700" dirty="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At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level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j,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compute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most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similar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colors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by</a:t>
            </a:r>
            <a:endParaRPr sz="2700" dirty="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tr-TR" sz="2700" b="1" baseline="-250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min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​ [(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ri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​−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rj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​)</a:t>
            </a:r>
            <a:r>
              <a:rPr lang="tr-TR" sz="2700" b="1" baseline="300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+(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gi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​−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gj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​)</a:t>
            </a:r>
            <a:r>
              <a:rPr lang="tr-TR" sz="2700" b="1" baseline="300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+(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bi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​−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bj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​)</a:t>
            </a:r>
            <a:r>
              <a:rPr lang="tr-TR" sz="2700" b="1" baseline="300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2</a:t>
            </a: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]</a:t>
            </a:r>
            <a:endParaRPr sz="27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 b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   ∀</a:t>
            </a:r>
            <a:r>
              <a:rPr lang="tr-TR" sz="2700" b="1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ij</a:t>
            </a:r>
            <a:endParaRPr sz="2700" b="1" dirty="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Rule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endParaRPr sz="27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1.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Merge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neighboring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region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with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tr-TR" sz="2700" baseline="-250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7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2.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Assign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average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color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to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merged</a:t>
            </a:r>
            <a:r>
              <a:rPr lang="tr-TR" sz="27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tr-TR" sz="2700" dirty="0" err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regions</a:t>
            </a:r>
            <a:endParaRPr sz="2700" dirty="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384-B49F-4CF0-BDAE-A4C2FADC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212121"/>
                </a:solidFill>
                <a:latin typeface="Roboto"/>
              </a:rPr>
              <a:t>Algorithm: Uniformity Tree Generation</a:t>
            </a:r>
            <a:br>
              <a:rPr lang="en-US" altLang="en-US" sz="3600" dirty="0">
                <a:solidFill>
                  <a:schemeClr val="tx1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051527A-B132-48AB-8722-5F76DA70CAF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838201" y="1583658"/>
                <a:ext cx="10799618" cy="4835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7935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Input: Regions, 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{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Ri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}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 with the same color, a color similarity measure.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24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2400" dirty="0"/>
                  <a:t>At each level of the tree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indent="-457200">
                  <a:lnSpc>
                    <a:spcPct val="100000"/>
                  </a:lnSpc>
                  <a:buClrTx/>
                  <a:buSzTx/>
                  <a:buFont typeface="+mj-lt"/>
                  <a:buAutoNum type="arabicPeriod"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For each pair of neighboring regions {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Ri</a:t>
                </a:r>
                <a:r>
                  <a:rPr lang="en-US" altLang="en-US" sz="2400" dirty="0"/>
                  <a:t>,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 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Rj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}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compute  color distance 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d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(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Ri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,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Rj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)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 according to a similarity </a:t>
                </a:r>
                <a:r>
                  <a:rPr lang="en-US" altLang="en-US" sz="2400" dirty="0"/>
                  <a:t>measure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pPr indent="-457200">
                  <a:lnSpc>
                    <a:spcPct val="100000"/>
                  </a:lnSpc>
                  <a:buClrTx/>
                  <a:buSzTx/>
                  <a:buFont typeface="+mj-lt"/>
                  <a:buAutoNum type="arabicPeriod"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Insert 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d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(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Ri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,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Rj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)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 into the distance list.</a:t>
                </a:r>
              </a:p>
              <a:p>
                <a:pPr indent="-457200">
                  <a:lnSpc>
                    <a:spcPct val="100000"/>
                  </a:lnSpc>
                  <a:buClrTx/>
                  <a:buSzTx/>
                  <a:buFont typeface="+mj-lt"/>
                  <a:buAutoNum type="arabicPeriod"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At each level, identify the minimum of two colors between the adjacent regions by computing,</a:t>
                </a:r>
              </a:p>
              <a:p>
                <a:pPr marL="0" indent="0">
                  <a:lnSpc>
                    <a:spcPct val="100000"/>
                  </a:lnSpc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𝐷𝑗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en-US" sz="24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kumimoji="0" lang="en-US" altLang="en-US" sz="24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24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𝑅𝑖</m:t>
                          </m:r>
                          <m:r>
                            <a:rPr kumimoji="0" lang="en-US" altLang="en-US" sz="24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0" lang="en-US" altLang="en-US" sz="24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𝑅𝑗</m:t>
                          </m:r>
                        </m:e>
                      </m:d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>
                  <a:lnSpc>
                    <a:spcPct val="100000"/>
                  </a:lnSpc>
                  <a:buClrTx/>
                  <a:buSzTx/>
                  <a:buNone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4.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Merge </a:t>
                </a:r>
                <a:r>
                  <a:rPr lang="en-US" altLang="en-US" sz="2400" dirty="0"/>
                  <a:t>{</a:t>
                </a:r>
                <a:r>
                  <a:rPr lang="en-US" altLang="en-US" sz="2400" dirty="0">
                    <a:latin typeface="MathJax_Math-italic"/>
                  </a:rPr>
                  <a:t>Ri</a:t>
                </a:r>
                <a:r>
                  <a:rPr lang="en-US" altLang="en-US" sz="2400" dirty="0"/>
                  <a:t>, </a:t>
                </a:r>
                <a:r>
                  <a:rPr lang="en-US" altLang="en-US" sz="2400" dirty="0" err="1">
                    <a:latin typeface="MathJax_Math-italic"/>
                  </a:rPr>
                  <a:t>Rj</a:t>
                </a:r>
                <a:r>
                  <a:rPr lang="en-US" altLang="en-US" sz="2400" dirty="0">
                    <a:latin typeface="MathJax_Math-italic"/>
                  </a:rPr>
                  <a:t>}</a:t>
                </a:r>
                <a:r>
                  <a:rPr lang="en-US" altLang="en-US" sz="2400" dirty="0"/>
                  <a:t> 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if 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D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(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Ri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,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Rj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)=</a:t>
                </a:r>
                <a:r>
                  <a:rPr kumimoji="0" lang="en-US" altLang="en-US" sz="2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Dj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th-italic"/>
                  </a:rPr>
                  <a:t>, </a:t>
                </a:r>
                <a:r>
                  <a:rPr lang="en-US" altLang="en-US" sz="2400" dirty="0">
                    <a:latin typeface="MathJax_Main"/>
                  </a:rPr>
                  <a:t>k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MathJax_Main"/>
                  </a:rPr>
                  <a:t>eep otherwise.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>
                  <a:lnSpc>
                    <a:spcPct val="100000"/>
                  </a:lnSpc>
                  <a:buClrTx/>
                  <a:buSzTx/>
                  <a:buNone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5. Assign the color of the merged pixels as the average color.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051527A-B132-48AB-8722-5F76DA70C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838201" y="1583658"/>
                <a:ext cx="10799618" cy="4835273"/>
              </a:xfrm>
              <a:prstGeom prst="rect">
                <a:avLst/>
              </a:prstGeom>
              <a:blipFill>
                <a:blip r:embed="rId2"/>
                <a:stretch>
                  <a:fillRect l="-9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7871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Uniformity Tree Outputs</a:t>
            </a:r>
            <a:endParaRPr/>
          </a:p>
        </p:txBody>
      </p:sp>
      <p:sp>
        <p:nvSpPr>
          <p:cNvPr id="509" name="Google Shape;509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510" name="Google Shape;510;p53"/>
          <p:cNvPicPr preferRelativeResize="0"/>
          <p:nvPr/>
        </p:nvPicPr>
        <p:blipFill rotWithShape="1">
          <a:blip r:embed="rId3">
            <a:alphaModFix/>
          </a:blip>
          <a:srcRect l="5986" t="4511" r="10082"/>
          <a:stretch/>
        </p:blipFill>
        <p:spPr>
          <a:xfrm>
            <a:off x="107575" y="1378936"/>
            <a:ext cx="11691607" cy="527124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53"/>
          <p:cNvSpPr/>
          <p:nvPr/>
        </p:nvSpPr>
        <p:spPr>
          <a:xfrm>
            <a:off x="1868805" y="6258382"/>
            <a:ext cx="905631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a1) </a:t>
            </a:r>
            <a:r>
              <a:rPr lang="tr-TR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b1) </a:t>
            </a:r>
            <a:r>
              <a:rPr lang="tr-TR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=16; c1) </a:t>
            </a:r>
            <a:r>
              <a:rPr lang="tr-TR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=10; d1) </a:t>
            </a:r>
            <a:r>
              <a:rPr lang="tr-TR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=5; </a:t>
            </a:r>
            <a:r>
              <a:rPr lang="tr-TR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e1) </a:t>
            </a:r>
            <a:r>
              <a:rPr lang="tr-TR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=3;</a:t>
            </a:r>
            <a:br>
              <a:rPr lang="tr-T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4"/>
          <p:cNvSpPr txBox="1">
            <a:spLocks noGrp="1"/>
          </p:cNvSpPr>
          <p:nvPr>
            <p:ph type="title"/>
          </p:nvPr>
        </p:nvSpPr>
        <p:spPr>
          <a:xfrm>
            <a:off x="505690" y="3122994"/>
            <a:ext cx="394895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Levels of uniformity tree</a:t>
            </a:r>
            <a:endParaRPr dirty="0"/>
          </a:p>
        </p:txBody>
      </p:sp>
      <p:pic>
        <p:nvPicPr>
          <p:cNvPr id="518" name="Google Shape;51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679" y="606341"/>
            <a:ext cx="6562164" cy="619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af764f1eb0_0_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3. Subband Coding</a:t>
            </a:r>
            <a:endParaRPr/>
          </a:p>
        </p:txBody>
      </p:sp>
      <p:sp>
        <p:nvSpPr>
          <p:cNvPr id="525" name="Google Shape;525;gaf764f1eb0_0_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tr-TR"/>
              <a:t>Use the power of Fourier transform to decompose image into frequency bands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5525" y="6332539"/>
            <a:ext cx="5346700" cy="5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6"/>
          <p:cNvPicPr preferRelativeResize="0"/>
          <p:nvPr/>
        </p:nvPicPr>
        <p:blipFill rotWithShape="1">
          <a:blip r:embed="rId4">
            <a:alphaModFix/>
          </a:blip>
          <a:srcRect b="34528"/>
          <a:stretch/>
        </p:blipFill>
        <p:spPr>
          <a:xfrm>
            <a:off x="835585" y="1262420"/>
            <a:ext cx="4561167" cy="3399227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6"/>
          <p:cNvSpPr/>
          <p:nvPr/>
        </p:nvSpPr>
        <p:spPr>
          <a:xfrm>
            <a:off x="5965195" y="3198169"/>
            <a:ext cx="2616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56"/>
          <p:cNvSpPr/>
          <p:nvPr/>
        </p:nvSpPr>
        <p:spPr>
          <a:xfrm>
            <a:off x="1759528" y="402490"/>
            <a:ext cx="804949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Recall Fourier Transform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6"/>
          <p:cNvPicPr preferRelativeResize="0"/>
          <p:nvPr/>
        </p:nvPicPr>
        <p:blipFill rotWithShape="1">
          <a:blip r:embed="rId5">
            <a:alphaModFix/>
          </a:blip>
          <a:srcRect l="50624" b="18311"/>
          <a:stretch/>
        </p:blipFill>
        <p:spPr>
          <a:xfrm>
            <a:off x="7476564" y="1883102"/>
            <a:ext cx="3341975" cy="3613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6"/>
          <p:cNvPicPr preferRelativeResize="0"/>
          <p:nvPr/>
        </p:nvPicPr>
        <p:blipFill rotWithShape="1">
          <a:blip r:embed="rId6">
            <a:alphaModFix/>
          </a:blip>
          <a:srcRect l="4008" t="-22578" r="33628" b="50000"/>
          <a:stretch/>
        </p:blipFill>
        <p:spPr>
          <a:xfrm>
            <a:off x="835575" y="3908501"/>
            <a:ext cx="4561175" cy="24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3. Subband Coding</a:t>
            </a:r>
            <a:endParaRPr/>
          </a:p>
        </p:txBody>
      </p:sp>
      <p:sp>
        <p:nvSpPr>
          <p:cNvPr id="541" name="Google Shape;54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b="1"/>
              <a:t>Goal :</a:t>
            </a:r>
            <a:r>
              <a:rPr lang="tr-TR"/>
              <a:t> Design a set of </a:t>
            </a:r>
            <a:r>
              <a:rPr lang="tr-TR" b="1"/>
              <a:t>collectively exhaustive</a:t>
            </a:r>
            <a:r>
              <a:rPr lang="tr-TR"/>
              <a:t> filters, called </a:t>
            </a:r>
            <a:r>
              <a:rPr lang="tr-TR" b="1"/>
              <a:t>filter bank, </a:t>
            </a:r>
            <a:r>
              <a:rPr lang="tr-TR"/>
              <a:t>such that each filter passes a certain frequency bandwidth and the collection of the filter bandwidths cover the entire spectral band.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212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tr-TR"/>
            </a:br>
            <a:r>
              <a:rPr lang="tr-TR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tr-TR" baseline="-25000">
                <a:latin typeface="Cambria Math"/>
                <a:ea typeface="Cambria Math"/>
                <a:cs typeface="Cambria Math"/>
                <a:sym typeface="Cambria Math"/>
              </a:rPr>
              <a:t>i​</a:t>
            </a:r>
            <a:r>
              <a:rPr lang="tr-TR">
                <a:latin typeface="Cambria Math"/>
                <a:ea typeface="Cambria Math"/>
                <a:cs typeface="Cambria Math"/>
                <a:sym typeface="Cambria Math"/>
              </a:rPr>
              <a:t>(u,v)=F(u,v)⋅H</a:t>
            </a:r>
            <a:r>
              <a:rPr lang="tr-TR" baseline="-25000">
                <a:latin typeface="Cambria Math"/>
                <a:ea typeface="Cambria Math"/>
                <a:cs typeface="Cambria Math"/>
                <a:sym typeface="Cambria Math"/>
              </a:rPr>
              <a:t>i​</a:t>
            </a:r>
            <a:r>
              <a:rPr lang="tr-TR">
                <a:latin typeface="Cambria Math"/>
                <a:ea typeface="Cambria Math"/>
                <a:cs typeface="Cambria Math"/>
                <a:sym typeface="Cambria Math"/>
              </a:rPr>
              <a:t>(u,v),   for    i=0,...,n−1</a:t>
            </a:r>
            <a:br>
              <a:rPr lang="tr-TR"/>
            </a:br>
            <a:endParaRPr/>
          </a:p>
        </p:txBody>
      </p:sp>
      <p:pic>
        <p:nvPicPr>
          <p:cNvPr id="547" name="Google Shape;547;p5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489200"/>
            <a:ext cx="10515600" cy="277368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7"/>
          <p:cNvSpPr/>
          <p:nvPr/>
        </p:nvSpPr>
        <p:spPr>
          <a:xfrm>
            <a:off x="5144850" y="5699675"/>
            <a:ext cx="33084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tr-TR" sz="3000" baseline="-25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i​</a:t>
            </a:r>
            <a:r>
              <a:rPr lang="tr-TR" sz="3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(x,y) → F</a:t>
            </a:r>
            <a:r>
              <a:rPr lang="tr-TR" sz="3000" baseline="-25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i​</a:t>
            </a:r>
            <a:r>
              <a:rPr lang="tr-TR" sz="3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(u,v)</a:t>
            </a:r>
            <a:endParaRPr sz="3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1-D Case: Ideal Band-pass Filter</a:t>
            </a:r>
            <a:endParaRPr dirty="0"/>
          </a:p>
        </p:txBody>
      </p:sp>
      <p:pic>
        <p:nvPicPr>
          <p:cNvPr id="554" name="Google Shape;554;p5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95366" y="1825625"/>
            <a:ext cx="4601267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1D Case: In practice: </a:t>
            </a:r>
            <a:r>
              <a:rPr lang="tr-TR" sz="4000" dirty="0" err="1"/>
              <a:t>Two-Band</a:t>
            </a:r>
            <a:r>
              <a:rPr lang="tr-TR" sz="4000" dirty="0"/>
              <a:t> </a:t>
            </a:r>
            <a:r>
              <a:rPr lang="tr-TR" sz="4000" dirty="0" err="1"/>
              <a:t>Coding</a:t>
            </a:r>
            <a:r>
              <a:rPr lang="tr-TR" sz="4000" dirty="0"/>
              <a:t> of </a:t>
            </a:r>
            <a:r>
              <a:rPr lang="tr-TR" sz="4000" dirty="0" err="1"/>
              <a:t>One-Dimensional</a:t>
            </a:r>
            <a:r>
              <a:rPr lang="tr-TR" sz="4000" dirty="0"/>
              <a:t> </a:t>
            </a:r>
            <a:r>
              <a:rPr lang="tr-TR" sz="4000" dirty="0" err="1"/>
              <a:t>Images</a:t>
            </a:r>
            <a:endParaRPr sz="4000" dirty="0"/>
          </a:p>
        </p:txBody>
      </p:sp>
      <p:pic>
        <p:nvPicPr>
          <p:cNvPr id="560" name="Google Shape;560;p5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465899" y="1825625"/>
            <a:ext cx="526020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BADF76B-36CE-4BEF-8067-E8867F4960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Subband filters: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….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BADF76B-36CE-4BEF-8067-E8867F496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53B737-C1FD-4E4C-A05E-AAFF44B7AEA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Decompose image into </a:t>
                </a:r>
                <a:r>
                  <a:rPr lang="en-US" dirty="0" err="1"/>
                  <a:t>subbands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………………..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53B737-C1FD-4E4C-A05E-AAFF44B7A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1010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Analysis Filter Bank: Two-band Coding of One dimensional Images</a:t>
            </a:r>
            <a:endParaRPr/>
          </a:p>
        </p:txBody>
      </p:sp>
      <p:pic>
        <p:nvPicPr>
          <p:cNvPr id="566" name="Google Shape;566;p6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41500" y="2001044"/>
            <a:ext cx="85090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sz="4000" dirty="0" err="1"/>
              <a:t>Synthesis</a:t>
            </a:r>
            <a:r>
              <a:rPr lang="tr-TR" sz="4000" dirty="0"/>
              <a:t> </a:t>
            </a:r>
            <a:r>
              <a:rPr lang="tr-TR" sz="4000" dirty="0" err="1"/>
              <a:t>Filter</a:t>
            </a:r>
            <a:r>
              <a:rPr lang="tr-TR" sz="4000" dirty="0"/>
              <a:t> Bank: </a:t>
            </a:r>
            <a:r>
              <a:rPr lang="tr-TR" sz="4000" dirty="0" err="1"/>
              <a:t>Two-Band</a:t>
            </a:r>
            <a:r>
              <a:rPr lang="tr-TR" sz="4000" dirty="0"/>
              <a:t> </a:t>
            </a:r>
            <a:r>
              <a:rPr lang="tr-TR" sz="4000" dirty="0" err="1"/>
              <a:t>Decoding</a:t>
            </a:r>
            <a:r>
              <a:rPr lang="tr-TR" sz="4000" dirty="0"/>
              <a:t> </a:t>
            </a:r>
            <a:r>
              <a:rPr lang="tr-TR" sz="4000" dirty="0" err="1"/>
              <a:t>One</a:t>
            </a:r>
            <a:r>
              <a:rPr lang="tr-TR" sz="4000" dirty="0"/>
              <a:t> </a:t>
            </a:r>
            <a:r>
              <a:rPr lang="tr-TR" sz="4000" dirty="0" err="1"/>
              <a:t>Dimensional</a:t>
            </a:r>
            <a:r>
              <a:rPr lang="tr-TR" sz="4000" dirty="0"/>
              <a:t> </a:t>
            </a:r>
            <a:r>
              <a:rPr lang="tr-TR" sz="4000" dirty="0" err="1"/>
              <a:t>İmages</a:t>
            </a:r>
            <a:endParaRPr sz="4000" dirty="0"/>
          </a:p>
        </p:txBody>
      </p:sp>
      <p:sp>
        <p:nvSpPr>
          <p:cNvPr id="572" name="Google Shape;572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573" name="Google Shape;573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6700" y="1830290"/>
            <a:ext cx="9118600" cy="4038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8B8CB42-4462-4ED0-89A3-2A5B0390DEF6}"/>
                  </a:ext>
                </a:extLst>
              </p:cNvPr>
              <p:cNvSpPr/>
              <p:nvPr/>
            </p:nvSpPr>
            <p:spPr>
              <a:xfrm>
                <a:off x="3048000" y="3167390"/>
                <a:ext cx="6096000" cy="729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i="1" baseline="30000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baseline="3000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i="1" baseline="30000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baseline="3000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8B8CB42-4462-4ED0-89A3-2A5B0390DE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167390"/>
                <a:ext cx="6096000" cy="72936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af764f1eb0_0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2-Band Coding for 2-D Functions</a:t>
            </a:r>
            <a:endParaRPr/>
          </a:p>
        </p:txBody>
      </p:sp>
      <p:sp>
        <p:nvSpPr>
          <p:cNvPr id="580" name="Google Shape;580;gaf764f1eb0_0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1" name="Google Shape;581;gaf764f1eb0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750" y="2112594"/>
            <a:ext cx="9941050" cy="3403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af764f1eb0_0_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Output of two band coding in 2-D Images</a:t>
            </a:r>
            <a:endParaRPr/>
          </a:p>
        </p:txBody>
      </p:sp>
      <p:sp>
        <p:nvSpPr>
          <p:cNvPr id="588" name="Google Shape;588;gaf764f1eb0_0_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89" name="Google Shape;589;gaf764f1eb0_0_15"/>
          <p:cNvPicPr preferRelativeResize="0"/>
          <p:nvPr/>
        </p:nvPicPr>
        <p:blipFill rotWithShape="1">
          <a:blip r:embed="rId3">
            <a:alphaModFix/>
          </a:blip>
          <a:srcRect l="32148" t="33105" r="34362" b="22864"/>
          <a:stretch/>
        </p:blipFill>
        <p:spPr>
          <a:xfrm>
            <a:off x="6603574" y="2114275"/>
            <a:ext cx="3766388" cy="37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af764f1eb0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626" y="2130000"/>
            <a:ext cx="4170375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1499</Words>
  <Application>Microsoft Office PowerPoint</Application>
  <PresentationFormat>Widescreen</PresentationFormat>
  <Paragraphs>292</Paragraphs>
  <Slides>69</Slides>
  <Notes>64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MathJax_Main</vt:lpstr>
      <vt:lpstr>Calibri</vt:lpstr>
      <vt:lpstr>Cambria Math</vt:lpstr>
      <vt:lpstr>Arial</vt:lpstr>
      <vt:lpstr>MathJax_Math-italic</vt:lpstr>
      <vt:lpstr>Verdana</vt:lpstr>
      <vt:lpstr>Lato</vt:lpstr>
      <vt:lpstr>Times New Roman</vt:lpstr>
      <vt:lpstr>Tahoma</vt:lpstr>
      <vt:lpstr>Roboto</vt:lpstr>
      <vt:lpstr>Office Theme</vt:lpstr>
      <vt:lpstr>MgxDesigner</vt:lpstr>
      <vt:lpstr>Week 7: Multiresolution Image Analysis</vt:lpstr>
      <vt:lpstr>What if we need to detect sea, forest, rural areas, highways, bridges, cars, buildings, boats etc.?</vt:lpstr>
      <vt:lpstr>Multiresolution Analysis</vt:lpstr>
      <vt:lpstr>1. Wavelet Transforms</vt:lpstr>
      <vt:lpstr>Recall Fourier Transform for Discrete Functions</vt:lpstr>
      <vt:lpstr>Wavelet transform: Define a set of basis functions, ∅(┤), to represent image matrix in multiple resolution</vt:lpstr>
      <vt:lpstr>How to design transform matrix W   ? </vt:lpstr>
      <vt:lpstr>What is Wavelet? One dimensional case</vt:lpstr>
      <vt:lpstr>Definition (1D Case): Basic Wavelet is any real and admissible function with finite duration</vt:lpstr>
      <vt:lpstr>Example: Mexican hat basic wavelet function</vt:lpstr>
      <vt:lpstr>Some Basic Wavelet Functions</vt:lpstr>
      <vt:lpstr>How to form a set of  basis functions from a basic wavelet (1-D)?</vt:lpstr>
      <vt:lpstr>Scale and translate many times (1-D)</vt:lpstr>
      <vt:lpstr>Generation of One Dimensional  Basis Functions from a Basic Function</vt:lpstr>
      <vt:lpstr>Morlet Basis Functions obtained by scaling</vt:lpstr>
      <vt:lpstr> </vt:lpstr>
      <vt:lpstr>Recall, 1-D Continuous  Fourier Transform</vt:lpstr>
      <vt:lpstr>Replace Fourier Basis by Wavelet basis:  1-D continuous wavelet transform</vt:lpstr>
      <vt:lpstr>Two Dimensional Continuous Wavelet Basis Function</vt:lpstr>
      <vt:lpstr>Two dimensional continuous wavelet transform</vt:lpstr>
      <vt:lpstr>The normalization factor, C_φ </vt:lpstr>
      <vt:lpstr>FT vs WT</vt:lpstr>
      <vt:lpstr>DFT vs DWT</vt:lpstr>
      <vt:lpstr>Multiresolution Representation  </vt:lpstr>
      <vt:lpstr>Multiresolution Representation using </vt:lpstr>
      <vt:lpstr>Multiresolution Representation using wavelets </vt:lpstr>
      <vt:lpstr>Multiresolution Representation using </vt:lpstr>
      <vt:lpstr>How to Scale and Shift?</vt:lpstr>
      <vt:lpstr>Dyadic Wavelets as a Set of Basis Functions</vt:lpstr>
      <vt:lpstr>Dyadic wavelets</vt:lpstr>
      <vt:lpstr>Compact dyadic wavelets: Get rid of two indeces, j,k</vt:lpstr>
      <vt:lpstr>A Compact Dyadic Wavelet Basis Functions One Dimensional Haar Function</vt:lpstr>
      <vt:lpstr>Haar Functions:  Compact Dyadic Wavelet Basis Functions</vt:lpstr>
      <vt:lpstr>Two Dimensional Haar Basis Functions</vt:lpstr>
      <vt:lpstr>Two-Dimensional Discrete Haar Transform</vt:lpstr>
      <vt:lpstr> </vt:lpstr>
      <vt:lpstr>Haar matrix of NxN dimension</vt:lpstr>
      <vt:lpstr>Ex: Find 2x2 Haar Matrix</vt:lpstr>
      <vt:lpstr>2x2 Haar Matrix</vt:lpstr>
      <vt:lpstr>Recall that</vt:lpstr>
      <vt:lpstr>PowerPoint Presentation</vt:lpstr>
      <vt:lpstr>Haar Transform of Lena Image</vt:lpstr>
      <vt:lpstr>Wavelet Decomposition:Example</vt:lpstr>
      <vt:lpstr>Two Dimensional Extension of Wavelet Transform for Discrete Functions</vt:lpstr>
      <vt:lpstr>Multiresolution Analysis</vt:lpstr>
      <vt:lpstr>2. Image Pyramids</vt:lpstr>
      <vt:lpstr>Use some approximation filter</vt:lpstr>
      <vt:lpstr>Storage Space</vt:lpstr>
      <vt:lpstr>Image Trees: T={Pk​ , R(k,i,j)}</vt:lpstr>
      <vt:lpstr>Generation of Image Tree</vt:lpstr>
      <vt:lpstr>Quad Tree: Split image into homogenous regions hierarchicaly</vt:lpstr>
      <vt:lpstr>Image compression </vt:lpstr>
      <vt:lpstr>Content description </vt:lpstr>
      <vt:lpstr>Uniformity Tree</vt:lpstr>
      <vt:lpstr>Uniformity Tree (Pınar’s Tree) </vt:lpstr>
      <vt:lpstr>Algorithm: Uniformity Tree Generation </vt:lpstr>
      <vt:lpstr>Uniformity Tree Outputs</vt:lpstr>
      <vt:lpstr>Levels of uniformity tree</vt:lpstr>
      <vt:lpstr>3. Subband Coding</vt:lpstr>
      <vt:lpstr>PowerPoint Presentation</vt:lpstr>
      <vt:lpstr>3. Subband Coding</vt:lpstr>
      <vt:lpstr> Fi​(u,v)=F(u,v)⋅Hi​(u,v),   for    i=0,...,n−1 </vt:lpstr>
      <vt:lpstr>1-D Case: Ideal Band-pass Filter</vt:lpstr>
      <vt:lpstr>1D Case: In practice: Two-Band Coding of One-Dimensional Images</vt:lpstr>
      <vt:lpstr>Subband filters: H_0,H_1, H_2…. H_(n-1)</vt:lpstr>
      <vt:lpstr>Analysis Filter Bank: Two-band Coding of One dimensional Images</vt:lpstr>
      <vt:lpstr>Synthesis Filter Bank: Two-Band Decoding One Dimensional İmages</vt:lpstr>
      <vt:lpstr>2-Band Coding for 2-D Functions</vt:lpstr>
      <vt:lpstr>Output of two band coding in 2-D Images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Multiresolution Image Analysis thursday</dc:title>
  <dc:creator>fatosyarmanvural</dc:creator>
  <cp:lastModifiedBy>Fatos</cp:lastModifiedBy>
  <cp:revision>39</cp:revision>
  <dcterms:created xsi:type="dcterms:W3CDTF">2020-09-22T15:33:21Z</dcterms:created>
  <dcterms:modified xsi:type="dcterms:W3CDTF">2022-11-09T15:58:52Z</dcterms:modified>
</cp:coreProperties>
</file>