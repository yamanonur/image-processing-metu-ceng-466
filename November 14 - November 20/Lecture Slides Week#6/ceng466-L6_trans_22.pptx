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4"/>
  </p:notesMasterIdLst>
  <p:sldIdLst>
    <p:sldId id="256" r:id="rId2"/>
    <p:sldId id="341" r:id="rId3"/>
    <p:sldId id="258" r:id="rId4"/>
    <p:sldId id="259" r:id="rId5"/>
    <p:sldId id="260" r:id="rId6"/>
    <p:sldId id="271" r:id="rId7"/>
    <p:sldId id="272" r:id="rId8"/>
    <p:sldId id="343" r:id="rId9"/>
    <p:sldId id="273" r:id="rId10"/>
    <p:sldId id="261" r:id="rId11"/>
    <p:sldId id="267" r:id="rId12"/>
    <p:sldId id="268" r:id="rId13"/>
    <p:sldId id="270" r:id="rId14"/>
    <p:sldId id="274" r:id="rId15"/>
    <p:sldId id="340" r:id="rId16"/>
    <p:sldId id="275" r:id="rId17"/>
    <p:sldId id="276" r:id="rId18"/>
    <p:sldId id="277" r:id="rId19"/>
    <p:sldId id="348" r:id="rId20"/>
    <p:sldId id="290" r:id="rId21"/>
    <p:sldId id="279" r:id="rId22"/>
    <p:sldId id="280" r:id="rId23"/>
    <p:sldId id="282" r:id="rId24"/>
    <p:sldId id="283" r:id="rId25"/>
    <p:sldId id="285" r:id="rId26"/>
    <p:sldId id="286" r:id="rId27"/>
    <p:sldId id="287" r:id="rId28"/>
    <p:sldId id="291" r:id="rId29"/>
    <p:sldId id="292" r:id="rId30"/>
    <p:sldId id="294" r:id="rId31"/>
    <p:sldId id="293" r:id="rId32"/>
    <p:sldId id="295" r:id="rId33"/>
    <p:sldId id="296" r:id="rId34"/>
    <p:sldId id="297" r:id="rId35"/>
    <p:sldId id="299" r:id="rId36"/>
    <p:sldId id="300" r:id="rId37"/>
    <p:sldId id="347" r:id="rId38"/>
    <p:sldId id="301" r:id="rId39"/>
    <p:sldId id="302" r:id="rId40"/>
    <p:sldId id="303" r:id="rId41"/>
    <p:sldId id="305" r:id="rId42"/>
    <p:sldId id="306" r:id="rId43"/>
    <p:sldId id="307" r:id="rId44"/>
    <p:sldId id="308" r:id="rId45"/>
    <p:sldId id="309" r:id="rId46"/>
    <p:sldId id="311" r:id="rId47"/>
    <p:sldId id="312" r:id="rId48"/>
    <p:sldId id="315" r:id="rId49"/>
    <p:sldId id="316" r:id="rId50"/>
    <p:sldId id="317" r:id="rId51"/>
    <p:sldId id="318" r:id="rId52"/>
    <p:sldId id="319" r:id="rId53"/>
    <p:sldId id="345" r:id="rId54"/>
    <p:sldId id="320" r:id="rId55"/>
    <p:sldId id="321" r:id="rId56"/>
    <p:sldId id="322" r:id="rId57"/>
    <p:sldId id="324" r:id="rId58"/>
    <p:sldId id="325" r:id="rId59"/>
    <p:sldId id="326" r:id="rId60"/>
    <p:sldId id="327" r:id="rId61"/>
    <p:sldId id="328" r:id="rId62"/>
    <p:sldId id="329" r:id="rId63"/>
    <p:sldId id="330" r:id="rId64"/>
    <p:sldId id="332" r:id="rId65"/>
    <p:sldId id="333" r:id="rId66"/>
    <p:sldId id="334" r:id="rId67"/>
    <p:sldId id="335" r:id="rId68"/>
    <p:sldId id="350" r:id="rId69"/>
    <p:sldId id="336" r:id="rId70"/>
    <p:sldId id="337" r:id="rId71"/>
    <p:sldId id="338" r:id="rId72"/>
    <p:sldId id="339" r:id="rId73"/>
    <p:sldId id="265" r:id="rId74"/>
    <p:sldId id="262" r:id="rId75"/>
    <p:sldId id="263" r:id="rId76"/>
    <p:sldId id="264" r:id="rId77"/>
    <p:sldId id="266" r:id="rId78"/>
    <p:sldId id="269" r:id="rId79"/>
    <p:sldId id="281" r:id="rId80"/>
    <p:sldId id="278" r:id="rId81"/>
    <p:sldId id="284" r:id="rId82"/>
    <p:sldId id="331" r:id="rId8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85"/>
      <p:bold r:id="rId86"/>
      <p:italic r:id="rId87"/>
      <p:boldItalic r:id="rId88"/>
    </p:embeddedFont>
    <p:embeddedFont>
      <p:font typeface="Calibri Light" panose="020F0302020204030204" pitchFamily="34" charset="0"/>
      <p:regular r:id="rId89"/>
      <p:italic r:id="rId90"/>
    </p:embeddedFont>
    <p:embeddedFont>
      <p:font typeface="Cambria Math" panose="02040503050406030204" pitchFamily="18" charset="0"/>
      <p:regular r:id="rId91"/>
    </p:embeddedFont>
    <p:embeddedFont>
      <p:font typeface="Lato" panose="020B0604020202020204" charset="0"/>
      <p:regular r:id="rId92"/>
      <p:bold r:id="rId93"/>
      <p:italic r:id="rId94"/>
      <p:boldItalic r:id="rId95"/>
    </p:embeddedFont>
    <p:embeddedFont>
      <p:font typeface="Verdana" panose="020B0604030504040204" pitchFamily="34" charset="0"/>
      <p:regular r:id="rId96"/>
      <p:bold r:id="rId97"/>
      <p:italic r:id="rId98"/>
      <p:boldItalic r:id="rId9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29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4" roundtripDataSignature="AMtx7mgDsx3uyUdBUNFPKIif9Zw9Xchx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FF91075-30AB-48E0-BD46-402CB427C40F}">
  <a:tblStyle styleId="{7FF91075-30AB-48E0-BD46-402CB427C4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91" d="100"/>
          <a:sy n="91" d="100"/>
        </p:scale>
        <p:origin x="1138" y="46"/>
      </p:cViewPr>
      <p:guideLst>
        <p:guide orient="horz" pos="429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font" Target="fonts/font5.fntdata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6.fntdata"/><Relationship Id="rId95" Type="http://schemas.openxmlformats.org/officeDocument/2006/relationships/font" Target="fonts/font11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1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4.fntdata"/><Relationship Id="rId91" Type="http://schemas.openxmlformats.org/officeDocument/2006/relationships/font" Target="fonts/font7.fntdata"/><Relationship Id="rId96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2.fntdata"/><Relationship Id="rId94" Type="http://schemas.openxmlformats.org/officeDocument/2006/relationships/font" Target="fonts/font10.fntdata"/><Relationship Id="rId99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3.fntdata"/><Relationship Id="rId104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9.fntdata"/><Relationship Id="rId98" Type="http://schemas.openxmlformats.org/officeDocument/2006/relationships/font" Target="fonts/font14.fntdata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1722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5874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600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0050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522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p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p4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3" name="Google Shape;473;p5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8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7" name="Google Shape;647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8" name="Google Shape;648;p8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8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766304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22609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900446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72001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821162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82042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666489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634864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433085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0937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5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5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8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Content, and 2 Content" type="objAndTwoObj">
  <p:cSld name="OBJECT_AND_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9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9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9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9"/>
          <p:cNvSpPr txBox="1">
            <a:spLocks noGrp="1"/>
          </p:cNvSpPr>
          <p:nvPr>
            <p:ph type="body" idx="3"/>
          </p:nvPr>
        </p:nvSpPr>
        <p:spPr>
          <a:xfrm>
            <a:off x="4648200" y="41148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8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0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0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1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9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2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2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0" name="Google Shape;60;p92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92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2" name="Google Shape;62;p92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3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9" name="Google Shape;69;p93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0" name="Google Shape;70;p9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4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94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7" name="Google Shape;77;p9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9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5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9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6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96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9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9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9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8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8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n.wikipedia.org/wiki/Vector_spac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ermitian_matrix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Unitary_matrix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5.png"/><Relationship Id="rId4" Type="http://schemas.openxmlformats.org/officeDocument/2006/relationships/image" Target="../media/image5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61.xml"/><Relationship Id="rId7" Type="http://schemas.openxmlformats.org/officeDocument/2006/relationships/image" Target="../media/image84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83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85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0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103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tr-TR"/>
              <a:t>Week 6: Image Enhancement in Transform Domain</a:t>
            </a:r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741783" y="3602038"/>
            <a:ext cx="784704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tr-TR" sz="3200" dirty="0"/>
              <a:t>Hazal </a:t>
            </a:r>
            <a:r>
              <a:rPr lang="tr-TR" sz="3200" dirty="0" err="1"/>
              <a:t>Mogultay</a:t>
            </a:r>
            <a:r>
              <a:rPr lang="tr-TR" sz="3200" dirty="0"/>
              <a:t>  </a:t>
            </a:r>
            <a:r>
              <a:rPr lang="en-US" sz="3200" dirty="0"/>
              <a:t>, </a:t>
            </a:r>
            <a:r>
              <a:rPr lang="tr-TR" sz="3200" dirty="0"/>
              <a:t>Fatoş Tunay Yarman Vural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B56F8-0B37-4175-9D10-30AB3219D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Recall, Space Domain Representation of Images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306BC3C-A5B2-4F11-8FB9-C6C08779AAA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sz="2800" dirty="0"/>
                  <a:t>Images represented by functions</a:t>
                </a:r>
              </a:p>
              <a:p>
                <a:pPr marL="114300" indent="0">
                  <a:buNone/>
                </a:pP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800" dirty="0"/>
              </a:p>
              <a:p>
                <a:pPr marL="114300" indent="0">
                  <a:buNone/>
                </a:pPr>
                <a:endParaRPr lang="en-US" sz="2800" dirty="0"/>
              </a:p>
              <a:p>
                <a:r>
                  <a:rPr lang="en-US" sz="2800" dirty="0"/>
                  <a:t>Image represented by matrices</a:t>
                </a:r>
              </a:p>
              <a:p>
                <a:pPr marL="114300" indent="0">
                  <a:buNone/>
                </a:pPr>
                <a:endParaRPr lang="en-US" sz="28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  [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 dirty="0" err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)] =</m:t>
                      </m:r>
                    </m:oMath>
                  </m:oMathPara>
                </a14:m>
                <a:endParaRPr lang="en-US" sz="2800" dirty="0"/>
              </a:p>
              <a:p>
                <a:pPr marL="114300" indent="0">
                  <a:buNone/>
                </a:pPr>
                <a:endParaRPr lang="en-US" sz="2800" dirty="0"/>
              </a:p>
              <a:p>
                <a:pPr marL="114300" indent="0">
                  <a:buNone/>
                </a:pPr>
                <a:endParaRPr lang="en-US" sz="2800" dirty="0"/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en-US" sz="24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Q1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: Can we represent digital images in other </a:t>
                </a:r>
                <a:r>
                  <a:rPr lang="en-US" altLang="en-US" sz="2400" u="sng" dirty="0">
                    <a:solidFill>
                      <a:srgbClr val="0C93E4"/>
                    </a:solidFill>
                    <a:latin typeface="Arial" panose="020B0604020202020204" pitchFamily="34" charset="0"/>
                    <a:hlinkClick r:id="rId2"/>
                  </a:rPr>
                  <a:t>vector spaces</a:t>
                </a:r>
                <a:r>
                  <a:rPr lang="en-US" altLang="en-US" sz="2400" u="sng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?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en-US" sz="24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Q2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: Can we develop image enhancement techniques in this newly defined vector space in more efficient algorithms?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306BC3C-A5B2-4F11-8FB9-C6C08779A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773" t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2726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sz="4400"/>
              <a:t>1. Vector spaces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Google Shape;109;p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8650" y="1825625"/>
                <a:ext cx="78867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sz="2400" dirty="0"/>
                  <a:t>A vector space</a:t>
                </a:r>
                <a:r>
                  <a:rPr lang="en-US" sz="2400" b="1" dirty="0"/>
                  <a:t> over the field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2400" b="1" dirty="0"/>
                  <a:t> of real valued scalar numbers,</a:t>
                </a:r>
                <a:r>
                  <a:rPr lang="en-US" sz="2400" dirty="0"/>
                  <a:t> is a set of elements, 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400" dirty="0"/>
                  <a:t>, which is</a:t>
                </a:r>
                <a:endParaRPr lang="en-US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endParaRPr lang="en-US" sz="2400" dirty="0"/>
              </a:p>
              <a:p>
                <a:pPr marL="628650" lvl="1" indent="-171450">
                  <a:spcBef>
                    <a:spcPts val="750"/>
                  </a:spcBef>
                  <a:buSzPts val="2400"/>
                </a:pPr>
                <a:r>
                  <a:rPr lang="en-US" sz="2100" dirty="0"/>
                  <a:t>closed under addition and scalar multiplication</a:t>
                </a:r>
              </a:p>
              <a:p>
                <a:pPr marL="628650" lvl="1" indent="-171450">
                  <a:spcBef>
                    <a:spcPts val="750"/>
                  </a:spcBef>
                  <a:buSzPts val="2400"/>
                </a:pPr>
                <a:r>
                  <a:rPr lang="en-US" sz="2100" dirty="0"/>
                  <a:t>unit vector </a:t>
                </a:r>
                <a:r>
                  <a:rPr lang="en-US" sz="2100" b="1" dirty="0"/>
                  <a:t>1 </a:t>
                </a:r>
                <a:r>
                  <a:rPr lang="en-US" sz="2100" dirty="0"/>
                  <a:t>is defined to satisfy scalar multiplication,</a:t>
                </a:r>
                <a14:m>
                  <m:oMath xmlns:m="http://schemas.openxmlformats.org/officeDocument/2006/math">
                    <m:r>
                      <a:rPr lang="en-US" sz="21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100" i="1" dirty="0">
                  <a:latin typeface="Cambria Math" panose="02040503050406030204" pitchFamily="18" charset="0"/>
                </a:endParaRPr>
              </a:p>
              <a:p>
                <a:pPr marL="0" lvl="0" indent="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lvl="0" indent="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endParaRPr lang="en-US" sz="2400" dirty="0"/>
              </a:p>
              <a:p>
                <a:pPr marL="628650" lvl="1" indent="-171450">
                  <a:spcBef>
                    <a:spcPts val="750"/>
                  </a:spcBef>
                  <a:buSzPts val="2400"/>
                </a:pPr>
                <a:r>
                  <a:rPr lang="en-US" sz="2100" b="1" dirty="0"/>
                  <a:t>0</a:t>
                </a:r>
                <a:r>
                  <a:rPr lang="en-US" sz="2100" dirty="0"/>
                  <a:t> vector is defined to satisfy </a:t>
                </a:r>
                <a:endParaRPr lang="en-US" sz="2100" i="1" dirty="0">
                  <a:latin typeface="Cambria Math" panose="02040503050406030204" pitchFamily="18" charset="0"/>
                </a:endParaRPr>
              </a:p>
              <a:p>
                <a:pPr marL="0" lvl="0" indent="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lvl="0" indent="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171450" lvl="0" indent="-3810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09" name="Google Shape;109;p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1825625"/>
                <a:ext cx="7886700" cy="4351338"/>
              </a:xfrm>
              <a:prstGeom prst="rect">
                <a:avLst/>
              </a:prstGeom>
              <a:blipFill>
                <a:blip r:embed="rId3"/>
                <a:stretch>
                  <a:fillRect l="-1159" t="-19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" y="2362908"/>
            <a:ext cx="2963870" cy="234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/>
              <a:t>Example: 2-Dimensional Euclidean Space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Google Shape;116;p4"/>
              <p:cNvSpPr txBox="1"/>
              <p:nvPr/>
            </p:nvSpPr>
            <p:spPr>
              <a:xfrm>
                <a:off x="628649" y="5218176"/>
                <a:ext cx="8254093" cy="1206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/>
                <a:r>
                  <a:rPr lang="en-US" sz="2400" b="0" i="0" u="none" strike="noStrik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Inner product: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b="0" i="0" u="none" strike="noStrik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=: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b="1" i="1" u="none" strike="noStrike" cap="none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</m:ctrlPr>
                      </m:sSupPr>
                      <m:e>
                        <m:r>
                          <a:rPr lang="en-US" sz="2400" b="1" i="1" u="none" strike="noStrike" cap="none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𝒙</m:t>
                        </m:r>
                      </m:e>
                      <m:sup>
                        <m:r>
                          <a:rPr lang="en-US" sz="2400" b="1" i="1" u="none" strike="noStrike" cap="none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𝑻</m:t>
                        </m:r>
                      </m:sup>
                    </m:sSup>
                    <m:r>
                      <a:rPr lang="ar-AE" sz="2400" b="1" i="1" u="none" strike="noStrike" cap="none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𝑨</m:t>
                    </m:r>
                  </m:oMath>
                </a14:m>
                <a:r>
                  <a:rPr lang="ar-AE" sz="2400" b="1" i="0" u="none" strike="noStrik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lang="en-US" sz="2400" b="1" i="0" u="none" strike="noStrik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r>
                  <a:rPr lang="ar-AE" sz="2400" b="1" i="0" u="none" strike="noStrik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endParaRPr lang="en-US" sz="2400" b="1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lvl="0"/>
                <a:r>
                  <a:rPr lang="en-US" sz="2400" b="0" i="0" u="none" strike="noStrik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Orthogonality: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   </m:t>
                        </m:r>
                        <m:r>
                          <a:rPr lang="en-US" sz="24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𝑻</m:t>
                        </m:r>
                      </m:sup>
                    </m:sSup>
                    <m:r>
                      <a:rPr lang="ar-AE" sz="2400" b="1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𝑨</m:t>
                    </m:r>
                  </m:oMath>
                </a14:m>
                <a:r>
                  <a:rPr lang="ar-AE" sz="24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lang="en-US" sz="24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y= 0 for 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  <a:sym typeface="Times New Roman"/>
                      </a:rPr>
                      <m:t>≠</m:t>
                    </m:r>
                    <m:r>
                      <a:rPr lang="en-US" sz="2400" b="1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  <a:sym typeface="Times New Roman"/>
                      </a:rPr>
                      <m:t>𝒚</m:t>
                    </m:r>
                  </m:oMath>
                </a14:m>
                <a:endParaRPr lang="en-US" sz="2400" dirty="0"/>
              </a:p>
              <a:p>
                <a:pPr lvl="0"/>
                <a:r>
                  <a:rPr lang="en-US" sz="24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  <m:t>𝑆𝑡𝑎𝑛𝑑𝑎𝑟𝑑</m:t>
                            </m:r>
                            <m:r>
                              <a:rPr lang="en-US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  <m:t> </m:t>
                            </m:r>
                            <m:r>
                              <a:rPr lang="en-US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  <m:t>𝐵𝑎𝑠𝑖𝑠</m:t>
                            </m:r>
                            <m:r>
                              <a:rPr lang="en-US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  <m:t>:    </m:t>
                            </m:r>
                            <m:r>
                              <a:rPr lang="en-US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  <m:t>1</m:t>
                            </m:r>
                            <m:r>
                              <a:rPr lang="en-US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  <m:t>  </m:t>
                            </m:r>
                            <m:r>
                              <a:rPr lang="en-US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  <m:t>0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,   </m:t>
                        </m:r>
                        <m: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  =[</m:t>
                    </m:r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0</m:t>
                    </m:r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  </m:t>
                    </m:r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]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116" name="Google Shape;116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5218176"/>
                <a:ext cx="8254093" cy="1206828"/>
              </a:xfrm>
              <a:prstGeom prst="rect">
                <a:avLst/>
              </a:prstGeom>
              <a:blipFill>
                <a:blip r:embed="rId4"/>
                <a:stretch>
                  <a:fillRect l="-1108" t="-3535" b="-70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Google Shape;117;p4"/>
              <p:cNvSpPr txBox="1"/>
              <p:nvPr/>
            </p:nvSpPr>
            <p:spPr>
              <a:xfrm>
                <a:off x="2110585" y="2700720"/>
                <a:ext cx="2864923" cy="461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 </m:t>
                      </m:r>
                      <m:r>
                        <a:rPr lang="tr-TR" sz="2400" b="1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𝒙</m:t>
                      </m:r>
                      <m:r>
                        <a:rPr lang="en-US" sz="2400" b="0" i="1" baseline="-25000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  </m:t>
                      </m:r>
                      <m:r>
                        <a:rPr lang="tr-TR" sz="24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  </m:t>
                      </m:r>
                      <m:r>
                        <a:rPr lang="tr-TR" sz="24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 [</m:t>
                      </m:r>
                      <m:r>
                        <a:rPr lang="tr-TR" sz="24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𝑥</m:t>
                      </m:r>
                      <m:r>
                        <a:rPr lang="en-US" sz="2400" b="0" i="1" baseline="-25000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1</m:t>
                      </m:r>
                      <m:r>
                        <a:rPr lang="en-US" sz="2400" b="0" i="1" baseline="-25000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      </m:t>
                      </m:r>
                      <m:r>
                        <a:rPr lang="en-US" sz="24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𝑥</m:t>
                      </m:r>
                      <m:r>
                        <a:rPr lang="en-US" sz="2400" b="0" i="1" baseline="-25000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2</m:t>
                      </m:r>
                      <m:r>
                        <a:rPr lang="tr-TR" sz="24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]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7" name="Google Shape;117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0585" y="2700720"/>
                <a:ext cx="2864923" cy="461624"/>
              </a:xfrm>
              <a:prstGeom prst="rect">
                <a:avLst/>
              </a:prstGeom>
              <a:blipFill>
                <a:blip r:embed="rId5"/>
                <a:stretch>
                  <a:fillRect b="-197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634842E-58CA-4D0F-97DE-A62DE4858E92}"/>
                  </a:ext>
                </a:extLst>
              </p:cNvPr>
              <p:cNvSpPr/>
              <p:nvPr/>
            </p:nvSpPr>
            <p:spPr>
              <a:xfrm>
                <a:off x="1491307" y="2272628"/>
                <a:ext cx="26000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baseline="-25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 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634842E-58CA-4D0F-97DE-A62DE4858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07" y="2272628"/>
                <a:ext cx="260008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56A7B93-CF60-44E7-B3FB-181EA0F43F8E}"/>
                  </a:ext>
                </a:extLst>
              </p:cNvPr>
              <p:cNvSpPr/>
              <p:nvPr/>
            </p:nvSpPr>
            <p:spPr>
              <a:xfrm>
                <a:off x="2629643" y="3808104"/>
                <a:ext cx="4219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𝑥</m:t>
                      </m:r>
                      <m:r>
                        <a:rPr lang="en-US" i="1" baseline="-25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1</m:t>
                      </m:r>
                      <m:r>
                        <a:rPr lang="en-US" i="1" baseline="-25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 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56A7B93-CF60-44E7-B3FB-181EA0F43F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643" y="3808104"/>
                <a:ext cx="421910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45DE635-44C1-4727-929E-418F41681DC4}"/>
                  </a:ext>
                </a:extLst>
              </p:cNvPr>
              <p:cNvSpPr/>
              <p:nvPr/>
            </p:nvSpPr>
            <p:spPr>
              <a:xfrm>
                <a:off x="1719094" y="2854567"/>
                <a:ext cx="396262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𝑥</m:t>
                      </m:r>
                      <m:r>
                        <a:rPr lang="en-US" b="0" i="1" baseline="-25000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2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45DE635-44C1-4727-929E-418F41681D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094" y="2854567"/>
                <a:ext cx="396262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54C5878-C65D-49FF-81A8-CDC7F3920A10}"/>
                  </a:ext>
                </a:extLst>
              </p:cNvPr>
              <p:cNvSpPr/>
              <p:nvPr/>
            </p:nvSpPr>
            <p:spPr>
              <a:xfrm>
                <a:off x="3472991" y="3961992"/>
                <a:ext cx="26000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baseline="-25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 </m:t>
                      </m:r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54C5878-C65D-49FF-81A8-CDC7F3920A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991" y="3961992"/>
                <a:ext cx="260008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tr-TR" sz="2800" dirty="0" err="1">
                <a:latin typeface="Calibri"/>
                <a:ea typeface="Calibri"/>
                <a:cs typeface="Calibri"/>
                <a:sym typeface="Calibri"/>
              </a:rPr>
              <a:t>Ex</a:t>
            </a:r>
            <a:r>
              <a:rPr lang="tr-TR" sz="2800" dirty="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tr-TR" sz="2800" dirty="0" err="1">
                <a:latin typeface="Calibri"/>
                <a:ea typeface="Calibri"/>
                <a:cs typeface="Calibri"/>
                <a:sym typeface="Calibri"/>
              </a:rPr>
              <a:t>Matrix</a:t>
            </a:r>
            <a:r>
              <a:rPr lang="tr-TR" sz="28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 dirty="0" err="1">
                <a:latin typeface="Calibri"/>
                <a:ea typeface="Calibri"/>
                <a:cs typeface="Calibri"/>
                <a:sym typeface="Calibri"/>
              </a:rPr>
              <a:t>Spaces</a:t>
            </a:r>
            <a:r>
              <a:rPr lang="tr-TR" sz="2800" dirty="0">
                <a:latin typeface="Calibri"/>
                <a:ea typeface="Calibri"/>
                <a:cs typeface="Calibri"/>
                <a:sym typeface="Calibri"/>
              </a:rPr>
              <a:t>: S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how that the s</a:t>
            </a:r>
            <a:r>
              <a:rPr lang="tr-TR" sz="2800" dirty="0" err="1">
                <a:latin typeface="Calibri"/>
                <a:ea typeface="Calibri"/>
                <a:cs typeface="Calibri"/>
                <a:sym typeface="Calibri"/>
              </a:rPr>
              <a:t>pace</a:t>
            </a:r>
            <a:r>
              <a:rPr lang="tr-TR" sz="2800" dirty="0">
                <a:latin typeface="Calibri"/>
                <a:ea typeface="Calibri"/>
                <a:cs typeface="Calibri"/>
                <a:sym typeface="Calibri"/>
              </a:rPr>
              <a:t> of </a:t>
            </a:r>
            <a:r>
              <a:rPr lang="tr-TR" sz="2800" dirty="0" err="1"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tr-TR" sz="28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 dirty="0" err="1">
                <a:latin typeface="Calibri"/>
                <a:ea typeface="Calibri"/>
                <a:cs typeface="Calibri"/>
                <a:sym typeface="Calibri"/>
              </a:rPr>
              <a:t>NxM</a:t>
            </a:r>
            <a:r>
              <a:rPr lang="tr-TR" sz="28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 dirty="0" err="1">
                <a:latin typeface="Calibri"/>
                <a:ea typeface="Calibri"/>
                <a:cs typeface="Calibri"/>
                <a:sym typeface="Calibri"/>
              </a:rPr>
              <a:t>matrices</a:t>
            </a:r>
            <a:r>
              <a:rPr lang="tr-TR" sz="2800" dirty="0">
                <a:latin typeface="Calibri"/>
                <a:ea typeface="Calibri"/>
                <a:cs typeface="Calibri"/>
                <a:sym typeface="Calibri"/>
              </a:rPr>
              <a:t>, is a </a:t>
            </a:r>
            <a:r>
              <a:rPr lang="tr-TR" sz="2800" dirty="0" err="1">
                <a:latin typeface="Calibri"/>
                <a:ea typeface="Calibri"/>
                <a:cs typeface="Calibri"/>
                <a:sym typeface="Calibri"/>
              </a:rPr>
              <a:t>vector</a:t>
            </a:r>
            <a:r>
              <a:rPr lang="tr-TR" sz="28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 dirty="0" err="1">
                <a:latin typeface="Calibri"/>
                <a:ea typeface="Calibri"/>
                <a:cs typeface="Calibri"/>
                <a:sym typeface="Calibri"/>
              </a:rPr>
              <a:t>space</a:t>
            </a:r>
            <a:r>
              <a:rPr lang="tr-TR" sz="2800" dirty="0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tr-TR" sz="2800" dirty="0" err="1">
                <a:latin typeface="Calibri"/>
                <a:ea typeface="Calibri"/>
                <a:cs typeface="Calibri"/>
                <a:sym typeface="Calibri"/>
              </a:rPr>
              <a:t>Suggest</a:t>
            </a:r>
            <a:r>
              <a:rPr lang="tr-TR" sz="2800" dirty="0">
                <a:latin typeface="Calibri"/>
                <a:ea typeface="Calibri"/>
                <a:cs typeface="Calibri"/>
                <a:sym typeface="Calibri"/>
              </a:rPr>
              <a:t> a set of </a:t>
            </a:r>
            <a:r>
              <a:rPr lang="tr-TR" sz="2800" dirty="0" err="1">
                <a:latin typeface="Calibri"/>
                <a:ea typeface="Calibri"/>
                <a:cs typeface="Calibri"/>
                <a:sym typeface="Calibri"/>
              </a:rPr>
              <a:t>basis</a:t>
            </a:r>
            <a:r>
              <a:rPr lang="tr-TR" sz="28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 dirty="0" err="1"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tr-TR" sz="28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 dirty="0" err="1"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lang="tr-TR" sz="28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 dirty="0" err="1">
                <a:latin typeface="Calibri"/>
                <a:ea typeface="Calibri"/>
                <a:cs typeface="Calibri"/>
                <a:sym typeface="Calibri"/>
              </a:rPr>
              <a:t>vector</a:t>
            </a:r>
            <a:r>
              <a:rPr lang="tr-TR" sz="28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 dirty="0" err="1">
                <a:latin typeface="Calibri"/>
                <a:ea typeface="Calibri"/>
                <a:cs typeface="Calibri"/>
                <a:sym typeface="Calibri"/>
              </a:rPr>
              <a:t>space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/>
              <a:t>2</a:t>
            </a:r>
            <a:r>
              <a:rPr lang="tr-TR" sz="4400"/>
              <a:t>. Matrix Similarity Transforms</a:t>
            </a:r>
            <a:endParaRPr/>
          </a:p>
        </p:txBody>
      </p:sp>
      <p:pic>
        <p:nvPicPr>
          <p:cNvPr id="200" name="Google Shape;200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04272" y="2612572"/>
            <a:ext cx="4980549" cy="3231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"/>
          <p:cNvSpPr txBox="1">
            <a:spLocks noGrp="1"/>
          </p:cNvSpPr>
          <p:nvPr>
            <p:ph type="title"/>
          </p:nvPr>
        </p:nvSpPr>
        <p:spPr>
          <a:xfrm>
            <a:off x="628650" y="3218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/>
              <a:t>Special Matrices</a:t>
            </a:r>
            <a:endParaRPr/>
          </a:p>
        </p:txBody>
      </p:sp>
      <p:sp>
        <p:nvSpPr>
          <p:cNvPr id="206" name="Google Shape;206;p17"/>
          <p:cNvSpPr txBox="1">
            <a:spLocks noGrp="1"/>
          </p:cNvSpPr>
          <p:nvPr>
            <p:ph type="body" idx="1"/>
          </p:nvPr>
        </p:nvSpPr>
        <p:spPr>
          <a:xfrm>
            <a:off x="429491" y="1357745"/>
            <a:ext cx="8714509" cy="4819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 sz="2400" dirty="0"/>
              <a:t>A </a:t>
            </a:r>
            <a:r>
              <a:rPr lang="tr-TR" sz="2400" dirty="0" err="1"/>
              <a:t>real</a:t>
            </a:r>
            <a:r>
              <a:rPr lang="tr-TR" sz="2400" dirty="0"/>
              <a:t> </a:t>
            </a:r>
            <a:r>
              <a:rPr lang="tr-TR" sz="2400" dirty="0" err="1"/>
              <a:t>matrix</a:t>
            </a:r>
            <a:r>
              <a:rPr lang="tr-TR" sz="2400" dirty="0"/>
              <a:t> </a:t>
            </a:r>
            <a:r>
              <a:rPr lang="tr-TR" sz="2400" b="1" dirty="0"/>
              <a:t>A</a:t>
            </a:r>
            <a:r>
              <a:rPr lang="tr-TR" sz="2400" dirty="0"/>
              <a:t> is </a:t>
            </a:r>
            <a:r>
              <a:rPr lang="tr-TR" sz="2400" dirty="0" err="1"/>
              <a:t>called</a:t>
            </a:r>
            <a:r>
              <a:rPr lang="tr-TR" sz="2400" dirty="0"/>
              <a:t> </a:t>
            </a:r>
            <a:r>
              <a:rPr lang="tr-TR" sz="2400" b="1" u="sng" dirty="0" err="1">
                <a:solidFill>
                  <a:srgbClr val="0070C0"/>
                </a:solidFill>
              </a:rPr>
              <a:t>Orthogonal</a:t>
            </a:r>
            <a:r>
              <a:rPr lang="tr-TR" sz="2400" dirty="0">
                <a:solidFill>
                  <a:srgbClr val="0070C0"/>
                </a:solidFill>
              </a:rPr>
              <a:t> </a:t>
            </a:r>
            <a:r>
              <a:rPr lang="tr-TR" sz="2400" dirty="0" err="1"/>
              <a:t>if</a:t>
            </a:r>
            <a:r>
              <a:rPr lang="tr-TR" sz="2400" dirty="0"/>
              <a:t> </a:t>
            </a:r>
            <a:r>
              <a:rPr lang="tr-TR" sz="2400" dirty="0" err="1"/>
              <a:t>its</a:t>
            </a:r>
            <a:r>
              <a:rPr lang="tr-TR" sz="2400" dirty="0"/>
              <a:t> </a:t>
            </a:r>
            <a:r>
              <a:rPr lang="tr-TR" sz="2400" dirty="0" err="1"/>
              <a:t>transpose</a:t>
            </a:r>
            <a:r>
              <a:rPr lang="tr-TR" sz="2400" dirty="0"/>
              <a:t> is </a:t>
            </a:r>
            <a:r>
              <a:rPr lang="tr-TR" sz="2400" dirty="0" err="1"/>
              <a:t>equal</a:t>
            </a:r>
            <a:r>
              <a:rPr lang="tr-TR" sz="2400" dirty="0"/>
              <a:t> </a:t>
            </a:r>
            <a:r>
              <a:rPr lang="tr-TR" sz="2400" dirty="0" err="1"/>
              <a:t>to</a:t>
            </a:r>
            <a:r>
              <a:rPr lang="tr-TR" sz="2400" dirty="0"/>
              <a:t> </a:t>
            </a:r>
            <a:r>
              <a:rPr lang="tr-TR" sz="2400" dirty="0" err="1"/>
              <a:t>its</a:t>
            </a:r>
            <a:r>
              <a:rPr lang="tr-TR" sz="2400" dirty="0"/>
              <a:t> </a:t>
            </a:r>
            <a:r>
              <a:rPr lang="tr-TR" sz="2400" dirty="0" err="1"/>
              <a:t>inverse</a:t>
            </a:r>
            <a:r>
              <a:rPr lang="tr-TR" sz="2400" dirty="0"/>
              <a:t>,   </a:t>
            </a:r>
            <a:endParaRPr dirty="0"/>
          </a:p>
          <a:p>
            <a:pPr marL="342900" lvl="1" indent="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tr-TR" sz="2400" b="1" i="1" dirty="0"/>
              <a:t>A</a:t>
            </a:r>
            <a:r>
              <a:rPr lang="tr-TR" sz="2400" b="1" i="1" baseline="30000" dirty="0"/>
              <a:t>T</a:t>
            </a:r>
            <a:r>
              <a:rPr lang="tr-TR" sz="2400" b="1" dirty="0"/>
              <a:t>=</a:t>
            </a:r>
            <a:r>
              <a:rPr lang="tr-TR" sz="2400" b="1" i="1" dirty="0"/>
              <a:t> A</a:t>
            </a:r>
            <a:r>
              <a:rPr lang="tr-TR" sz="2400" b="1" i="1" baseline="30000" dirty="0"/>
              <a:t>-1</a:t>
            </a:r>
            <a:r>
              <a:rPr lang="tr-TR" sz="2400" b="1" dirty="0"/>
              <a:t>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tr-TR" sz="2400" b="1" dirty="0"/>
              <a:t>A </a:t>
            </a:r>
            <a:r>
              <a:rPr lang="tr-TR" sz="2400" dirty="0" err="1"/>
              <a:t>complex</a:t>
            </a:r>
            <a:r>
              <a:rPr lang="tr-TR" sz="2400" dirty="0"/>
              <a:t> </a:t>
            </a:r>
            <a:r>
              <a:rPr lang="tr-TR" sz="2400" dirty="0" err="1"/>
              <a:t>matrix</a:t>
            </a:r>
            <a:r>
              <a:rPr lang="tr-TR" sz="2400" dirty="0"/>
              <a:t>,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 sz="2400" dirty="0"/>
              <a:t>A is </a:t>
            </a:r>
            <a:r>
              <a:rPr lang="tr-TR" sz="2400" dirty="0" err="1"/>
              <a:t>called</a:t>
            </a:r>
            <a:r>
              <a:rPr lang="tr-TR" sz="2400" dirty="0"/>
              <a:t> </a:t>
            </a:r>
            <a:r>
              <a:rPr lang="tr-TR" sz="2400" b="1" u="sng" dirty="0" err="1">
                <a:solidFill>
                  <a:schemeClr val="hlink"/>
                </a:solidFill>
                <a:hlinkClick r:id="rId3"/>
              </a:rPr>
              <a:t>Hermitian</a:t>
            </a:r>
            <a:r>
              <a:rPr lang="tr-TR" sz="2400" dirty="0"/>
              <a:t> </a:t>
            </a:r>
            <a:r>
              <a:rPr lang="tr-TR" sz="2400" dirty="0" err="1"/>
              <a:t>if</a:t>
            </a:r>
            <a:r>
              <a:rPr lang="tr-TR" sz="2400" dirty="0"/>
              <a:t> </a:t>
            </a:r>
            <a:r>
              <a:rPr lang="tr-TR" sz="2400" dirty="0" err="1"/>
              <a:t>its</a:t>
            </a:r>
            <a:r>
              <a:rPr lang="tr-TR" sz="2400" dirty="0"/>
              <a:t> </a:t>
            </a:r>
            <a:r>
              <a:rPr lang="tr-TR" sz="2400" dirty="0" err="1"/>
              <a:t>conjugate</a:t>
            </a:r>
            <a:r>
              <a:rPr lang="tr-TR" sz="2400" dirty="0"/>
              <a:t> </a:t>
            </a:r>
            <a:r>
              <a:rPr lang="tr-TR" sz="2400" dirty="0" err="1"/>
              <a:t>transpose</a:t>
            </a:r>
            <a:r>
              <a:rPr lang="tr-TR" sz="2400" dirty="0"/>
              <a:t> is </a:t>
            </a:r>
            <a:r>
              <a:rPr lang="tr-TR" sz="2400" dirty="0" err="1"/>
              <a:t>equal</a:t>
            </a:r>
            <a:r>
              <a:rPr lang="tr-TR" sz="2400" dirty="0"/>
              <a:t> </a:t>
            </a:r>
            <a:r>
              <a:rPr lang="tr-TR" sz="2400" dirty="0" err="1"/>
              <a:t>to</a:t>
            </a:r>
            <a:r>
              <a:rPr lang="tr-TR" sz="2400" dirty="0"/>
              <a:t> </a:t>
            </a:r>
            <a:r>
              <a:rPr lang="tr-TR" sz="2400" dirty="0" err="1"/>
              <a:t>itself</a:t>
            </a:r>
            <a:r>
              <a:rPr lang="tr-TR" sz="2400" dirty="0"/>
              <a:t>, 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tr-TR" sz="2800" b="1" i="1" dirty="0"/>
              <a:t>A</a:t>
            </a:r>
            <a:r>
              <a:rPr lang="tr-TR" sz="2800" b="1" baseline="30000" dirty="0"/>
              <a:t>∗</a:t>
            </a:r>
            <a:r>
              <a:rPr lang="tr-TR" sz="2800" b="1" i="1" baseline="30000" dirty="0"/>
              <a:t>T</a:t>
            </a:r>
            <a:r>
              <a:rPr lang="tr-TR" sz="2800" b="1" dirty="0"/>
              <a:t>=</a:t>
            </a:r>
            <a:r>
              <a:rPr lang="tr-TR" sz="2800" b="1" i="1" dirty="0"/>
              <a:t>A</a:t>
            </a:r>
            <a:r>
              <a:rPr lang="tr-TR" sz="2800" b="1" dirty="0"/>
              <a:t>.</a:t>
            </a:r>
            <a:endParaRPr sz="2800"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 sz="2400" dirty="0"/>
              <a:t>A is </a:t>
            </a:r>
            <a:r>
              <a:rPr lang="tr-TR" sz="2400" dirty="0" err="1"/>
              <a:t>called</a:t>
            </a:r>
            <a:r>
              <a:rPr lang="tr-TR" sz="2400" dirty="0"/>
              <a:t> </a:t>
            </a:r>
            <a:r>
              <a:rPr lang="tr-TR" sz="2400" b="1" u="sng" dirty="0" err="1">
                <a:solidFill>
                  <a:schemeClr val="hlink"/>
                </a:solidFill>
                <a:hlinkClick r:id="rId4"/>
              </a:rPr>
              <a:t>Unitary</a:t>
            </a:r>
            <a:r>
              <a:rPr lang="tr-TR" sz="2400" dirty="0"/>
              <a:t> </a:t>
            </a:r>
            <a:r>
              <a:rPr lang="tr-TR" sz="2400" dirty="0" err="1"/>
              <a:t>if</a:t>
            </a:r>
            <a:r>
              <a:rPr lang="tr-TR" sz="2400" dirty="0"/>
              <a:t> </a:t>
            </a:r>
            <a:r>
              <a:rPr lang="tr-TR" sz="2400" dirty="0" err="1"/>
              <a:t>its</a:t>
            </a:r>
            <a:r>
              <a:rPr lang="tr-TR" sz="2400" dirty="0"/>
              <a:t>  </a:t>
            </a:r>
            <a:r>
              <a:rPr lang="tr-TR" sz="2400" dirty="0" err="1"/>
              <a:t>conjugate</a:t>
            </a:r>
            <a:r>
              <a:rPr lang="tr-TR" sz="2400" dirty="0"/>
              <a:t> </a:t>
            </a:r>
            <a:r>
              <a:rPr lang="tr-TR" sz="2400" dirty="0" err="1"/>
              <a:t>transpose</a:t>
            </a:r>
            <a:r>
              <a:rPr lang="tr-TR" sz="2400" dirty="0"/>
              <a:t> is </a:t>
            </a:r>
            <a:r>
              <a:rPr lang="tr-TR" sz="2400" dirty="0" err="1"/>
              <a:t>equal</a:t>
            </a:r>
            <a:r>
              <a:rPr lang="tr-TR" sz="2400" dirty="0"/>
              <a:t> </a:t>
            </a:r>
            <a:r>
              <a:rPr lang="tr-TR" sz="2400" dirty="0" err="1"/>
              <a:t>to</a:t>
            </a:r>
            <a:r>
              <a:rPr lang="tr-TR" sz="2400" dirty="0"/>
              <a:t> </a:t>
            </a:r>
            <a:r>
              <a:rPr lang="tr-TR" sz="2400" dirty="0" err="1"/>
              <a:t>its</a:t>
            </a:r>
            <a:r>
              <a:rPr lang="tr-TR" sz="2400" dirty="0"/>
              <a:t> </a:t>
            </a:r>
            <a:r>
              <a:rPr lang="tr-TR" sz="2400" dirty="0" err="1"/>
              <a:t>inverse</a:t>
            </a:r>
            <a:r>
              <a:rPr lang="tr-TR" sz="2400" dirty="0"/>
              <a:t>, </a:t>
            </a:r>
            <a:r>
              <a:rPr lang="tr-TR" sz="2400" i="1" dirty="0"/>
              <a:t> 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tr-TR" sz="2800" b="1" i="1" dirty="0"/>
              <a:t>A</a:t>
            </a:r>
            <a:r>
              <a:rPr lang="tr-TR" sz="2800" b="1" baseline="30000" dirty="0"/>
              <a:t>∗</a:t>
            </a:r>
            <a:r>
              <a:rPr lang="tr-TR" sz="2800" b="1" i="1" baseline="30000" dirty="0"/>
              <a:t>T</a:t>
            </a:r>
            <a:r>
              <a:rPr lang="tr-TR" sz="2800" b="1" i="1" dirty="0"/>
              <a:t>A =I </a:t>
            </a:r>
            <a:r>
              <a:rPr lang="tr-TR" sz="2800" b="1" dirty="0"/>
              <a:t>. </a:t>
            </a:r>
            <a:endParaRPr sz="2800"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 sz="2400" dirty="0"/>
              <a:t>A is </a:t>
            </a:r>
            <a:r>
              <a:rPr lang="tr-TR" sz="2400" dirty="0" err="1"/>
              <a:t>called</a:t>
            </a:r>
            <a:r>
              <a:rPr lang="tr-TR" sz="2400" dirty="0"/>
              <a:t> </a:t>
            </a:r>
            <a:r>
              <a:rPr lang="tr-TR" sz="2400" b="1" u="sng" dirty="0" err="1">
                <a:solidFill>
                  <a:schemeClr val="accent1"/>
                </a:solidFill>
              </a:rPr>
              <a:t>Hermitian</a:t>
            </a:r>
            <a:r>
              <a:rPr lang="tr-TR" sz="2400" b="1" u="sng" dirty="0">
                <a:solidFill>
                  <a:schemeClr val="accent1"/>
                </a:solidFill>
              </a:rPr>
              <a:t> </a:t>
            </a:r>
            <a:r>
              <a:rPr lang="tr-TR" sz="2400" b="1" u="sng" dirty="0" err="1">
                <a:solidFill>
                  <a:schemeClr val="accent1"/>
                </a:solidFill>
              </a:rPr>
              <a:t>and</a:t>
            </a:r>
            <a:r>
              <a:rPr lang="tr-TR" sz="2400" b="1" u="sng" dirty="0">
                <a:solidFill>
                  <a:schemeClr val="accent1"/>
                </a:solidFill>
              </a:rPr>
              <a:t> </a:t>
            </a:r>
            <a:r>
              <a:rPr lang="tr-TR" sz="2400" b="1" u="sng" dirty="0" err="1">
                <a:solidFill>
                  <a:schemeClr val="accent1"/>
                </a:solidFill>
              </a:rPr>
              <a:t>Unitary</a:t>
            </a:r>
            <a:r>
              <a:rPr lang="tr-TR" sz="2400" dirty="0"/>
              <a:t> </a:t>
            </a:r>
            <a:r>
              <a:rPr lang="tr-TR" sz="2400" dirty="0" err="1"/>
              <a:t>if</a:t>
            </a:r>
            <a:r>
              <a:rPr lang="tr-TR" sz="2400" dirty="0"/>
              <a:t> it is </a:t>
            </a:r>
            <a:r>
              <a:rPr lang="tr-TR" sz="2400" dirty="0" err="1"/>
              <a:t>equal</a:t>
            </a:r>
            <a:r>
              <a:rPr lang="tr-TR" sz="2400" dirty="0"/>
              <a:t> </a:t>
            </a:r>
            <a:r>
              <a:rPr lang="tr-TR" sz="2400" dirty="0" err="1"/>
              <a:t>to</a:t>
            </a:r>
            <a:r>
              <a:rPr lang="tr-TR" sz="2400" dirty="0"/>
              <a:t> </a:t>
            </a:r>
            <a:r>
              <a:rPr lang="tr-TR" sz="2400" dirty="0" err="1"/>
              <a:t>its</a:t>
            </a:r>
            <a:r>
              <a:rPr lang="tr-TR" sz="2400" dirty="0"/>
              <a:t> </a:t>
            </a:r>
            <a:r>
              <a:rPr lang="tr-TR" sz="2400" dirty="0" err="1"/>
              <a:t>inverse</a:t>
            </a:r>
            <a:r>
              <a:rPr lang="tr-TR" sz="2400" dirty="0"/>
              <a:t>,  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tr-TR" sz="2800" b="1" i="1" dirty="0"/>
              <a:t>A</a:t>
            </a:r>
            <a:r>
              <a:rPr lang="tr-TR" sz="2800" b="1" i="1" baseline="30000" dirty="0"/>
              <a:t>-1</a:t>
            </a:r>
            <a:r>
              <a:rPr lang="tr-TR" sz="2800" b="1" dirty="0"/>
              <a:t>= </a:t>
            </a:r>
            <a:r>
              <a:rPr lang="tr-TR" sz="2800" b="1" i="1" dirty="0"/>
              <a:t>A</a:t>
            </a:r>
            <a:r>
              <a:rPr lang="tr-TR" sz="2800" b="1" dirty="0"/>
              <a:t>.</a:t>
            </a:r>
            <a:endParaRPr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179EE-ED72-4CE3-B02A-27AB050FA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Ex: Show that the following matrix is orthogonal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FEBC206-C1ED-44F0-A5A8-297431970F0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 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os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m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  <m:brk m:alnAt="7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os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mr>
                    </m:m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FEBC206-C1ED-44F0-A5A8-297431970F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11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/>
              <a:t>Matrix similarity transforms</a:t>
            </a:r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701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tr-TR" dirty="0"/>
              <a:t> 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>
            <a:spLocks noGrp="1"/>
          </p:cNvSpPr>
          <p:nvPr>
            <p:ph type="ctrTitle"/>
          </p:nvPr>
        </p:nvSpPr>
        <p:spPr>
          <a:xfrm>
            <a:off x="1060450" y="474663"/>
            <a:ext cx="7635875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Calibri"/>
              <a:buNone/>
            </a:pPr>
            <a:r>
              <a:rPr lang="tr-TR" sz="4050"/>
              <a:t>	Fourier Transform</a:t>
            </a:r>
            <a:br>
              <a:rPr lang="tr-TR" sz="4050"/>
            </a:br>
            <a:r>
              <a:rPr lang="tr-TR" sz="4050"/>
              <a:t>J.B. Fourier 1768-1830</a:t>
            </a:r>
            <a:br>
              <a:rPr lang="tr-TR" sz="4050"/>
            </a:br>
            <a:endParaRPr sz="4050"/>
          </a:p>
        </p:txBody>
      </p:sp>
      <p:pic>
        <p:nvPicPr>
          <p:cNvPr id="129" name="Google Shape;129;p6" descr="C:\Users\fatos\Desktop\524px-Fourier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763" y="1960563"/>
            <a:ext cx="3881437" cy="4438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215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Calibri"/>
              <a:buNone/>
            </a:pPr>
            <a:r>
              <a:rPr lang="en-US" sz="2970" dirty="0"/>
              <a:t>Fourier Transform of Continuous Functions: Almost all function can be represented as weighted exponentials of complex exponentials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Google Shape;174;p1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8650" y="1825625"/>
                <a:ext cx="78867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lang="ar-AE" sz="2800" i="1" dirty="0"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lang="ar-AE" sz="2800" i="1" dirty="0"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800" i="1" dirty="0" smtClean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𝐹</m:t>
                      </m:r>
                      <m:d>
                        <m:dPr>
                          <m:ctrlPr>
                            <a:rPr lang="ar-AE" sz="2800" i="1" dirty="0" smtClean="0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dPr>
                        <m:e>
                          <m:r>
                            <a:rPr lang="ar-AE" sz="2800" i="1" dirty="0" smtClean="0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𝑢</m:t>
                          </m:r>
                        </m:e>
                      </m:d>
                      <m:r>
                        <a:rPr lang="ar-AE" sz="2800" i="1" dirty="0" smtClean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≜    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ar-AE" sz="2800" i="1" dirty="0" smtClean="0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2800" i="1" dirty="0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𝑓</m:t>
                          </m:r>
                          <m:d>
                            <m:dPr>
                              <m:ctrlPr>
                                <a:rPr lang="ar-AE" sz="2800" i="1" dirty="0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ar-AE" sz="2800" i="1" dirty="0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𝑥</m:t>
                              </m:r>
                              <m:r>
                                <a:rPr lang="ar-AE" sz="2800" i="1" dirty="0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 </m:t>
                              </m:r>
                            </m:e>
                          </m:d>
                        </m:e>
                      </m:nary>
                      <m:r>
                        <a:rPr lang="ar-AE" sz="2800" i="1" dirty="0" smtClean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i="1" dirty="0" smtClean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e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 </m:t>
                      </m:r>
                      <m:r>
                        <a:rPr lang="en-US" sz="2800" i="1" baseline="30000" dirty="0" smtClean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2</m:t>
                      </m:r>
                      <m:r>
                        <a:rPr lang="en-US" sz="2800" i="1" baseline="30000" dirty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𝜋</m:t>
                      </m:r>
                      <m:r>
                        <a:rPr lang="en-US" sz="2800" i="1" baseline="30000" dirty="0" err="1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𝑗𝑢𝑥</m:t>
                      </m:r>
                      <m:r>
                        <a:rPr lang="en-US" sz="2800" i="1" baseline="30000" dirty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      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𝑑𝑥</m:t>
                      </m:r>
                    </m:oMath>
                  </m:oMathPara>
                </a14:m>
                <a:endParaRPr lang="en-US" sz="2800" dirty="0"/>
              </a:p>
              <a:p>
                <a:pPr marL="0" lvl="0" indent="0" algn="ctr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lang="en-US" sz="2800" dirty="0"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>
                  <a:buSzPts val="2800"/>
                  <a:buNone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 ∫​  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sSup>
                      <m:sSup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m:rPr>
                            <m:sty m:val="p"/>
                          </m:rPr>
                          <a:rPr lang="en-US" sz="2800" i="1" dirty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sz="2800" i="1" baseline="30000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 baseline="30000" dirty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2800" i="1" baseline="30000" dirty="0" err="1">
                            <a:latin typeface="Cambria Math" panose="02040503050406030204" pitchFamily="18" charset="0"/>
                          </a:rPr>
                          <m:t>𝑗𝑢𝑥</m:t>
                        </m:r>
                      </m:sup>
                    </m:sSup>
                  </m:oMath>
                </a14:m>
                <a:r>
                  <a:rPr lang="en-US" sz="2800" dirty="0"/>
                  <a:t> du</a:t>
                </a:r>
              </a:p>
              <a:p>
                <a:pPr marL="0" lvl="0" indent="0" algn="ctr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lang="en-US" sz="2800" dirty="0">
                  <a:latin typeface="Lato"/>
                  <a:ea typeface="Lato"/>
                  <a:cs typeface="Lato"/>
                  <a:sym typeface="Lato"/>
                </a:endParaRPr>
              </a:p>
              <a:p>
                <a:pPr marL="0" lvl="0" indent="0" algn="ctr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lang="en-US" sz="2800" dirty="0">
                  <a:latin typeface="Lato"/>
                  <a:ea typeface="Lato"/>
                  <a:cs typeface="Lato"/>
                  <a:sym typeface="Lato"/>
                </a:endParaRPr>
              </a:p>
              <a:p>
                <a:pPr marL="171450" lvl="0" indent="-1714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Char char="•"/>
                </a:pPr>
                <a:r>
                  <a:rPr lang="en-US" dirty="0"/>
                  <a:t>Note: F(u) is represented in a Hilbert space spanned by complex exponentials</a:t>
                </a:r>
              </a:p>
            </p:txBody>
          </p:sp>
        </mc:Choice>
        <mc:Fallback xmlns="">
          <p:sp>
            <p:nvSpPr>
              <p:cNvPr id="174" name="Google Shape;174;p1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1825625"/>
                <a:ext cx="7886700" cy="4351338"/>
              </a:xfrm>
              <a:prstGeom prst="rect">
                <a:avLst/>
              </a:prstGeom>
              <a:blipFill>
                <a:blip r:embed="rId3"/>
                <a:stretch>
                  <a:fillRect l="-7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2828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Calibri"/>
              <a:buNone/>
            </a:pPr>
            <a:r>
              <a:rPr lang="tr-TR" sz="2800" dirty="0" err="1"/>
              <a:t>Fourier</a:t>
            </a:r>
            <a:r>
              <a:rPr lang="tr-TR" sz="2800" dirty="0"/>
              <a:t> </a:t>
            </a:r>
            <a:r>
              <a:rPr lang="tr-TR" sz="2800" dirty="0" err="1"/>
              <a:t>Transform</a:t>
            </a:r>
            <a:r>
              <a:rPr lang="tr-TR" sz="2800" dirty="0"/>
              <a:t> </a:t>
            </a:r>
            <a:r>
              <a:rPr lang="tr-TR" sz="2800" dirty="0" err="1"/>
              <a:t>for</a:t>
            </a:r>
            <a:r>
              <a:rPr lang="tr-TR" sz="2800" dirty="0"/>
              <a:t> </a:t>
            </a:r>
            <a:r>
              <a:rPr lang="en-US" sz="2800" dirty="0"/>
              <a:t>2-d </a:t>
            </a:r>
            <a:r>
              <a:rPr lang="tr-TR" sz="2800" dirty="0" err="1"/>
              <a:t>Discrete</a:t>
            </a:r>
            <a:r>
              <a:rPr lang="tr-TR" sz="2800" dirty="0"/>
              <a:t> </a:t>
            </a:r>
            <a:r>
              <a:rPr lang="en-US" sz="2800" dirty="0"/>
              <a:t>F</a:t>
            </a:r>
            <a:r>
              <a:rPr lang="tr-TR" sz="2800" dirty="0" err="1"/>
              <a:t>unctions</a:t>
            </a:r>
            <a:r>
              <a:rPr lang="tr-TR" sz="2800" dirty="0"/>
              <a:t>:</a:t>
            </a:r>
            <a:br>
              <a:rPr lang="tr-TR" sz="2800" dirty="0"/>
            </a:br>
            <a:r>
              <a:rPr lang="tr-TR" sz="2800" dirty="0"/>
              <a:t>A</a:t>
            </a:r>
            <a:r>
              <a:rPr lang="en-US" sz="2800" dirty="0" err="1"/>
              <a:t>lmost</a:t>
            </a:r>
            <a:r>
              <a:rPr lang="en-US" sz="2800" dirty="0"/>
              <a:t> all</a:t>
            </a:r>
            <a:r>
              <a:rPr lang="tr-TR" sz="2800" dirty="0"/>
              <a:t> </a:t>
            </a:r>
            <a:r>
              <a:rPr lang="en-US" sz="2800" dirty="0"/>
              <a:t>2-d </a:t>
            </a:r>
            <a:r>
              <a:rPr lang="tr-TR" sz="2800" dirty="0" err="1"/>
              <a:t>function</a:t>
            </a:r>
            <a:r>
              <a:rPr lang="en-US" sz="2800" dirty="0"/>
              <a:t>s</a:t>
            </a:r>
            <a:r>
              <a:rPr lang="tr-TR" sz="2800" dirty="0"/>
              <a:t> can be </a:t>
            </a:r>
            <a:r>
              <a:rPr lang="tr-TR" sz="2800" dirty="0" err="1"/>
              <a:t>represented</a:t>
            </a:r>
            <a:r>
              <a:rPr lang="tr-TR" sz="2800" dirty="0"/>
              <a:t> as </a:t>
            </a:r>
            <a:r>
              <a:rPr lang="tr-TR" sz="2800" dirty="0" err="1"/>
              <a:t>linear</a:t>
            </a:r>
            <a:r>
              <a:rPr lang="tr-TR" sz="2800" dirty="0"/>
              <a:t> </a:t>
            </a:r>
            <a:r>
              <a:rPr lang="tr-TR" sz="2800" dirty="0" err="1"/>
              <a:t>combination</a:t>
            </a:r>
            <a:r>
              <a:rPr lang="tr-TR" sz="2800" dirty="0"/>
              <a:t> of </a:t>
            </a:r>
            <a:r>
              <a:rPr lang="tr-TR" sz="2800" dirty="0" err="1"/>
              <a:t>complex</a:t>
            </a:r>
            <a:r>
              <a:rPr lang="tr-TR" sz="2800" dirty="0"/>
              <a:t> </a:t>
            </a:r>
            <a:r>
              <a:rPr lang="tr-TR" sz="2800" dirty="0" err="1"/>
              <a:t>exponentials</a:t>
            </a:r>
            <a:endParaRPr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Google Shape;180;p1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8650" y="2696981"/>
                <a:ext cx="7886700" cy="35312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800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ar-AE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2800" b="0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ar-AE" sz="2800" b="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2800" b="0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 sz="2800" b="0" i="1" dirty="0">
                          <a:latin typeface="Cambria Math" panose="02040503050406030204" pitchFamily="18" charset="0"/>
                        </a:rPr>
                        <m:t>)=∑ ∑ ​</m:t>
                      </m:r>
                      <m:r>
                        <a:rPr lang="ar-AE" sz="2800" b="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ar-AE" sz="2800" b="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2800" b="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800" b="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2800" b="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2800" b="0" i="1" dirty="0">
                          <a:latin typeface="Cambria Math" panose="02040503050406030204" pitchFamily="18" charset="0"/>
                        </a:rPr>
                        <m:t>) </m:t>
                      </m:r>
                      <m:sSup>
                        <m:sSupPr>
                          <m:ctrlPr>
                            <a:rPr lang="ar-AE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𝑥𝑢</m:t>
                              </m:r>
                            </m:num>
                            <m:den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𝑦𝑣</m:t>
                              </m:r>
                            </m:num>
                            <m:den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ar-AE" sz="2800" dirty="0"/>
              </a:p>
              <a:p>
                <a:pPr marL="0" lvl="0" indent="0" algn="ctr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lang="ar-AE" sz="2800" b="1" dirty="0"/>
              </a:p>
              <a:p>
                <a:pPr marL="0" lvl="0" indent="0" algn="ctr"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8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b="0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800" b="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2800" b="0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 sz="2800" b="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𝑀𝑁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2800" b="0" i="1" dirty="0">
                          <a:latin typeface="Cambria Math" panose="02040503050406030204" pitchFamily="18" charset="0"/>
                        </a:rPr>
                        <m:t>∑  ∑ ​</m:t>
                      </m:r>
                      <m:r>
                        <a:rPr lang="ar-AE" sz="2800" b="0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ar-AE" sz="2800" b="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2800" b="0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ar-AE" sz="2800" b="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2800" b="0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 sz="2800" b="0" i="1" dirty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ar-AE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𝑥𝑢</m:t>
                              </m:r>
                            </m:num>
                            <m:den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𝑦𝑣</m:t>
                              </m:r>
                            </m:num>
                            <m:den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sz="2800" baseline="30000" dirty="0"/>
              </a:p>
            </p:txBody>
          </p:sp>
        </mc:Choice>
        <mc:Fallback xmlns="">
          <p:sp>
            <p:nvSpPr>
              <p:cNvPr id="180" name="Google Shape;180;p1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2696981"/>
                <a:ext cx="7886700" cy="3531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973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>
            <a:spLocks noGrp="1"/>
          </p:cNvSpPr>
          <p:nvPr>
            <p:ph type="title"/>
          </p:nvPr>
        </p:nvSpPr>
        <p:spPr>
          <a:xfrm>
            <a:off x="628649" y="370292"/>
            <a:ext cx="810422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tr-TR" sz="4000" dirty="0" err="1"/>
              <a:t>Basis</a:t>
            </a:r>
            <a:r>
              <a:rPr lang="tr-TR" sz="4000" dirty="0"/>
              <a:t> </a:t>
            </a:r>
            <a:r>
              <a:rPr lang="tr-TR" sz="4000" dirty="0" err="1"/>
              <a:t>functions</a:t>
            </a:r>
            <a:r>
              <a:rPr lang="tr-TR" sz="4000" dirty="0"/>
              <a:t> of 2-D </a:t>
            </a:r>
            <a:r>
              <a:rPr lang="tr-TR" sz="4000" dirty="0" err="1"/>
              <a:t>Fourier</a:t>
            </a:r>
            <a:r>
              <a:rPr lang="tr-TR" sz="4000" dirty="0"/>
              <a:t> Domain</a:t>
            </a:r>
            <a:endParaRPr dirty="0"/>
          </a:p>
        </p:txBody>
      </p:sp>
      <p:pic>
        <p:nvPicPr>
          <p:cNvPr id="192" name="Google Shape;192;p15" descr="004"/>
          <p:cNvPicPr preferRelativeResize="0"/>
          <p:nvPr/>
        </p:nvPicPr>
        <p:blipFill rotWithShape="1">
          <a:blip r:embed="rId3">
            <a:alphaModFix/>
          </a:blip>
          <a:srcRect t="16222"/>
          <a:stretch/>
        </p:blipFill>
        <p:spPr>
          <a:xfrm>
            <a:off x="812800" y="1600200"/>
            <a:ext cx="5943600" cy="323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800" y="5018088"/>
            <a:ext cx="4343400" cy="94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5"/>
          <p:cNvSpPr txBox="1"/>
          <p:nvPr/>
        </p:nvSpPr>
        <p:spPr>
          <a:xfrm>
            <a:off x="5413884" y="5310690"/>
            <a:ext cx="3318986" cy="43749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140" b="-3142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dirty="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4802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2-D </a:t>
            </a:r>
            <a:r>
              <a:rPr lang="tr-TR" dirty="0" err="1"/>
              <a:t>Discrete</a:t>
            </a:r>
            <a:r>
              <a:rPr lang="tr-TR" dirty="0"/>
              <a:t> </a:t>
            </a:r>
            <a:r>
              <a:rPr lang="tr-TR" dirty="0" err="1"/>
              <a:t>Fourier</a:t>
            </a:r>
            <a:r>
              <a:rPr lang="tr-TR" dirty="0"/>
              <a:t> </a:t>
            </a:r>
            <a:r>
              <a:rPr lang="tr-TR" dirty="0" err="1"/>
              <a:t>transform</a:t>
            </a:r>
            <a:r>
              <a:rPr lang="tr-TR" dirty="0"/>
              <a:t> as </a:t>
            </a:r>
            <a:r>
              <a:rPr lang="en-US" dirty="0"/>
              <a:t>m</a:t>
            </a:r>
            <a:r>
              <a:rPr lang="tr-TR" dirty="0" err="1"/>
              <a:t>atrix</a:t>
            </a:r>
            <a:r>
              <a:rPr lang="tr-TR" dirty="0"/>
              <a:t> </a:t>
            </a:r>
            <a:r>
              <a:rPr lang="tr-TR" dirty="0" err="1"/>
              <a:t>similarity</a:t>
            </a:r>
            <a:r>
              <a:rPr lang="tr-TR" dirty="0"/>
              <a:t> </a:t>
            </a:r>
            <a:r>
              <a:rPr lang="tr-TR" dirty="0" err="1"/>
              <a:t>transform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Google Shape;218;p19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8650" y="2645663"/>
                <a:ext cx="7886700" cy="35312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80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ar-AE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2800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ar-AE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2800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 sz="2800" i="1" dirty="0">
                          <a:latin typeface="Cambria Math" panose="02040503050406030204" pitchFamily="18" charset="0"/>
                        </a:rPr>
                        <m:t>)=∑ ∑​</m:t>
                      </m:r>
                      <m:r>
                        <a:rPr lang="ar-AE" sz="28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ar-AE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28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28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2800" i="1" dirty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ar-AE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𝑥𝑢</m:t>
                              </m:r>
                            </m:num>
                            <m:den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𝑦𝑣</m:t>
                              </m:r>
                            </m:num>
                            <m:den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sup>
                      </m:sSup>
                      <m:r>
                        <a:rPr lang="ar-AE" sz="2800" i="1" baseline="30000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2800" dirty="0"/>
              </a:p>
              <a:p>
                <a:pPr marL="0" lvl="0" indent="0" algn="ctr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lang="en-US" sz="2800" dirty="0"/>
              </a:p>
              <a:p>
                <a:pPr marL="0" lvl="0" indent="0" algn="ctr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lang="ar-AE" sz="2800" dirty="0"/>
              </a:p>
              <a:p>
                <a:pPr marL="0" lvl="0" indent="0" algn="ctr"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8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2800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𝑀𝑁</m:t>
                          </m:r>
                        </m:den>
                      </m:f>
                      <m:r>
                        <a:rPr lang="ar-AE" sz="2800" i="1" dirty="0">
                          <a:latin typeface="Cambria Math" panose="02040503050406030204" pitchFamily="18" charset="0"/>
                        </a:rPr>
                        <m:t>∑  ∑​</m:t>
                      </m:r>
                      <m:r>
                        <a:rPr lang="ar-AE" sz="2800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ar-AE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2800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ar-AE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2800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 sz="2800" i="1" dirty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ar-AE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𝑥𝑢</m:t>
                              </m:r>
                            </m:num>
                            <m:den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𝑦𝑣</m:t>
                              </m:r>
                            </m:num>
                            <m:den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sup>
                      </m:sSup>
                      <m:r>
                        <a:rPr lang="ar-AE" sz="2800" i="1" baseline="30000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800" baseline="30000" dirty="0"/>
              </a:p>
            </p:txBody>
          </p:sp>
        </mc:Choice>
        <mc:Fallback xmlns="">
          <p:sp>
            <p:nvSpPr>
              <p:cNvPr id="218" name="Google Shape;218;p1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2645663"/>
                <a:ext cx="7886700" cy="3531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F4C932-236D-4746-A5D0-5BF92883459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Fourier Domain Basis Functions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3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36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sz="3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sz="3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3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𝑥𝑢</m:t>
                            </m:r>
                          </m:num>
                          <m:den>
                            <m:r>
                              <a:rPr lang="en-US" sz="3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r>
                          <a:rPr lang="en-US" sz="3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en-US" sz="3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𝑦𝑣</m:t>
                            </m:r>
                          </m:num>
                          <m:den>
                            <m:r>
                              <a:rPr lang="en-US" sz="3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sup>
                    </m:sSup>
                    <m:r>
                      <a:rPr lang="ar-AE" sz="3600" i="1" baseline="300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ar-AE" sz="3600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F4C932-236D-4746-A5D0-5BF9288345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7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2B4E8880-4467-4058-8014-9E65A54ABD5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2400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ar-AE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2400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)=∑ ∑​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ar-AE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𝑥𝑢</m:t>
                              </m:r>
                            </m:num>
                            <m:den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𝑦𝑣</m:t>
                              </m:r>
                            </m:num>
                            <m:den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sup>
                      </m:sSup>
                      <m:r>
                        <a:rPr lang="ar-AE" sz="2400" i="1" baseline="30000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2B4E8880-4467-4058-8014-9E65A54ABD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8881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/>
              <a:t>Split the complex exponential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Google Shape;224;p2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8650" y="1830290"/>
                <a:ext cx="78867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80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tr-T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)=∑ ∑</m:t>
                      </m:r>
                      <m:r>
                        <m:rPr>
                          <m:sty m:val="p"/>
                        </m:rPr>
                        <a:rPr lang="el-GR" sz="2800" i="0" dirty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𝑀𝑀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l-GR" sz="2800" i="0" dirty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tr-TR" dirty="0"/>
              </a:p>
              <a:p>
                <a:pPr marL="0" lvl="0" indent="0" algn="ctr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lang="tr-TR" sz="2800" dirty="0"/>
              </a:p>
              <a:p>
                <a:pPr marL="0" lvl="0" indent="0" algn="ctr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r>
                  <a:rPr lang="tr-TR" sz="2800" dirty="0"/>
                  <a:t>Define </a:t>
                </a:r>
                <a:r>
                  <a:rPr lang="tr-TR" sz="2800" dirty="0" err="1"/>
                  <a:t>the</a:t>
                </a:r>
                <a:r>
                  <a:rPr lang="tr-TR" sz="2800" dirty="0"/>
                  <a:t> </a:t>
                </a:r>
                <a:r>
                  <a:rPr lang="tr-TR" sz="2800" dirty="0" err="1"/>
                  <a:t>Fourier</a:t>
                </a:r>
                <a:r>
                  <a:rPr lang="tr-TR" sz="2800" dirty="0"/>
                  <a:t> </a:t>
                </a:r>
                <a:r>
                  <a:rPr lang="tr-TR" sz="2800" dirty="0" err="1"/>
                  <a:t>Matrix</a:t>
                </a:r>
                <a:endParaRPr lang="tr-TR" sz="2800" dirty="0"/>
              </a:p>
              <a:p>
                <a:pPr marL="0" lvl="0" indent="0" algn="ctr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lang="tr-TR" sz="2800" dirty="0"/>
              </a:p>
              <a:p>
                <a:pPr marL="0" lvl="0" indent="0">
                  <a:buSzPts val="2800"/>
                  <a:buNone/>
                </a:pPr>
                <a:r>
                  <a:rPr lang="tr-TR" sz="2800" dirty="0"/>
                  <a:t> </a:t>
                </a:r>
                <a:r>
                  <a:rPr lang="en-US" sz="2800" dirty="0"/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0" dirty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tr-TR" sz="2800" i="1" baseline="-25000" dirty="0">
                        <a:latin typeface="Cambria Math" panose="02040503050406030204" pitchFamily="18" charset="0"/>
                      </a:rPr>
                      <m:t>𝑀𝑀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​   = [</m:t>
                    </m:r>
                    <m:r>
                      <m:rPr>
                        <m:sty m:val="p"/>
                      </m:rPr>
                      <a:rPr lang="el-GR" sz="2800" i="0" dirty="0">
                        <a:latin typeface="Cambria Math" panose="02040503050406030204" pitchFamily="18" charset="0"/>
                      </a:rPr>
                      <m:t>Φ</m:t>
                    </m:r>
                    <m:r>
                      <a:rPr lang="tr-TR" sz="2800" i="1" baseline="-25000" dirty="0">
                        <a:latin typeface="Cambria Math" panose="02040503050406030204" pitchFamily="18" charset="0"/>
                      </a:rPr>
                      <m:t>𝑀𝑀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)] </m:t>
                    </m:r>
                  </m:oMath>
                </a14:m>
                <a:r>
                  <a:rPr lang="tr-TR" sz="2800" dirty="0"/>
                  <a:t>= 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28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8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ar-AE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ar-AE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𝑥𝑢</m:t>
                            </m:r>
                          </m:num>
                          <m:den>
                            <m:r>
                              <a:rPr lang="ar-AE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r>
                          <a:rPr lang="ar-AE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sz="2800" dirty="0"/>
                  <a:t>]</a:t>
                </a:r>
              </a:p>
              <a:p>
                <a:pPr marL="0" lvl="0" indent="0">
                  <a:buSzPts val="2800"/>
                  <a:buNone/>
                </a:pPr>
                <a:endParaRPr lang="ar-AE" sz="2800" dirty="0"/>
              </a:p>
              <a:p>
                <a:pPr marL="0" lvl="0" indent="0">
                  <a:buSzPts val="2800"/>
                  <a:buNone/>
                </a:pP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l-GR" sz="2800" i="0" dirty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sz="2800" i="1" baseline="-25000" dirty="0">
                        <a:latin typeface="Cambria Math" panose="02040503050406030204" pitchFamily="18" charset="0"/>
                      </a:rPr>
                      <m:t>𝑁𝑁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​   = [</m:t>
                    </m:r>
                    <m:r>
                      <m:rPr>
                        <m:sty m:val="p"/>
                      </m:rPr>
                      <a:rPr lang="el-GR" sz="2800" i="0" dirty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sz="2800" i="1" baseline="-25000" dirty="0">
                        <a:latin typeface="Cambria Math" panose="02040503050406030204" pitchFamily="18" charset="0"/>
                      </a:rPr>
                      <m:t>𝑁𝑁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)] </m:t>
                    </m:r>
                  </m:oMath>
                </a14:m>
                <a:r>
                  <a:rPr lang="tr-TR" sz="2800" dirty="0"/>
                  <a:t>= [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28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8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ar-AE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f>
                          <m:fPr>
                            <m:ctrlPr>
                              <a:rPr lang="ar-AE" sz="2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ar-AE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sz="2800" dirty="0"/>
                  <a:t>]</a:t>
                </a:r>
                <a:endParaRPr lang="ar-AE" sz="2800" dirty="0"/>
              </a:p>
              <a:p>
                <a:pPr marL="0" lvl="0" indent="0" algn="ctr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sz="2800" dirty="0"/>
              </a:p>
            </p:txBody>
          </p:sp>
        </mc:Choice>
        <mc:Fallback xmlns="">
          <p:sp>
            <p:nvSpPr>
              <p:cNvPr id="224" name="Google Shape;224;p2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1830290"/>
                <a:ext cx="7886700" cy="4351338"/>
              </a:xfrm>
              <a:prstGeom prst="rect">
                <a:avLst/>
              </a:prstGeom>
              <a:blipFill>
                <a:blip r:embed="rId3"/>
                <a:stretch>
                  <a:fillRect l="-15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/>
              <a:t>Define Image and Fourier matrix</a:t>
            </a:r>
            <a:endParaRPr/>
          </a:p>
        </p:txBody>
      </p:sp>
      <p:sp>
        <p:nvSpPr>
          <p:cNvPr id="230" name="Google Shape;230;p2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 sz="2800" dirty="0"/>
              <a:t>Set </a:t>
            </a:r>
            <a:r>
              <a:rPr lang="tr-TR" sz="2800" dirty="0" err="1"/>
              <a:t>the</a:t>
            </a:r>
            <a:r>
              <a:rPr lang="tr-TR" sz="2800" dirty="0"/>
              <a:t> </a:t>
            </a:r>
            <a:r>
              <a:rPr lang="tr-TR" sz="2800" dirty="0" err="1"/>
              <a:t>image</a:t>
            </a:r>
            <a:r>
              <a:rPr lang="tr-TR" sz="2800" dirty="0"/>
              <a:t> </a:t>
            </a:r>
            <a:r>
              <a:rPr lang="tr-TR" sz="2800" dirty="0" err="1"/>
              <a:t>matrix</a:t>
            </a:r>
            <a:r>
              <a:rPr lang="tr-TR" sz="2800" dirty="0"/>
              <a:t> as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sz="2800" dirty="0"/>
              <a:t>  </a:t>
            </a:r>
            <a:r>
              <a:rPr lang="tr-TR" sz="2800" b="1" dirty="0"/>
              <a:t>f</a:t>
            </a:r>
            <a:r>
              <a:rPr lang="tr-TR" sz="2800" dirty="0"/>
              <a:t> = [f(</a:t>
            </a:r>
            <a:r>
              <a:rPr lang="tr-TR" sz="2800" dirty="0" err="1"/>
              <a:t>x,y</a:t>
            </a:r>
            <a:r>
              <a:rPr lang="tr-TR" sz="2800" dirty="0"/>
              <a:t>)]</a:t>
            </a:r>
            <a:r>
              <a:rPr lang="en-US" sz="2800" dirty="0"/>
              <a:t> =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/>
          </a:p>
          <a:p>
            <a:pPr marL="171450" lvl="0" indent="-1778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 sz="2800" dirty="0"/>
              <a:t>Set </a:t>
            </a:r>
            <a:r>
              <a:rPr lang="tr-TR" sz="2800" dirty="0" err="1"/>
              <a:t>the</a:t>
            </a:r>
            <a:r>
              <a:rPr lang="tr-TR" sz="2800" dirty="0"/>
              <a:t> </a:t>
            </a:r>
            <a:r>
              <a:rPr lang="tr-TR" sz="2800" dirty="0" err="1"/>
              <a:t>Fourier</a:t>
            </a:r>
            <a:r>
              <a:rPr lang="tr-TR" sz="2800" dirty="0"/>
              <a:t> </a:t>
            </a:r>
            <a:r>
              <a:rPr lang="tr-TR" sz="2800" dirty="0" err="1"/>
              <a:t>matrix</a:t>
            </a:r>
            <a:endParaRPr dirty="0"/>
          </a:p>
        </p:txBody>
      </p:sp>
      <p:sp>
        <p:nvSpPr>
          <p:cNvPr id="231" name="Google Shape;231;p21"/>
          <p:cNvSpPr/>
          <p:nvPr/>
        </p:nvSpPr>
        <p:spPr>
          <a:xfrm>
            <a:off x="766205" y="4380792"/>
            <a:ext cx="196666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1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r-T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tr-TR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tr-T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tr-TR" sz="2400" i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tr-TR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tr-TR" sz="2400" i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tr-T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)] =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>
            <a:spLocks noGrp="1"/>
          </p:cNvSpPr>
          <p:nvPr>
            <p:ph type="title"/>
          </p:nvPr>
        </p:nvSpPr>
        <p:spPr>
          <a:xfrm>
            <a:off x="628649" y="365126"/>
            <a:ext cx="827982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sz="4400" dirty="0" err="1"/>
              <a:t>Fourier</a:t>
            </a:r>
            <a:r>
              <a:rPr lang="tr-TR" sz="4400" dirty="0"/>
              <a:t> </a:t>
            </a:r>
            <a:r>
              <a:rPr lang="tr-TR" sz="4400" dirty="0" err="1"/>
              <a:t>transform</a:t>
            </a:r>
            <a:r>
              <a:rPr lang="tr-TR" sz="4400" dirty="0"/>
              <a:t> of an </a:t>
            </a:r>
            <a:r>
              <a:rPr lang="tr-TR" sz="4400" dirty="0" err="1"/>
              <a:t>MxN</a:t>
            </a:r>
            <a:r>
              <a:rPr lang="tr-TR" sz="4400" dirty="0"/>
              <a:t> </a:t>
            </a:r>
            <a:r>
              <a:rPr lang="tr-TR" sz="4400" dirty="0" err="1"/>
              <a:t>image</a:t>
            </a:r>
            <a:r>
              <a:rPr lang="tr-TR" sz="4400" dirty="0"/>
              <a:t> </a:t>
            </a:r>
            <a:endParaRPr dirty="0"/>
          </a:p>
        </p:txBody>
      </p:sp>
      <p:sp>
        <p:nvSpPr>
          <p:cNvPr id="237" name="Google Shape;237;p22"/>
          <p:cNvSpPr txBox="1">
            <a:spLocks noGrp="1"/>
          </p:cNvSpPr>
          <p:nvPr>
            <p:ph type="body" idx="1"/>
          </p:nvPr>
        </p:nvSpPr>
        <p:spPr>
          <a:xfrm>
            <a:off x="1076880" y="1858710"/>
            <a:ext cx="78867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607" t="-789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6C62D-35C7-4A94-9676-88BFE528D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9B97C-F321-4680-87C5-7BD4379CC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https://raw.githubusercontent.com/hazalmogultay/466Images/master/W6/i2_tolu.png">
            <a:extLst>
              <a:ext uri="{FF2B5EF4-FFF2-40B4-BE49-F238E27FC236}">
                <a16:creationId xmlns:a16="http://schemas.microsoft.com/office/drawing/2014/main" id="{5A811538-DB19-433A-8075-9D747E5E3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95275"/>
            <a:ext cx="6096000" cy="626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944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/>
              <a:t>Note:</a:t>
            </a:r>
            <a:endParaRPr/>
          </a:p>
        </p:txBody>
      </p:sp>
      <p:sp>
        <p:nvSpPr>
          <p:cNvPr id="348" name="Google Shape;348;p3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 sz="2400" b="1" dirty="0" err="1"/>
              <a:t>Phase</a:t>
            </a:r>
            <a:r>
              <a:rPr lang="tr-TR" sz="2400" b="1" dirty="0"/>
              <a:t> </a:t>
            </a:r>
            <a:r>
              <a:rPr lang="tr-TR" sz="2400" b="1" dirty="0" err="1"/>
              <a:t>spectrum</a:t>
            </a:r>
            <a:r>
              <a:rPr lang="tr-TR" sz="2400" b="1" dirty="0"/>
              <a:t> is </a:t>
            </a:r>
            <a:r>
              <a:rPr lang="tr-TR" sz="2400" b="1" dirty="0" err="1"/>
              <a:t>almost</a:t>
            </a:r>
            <a:r>
              <a:rPr lang="tr-TR" sz="2400" b="1" dirty="0"/>
              <a:t> </a:t>
            </a:r>
            <a:r>
              <a:rPr lang="tr-TR" sz="2400" b="1" dirty="0" err="1"/>
              <a:t>like</a:t>
            </a:r>
            <a:r>
              <a:rPr lang="tr-TR" sz="2400" b="1" dirty="0"/>
              <a:t> a </a:t>
            </a:r>
            <a:r>
              <a:rPr lang="tr-TR" sz="2400" b="1" dirty="0" err="1"/>
              <a:t>random</a:t>
            </a:r>
            <a:r>
              <a:rPr lang="tr-TR" sz="2400" b="1" dirty="0"/>
              <a:t> </a:t>
            </a:r>
            <a:r>
              <a:rPr lang="tr-TR" sz="2400" b="1" dirty="0" err="1"/>
              <a:t>noise</a:t>
            </a:r>
            <a:r>
              <a:rPr lang="tr-TR" sz="2400" dirty="0"/>
              <a:t>. </a:t>
            </a:r>
            <a:r>
              <a:rPr lang="tr-TR" sz="2400" dirty="0" err="1"/>
              <a:t>For</a:t>
            </a:r>
            <a:r>
              <a:rPr lang="tr-TR" sz="2400" dirty="0"/>
              <a:t> </a:t>
            </a:r>
            <a:r>
              <a:rPr lang="tr-TR" sz="2400" dirty="0" err="1"/>
              <a:t>this</a:t>
            </a:r>
            <a:r>
              <a:rPr lang="tr-TR" sz="2400" dirty="0"/>
              <a:t> </a:t>
            </a:r>
            <a:r>
              <a:rPr lang="tr-TR" sz="2400" dirty="0" err="1"/>
              <a:t>reason</a:t>
            </a:r>
            <a:r>
              <a:rPr lang="tr-TR" sz="2400" dirty="0"/>
              <a:t>, in </a:t>
            </a:r>
            <a:r>
              <a:rPr lang="tr-TR" sz="2400" dirty="0" err="1"/>
              <a:t>most</a:t>
            </a:r>
            <a:r>
              <a:rPr lang="tr-TR" sz="2400" dirty="0"/>
              <a:t> of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applications</a:t>
            </a:r>
            <a:r>
              <a:rPr lang="tr-TR" sz="2400" dirty="0"/>
              <a:t>, </a:t>
            </a:r>
            <a:r>
              <a:rPr lang="tr-TR" sz="2400" dirty="0" err="1"/>
              <a:t>we</a:t>
            </a:r>
            <a:r>
              <a:rPr lang="tr-TR" sz="2400" dirty="0"/>
              <a:t> </a:t>
            </a:r>
            <a:r>
              <a:rPr lang="tr-TR" sz="2400" dirty="0" err="1"/>
              <a:t>ignore</a:t>
            </a:r>
            <a:r>
              <a:rPr lang="tr-TR" sz="2400" dirty="0"/>
              <a:t> it </a:t>
            </a:r>
            <a:r>
              <a:rPr lang="tr-TR" sz="2400" dirty="0" err="1"/>
              <a:t>while</a:t>
            </a:r>
            <a:r>
              <a:rPr lang="tr-TR" sz="2400" dirty="0"/>
              <a:t> </a:t>
            </a:r>
            <a:r>
              <a:rPr lang="tr-TR" sz="2400" dirty="0" err="1"/>
              <a:t>designing</a:t>
            </a:r>
            <a:r>
              <a:rPr lang="tr-TR" sz="2400" dirty="0"/>
              <a:t> </a:t>
            </a:r>
            <a:r>
              <a:rPr lang="tr-TR" sz="2400" dirty="0" err="1"/>
              <a:t>image</a:t>
            </a:r>
            <a:r>
              <a:rPr lang="tr-TR" sz="2400" dirty="0"/>
              <a:t> </a:t>
            </a:r>
            <a:r>
              <a:rPr lang="tr-TR" sz="2400" dirty="0" err="1"/>
              <a:t>processing</a:t>
            </a:r>
            <a:r>
              <a:rPr lang="tr-TR" sz="2400" dirty="0"/>
              <a:t> </a:t>
            </a:r>
            <a:r>
              <a:rPr lang="tr-TR" sz="2400" dirty="0" err="1"/>
              <a:t>algorithms</a:t>
            </a:r>
            <a:r>
              <a:rPr lang="tr-TR" sz="2400" dirty="0"/>
              <a:t>, in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frequency</a:t>
            </a:r>
            <a:r>
              <a:rPr lang="tr-TR" sz="2400" dirty="0"/>
              <a:t> domain. 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 sz="2400" b="1" dirty="0" err="1"/>
              <a:t>Fourier</a:t>
            </a:r>
            <a:r>
              <a:rPr lang="tr-TR" sz="2400" b="1" dirty="0"/>
              <a:t> Domain </a:t>
            </a:r>
            <a:r>
              <a:rPr lang="tr-TR" sz="2400" b="1" dirty="0" err="1"/>
              <a:t>Compresses</a:t>
            </a:r>
            <a:r>
              <a:rPr lang="tr-TR" sz="2400" b="1" dirty="0"/>
              <a:t> </a:t>
            </a:r>
            <a:r>
              <a:rPr lang="tr-TR" sz="2400" b="1" dirty="0" err="1"/>
              <a:t>image</a:t>
            </a:r>
            <a:r>
              <a:rPr lang="en-US" sz="2400" b="1" dirty="0"/>
              <a:t>.</a:t>
            </a:r>
            <a:r>
              <a:rPr lang="tr-TR" sz="2400" b="1" dirty="0"/>
              <a:t> </a:t>
            </a:r>
            <a:r>
              <a:rPr lang="tr-TR" sz="2400" dirty="0" err="1"/>
              <a:t>Most</a:t>
            </a:r>
            <a:r>
              <a:rPr lang="tr-TR" sz="2400" dirty="0"/>
              <a:t> of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colors</a:t>
            </a:r>
            <a:r>
              <a:rPr lang="tr-TR" sz="2400" dirty="0"/>
              <a:t> in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magnitude</a:t>
            </a:r>
            <a:r>
              <a:rPr lang="tr-TR" sz="2400" dirty="0"/>
              <a:t> </a:t>
            </a:r>
            <a:r>
              <a:rPr lang="tr-TR" sz="2400" dirty="0" err="1"/>
              <a:t>spectrum</a:t>
            </a:r>
            <a:r>
              <a:rPr lang="tr-TR" sz="2400" dirty="0"/>
              <a:t> </a:t>
            </a:r>
            <a:r>
              <a:rPr lang="tr-TR" sz="2400" dirty="0" err="1"/>
              <a:t>are</a:t>
            </a:r>
            <a:r>
              <a:rPr lang="tr-TR" sz="2400" dirty="0"/>
              <a:t> </a:t>
            </a:r>
            <a:r>
              <a:rPr lang="tr-TR" sz="2400" dirty="0" err="1"/>
              <a:t>black</a:t>
            </a:r>
            <a:r>
              <a:rPr lang="tr-TR" sz="2400" dirty="0"/>
              <a:t>, </a:t>
            </a:r>
            <a:r>
              <a:rPr lang="tr-TR" sz="2400" dirty="0" err="1"/>
              <a:t>showing</a:t>
            </a:r>
            <a:r>
              <a:rPr lang="tr-TR" sz="2400" dirty="0"/>
              <a:t> </a:t>
            </a:r>
            <a:r>
              <a:rPr lang="tr-TR" sz="2400" dirty="0" err="1"/>
              <a:t>that</a:t>
            </a:r>
            <a:r>
              <a:rPr lang="tr-TR" sz="2400" dirty="0"/>
              <a:t>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corresponding</a:t>
            </a:r>
            <a:r>
              <a:rPr lang="tr-TR" sz="2400" dirty="0"/>
              <a:t> </a:t>
            </a:r>
            <a:r>
              <a:rPr lang="tr-TR" sz="2400" dirty="0" err="1"/>
              <a:t>frequency</a:t>
            </a:r>
            <a:r>
              <a:rPr lang="tr-TR" sz="2400" dirty="0"/>
              <a:t> </a:t>
            </a:r>
            <a:r>
              <a:rPr lang="tr-TR" sz="2400" dirty="0" err="1"/>
              <a:t>pair</a:t>
            </a:r>
            <a:r>
              <a:rPr lang="tr-TR" sz="2400" dirty="0"/>
              <a:t>, (</a:t>
            </a:r>
            <a:r>
              <a:rPr lang="tr-TR" sz="2400" dirty="0" err="1"/>
              <a:t>u,v</a:t>
            </a:r>
            <a:r>
              <a:rPr lang="tr-TR" sz="2400" dirty="0"/>
              <a:t>), is </a:t>
            </a:r>
            <a:r>
              <a:rPr lang="tr-TR" sz="2400" dirty="0" err="1"/>
              <a:t>zero</a:t>
            </a:r>
            <a:r>
              <a:rPr lang="tr-TR" sz="2400" dirty="0"/>
              <a:t>.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92365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 dirty="0" err="1"/>
              <a:t>Centering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Fourier</a:t>
            </a:r>
            <a:r>
              <a:rPr lang="tr-TR" dirty="0"/>
              <a:t> </a:t>
            </a:r>
            <a:r>
              <a:rPr lang="tr-TR" dirty="0" err="1"/>
              <a:t>Transform</a:t>
            </a:r>
            <a:endParaRPr dirty="0"/>
          </a:p>
        </p:txBody>
      </p:sp>
      <p:sp>
        <p:nvSpPr>
          <p:cNvPr id="250" name="Google Shape;250;p2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251" name="Google Shape;25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3450" y="2603500"/>
            <a:ext cx="4876800" cy="582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3810000"/>
            <a:ext cx="2743200" cy="1995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05200" y="3886200"/>
            <a:ext cx="2590800" cy="1951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/>
          <p:cNvPicPr preferRelativeResize="0"/>
          <p:nvPr/>
        </p:nvPicPr>
        <p:blipFill rotWithShape="1">
          <a:blip r:embed="rId6">
            <a:alphaModFix/>
          </a:blip>
          <a:srcRect r="3982" b="1671"/>
          <a:stretch/>
        </p:blipFill>
        <p:spPr>
          <a:xfrm>
            <a:off x="6324600" y="3886200"/>
            <a:ext cx="2482850" cy="191928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4175125" y="5753100"/>
            <a:ext cx="14351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translation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6934200" y="5791200"/>
            <a:ext cx="16256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translation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7080250" y="3405188"/>
            <a:ext cx="67945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4460875" y="3424238"/>
            <a:ext cx="6794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 txBox="1"/>
          <p:nvPr/>
        </p:nvSpPr>
        <p:spPr>
          <a:xfrm>
            <a:off x="457200" y="3587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Stretching</a:t>
            </a:r>
            <a:r>
              <a:rPr lang="tr-TR" sz="40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Fourier Transform</a:t>
            </a:r>
            <a:endParaRPr sz="4000" dirty="0"/>
          </a:p>
        </p:txBody>
      </p:sp>
      <p:sp>
        <p:nvSpPr>
          <p:cNvPr id="264" name="Google Shape;264;p25"/>
          <p:cNvSpPr txBox="1"/>
          <p:nvPr/>
        </p:nvSpPr>
        <p:spPr>
          <a:xfrm>
            <a:off x="457200" y="1175536"/>
            <a:ext cx="8153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tr-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Typically, we visualize |F(u,v)|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tr-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dynamic range of |F(u,v)| is typically very large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tr-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streching:                                               (c is const)</a:t>
            </a:r>
            <a:endParaRPr/>
          </a:p>
        </p:txBody>
      </p:sp>
      <p:pic>
        <p:nvPicPr>
          <p:cNvPr id="265" name="Google Shape;26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2800" y="3025775"/>
            <a:ext cx="3352800" cy="620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4016375"/>
            <a:ext cx="186372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2800" y="4016375"/>
            <a:ext cx="17907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91200" y="4016375"/>
            <a:ext cx="1863725" cy="181768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3200400" y="5845175"/>
            <a:ext cx="2259013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stretching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5943600" y="5845175"/>
            <a:ext cx="2036763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stretching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822325" y="5810250"/>
            <a:ext cx="1949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 image</a:t>
            </a:r>
            <a:endParaRPr/>
          </a:p>
        </p:txBody>
      </p:sp>
      <p:sp>
        <p:nvSpPr>
          <p:cNvPr id="272" name="Google Shape;272;p25"/>
          <p:cNvSpPr/>
          <p:nvPr/>
        </p:nvSpPr>
        <p:spPr>
          <a:xfrm>
            <a:off x="3810000" y="3646488"/>
            <a:ext cx="1066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|F(u,v)|</a:t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6318250" y="3632200"/>
            <a:ext cx="1119188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|D(u,v)|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/>
          </a:p>
        </p:txBody>
      </p:sp>
      <p:sp>
        <p:nvSpPr>
          <p:cNvPr id="286" name="Google Shape;286;p2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287" name="Google Shape;287;p27" descr="2D DF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363" y="0"/>
            <a:ext cx="7847012" cy="56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/>
          <p:nvPr/>
        </p:nvSpPr>
        <p:spPr>
          <a:xfrm>
            <a:off x="233363" y="5513388"/>
            <a:ext cx="950595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Original: Real, imaginary, amplidute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F.T.; Real, imaginary, amplitude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Reconstructed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Calibri"/>
              <a:buNone/>
            </a:pPr>
            <a:r>
              <a:rPr lang="tr-TR" sz="2970"/>
              <a:t>Fourier transform of Fourier: </a:t>
            </a:r>
            <a:br>
              <a:rPr lang="tr-TR" sz="2970"/>
            </a:br>
            <a:br>
              <a:rPr lang="tr-TR" sz="2970"/>
            </a:br>
            <a:r>
              <a:rPr lang="tr-TR" sz="2970"/>
              <a:t>Centered Magnitude </a:t>
            </a:r>
            <a:endParaRPr/>
          </a:p>
        </p:txBody>
      </p:sp>
      <p:pic>
        <p:nvPicPr>
          <p:cNvPr id="294" name="Google Shape;294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b="70726"/>
          <a:stretch/>
        </p:blipFill>
        <p:spPr>
          <a:xfrm>
            <a:off x="872454" y="2930275"/>
            <a:ext cx="6929307" cy="213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l="11999" t="6476" r="9428" b="11046"/>
          <a:stretch/>
        </p:blipFill>
        <p:spPr>
          <a:xfrm>
            <a:off x="4876800" y="2209800"/>
            <a:ext cx="3775075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2251075"/>
            <a:ext cx="3886200" cy="2930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0"/>
          <p:cNvSpPr/>
          <p:nvPr/>
        </p:nvSpPr>
        <p:spPr>
          <a:xfrm>
            <a:off x="609600" y="914400"/>
            <a:ext cx="7848600" cy="76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0"/>
          <p:cNvSpPr/>
          <p:nvPr/>
        </p:nvSpPr>
        <p:spPr>
          <a:xfrm>
            <a:off x="152400" y="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Image Processing in the Fourier Domain</a:t>
            </a:r>
            <a:endParaRPr/>
          </a:p>
        </p:txBody>
      </p:sp>
      <p:sp>
        <p:nvSpPr>
          <p:cNvPr id="311" name="Google Shape;311;p30"/>
          <p:cNvSpPr txBox="1"/>
          <p:nvPr/>
        </p:nvSpPr>
        <p:spPr>
          <a:xfrm>
            <a:off x="4510088" y="5181600"/>
            <a:ext cx="44053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not look anything like what we have seen</a:t>
            </a:r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5768975" y="1644650"/>
            <a:ext cx="20034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Magnitude of the FT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676400"/>
            <a:ext cx="3675063" cy="3675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4400" y="1676400"/>
            <a:ext cx="3665538" cy="3665538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/>
          <p:nvPr/>
        </p:nvSpPr>
        <p:spPr>
          <a:xfrm>
            <a:off x="609600" y="914400"/>
            <a:ext cx="7848600" cy="76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1"/>
          <p:cNvSpPr txBox="1"/>
          <p:nvPr/>
        </p:nvSpPr>
        <p:spPr>
          <a:xfrm>
            <a:off x="4433888" y="5459413"/>
            <a:ext cx="44053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not look anything like what we have seen</a:t>
            </a:r>
            <a:endParaRPr/>
          </a:p>
        </p:txBody>
      </p:sp>
      <p:sp>
        <p:nvSpPr>
          <p:cNvPr id="322" name="Google Shape;322;p31"/>
          <p:cNvSpPr txBox="1"/>
          <p:nvPr/>
        </p:nvSpPr>
        <p:spPr>
          <a:xfrm>
            <a:off x="5562600" y="1268413"/>
            <a:ext cx="20034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Magnitude of the FT</a:t>
            </a:r>
            <a:endParaRPr/>
          </a:p>
        </p:txBody>
      </p:sp>
      <p:sp>
        <p:nvSpPr>
          <p:cNvPr id="323" name="Google Shape;323;p31"/>
          <p:cNvSpPr/>
          <p:nvPr/>
        </p:nvSpPr>
        <p:spPr>
          <a:xfrm>
            <a:off x="152400" y="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Image Processing in the Fourier Domain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/>
          </a:p>
        </p:txBody>
      </p:sp>
      <p:sp>
        <p:nvSpPr>
          <p:cNvPr id="329" name="Google Shape;329;p3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330" name="Google Shape;330;p32" descr="http://images-mediawiki-sites.thefullwiki.org/00/1/9/1/8337340260548536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075" y="1597025"/>
            <a:ext cx="8856663" cy="4760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"/>
          <p:cNvSpPr txBox="1">
            <a:spLocks noGrp="1"/>
          </p:cNvSpPr>
          <p:nvPr>
            <p:ph type="title"/>
          </p:nvPr>
        </p:nvSpPr>
        <p:spPr>
          <a:xfrm>
            <a:off x="421386" y="180784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tr-TR" sz="4000"/>
              <a:t>Discrete Cosine Transform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Google Shape;355;p3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8650" y="1825625"/>
                <a:ext cx="7886700" cy="35876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l" rtl="0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380"/>
                  <a:buNone/>
                </a:pPr>
                <a:r>
                  <a:rPr lang="tr-TR" sz="2380" dirty="0"/>
                  <a:t>Can </a:t>
                </a:r>
                <a:r>
                  <a:rPr lang="tr-TR" sz="2380" dirty="0" err="1"/>
                  <a:t>we</a:t>
                </a:r>
                <a:r>
                  <a:rPr lang="tr-TR" sz="2380" dirty="0"/>
                  <a:t> define </a:t>
                </a:r>
                <a:r>
                  <a:rPr lang="tr-TR" sz="2380" dirty="0" err="1"/>
                  <a:t>similarity</a:t>
                </a:r>
                <a:r>
                  <a:rPr lang="tr-TR" sz="2380" dirty="0"/>
                  <a:t> </a:t>
                </a:r>
                <a:r>
                  <a:rPr lang="tr-TR" sz="2380" dirty="0" err="1"/>
                  <a:t>transforms</a:t>
                </a:r>
                <a:r>
                  <a:rPr lang="tr-TR" sz="2380" dirty="0"/>
                  <a:t>, </a:t>
                </a:r>
                <a:r>
                  <a:rPr lang="tr-TR" sz="2380" dirty="0" err="1"/>
                  <a:t>which</a:t>
                </a:r>
                <a:r>
                  <a:rPr lang="tr-TR" sz="2380" dirty="0"/>
                  <a:t> </a:t>
                </a:r>
                <a:r>
                  <a:rPr lang="tr-TR" sz="2380" dirty="0" err="1"/>
                  <a:t>maps</a:t>
                </a:r>
                <a:r>
                  <a:rPr lang="tr-TR" sz="2380" dirty="0"/>
                  <a:t> a </a:t>
                </a:r>
                <a:r>
                  <a:rPr lang="tr-TR" sz="2380" dirty="0" err="1"/>
                  <a:t>space</a:t>
                </a:r>
                <a:r>
                  <a:rPr lang="tr-TR" sz="2380" dirty="0"/>
                  <a:t> domain </a:t>
                </a:r>
                <a:r>
                  <a:rPr lang="tr-TR" sz="2380" dirty="0" err="1"/>
                  <a:t>image</a:t>
                </a:r>
                <a:r>
                  <a:rPr lang="tr-TR" sz="2380" dirty="0"/>
                  <a:t> </a:t>
                </a:r>
                <a:r>
                  <a:rPr lang="tr-TR" sz="2380" dirty="0" err="1"/>
                  <a:t>into</a:t>
                </a:r>
                <a:r>
                  <a:rPr lang="tr-TR" sz="2380" dirty="0"/>
                  <a:t> </a:t>
                </a:r>
                <a:r>
                  <a:rPr lang="tr-TR" sz="2380" dirty="0" err="1"/>
                  <a:t>frequency</a:t>
                </a:r>
                <a:r>
                  <a:rPr lang="tr-TR" sz="2380" dirty="0"/>
                  <a:t> domain, </a:t>
                </a:r>
                <a:r>
                  <a:rPr lang="tr-TR" sz="2380" dirty="0" err="1"/>
                  <a:t>spanned</a:t>
                </a:r>
                <a:r>
                  <a:rPr lang="tr-TR" sz="2380" dirty="0"/>
                  <a:t> </a:t>
                </a:r>
                <a:r>
                  <a:rPr lang="tr-TR" sz="2380" dirty="0" err="1"/>
                  <a:t>by</a:t>
                </a:r>
                <a:r>
                  <a:rPr lang="tr-TR" sz="2380" dirty="0"/>
                  <a:t> </a:t>
                </a:r>
                <a:r>
                  <a:rPr lang="tr-TR" sz="2380" dirty="0" err="1"/>
                  <a:t>some</a:t>
                </a:r>
                <a:r>
                  <a:rPr lang="tr-TR" sz="2380" dirty="0"/>
                  <a:t> </a:t>
                </a:r>
                <a:r>
                  <a:rPr lang="tr-TR" sz="2380" dirty="0" err="1"/>
                  <a:t>periodic</a:t>
                </a:r>
                <a:r>
                  <a:rPr lang="tr-TR" sz="2380" dirty="0"/>
                  <a:t> </a:t>
                </a:r>
                <a:r>
                  <a:rPr lang="tr-TR" sz="2380" dirty="0" err="1"/>
                  <a:t>functions</a:t>
                </a:r>
                <a:r>
                  <a:rPr lang="tr-TR" sz="2380" dirty="0"/>
                  <a:t>, </a:t>
                </a:r>
                <a:r>
                  <a:rPr lang="tr-TR" sz="2380" dirty="0" err="1"/>
                  <a:t>without</a:t>
                </a:r>
                <a:r>
                  <a:rPr lang="tr-TR" sz="2380" dirty="0"/>
                  <a:t> </a:t>
                </a:r>
                <a:r>
                  <a:rPr lang="tr-TR" sz="2380" dirty="0" err="1"/>
                  <a:t>complex</a:t>
                </a:r>
                <a:r>
                  <a:rPr lang="tr-TR" sz="2380" dirty="0"/>
                  <a:t> </a:t>
                </a:r>
                <a:r>
                  <a:rPr lang="tr-TR" sz="2380" dirty="0" err="1"/>
                  <a:t>arithmetic</a:t>
                </a:r>
                <a:r>
                  <a:rPr lang="tr-TR" sz="2380" dirty="0"/>
                  <a:t>?</a:t>
                </a:r>
                <a:endParaRPr lang="tr-TR" dirty="0"/>
              </a:p>
              <a:p>
                <a:pPr marL="0" lvl="0" indent="0" algn="l" rtl="0">
                  <a:lnSpc>
                    <a:spcPct val="7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380"/>
                  <a:buNone/>
                </a:pPr>
                <a:endParaRPr lang="tr-TR" sz="2380" dirty="0"/>
              </a:p>
              <a:p>
                <a:pPr marL="0" lvl="0" indent="0">
                  <a:lnSpc>
                    <a:spcPct val="70000"/>
                  </a:lnSpc>
                  <a:buSzPts val="2380"/>
                  <a:buNone/>
                </a:pPr>
                <a:r>
                  <a:rPr lang="tr-TR" sz="2380" dirty="0"/>
                  <a:t>Define an </a:t>
                </a:r>
                <a:r>
                  <a:rPr lang="tr-TR" sz="2380" dirty="0" err="1"/>
                  <a:t>orthogonal</a:t>
                </a:r>
                <a:r>
                  <a:rPr lang="tr-TR" sz="2380" dirty="0"/>
                  <a:t> </a:t>
                </a:r>
                <a:r>
                  <a:rPr lang="tr-TR" sz="2380" dirty="0" err="1"/>
                  <a:t>matrix</a:t>
                </a:r>
                <a:r>
                  <a:rPr lang="tr-TR" sz="2380" dirty="0"/>
                  <a:t> </a:t>
                </a:r>
                <a:r>
                  <a:rPr lang="en-US" sz="238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38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380" b="1" i="1" dirty="0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sz="238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38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380" b="1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238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380" b="1" i="1" dirty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sz="2380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endParaRPr lang="ar-AE" b="1" dirty="0"/>
              </a:p>
              <a:p>
                <a:pPr marL="0" lvl="0" indent="0" algn="l" rtl="0">
                  <a:lnSpc>
                    <a:spcPct val="7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380"/>
                  <a:buNone/>
                </a:pPr>
                <a:endParaRPr lang="ar-AE" sz="2380" dirty="0"/>
              </a:p>
              <a:p>
                <a:pPr marL="0" lvl="0" indent="0" algn="l" rtl="0">
                  <a:lnSpc>
                    <a:spcPct val="7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380"/>
                  <a:buNone/>
                </a:pPr>
                <a:endParaRPr lang="ar-AE" sz="2380" dirty="0"/>
              </a:p>
              <a:p>
                <a:pPr marL="0" lvl="0" indent="0" algn="l" rtl="0">
                  <a:lnSpc>
                    <a:spcPct val="7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380"/>
                  <a:buNone/>
                </a:pPr>
                <a:endParaRPr lang="ar-AE" sz="2380" dirty="0"/>
              </a:p>
              <a:p>
                <a:pPr marL="0" lvl="0" indent="0" algn="l" rtl="0">
                  <a:lnSpc>
                    <a:spcPct val="7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380"/>
                  <a:buNone/>
                </a:pPr>
                <a:r>
                  <a:rPr lang="tr-TR" sz="2380" dirty="0" err="1"/>
                  <a:t>Such</a:t>
                </a:r>
                <a:r>
                  <a:rPr lang="tr-TR" sz="2380" dirty="0"/>
                  <a:t> </a:t>
                </a:r>
                <a:r>
                  <a:rPr lang="tr-TR" sz="2380" dirty="0" err="1"/>
                  <a:t>that</a:t>
                </a:r>
                <a:r>
                  <a:rPr lang="tr-TR" sz="2380" dirty="0"/>
                  <a:t> </a:t>
                </a:r>
                <a:r>
                  <a:rPr lang="en-US" sz="2380" dirty="0"/>
                  <a:t>matrix, </a:t>
                </a:r>
                <a:r>
                  <a:rPr lang="tr-TR" sz="2380" b="1" dirty="0"/>
                  <a:t>Q</a:t>
                </a:r>
                <a:r>
                  <a:rPr lang="tr-TR" sz="2380" dirty="0"/>
                  <a:t> </a:t>
                </a:r>
                <a:r>
                  <a:rPr lang="tr-TR" sz="2380" dirty="0" err="1"/>
                  <a:t>transforms</a:t>
                </a:r>
                <a:r>
                  <a:rPr lang="tr-TR" sz="2380" dirty="0"/>
                  <a:t> </a:t>
                </a:r>
                <a:r>
                  <a:rPr lang="en-US" sz="2380" dirty="0"/>
                  <a:t>matrix </a:t>
                </a:r>
                <a:r>
                  <a:rPr lang="tr-TR" sz="2380" b="1" dirty="0"/>
                  <a:t>A</a:t>
                </a:r>
                <a:r>
                  <a:rPr lang="tr-TR" sz="2380" dirty="0"/>
                  <a:t> </a:t>
                </a:r>
                <a:r>
                  <a:rPr lang="tr-TR" sz="2380" dirty="0" err="1"/>
                  <a:t>to</a:t>
                </a:r>
                <a:r>
                  <a:rPr lang="tr-TR" sz="2380" dirty="0"/>
                  <a:t> a </a:t>
                </a:r>
                <a:r>
                  <a:rPr lang="tr-TR" sz="2380" dirty="0" err="1"/>
                  <a:t>space</a:t>
                </a:r>
                <a:r>
                  <a:rPr lang="tr-TR" sz="2380" dirty="0"/>
                  <a:t> </a:t>
                </a:r>
                <a:r>
                  <a:rPr lang="tr-TR" sz="2380" dirty="0" err="1"/>
                  <a:t>spanned</a:t>
                </a:r>
                <a:r>
                  <a:rPr lang="tr-TR" sz="2380" dirty="0"/>
                  <a:t> </a:t>
                </a:r>
                <a:r>
                  <a:rPr lang="tr-TR" sz="2380" dirty="0" err="1"/>
                  <a:t>by</a:t>
                </a:r>
                <a:r>
                  <a:rPr lang="tr-TR" sz="2380" dirty="0"/>
                  <a:t> </a:t>
                </a:r>
                <a:r>
                  <a:rPr lang="tr-TR" sz="2380" dirty="0" err="1">
                    <a:solidFill>
                      <a:srgbClr val="FF0000"/>
                    </a:solidFill>
                  </a:rPr>
                  <a:t>real</a:t>
                </a:r>
                <a:r>
                  <a:rPr lang="tr-TR" sz="2380" dirty="0">
                    <a:solidFill>
                      <a:srgbClr val="FF0000"/>
                    </a:solidFill>
                  </a:rPr>
                  <a:t> </a:t>
                </a:r>
                <a:r>
                  <a:rPr lang="tr-TR" sz="2380" dirty="0" err="1"/>
                  <a:t>periodic</a:t>
                </a:r>
                <a:r>
                  <a:rPr lang="tr-TR" sz="2380" dirty="0"/>
                  <a:t> </a:t>
                </a:r>
                <a:r>
                  <a:rPr lang="tr-TR" sz="2380" dirty="0" err="1"/>
                  <a:t>functions</a:t>
                </a:r>
                <a:r>
                  <a:rPr lang="en-US" sz="2380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55" name="Google Shape;355;p3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1825625"/>
                <a:ext cx="7886700" cy="3587623"/>
              </a:xfrm>
              <a:prstGeom prst="rect">
                <a:avLst/>
              </a:prstGeom>
              <a:blipFill>
                <a:blip r:embed="rId3"/>
                <a:stretch>
                  <a:fillRect l="-1159" t="-4075" r="-10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6" name="Google Shape;356;p36"/>
          <p:cNvSpPr/>
          <p:nvPr/>
        </p:nvSpPr>
        <p:spPr>
          <a:xfrm>
            <a:off x="2364055" y="3500838"/>
            <a:ext cx="4415889" cy="6694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38460" r="-2291" b="-519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 dirty="0" err="1"/>
              <a:t>Discrete</a:t>
            </a:r>
            <a:r>
              <a:rPr lang="tr-TR" dirty="0"/>
              <a:t> </a:t>
            </a:r>
            <a:r>
              <a:rPr lang="tr-TR" dirty="0" err="1"/>
              <a:t>Cosine</a:t>
            </a:r>
            <a:r>
              <a:rPr lang="tr-TR" dirty="0"/>
              <a:t> </a:t>
            </a:r>
            <a:r>
              <a:rPr lang="tr-TR" dirty="0" err="1"/>
              <a:t>Transform</a:t>
            </a:r>
            <a:r>
              <a:rPr lang="tr-TR" dirty="0"/>
              <a:t>,</a:t>
            </a:r>
            <a:br>
              <a:rPr lang="tr-TR" dirty="0"/>
            </a:br>
            <a:r>
              <a:rPr lang="tr-TR" dirty="0"/>
              <a:t>Nasır </a:t>
            </a:r>
            <a:r>
              <a:rPr lang="tr-TR" dirty="0" err="1"/>
              <a:t>Ahmed</a:t>
            </a:r>
            <a:r>
              <a:rPr lang="tr-TR" dirty="0"/>
              <a:t>,</a:t>
            </a:r>
            <a:r>
              <a:rPr lang="en-US" dirty="0"/>
              <a:t> </a:t>
            </a:r>
            <a:r>
              <a:rPr lang="tr-TR" dirty="0"/>
              <a:t>1972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669384-46B2-4377-81CC-963482CE3E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331" t="10867" r="15437"/>
          <a:stretch/>
        </p:blipFill>
        <p:spPr>
          <a:xfrm>
            <a:off x="880844" y="1973734"/>
            <a:ext cx="7544226" cy="46661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CD430C-8558-4D76-988C-BAB3BBF034FD}"/>
              </a:ext>
            </a:extLst>
          </p:cNvPr>
          <p:cNvSpPr txBox="1"/>
          <p:nvPr/>
        </p:nvSpPr>
        <p:spPr>
          <a:xfrm flipH="1">
            <a:off x="821698" y="5092116"/>
            <a:ext cx="732820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The inverse of the DCT is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/>
              <a:t>Show that Cosine basis functions are orthogonal</a:t>
            </a:r>
            <a:endParaRPr/>
          </a:p>
        </p:txBody>
      </p:sp>
      <p:sp>
        <p:nvSpPr>
          <p:cNvPr id="374" name="Google Shape;374;p39"/>
          <p:cNvSpPr txBox="1">
            <a:spLocks noGrp="1"/>
          </p:cNvSpPr>
          <p:nvPr>
            <p:ph type="body" idx="1"/>
          </p:nvPr>
        </p:nvSpPr>
        <p:spPr>
          <a:xfrm>
            <a:off x="463613" y="2512134"/>
            <a:ext cx="7886700" cy="38966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446" t="-2631" r="-64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tr-TR"/>
              <a:t> 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/>
              <a:t>Two dimensional discrete cosine basis </a:t>
            </a:r>
            <a:br>
              <a:rPr lang="tr-TR"/>
            </a:br>
            <a:r>
              <a:rPr lang="tr-TR"/>
              <a:t>for 8x8 images</a:t>
            </a:r>
            <a:endParaRPr/>
          </a:p>
        </p:txBody>
      </p:sp>
      <p:pic>
        <p:nvPicPr>
          <p:cNvPr id="368" name="Google Shape;36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9487" y="1690689"/>
            <a:ext cx="5377039" cy="472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4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39925" y="1362075"/>
            <a:ext cx="4587875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0"/>
          <p:cNvSpPr txBox="1"/>
          <p:nvPr/>
        </p:nvSpPr>
        <p:spPr>
          <a:xfrm>
            <a:off x="228600" y="228600"/>
            <a:ext cx="8686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1">
                <a:solidFill>
                  <a:srgbClr val="33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Cosine Transform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 dirty="0" err="1"/>
              <a:t>Hadamard</a:t>
            </a:r>
            <a:r>
              <a:rPr lang="tr-TR" dirty="0"/>
              <a:t> </a:t>
            </a:r>
            <a:r>
              <a:rPr lang="tr-TR" dirty="0" err="1"/>
              <a:t>Transform</a:t>
            </a:r>
            <a:br>
              <a:rPr lang="tr-TR" dirty="0"/>
            </a:br>
            <a:r>
              <a:rPr lang="tr-TR" dirty="0" err="1"/>
              <a:t>Ja</a:t>
            </a:r>
            <a:r>
              <a:rPr lang="en-US" dirty="0"/>
              <a:t>c</a:t>
            </a:r>
            <a:r>
              <a:rPr lang="tr-TR" dirty="0" err="1"/>
              <a:t>que</a:t>
            </a:r>
            <a:r>
              <a:rPr lang="en-US" dirty="0"/>
              <a:t>s</a:t>
            </a:r>
            <a:r>
              <a:rPr lang="tr-TR" dirty="0"/>
              <a:t> </a:t>
            </a:r>
            <a:r>
              <a:rPr lang="tr-TR" dirty="0" err="1"/>
              <a:t>Hadamard</a:t>
            </a:r>
            <a:r>
              <a:rPr lang="en-US" dirty="0"/>
              <a:t>,</a:t>
            </a:r>
            <a:r>
              <a:rPr lang="tr-TR" dirty="0"/>
              <a:t> 1893</a:t>
            </a:r>
            <a:endParaRPr dirty="0"/>
          </a:p>
        </p:txBody>
      </p:sp>
      <p:sp>
        <p:nvSpPr>
          <p:cNvPr id="387" name="Google Shape;387;p4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sz="2800" dirty="0"/>
              <a:t>Can </a:t>
            </a:r>
            <a:r>
              <a:rPr lang="tr-TR" sz="2800" dirty="0" err="1"/>
              <a:t>we</a:t>
            </a:r>
            <a:r>
              <a:rPr lang="tr-TR" sz="2800" dirty="0"/>
              <a:t> </a:t>
            </a:r>
            <a:r>
              <a:rPr lang="tr-TR" sz="2800" dirty="0" err="1"/>
              <a:t>design</a:t>
            </a:r>
            <a:r>
              <a:rPr lang="tr-TR" sz="2800" dirty="0"/>
              <a:t> </a:t>
            </a:r>
            <a:r>
              <a:rPr lang="tr-TR" sz="2800" dirty="0" err="1"/>
              <a:t>transform</a:t>
            </a:r>
            <a:r>
              <a:rPr lang="tr-TR" sz="2800" dirty="0"/>
              <a:t> </a:t>
            </a:r>
            <a:r>
              <a:rPr lang="tr-TR" sz="2800" dirty="0" err="1"/>
              <a:t>space</a:t>
            </a:r>
            <a:r>
              <a:rPr lang="tr-TR" sz="2800" dirty="0"/>
              <a:t> </a:t>
            </a:r>
            <a:r>
              <a:rPr lang="tr-TR" sz="2800" dirty="0" err="1"/>
              <a:t>which</a:t>
            </a:r>
            <a:r>
              <a:rPr lang="tr-TR" sz="2800" dirty="0"/>
              <a:t> is </a:t>
            </a:r>
            <a:r>
              <a:rPr lang="tr-TR" sz="2800" dirty="0" err="1"/>
              <a:t>spanned</a:t>
            </a:r>
            <a:r>
              <a:rPr lang="tr-TR" sz="2800" dirty="0"/>
              <a:t> </a:t>
            </a:r>
            <a:r>
              <a:rPr lang="tr-TR" sz="2800" dirty="0" err="1"/>
              <a:t>by</a:t>
            </a:r>
            <a:r>
              <a:rPr lang="tr-TR" sz="2800" dirty="0"/>
              <a:t> </a:t>
            </a:r>
            <a:r>
              <a:rPr lang="tr-TR" sz="2800" dirty="0" err="1"/>
              <a:t>the</a:t>
            </a:r>
            <a:r>
              <a:rPr lang="tr-TR" sz="2800" dirty="0"/>
              <a:t> </a:t>
            </a:r>
            <a:r>
              <a:rPr lang="tr-TR" sz="2800" dirty="0" err="1"/>
              <a:t>integer</a:t>
            </a:r>
            <a:r>
              <a:rPr lang="tr-TR" sz="2800" dirty="0"/>
              <a:t> </a:t>
            </a:r>
            <a:r>
              <a:rPr lang="tr-TR" sz="2800" dirty="0" err="1"/>
              <a:t>valued</a:t>
            </a:r>
            <a:r>
              <a:rPr lang="tr-TR" sz="2800" dirty="0"/>
              <a:t> </a:t>
            </a:r>
            <a:r>
              <a:rPr lang="tr-TR" sz="2800" dirty="0" err="1"/>
              <a:t>basis</a:t>
            </a:r>
            <a:r>
              <a:rPr lang="tr-TR" sz="2800" dirty="0"/>
              <a:t> </a:t>
            </a:r>
            <a:r>
              <a:rPr lang="tr-TR" sz="2800" dirty="0" err="1"/>
              <a:t>matrices</a:t>
            </a:r>
            <a:r>
              <a:rPr lang="tr-TR" sz="2800" dirty="0"/>
              <a:t>?</a:t>
            </a:r>
            <a:endParaRPr dirty="0"/>
          </a:p>
        </p:txBody>
      </p:sp>
      <p:sp>
        <p:nvSpPr>
          <p:cNvPr id="388" name="Google Shape;388;p41"/>
          <p:cNvSpPr/>
          <p:nvPr/>
        </p:nvSpPr>
        <p:spPr>
          <a:xfrm>
            <a:off x="2665612" y="3135522"/>
            <a:ext cx="4272083" cy="5869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31913" r="-1991" b="-4680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>
            <a:spLocks noGrp="1"/>
          </p:cNvSpPr>
          <p:nvPr>
            <p:ph type="title"/>
          </p:nvPr>
        </p:nvSpPr>
        <p:spPr>
          <a:xfrm>
            <a:off x="628650" y="340430"/>
            <a:ext cx="78867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089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Calibri"/>
              <a:buNone/>
            </a:pPr>
            <a:r>
              <a:rPr lang="tr-TR" dirty="0"/>
              <a:t> 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5C665A-8645-4FA1-B091-8E9A2EBA8F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184"/>
          <a:stretch/>
        </p:blipFill>
        <p:spPr>
          <a:xfrm>
            <a:off x="628650" y="1971413"/>
            <a:ext cx="8087511" cy="9479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8656F0-6D02-4E07-BB4B-4072F5B4DD1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059" r="21555"/>
          <a:stretch/>
        </p:blipFill>
        <p:spPr>
          <a:xfrm>
            <a:off x="910205" y="4899171"/>
            <a:ext cx="7898435" cy="1618400"/>
          </a:xfrm>
          <a:prstGeom prst="rect">
            <a:avLst/>
          </a:prstGeom>
        </p:spPr>
      </p:pic>
      <p:sp>
        <p:nvSpPr>
          <p:cNvPr id="12" name="Google Shape;401;p43">
            <a:extLst>
              <a:ext uri="{FF2B5EF4-FFF2-40B4-BE49-F238E27FC236}">
                <a16:creationId xmlns:a16="http://schemas.microsoft.com/office/drawing/2014/main" id="{945BD74F-0960-49EF-9B2B-2BBC8BCDBC36}"/>
              </a:ext>
            </a:extLst>
          </p:cNvPr>
          <p:cNvSpPr txBox="1"/>
          <p:nvPr/>
        </p:nvSpPr>
        <p:spPr>
          <a:xfrm>
            <a:off x="874999" y="3340888"/>
            <a:ext cx="7394001" cy="149956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3093" t="-843" r="5800" b="-16018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dirty="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EDB6DD-FC51-453B-BA28-F1819A6B96E0}"/>
              </a:ext>
            </a:extLst>
          </p:cNvPr>
          <p:cNvSpPr/>
          <p:nvPr/>
        </p:nvSpPr>
        <p:spPr>
          <a:xfrm>
            <a:off x="369116" y="5569595"/>
            <a:ext cx="8485464" cy="541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7340" y="1690689"/>
            <a:ext cx="4709320" cy="4346521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/>
              <a:t>Hadamard Basis Matrices for 8x8 images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990600"/>
            <a:ext cx="2103438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5"/>
          <p:cNvSpPr txBox="1"/>
          <p:nvPr/>
        </p:nvSpPr>
        <p:spPr>
          <a:xfrm>
            <a:off x="300211" y="5562600"/>
            <a:ext cx="360169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Basis vectors for one-d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Walsh-Hadamard transform</a:t>
            </a:r>
            <a:endParaRPr/>
          </a:p>
        </p:txBody>
      </p:sp>
      <p:pic>
        <p:nvPicPr>
          <p:cNvPr id="415" name="Google Shape;415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2400" y="910206"/>
            <a:ext cx="4648200" cy="4475163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5"/>
          <p:cNvSpPr txBox="1"/>
          <p:nvPr/>
        </p:nvSpPr>
        <p:spPr>
          <a:xfrm>
            <a:off x="228600" y="304800"/>
            <a:ext cx="8686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1">
                <a:solidFill>
                  <a:srgbClr val="33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Hadamard Transform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BAE23D-1297-4F9B-827E-B65561666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DFT , DCT , Hadamard Transforms</a:t>
            </a:r>
          </a:p>
        </p:txBody>
      </p:sp>
      <p:pic>
        <p:nvPicPr>
          <p:cNvPr id="6" name="Google Shape;243;p23">
            <a:extLst>
              <a:ext uri="{FF2B5EF4-FFF2-40B4-BE49-F238E27FC236}">
                <a16:creationId xmlns:a16="http://schemas.microsoft.com/office/drawing/2014/main" id="{2EE931F3-FBF7-4A52-B2FE-8E021FFD50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9878" b="50243"/>
          <a:stretch/>
        </p:blipFill>
        <p:spPr>
          <a:xfrm>
            <a:off x="165798" y="4234504"/>
            <a:ext cx="2694222" cy="2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E5267C-BF02-4A28-9E10-22158078E669}"/>
              </a:ext>
            </a:extLst>
          </p:cNvPr>
          <p:cNvSpPr txBox="1"/>
          <p:nvPr/>
        </p:nvSpPr>
        <p:spPr>
          <a:xfrm>
            <a:off x="4787958" y="5523254"/>
            <a:ext cx="1809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Hadamard</a:t>
            </a:r>
          </a:p>
        </p:txBody>
      </p:sp>
      <p:pic>
        <p:nvPicPr>
          <p:cNvPr id="8" name="Google Shape;243;p23">
            <a:extLst>
              <a:ext uri="{FF2B5EF4-FFF2-40B4-BE49-F238E27FC236}">
                <a16:creationId xmlns:a16="http://schemas.microsoft.com/office/drawing/2014/main" id="{04892A96-9B13-463A-9900-7E53F72D46E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52330" b="50243"/>
          <a:stretch/>
        </p:blipFill>
        <p:spPr>
          <a:xfrm>
            <a:off x="264241" y="1567544"/>
            <a:ext cx="2694222" cy="2735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43;p23">
            <a:extLst>
              <a:ext uri="{FF2B5EF4-FFF2-40B4-BE49-F238E27FC236}">
                <a16:creationId xmlns:a16="http://schemas.microsoft.com/office/drawing/2014/main" id="{1AC79C6B-91DE-4B4E-A8E7-AA4521C5694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51345" r="53343"/>
          <a:stretch/>
        </p:blipFill>
        <p:spPr>
          <a:xfrm>
            <a:off x="2860020" y="1567544"/>
            <a:ext cx="2601284" cy="2660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80;p40">
            <a:hlinkClick r:id="rId3"/>
            <a:extLst>
              <a:ext uri="{FF2B5EF4-FFF2-40B4-BE49-F238E27FC236}">
                <a16:creationId xmlns:a16="http://schemas.microsoft.com/office/drawing/2014/main" id="{8CDA5334-0B45-4841-8913-D63B4C9FD93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8875" b="51618"/>
          <a:stretch/>
        </p:blipFill>
        <p:spPr>
          <a:xfrm>
            <a:off x="5745578" y="1598102"/>
            <a:ext cx="2694220" cy="2462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415;p45">
            <a:extLst>
              <a:ext uri="{FF2B5EF4-FFF2-40B4-BE49-F238E27FC236}">
                <a16:creationId xmlns:a16="http://schemas.microsoft.com/office/drawing/2014/main" id="{ED159486-C0D3-4FAF-B2C1-0B78FC921A6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48579" b="48356"/>
          <a:stretch/>
        </p:blipFill>
        <p:spPr>
          <a:xfrm>
            <a:off x="5745578" y="4302967"/>
            <a:ext cx="2769772" cy="242954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ACEDF3-C772-432E-B87A-B56E556A7D7C}"/>
              </a:ext>
            </a:extLst>
          </p:cNvPr>
          <p:cNvSpPr txBox="1"/>
          <p:nvPr/>
        </p:nvSpPr>
        <p:spPr>
          <a:xfrm>
            <a:off x="6534246" y="1200127"/>
            <a:ext cx="1809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Cosine</a:t>
            </a:r>
          </a:p>
        </p:txBody>
      </p:sp>
    </p:spTree>
    <p:extLst>
      <p:ext uri="{BB962C8B-B14F-4D97-AF65-F5344CB8AC3E}">
        <p14:creationId xmlns:p14="http://schemas.microsoft.com/office/powerpoint/2010/main" val="42048122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987" y="2073811"/>
            <a:ext cx="7924800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tr-TR" sz="4000" dirty="0" err="1"/>
              <a:t>Filtering</a:t>
            </a:r>
            <a:r>
              <a:rPr lang="tr-TR" sz="4000" dirty="0"/>
              <a:t> </a:t>
            </a:r>
            <a:r>
              <a:rPr lang="en-US" sz="4000" dirty="0" err="1"/>
              <a:t>i</a:t>
            </a:r>
            <a:r>
              <a:rPr lang="tr-TR" sz="4000" dirty="0"/>
              <a:t>n </a:t>
            </a:r>
            <a:r>
              <a:rPr lang="tr-TR" sz="4000" dirty="0" err="1"/>
              <a:t>Frequency</a:t>
            </a:r>
            <a:r>
              <a:rPr lang="tr-TR" sz="4000" dirty="0"/>
              <a:t> Domain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/>
              <a:t>Recall Convolution Property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8" name="Google Shape;428;p4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43949" y="1825625"/>
                <a:ext cx="8435129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)⇔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).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800" dirty="0"/>
              </a:p>
              <a:p>
                <a:pPr marL="0" lvl="0" indent="0" algn="ctr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None/>
                </a:pPr>
                <a:endParaRPr sz="3600" dirty="0"/>
              </a:p>
              <a:p>
                <a:pPr marL="0" lvl="0" indent="0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None/>
                </a:pPr>
                <a:r>
                  <a:rPr lang="tr-TR" sz="2800" dirty="0" err="1"/>
                  <a:t>Note</a:t>
                </a:r>
                <a:r>
                  <a:rPr lang="tr-TR" sz="2800" dirty="0"/>
                  <a:t>: </a:t>
                </a:r>
                <a:r>
                  <a:rPr lang="tr-TR" sz="2800" dirty="0" err="1"/>
                  <a:t>In</a:t>
                </a:r>
                <a:r>
                  <a:rPr lang="tr-TR" sz="2800" dirty="0"/>
                  <a:t> </a:t>
                </a:r>
                <a:r>
                  <a:rPr lang="tr-TR" sz="2800" dirty="0" err="1"/>
                  <a:t>frequency</a:t>
                </a:r>
                <a:r>
                  <a:rPr lang="tr-TR" sz="2800" dirty="0"/>
                  <a:t> domain, </a:t>
                </a:r>
                <a:r>
                  <a:rPr lang="tr-TR" sz="2800" dirty="0" err="1"/>
                  <a:t>we</a:t>
                </a:r>
                <a:r>
                  <a:rPr lang="tr-TR" sz="2800" dirty="0"/>
                  <a:t> </a:t>
                </a:r>
                <a:r>
                  <a:rPr lang="tr-TR" sz="2800" dirty="0" err="1"/>
                  <a:t>use</a:t>
                </a:r>
                <a:r>
                  <a:rPr lang="tr-TR" sz="2800" dirty="0"/>
                  <a:t> </a:t>
                </a:r>
                <a:r>
                  <a:rPr lang="en-US" sz="2800" dirty="0"/>
                  <a:t>array </a:t>
                </a:r>
                <a:r>
                  <a:rPr lang="tr-TR" sz="2800" dirty="0" err="1"/>
                  <a:t>multiplication</a:t>
                </a:r>
                <a:r>
                  <a:rPr lang="tr-TR" sz="2800" dirty="0"/>
                  <a:t>.</a:t>
                </a:r>
                <a:endParaRPr sz="2800" dirty="0"/>
              </a:p>
            </p:txBody>
          </p:sp>
        </mc:Choice>
        <mc:Fallback>
          <p:sp>
            <p:nvSpPr>
              <p:cNvPr id="428" name="Google Shape;428;p4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3949" y="1825625"/>
                <a:ext cx="8435129" cy="4351338"/>
              </a:xfrm>
              <a:prstGeom prst="rect">
                <a:avLst/>
              </a:prstGeom>
              <a:blipFill>
                <a:blip r:embed="rId3"/>
                <a:stretch>
                  <a:fillRect l="-14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sz="4400"/>
              <a:t>Frequency Domain Filters</a:t>
            </a:r>
            <a:endParaRPr/>
          </a:p>
        </p:txBody>
      </p:sp>
      <p:sp>
        <p:nvSpPr>
          <p:cNvPr id="434" name="Google Shape;434;p4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graphicFrame>
        <p:nvGraphicFramePr>
          <p:cNvPr id="435" name="Google Shape;435;p48"/>
          <p:cNvGraphicFramePr/>
          <p:nvPr>
            <p:extLst>
              <p:ext uri="{D42A27DB-BD31-4B8C-83A1-F6EECF244321}">
                <p14:modId xmlns:p14="http://schemas.microsoft.com/office/powerpoint/2010/main" val="3576204790"/>
              </p:ext>
            </p:extLst>
          </p:nvPr>
        </p:nvGraphicFramePr>
        <p:xfrm>
          <a:off x="445943" y="2324894"/>
          <a:ext cx="8252100" cy="3413800"/>
        </p:xfrm>
        <a:graphic>
          <a:graphicData uri="http://schemas.openxmlformats.org/drawingml/2006/table">
            <a:tbl>
              <a:tblPr firstRow="1" bandRow="1">
                <a:noFill/>
                <a:tableStyleId>{7FF91075-30AB-48E0-BD46-402CB427C40F}</a:tableStyleId>
              </a:tblPr>
              <a:tblGrid>
                <a:gridCol w="251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endParaRPr sz="2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I</a:t>
                      </a:r>
                      <a:r>
                        <a:rPr lang="tr-TR" sz="2800" u="none" strike="noStrike" cap="none" dirty="0" err="1"/>
                        <a:t>deal</a:t>
                      </a:r>
                      <a:r>
                        <a:rPr lang="tr-TR" sz="2800" u="none" strike="noStrike" cap="none" dirty="0"/>
                        <a:t> 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2800"/>
                        <a:t>Gaussian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2800"/>
                        <a:t>Butterworth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tr-TR" sz="2800"/>
                        <a:t>Lowpass filters</a:t>
                      </a:r>
                      <a:endParaRPr sz="2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endParaRPr sz="2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0"/>
                    </a:p>
                  </a:txBody>
                  <a:tcPr marL="91450" marR="91450" marT="45725" marB="457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tr-TR" sz="2800"/>
                        <a:t>Highpass filters</a:t>
                      </a:r>
                      <a:endParaRPr sz="2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endParaRPr sz="2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tr-TR" sz="2800"/>
                        <a:t>Band filters.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endParaRPr sz="2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dirty="0"/>
                    </a:p>
                  </a:txBody>
                  <a:tcPr marL="91450" marR="91450" marT="45725" marB="4572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sz="4400"/>
              <a:t>1. Low pass Filters</a:t>
            </a:r>
            <a:endParaRPr/>
          </a:p>
        </p:txBody>
      </p:sp>
      <p:sp>
        <p:nvSpPr>
          <p:cNvPr id="447" name="Google Shape;447;p5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tr-TR" sz="3200"/>
              <a:t>Ideal Filters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tr-TR" sz="3200"/>
              <a:t>Gaussian Filters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tr-TR" sz="3200"/>
              <a:t>Butterworth Filters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3493" y="3444525"/>
            <a:ext cx="6316663" cy="2674937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1"/>
          <p:cNvSpPr/>
          <p:nvPr/>
        </p:nvSpPr>
        <p:spPr>
          <a:xfrm>
            <a:off x="2865032" y="1453479"/>
            <a:ext cx="3433248" cy="1053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9555" t="-198775" b="-2928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738CB8-708A-4BD7-95E1-8954F6831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1.1. Ideal Low pass filter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1472" y="1782762"/>
            <a:ext cx="6768362" cy="442407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179613-FD61-43D1-BC57-AFB03F9C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Ideal</a:t>
            </a:r>
            <a:r>
              <a:rPr lang="tr-TR" sz="36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tr-TR" sz="36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Low</a:t>
            </a:r>
            <a:r>
              <a:rPr lang="tr-TR" sz="36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tr-TR" sz="36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Pass</a:t>
            </a:r>
            <a:r>
              <a:rPr lang="tr-TR" sz="36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tr-TR" sz="36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Filter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1525" y="6332538"/>
            <a:ext cx="5346700" cy="5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6950" y="1323975"/>
            <a:ext cx="3270250" cy="4918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3"/>
          <p:cNvSpPr/>
          <p:nvPr/>
        </p:nvSpPr>
        <p:spPr>
          <a:xfrm>
            <a:off x="4441195" y="3198168"/>
            <a:ext cx="2616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53"/>
          <p:cNvSpPr/>
          <p:nvPr/>
        </p:nvSpPr>
        <p:spPr>
          <a:xfrm>
            <a:off x="235528" y="402490"/>
            <a:ext cx="804949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0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Ideal Low Pass Filter Outputs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9" name="Google Shape;469;p53"/>
          <p:cNvPicPr preferRelativeResize="0"/>
          <p:nvPr/>
        </p:nvPicPr>
        <p:blipFill rotWithShape="1">
          <a:blip r:embed="rId5">
            <a:alphaModFix/>
          </a:blip>
          <a:srcRect l="51683" b="26356"/>
          <a:stretch/>
        </p:blipFill>
        <p:spPr>
          <a:xfrm>
            <a:off x="5158050" y="1799937"/>
            <a:ext cx="3270250" cy="325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4"/>
          <p:cNvSpPr txBox="1">
            <a:spLocks noGrp="1"/>
          </p:cNvSpPr>
          <p:nvPr>
            <p:ph type="title"/>
          </p:nvPr>
        </p:nvSpPr>
        <p:spPr>
          <a:xfrm>
            <a:off x="1156996" y="365127"/>
            <a:ext cx="7358354" cy="92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tr-TR" sz="4000" dirty="0">
                <a:solidFill>
                  <a:srgbClr val="FF0000"/>
                </a:solidFill>
              </a:rPr>
              <a:t>1.2. </a:t>
            </a:r>
            <a:r>
              <a:rPr lang="tr-TR" sz="4000" dirty="0" err="1">
                <a:solidFill>
                  <a:srgbClr val="FF0000"/>
                </a:solidFill>
              </a:rPr>
              <a:t>Gaussian</a:t>
            </a:r>
            <a:r>
              <a:rPr lang="tr-TR" sz="4000" dirty="0">
                <a:solidFill>
                  <a:srgbClr val="FF0000"/>
                </a:solidFill>
              </a:rPr>
              <a:t> </a:t>
            </a:r>
            <a:r>
              <a:rPr lang="en-US" sz="4000" dirty="0">
                <a:solidFill>
                  <a:srgbClr val="FF0000"/>
                </a:solidFill>
              </a:rPr>
              <a:t>Low Pass </a:t>
            </a:r>
            <a:r>
              <a:rPr lang="tr-TR" sz="4000" dirty="0" err="1">
                <a:solidFill>
                  <a:srgbClr val="FF0000"/>
                </a:solidFill>
              </a:rPr>
              <a:t>Filters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476" name="Google Shape;476;p54"/>
          <p:cNvSpPr txBox="1">
            <a:spLocks noGrp="1"/>
          </p:cNvSpPr>
          <p:nvPr>
            <p:ph type="body" idx="1"/>
          </p:nvPr>
        </p:nvSpPr>
        <p:spPr>
          <a:xfrm>
            <a:off x="1223319" y="1087395"/>
            <a:ext cx="7685903" cy="4627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p:pic>
        <p:nvPicPr>
          <p:cNvPr id="477" name="Google Shape;477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7549" y="3809936"/>
            <a:ext cx="2797728" cy="294800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4"/>
          <p:cNvSpPr/>
          <p:nvPr/>
        </p:nvSpPr>
        <p:spPr>
          <a:xfrm>
            <a:off x="734571" y="2795633"/>
            <a:ext cx="803611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1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Note</a:t>
            </a:r>
            <a:r>
              <a:rPr lang="tr-TR" sz="2400" b="1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: </a:t>
            </a: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W</a:t>
            </a:r>
            <a:r>
              <a:rPr lang="tr-TR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eight</a:t>
            </a:r>
            <a:r>
              <a:rPr lang="tr-TR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tr-TR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values</a:t>
            </a:r>
            <a:r>
              <a:rPr lang="tr-TR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tr-TR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decrease</a:t>
            </a:r>
            <a:r>
              <a:rPr lang="tr-TR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tr-TR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with</a:t>
            </a:r>
            <a:r>
              <a:rPr lang="tr-TR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tr-TR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distance</a:t>
            </a:r>
            <a:r>
              <a:rPr lang="tr-TR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tr-TR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from</a:t>
            </a:r>
            <a:r>
              <a:rPr lang="tr-TR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mask </a:t>
            </a:r>
            <a:r>
              <a:rPr lang="tr-TR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center</a:t>
            </a:r>
            <a:r>
              <a:rPr lang="tr-TR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!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80" name="Google Shape;480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901" y="3963040"/>
            <a:ext cx="2776444" cy="2457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488;p55">
            <a:extLst>
              <a:ext uri="{FF2B5EF4-FFF2-40B4-BE49-F238E27FC236}">
                <a16:creationId xmlns:a16="http://schemas.microsoft.com/office/drawing/2014/main" id="{9C1295AC-7F72-4BF8-BDAE-C21A877BE05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1411" r="38678" b="20125"/>
          <a:stretch/>
        </p:blipFill>
        <p:spPr>
          <a:xfrm>
            <a:off x="3269618" y="3669491"/>
            <a:ext cx="3101821" cy="3624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04CDDA-8945-4F54-B2F0-58BAE65467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716" y="1342855"/>
            <a:ext cx="7407644" cy="101636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49875" y="1323975"/>
            <a:ext cx="3525838" cy="52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6950" y="1323975"/>
            <a:ext cx="3270250" cy="491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E599D9-CFE7-44DB-98EB-B7ADFE9A1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Ideal vs. Gaussian LPF</a:t>
            </a:r>
            <a:b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518" y="2752725"/>
            <a:ext cx="7961984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CA4124-159E-4D38-802F-738365892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sz="36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Gaussian Low Pass Filtering for </a:t>
            </a:r>
            <a:br>
              <a:rPr lang="en-US" dirty="0"/>
            </a:br>
            <a:r>
              <a:rPr lang="en-US" sz="36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Document Image Analysis</a:t>
            </a:r>
            <a:b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631" y="3166341"/>
            <a:ext cx="8172450" cy="3490913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60"/>
          <p:cNvSpPr txBox="1"/>
          <p:nvPr/>
        </p:nvSpPr>
        <p:spPr>
          <a:xfrm>
            <a:off x="2476005" y="1359725"/>
            <a:ext cx="4055662" cy="115320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17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A501D-67EE-4034-BE79-0145303C7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24543"/>
            <a:ext cx="7886700" cy="929404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1.3. Butterworth Low Pass  Filter</a:t>
            </a: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6213" y="1785938"/>
            <a:ext cx="6264275" cy="378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6C4364-CDE5-43F0-B549-F0CDC8D77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82" y="365126"/>
            <a:ext cx="8766110" cy="1325563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rgbClr val="FF0000"/>
                </a:solidFill>
              </a:rPr>
              <a:t>Butterwoth</a:t>
            </a:r>
            <a:r>
              <a:rPr lang="en-US" sz="3600" dirty="0">
                <a:solidFill>
                  <a:srgbClr val="FF0000"/>
                </a:solidFill>
              </a:rPr>
              <a:t> Low Pass Filters in Spatial Domain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6245" y="1719743"/>
            <a:ext cx="6079151" cy="50037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7B55D75-2AF1-4C6C-BCD3-4DF1225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2</a:t>
            </a:r>
            <a:r>
              <a:rPr lang="en-US" sz="3200" baseline="30000" dirty="0">
                <a:solidFill>
                  <a:srgbClr val="FF0000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nd</a:t>
            </a:r>
            <a:r>
              <a:rPr lang="en-US" sz="3200" dirty="0">
                <a:solidFill>
                  <a:srgbClr val="FF0000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 Order Butterworth Filtering with Different Cutoff Frequencies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796" y="1755774"/>
            <a:ext cx="3151188" cy="473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9264" y="1755774"/>
            <a:ext cx="4273550" cy="49133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B3DE2F-7BFB-4C01-8725-E82AECB3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Comparison of Ideal and Butterworth Low Pass Filtering</a:t>
            </a:r>
            <a:b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tr-TR" sz="3959" dirty="0"/>
              <a:t>2. High </a:t>
            </a:r>
            <a:r>
              <a:rPr lang="tr-TR" sz="3959" dirty="0" err="1"/>
              <a:t>Pass</a:t>
            </a:r>
            <a:r>
              <a:rPr lang="tr-TR" sz="3959" dirty="0"/>
              <a:t> </a:t>
            </a:r>
            <a:r>
              <a:rPr lang="tr-TR" sz="3959" dirty="0" err="1"/>
              <a:t>Filter</a:t>
            </a:r>
            <a:r>
              <a:rPr lang="en-US" sz="3959" dirty="0"/>
              <a:t>s</a:t>
            </a:r>
            <a:r>
              <a:rPr lang="tr-TR" sz="3959" dirty="0"/>
              <a:t>: </a:t>
            </a:r>
            <a:br>
              <a:rPr lang="tr-TR" sz="3959" dirty="0"/>
            </a:br>
            <a:r>
              <a:rPr lang="tr-TR" sz="3959" dirty="0" err="1"/>
              <a:t>Edge</a:t>
            </a:r>
            <a:r>
              <a:rPr lang="tr-TR" sz="3959" dirty="0"/>
              <a:t> </a:t>
            </a:r>
            <a:r>
              <a:rPr lang="tr-TR" sz="3959" dirty="0" err="1"/>
              <a:t>detectors</a:t>
            </a:r>
            <a:r>
              <a:rPr lang="tr-TR" sz="3959" dirty="0"/>
              <a:t> in </a:t>
            </a:r>
            <a:r>
              <a:rPr lang="tr-TR" sz="3959" dirty="0" err="1"/>
              <a:t>Frequency</a:t>
            </a:r>
            <a:r>
              <a:rPr lang="tr-TR" sz="3959" dirty="0"/>
              <a:t> Domain</a:t>
            </a:r>
            <a:endParaRPr dirty="0"/>
          </a:p>
        </p:txBody>
      </p:sp>
      <p:sp>
        <p:nvSpPr>
          <p:cNvPr id="545" name="Google Shape;545;p64"/>
          <p:cNvSpPr txBox="1">
            <a:spLocks noGrp="1"/>
          </p:cNvSpPr>
          <p:nvPr>
            <p:ph type="body" idx="1"/>
          </p:nvPr>
        </p:nvSpPr>
        <p:spPr>
          <a:xfrm>
            <a:off x="628650" y="2432807"/>
            <a:ext cx="7886700" cy="3744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tr-TR" sz="2800" dirty="0" err="1"/>
              <a:t>Ideal</a:t>
            </a:r>
            <a:r>
              <a:rPr lang="tr-TR" sz="2800" dirty="0"/>
              <a:t> High </a:t>
            </a:r>
            <a:r>
              <a:rPr lang="tr-TR" sz="2800" dirty="0" err="1"/>
              <a:t>Pass</a:t>
            </a:r>
            <a:r>
              <a:rPr lang="tr-TR" sz="2800" dirty="0"/>
              <a:t> </a:t>
            </a:r>
            <a:r>
              <a:rPr lang="tr-TR" sz="2800" dirty="0" err="1"/>
              <a:t>Filters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tr-TR" sz="2800" dirty="0" err="1"/>
              <a:t>Gaussian</a:t>
            </a:r>
            <a:r>
              <a:rPr lang="tr-TR" sz="2800" dirty="0"/>
              <a:t> High </a:t>
            </a:r>
            <a:r>
              <a:rPr lang="tr-TR" sz="2800" dirty="0" err="1"/>
              <a:t>Pass</a:t>
            </a:r>
            <a:r>
              <a:rPr lang="tr-TR" sz="2800" dirty="0"/>
              <a:t> </a:t>
            </a:r>
            <a:r>
              <a:rPr lang="tr-TR" sz="2800" dirty="0" err="1"/>
              <a:t>Filters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tr-TR" sz="2800" dirty="0" err="1"/>
              <a:t>Butterworth</a:t>
            </a:r>
            <a:r>
              <a:rPr lang="tr-TR" sz="2800" dirty="0"/>
              <a:t> High </a:t>
            </a:r>
            <a:r>
              <a:rPr lang="tr-TR" sz="2800" dirty="0" err="1"/>
              <a:t>Pass</a:t>
            </a:r>
            <a:r>
              <a:rPr lang="tr-TR" sz="2800" dirty="0"/>
              <a:t> </a:t>
            </a:r>
            <a:r>
              <a:rPr lang="tr-TR" sz="2800" dirty="0" err="1"/>
              <a:t>Filters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A7B7-448A-4002-B7E6-BD27AC9D9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High pass filters pass only the high frequency components of the image, outside a circle centered at the origin of 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 err="1"/>
              <a:t>u</a:t>
            </a:r>
            <a:r>
              <a:rPr lang="en-US" dirty="0" err="1"/>
              <a:t>,</a:t>
            </a:r>
            <a:r>
              <a:rPr lang="en-US" i="1" dirty="0" err="1"/>
              <a:t>v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A3AEC7-47B8-4413-88AC-FAF3CBE0E89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28650" y="2655115"/>
                <a:ext cx="7886700" cy="3521847"/>
              </a:xfrm>
            </p:spPr>
            <p:txBody>
              <a:bodyPr/>
              <a:lstStyle/>
              <a:p>
                <a:pPr marL="114300" indent="0">
                  <a:buNone/>
                </a:pPr>
                <a:r>
                  <a:rPr lang="en-US" sz="2400" dirty="0"/>
                  <a:t>High pass and low pass filters can be considered complement of each other. They are related by the following equation;</a:t>
                </a:r>
              </a:p>
              <a:p>
                <a:endParaRPr lang="en-US" i="1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𝐻𝑃</m:t>
                          </m:r>
                        </m:sub>
                      </m:sSub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en-US" sz="2800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en-US" sz="2800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A3AEC7-47B8-4413-88AC-FAF3CBE0E8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2655115"/>
                <a:ext cx="7886700" cy="3521847"/>
              </a:xfrm>
              <a:blipFill>
                <a:blip r:embed="rId2"/>
                <a:stretch>
                  <a:fillRect r="-2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25759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>
                <a:solidFill>
                  <a:srgbClr val="FF0000"/>
                </a:solidFill>
              </a:rPr>
              <a:t>2.1. Ideal </a:t>
            </a:r>
            <a:r>
              <a:rPr lang="tr-TR" dirty="0">
                <a:solidFill>
                  <a:srgbClr val="FF0000"/>
                </a:solidFill>
              </a:rPr>
              <a:t>High </a:t>
            </a:r>
            <a:r>
              <a:rPr lang="tr-TR" dirty="0" err="1">
                <a:solidFill>
                  <a:srgbClr val="FF0000"/>
                </a:solidFill>
              </a:rPr>
              <a:t>Pass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Filters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are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tr-TR" dirty="0" err="1">
                <a:solidFill>
                  <a:srgbClr val="FF0000"/>
                </a:solidFill>
              </a:rPr>
              <a:t>omplement</a:t>
            </a:r>
            <a:r>
              <a:rPr lang="tr-TR" dirty="0">
                <a:solidFill>
                  <a:srgbClr val="FF0000"/>
                </a:solidFill>
              </a:rPr>
              <a:t> of </a:t>
            </a:r>
            <a:r>
              <a:rPr lang="en-US" dirty="0">
                <a:solidFill>
                  <a:srgbClr val="FF0000"/>
                </a:solidFill>
              </a:rPr>
              <a:t>Ideal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L</a:t>
            </a:r>
            <a:r>
              <a:rPr lang="tr-TR" dirty="0" err="1">
                <a:solidFill>
                  <a:srgbClr val="FF0000"/>
                </a:solidFill>
              </a:rPr>
              <a:t>ow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tr-TR" dirty="0" err="1">
                <a:solidFill>
                  <a:srgbClr val="FF0000"/>
                </a:solidFill>
              </a:rPr>
              <a:t>ass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F</a:t>
            </a:r>
            <a:r>
              <a:rPr lang="tr-TR" dirty="0" err="1">
                <a:solidFill>
                  <a:srgbClr val="FF0000"/>
                </a:solidFill>
              </a:rPr>
              <a:t>ilters</a:t>
            </a:r>
            <a:endParaRPr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1" name="Google Shape;551;p6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8650" y="1825625"/>
                <a:ext cx="78867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8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tr-TR" sz="2800" i="1" baseline="-25000" dirty="0" err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tr-TR" sz="2800" i="1" baseline="-25000" dirty="0" err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𝐻𝑙𝑝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800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551" name="Google Shape;551;p6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1825625"/>
                <a:ext cx="7886700" cy="4351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52" name="Google Shape;552;p65"/>
          <p:cNvPicPr preferRelativeResize="0"/>
          <p:nvPr/>
        </p:nvPicPr>
        <p:blipFill rotWithShape="1">
          <a:blip r:embed="rId4">
            <a:alphaModFix/>
          </a:blip>
          <a:srcRect r="35950" b="24702"/>
          <a:stretch/>
        </p:blipFill>
        <p:spPr>
          <a:xfrm>
            <a:off x="4682548" y="2941419"/>
            <a:ext cx="4257894" cy="2119747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53" name="Google Shape;553;p65"/>
          <p:cNvPicPr preferRelativeResize="0"/>
          <p:nvPr/>
        </p:nvPicPr>
        <p:blipFill rotWithShape="1">
          <a:blip r:embed="rId5">
            <a:alphaModFix/>
          </a:blip>
          <a:srcRect r="36499" b="71084"/>
          <a:stretch/>
        </p:blipFill>
        <p:spPr>
          <a:xfrm>
            <a:off x="203558" y="2941420"/>
            <a:ext cx="4312111" cy="2119747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54" name="Google Shape;554;p65"/>
          <p:cNvSpPr txBox="1"/>
          <p:nvPr/>
        </p:nvSpPr>
        <p:spPr>
          <a:xfrm>
            <a:off x="1039091" y="5518451"/>
            <a:ext cx="2858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Ideal</a:t>
            </a:r>
            <a:r>
              <a:rPr lang="tr-TR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High </a:t>
            </a:r>
            <a:r>
              <a:rPr lang="tr-TR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Pass</a:t>
            </a:r>
            <a:r>
              <a:rPr lang="tr-TR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tr-TR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Filter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5" name="Google Shape;555;p65"/>
          <p:cNvSpPr txBox="1"/>
          <p:nvPr/>
        </p:nvSpPr>
        <p:spPr>
          <a:xfrm>
            <a:off x="5407905" y="5471111"/>
            <a:ext cx="280717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Ideal</a:t>
            </a:r>
            <a:r>
              <a:rPr lang="tr-TR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tr-TR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Low</a:t>
            </a:r>
            <a:r>
              <a:rPr lang="tr-TR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tr-TR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Pass</a:t>
            </a:r>
            <a:r>
              <a:rPr lang="tr-TR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tr-TR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Filter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66791" y="1971133"/>
            <a:ext cx="5830110" cy="43499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F22108-DC8D-4715-821D-D495E8B46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" y="193675"/>
            <a:ext cx="8952723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2. 2,3. Gaussian and Butterworth  High Pass Filters are Complement of Low Pass Filters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0684" y="1206067"/>
            <a:ext cx="5051280" cy="54529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21005E-B398-41F6-ADF7-65F1D005C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27" y="61881"/>
            <a:ext cx="8789436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Ideal, Butterworth and Gaussian High Pass Filters </a:t>
            </a: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7907" y="2089149"/>
            <a:ext cx="6302375" cy="44037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DED3E7-F644-4C28-A350-FF0CA1AA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423071" cy="1325563"/>
          </a:xfrm>
        </p:spPr>
        <p:txBody>
          <a:bodyPr>
            <a:normAutofit fontScale="90000"/>
          </a:bodyPr>
          <a:lstStyle/>
          <a:p>
            <a:pPr lvl="0"/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Verdana"/>
                <a:cs typeface="Calibri" panose="020F0502020204030204" pitchFamily="34" charset="0"/>
                <a:sym typeface="Verdana"/>
              </a:rPr>
              <a:t>Space Domain Representation of 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Verdana"/>
                <a:cs typeface="Calibri" panose="020F0502020204030204" pitchFamily="34" charset="0"/>
                <a:sym typeface="Verdana"/>
              </a:rPr>
              <a:t>Ideal, Butterworth and Gaussian High Pass Filters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100" y="1965325"/>
            <a:ext cx="8123238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B1C313-DCA6-4F9D-8FA5-18DF62B43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2. 1 Ideal High Pass Filter Outputs</a:t>
            </a:r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1"/>
          <p:cNvSpPr txBox="1"/>
          <p:nvPr/>
        </p:nvSpPr>
        <p:spPr>
          <a:xfrm>
            <a:off x="0" y="156111"/>
            <a:ext cx="9015413" cy="707886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01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 2. Gaussian High Pass Filter Outputs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1" name="Google Shape;591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79550"/>
            <a:ext cx="9015413" cy="3970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2"/>
          <p:cNvSpPr txBox="1"/>
          <p:nvPr/>
        </p:nvSpPr>
        <p:spPr>
          <a:xfrm>
            <a:off x="1809456" y="385763"/>
            <a:ext cx="5510804" cy="707886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01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GHPF vs Ideal HP Outputs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7" name="Google Shape;597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625" y="1096963"/>
            <a:ext cx="8397875" cy="3697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978275"/>
            <a:ext cx="8318500" cy="370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000" y="1487488"/>
            <a:ext cx="8450263" cy="374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4B5199-8DE6-488B-963E-1A4A72AE4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2.3 Butterworth High Pass Filter</a:t>
            </a:r>
            <a:br>
              <a:rPr lang="en-US" sz="3600" dirty="0"/>
            </a:br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609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294" y="-341733"/>
            <a:ext cx="8042988" cy="7513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/>
              <a:t>3. Band Filter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5" name="Google Shape;615;p7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8650" y="1690689"/>
                <a:ext cx="7886700" cy="44862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457200" lvl="0" indent="-4572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Calibri"/>
                  <a:buAutoNum type="arabicPeriod"/>
                </a:pPr>
                <a:r>
                  <a:rPr lang="tr-TR" dirty="0" err="1"/>
                  <a:t>Band</a:t>
                </a:r>
                <a:r>
                  <a:rPr lang="tr-TR" dirty="0"/>
                  <a:t> </a:t>
                </a:r>
                <a:r>
                  <a:rPr lang="tr-TR" dirty="0" err="1"/>
                  <a:t>Pass</a:t>
                </a:r>
                <a:r>
                  <a:rPr lang="tr-TR" dirty="0"/>
                  <a:t> </a:t>
                </a:r>
                <a:r>
                  <a:rPr lang="tr-TR" dirty="0" err="1"/>
                  <a:t>Filters</a:t>
                </a:r>
                <a:endParaRPr lang="en-US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None/>
                </a:pPr>
                <a:endParaRPr lang="en-US" dirty="0"/>
              </a:p>
              <a:p>
                <a:pPr marL="457200" lvl="0" indent="-4572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Calibri"/>
                  <a:buAutoNum type="arabicPeriod"/>
                </a:pPr>
                <a:endParaRPr lang="en-US" dirty="0"/>
              </a:p>
              <a:p>
                <a:pPr marL="457200" lvl="0" indent="-4572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Calibri"/>
                  <a:buAutoNum type="arabicPeriod"/>
                </a:pPr>
                <a:endParaRPr lang="en-US" dirty="0"/>
              </a:p>
              <a:p>
                <a:pPr marL="457200" lvl="0" indent="-4572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Calibri"/>
                  <a:buAutoNum type="arabicPeriod"/>
                </a:pPr>
                <a:endParaRPr lang="en-US" dirty="0"/>
              </a:p>
              <a:p>
                <a:pPr marL="457200" lvl="0" indent="-4572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Calibri"/>
                  <a:buAutoNum type="arabicPeriod"/>
                </a:pPr>
                <a:endParaRPr dirty="0"/>
              </a:p>
              <a:p>
                <a:pPr marL="457200" lvl="0" indent="-45720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Calibri"/>
                  <a:buAutoNum type="arabicPeriod"/>
                </a:pPr>
                <a:r>
                  <a:rPr lang="tr-TR" dirty="0" err="1"/>
                  <a:t>Band</a:t>
                </a:r>
                <a:r>
                  <a:rPr lang="tr-TR" dirty="0"/>
                  <a:t> </a:t>
                </a:r>
                <a:r>
                  <a:rPr lang="tr-TR" dirty="0" err="1"/>
                  <a:t>Reject</a:t>
                </a:r>
                <a:r>
                  <a:rPr lang="tr-TR" dirty="0"/>
                  <a:t> </a:t>
                </a:r>
                <a:r>
                  <a:rPr lang="tr-TR" dirty="0" err="1"/>
                  <a:t>Filters</a:t>
                </a:r>
                <a:endParaRPr dirty="0"/>
              </a:p>
              <a:p>
                <a:pPr marL="0" lvl="0" indent="0" algn="ctr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32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tr-TR" sz="3200" i="1" baseline="-25000" dirty="0">
                          <a:latin typeface="Cambria Math" panose="02040503050406030204" pitchFamily="18" charset="0"/>
                        </a:rPr>
                        <m:t>𝐵𝑃</m:t>
                      </m:r>
                      <m:r>
                        <a:rPr lang="tr-TR" sz="3200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tr-TR" sz="3200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tr-TR" sz="32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200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tr-TR" sz="3200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tr-TR" sz="32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sz="32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sz="3200" i="1" dirty="0">
                          <a:latin typeface="Cambria Math" panose="02040503050406030204" pitchFamily="18" charset="0"/>
                        </a:rPr>
                        <m:t>𝐻𝐵𝑅</m:t>
                      </m:r>
                      <m:r>
                        <a:rPr lang="tr-TR" sz="3200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tr-TR" sz="3200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tr-TR" sz="32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200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tr-TR" sz="3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200" dirty="0"/>
              </a:p>
            </p:txBody>
          </p:sp>
        </mc:Choice>
        <mc:Fallback>
          <p:sp>
            <p:nvSpPr>
              <p:cNvPr id="615" name="Google Shape;615;p7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1690689"/>
                <a:ext cx="7886700" cy="4486274"/>
              </a:xfrm>
              <a:prstGeom prst="rect">
                <a:avLst/>
              </a:prstGeom>
              <a:blipFill>
                <a:blip r:embed="rId3"/>
                <a:stretch>
                  <a:fillRect l="-927" t="-16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7" name="Google Shape;617;p75"/>
          <p:cNvSpPr txBox="1"/>
          <p:nvPr/>
        </p:nvSpPr>
        <p:spPr>
          <a:xfrm>
            <a:off x="2124268" y="4844430"/>
            <a:ext cx="4573944" cy="96116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21" t="-223373" r="-4166" b="-3233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7" name="Google Shape;616;p75">
            <a:extLst>
              <a:ext uri="{FF2B5EF4-FFF2-40B4-BE49-F238E27FC236}">
                <a16:creationId xmlns:a16="http://schemas.microsoft.com/office/drawing/2014/main" id="{0E956598-715D-4A77-938C-3A2E49F6D7AE}"/>
              </a:ext>
            </a:extLst>
          </p:cNvPr>
          <p:cNvSpPr txBox="1"/>
          <p:nvPr/>
        </p:nvSpPr>
        <p:spPr>
          <a:xfrm>
            <a:off x="1656607" y="2265800"/>
            <a:ext cx="4652492" cy="96116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262" t="-222060" r="-3540" b="-32335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 dirty="0" err="1"/>
              <a:t>Band</a:t>
            </a:r>
            <a:r>
              <a:rPr lang="en-US" dirty="0"/>
              <a:t> R</a:t>
            </a:r>
            <a:r>
              <a:rPr lang="tr-TR" dirty="0" err="1"/>
              <a:t>eject</a:t>
            </a:r>
            <a:r>
              <a:rPr lang="tr-TR" dirty="0"/>
              <a:t> </a:t>
            </a:r>
            <a:r>
              <a:rPr lang="tr-TR" dirty="0" err="1"/>
              <a:t>filters</a:t>
            </a:r>
            <a:endParaRPr dirty="0"/>
          </a:p>
        </p:txBody>
      </p:sp>
      <p:sp>
        <p:nvSpPr>
          <p:cNvPr id="630" name="Google Shape;630;p7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631" name="Google Shape;631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774251"/>
            <a:ext cx="8229600" cy="474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 dirty="0" err="1"/>
              <a:t>Band</a:t>
            </a:r>
            <a:r>
              <a:rPr lang="en-US" dirty="0"/>
              <a:t> P</a:t>
            </a:r>
            <a:r>
              <a:rPr lang="tr-TR" dirty="0" err="1"/>
              <a:t>ass</a:t>
            </a:r>
            <a:r>
              <a:rPr lang="tr-TR" dirty="0"/>
              <a:t> </a:t>
            </a:r>
            <a:r>
              <a:rPr lang="tr-TR" dirty="0" err="1"/>
              <a:t>Filters</a:t>
            </a:r>
            <a:endParaRPr dirty="0"/>
          </a:p>
        </p:txBody>
      </p:sp>
      <p:pic>
        <p:nvPicPr>
          <p:cNvPr id="638" name="Google Shape;638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882" y="1758820"/>
            <a:ext cx="8789436" cy="4734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79" descr="http://images-mediawiki-sites.thefullwiki.org/01/3/4/6/18529652513827008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5283" y="1426128"/>
            <a:ext cx="5438335" cy="501169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35F1B2-1844-49BF-8A35-6775412DE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818" y="100565"/>
            <a:ext cx="8524681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Band Reject Filters: Remove the blackened areas in Fourier Domain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0" name="Google Shape;650;p80"/>
          <p:cNvGrpSpPr/>
          <p:nvPr/>
        </p:nvGrpSpPr>
        <p:grpSpPr>
          <a:xfrm>
            <a:off x="461169" y="579437"/>
            <a:ext cx="3338513" cy="2843213"/>
            <a:chOff x="336" y="336"/>
            <a:chExt cx="2459" cy="2365"/>
          </a:xfrm>
        </p:grpSpPr>
        <p:graphicFrame>
          <p:nvGraphicFramePr>
            <p:cNvPr id="651" name="Google Shape;651;p80"/>
            <p:cNvGraphicFramePr/>
            <p:nvPr/>
          </p:nvGraphicFramePr>
          <p:xfrm>
            <a:off x="528" y="336"/>
            <a:ext cx="2064" cy="20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7" r:id="rId4" imgW="2064" imgH="2064" progId="MSPhotoEd.3">
                    <p:embed/>
                  </p:oleObj>
                </mc:Choice>
                <mc:Fallback>
                  <p:oleObj r:id="rId4" imgW="2064" imgH="2064" progId="MSPhotoEd.3">
                    <p:embed/>
                    <p:pic>
                      <p:nvPicPr>
                        <p:cNvPr id="651" name="Google Shape;651;p80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528" y="336"/>
                          <a:ext cx="2064" cy="20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2" name="Google Shape;652;p80"/>
            <p:cNvSpPr txBox="1"/>
            <p:nvPr/>
          </p:nvSpPr>
          <p:spPr>
            <a:xfrm>
              <a:off x="336" y="2447"/>
              <a:ext cx="2459" cy="2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Noisy image; periodic noise as vertical lines</a:t>
              </a:r>
              <a:endParaRPr/>
            </a:p>
          </p:txBody>
        </p:sp>
      </p:grpSp>
      <p:grpSp>
        <p:nvGrpSpPr>
          <p:cNvPr id="653" name="Google Shape;653;p80"/>
          <p:cNvGrpSpPr/>
          <p:nvPr/>
        </p:nvGrpSpPr>
        <p:grpSpPr>
          <a:xfrm>
            <a:off x="461169" y="3917950"/>
            <a:ext cx="4492625" cy="2803525"/>
            <a:chOff x="2649" y="480"/>
            <a:chExt cx="2830" cy="1766"/>
          </a:xfrm>
        </p:grpSpPr>
        <p:sp>
          <p:nvSpPr>
            <p:cNvPr id="654" name="Google Shape;654;p80"/>
            <p:cNvSpPr txBox="1"/>
            <p:nvPr/>
          </p:nvSpPr>
          <p:spPr>
            <a:xfrm>
              <a:off x="2649" y="1920"/>
              <a:ext cx="2830" cy="3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2-D spectrum of the image and the filters applied: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 the regions corresponding to the vertical lines frequencies</a:t>
              </a:r>
              <a:endParaRPr/>
            </a:p>
          </p:txBody>
        </p:sp>
        <p:grpSp>
          <p:nvGrpSpPr>
            <p:cNvPr id="655" name="Google Shape;655;p80"/>
            <p:cNvGrpSpPr/>
            <p:nvPr/>
          </p:nvGrpSpPr>
          <p:grpSpPr>
            <a:xfrm>
              <a:off x="3264" y="480"/>
              <a:ext cx="1680" cy="1632"/>
              <a:chOff x="3264" y="480"/>
              <a:chExt cx="1680" cy="1632"/>
            </a:xfrm>
          </p:grpSpPr>
          <p:graphicFrame>
            <p:nvGraphicFramePr>
              <p:cNvPr id="656" name="Google Shape;656;p80"/>
              <p:cNvGraphicFramePr/>
              <p:nvPr/>
            </p:nvGraphicFramePr>
            <p:xfrm>
              <a:off x="3264" y="480"/>
              <a:ext cx="1355" cy="1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98" r:id="rId6" imgW="1355" imgH="1248" progId="MSPhotoEd.3">
                      <p:embed/>
                    </p:oleObj>
                  </mc:Choice>
                  <mc:Fallback>
                    <p:oleObj r:id="rId6" imgW="1355" imgH="1248" progId="MSPhotoEd.3">
                      <p:embed/>
                      <p:pic>
                        <p:nvPicPr>
                          <p:cNvPr id="656" name="Google Shape;656;p80"/>
                          <p:cNvPicPr preferRelativeResize="0"/>
                          <p:nvPr/>
                        </p:nvPicPr>
                        <p:blipFill rotWithShape="1">
                          <a:blip r:embed="rId7">
                            <a:alphaModFix/>
                          </a:blip>
                          <a:srcRect/>
                          <a:stretch/>
                        </p:blipFill>
                        <p:spPr>
                          <a:xfrm>
                            <a:off x="3264" y="480"/>
                            <a:ext cx="1355" cy="1248"/>
                          </a:xfrm>
                          <a:prstGeom prst="rect">
                            <a:avLst/>
                          </a:pr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657" name="Google Shape;657;p80"/>
              <p:cNvCxnSpPr/>
              <p:nvPr/>
            </p:nvCxnSpPr>
            <p:spPr>
              <a:xfrm>
                <a:off x="3552" y="1104"/>
                <a:ext cx="1392" cy="100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58" name="Google Shape;658;p80"/>
              <p:cNvCxnSpPr/>
              <p:nvPr/>
            </p:nvCxnSpPr>
            <p:spPr>
              <a:xfrm>
                <a:off x="4224" y="1056"/>
                <a:ext cx="720" cy="100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659" name="Google Shape;659;p80"/>
          <p:cNvGrpSpPr/>
          <p:nvPr/>
        </p:nvGrpSpPr>
        <p:grpSpPr>
          <a:xfrm>
            <a:off x="5537995" y="3917950"/>
            <a:ext cx="2798763" cy="2895600"/>
            <a:chOff x="2064" y="2352"/>
            <a:chExt cx="1763" cy="1824"/>
          </a:xfrm>
        </p:grpSpPr>
        <p:graphicFrame>
          <p:nvGraphicFramePr>
            <p:cNvPr id="660" name="Google Shape;660;p80"/>
            <p:cNvGraphicFramePr/>
            <p:nvPr/>
          </p:nvGraphicFramePr>
          <p:xfrm>
            <a:off x="2064" y="2352"/>
            <a:ext cx="1632" cy="1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9" r:id="rId8" imgW="1632" imgH="1632" progId="MSPhotoEd.3">
                    <p:embed/>
                  </p:oleObj>
                </mc:Choice>
                <mc:Fallback>
                  <p:oleObj r:id="rId8" imgW="1632" imgH="1632" progId="MSPhotoEd.3">
                    <p:embed/>
                    <p:pic>
                      <p:nvPicPr>
                        <p:cNvPr id="660" name="Google Shape;660;p80"/>
                        <p:cNvPicPr preferRelativeResize="0"/>
                        <p:nvPr/>
                      </p:nvPicPr>
                      <p:blipFill rotWithShape="1">
                        <a:blip r:embed="rId9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2064" y="2352"/>
                          <a:ext cx="1632" cy="16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1" name="Google Shape;661;p80"/>
            <p:cNvSpPr txBox="1"/>
            <p:nvPr/>
          </p:nvSpPr>
          <p:spPr>
            <a:xfrm>
              <a:off x="2160" y="3984"/>
              <a:ext cx="1667" cy="1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Image restoration through filtering</a:t>
              </a:r>
              <a:endParaRPr/>
            </a:p>
          </p:txBody>
        </p:sp>
      </p:grpSp>
      <p:sp>
        <p:nvSpPr>
          <p:cNvPr id="662" name="Google Shape;662;p80"/>
          <p:cNvSpPr txBox="1"/>
          <p:nvPr/>
        </p:nvSpPr>
        <p:spPr>
          <a:xfrm>
            <a:off x="4175449" y="762000"/>
            <a:ext cx="381706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</a:t>
            </a:r>
            <a:r>
              <a:rPr lang="tr-TR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tr-TR" sz="2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eject</a:t>
            </a:r>
            <a:r>
              <a:rPr lang="tr-TR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-TR" sz="2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Filters</a:t>
            </a:r>
            <a:endParaRPr sz="2800" dirty="0"/>
          </a:p>
        </p:txBody>
      </p:sp>
      <p:pic>
        <p:nvPicPr>
          <p:cNvPr id="1027" name="Picture 3" descr="rId1">
            <a:extLst>
              <a:ext uri="{FF2B5EF4-FFF2-40B4-BE49-F238E27FC236}">
                <a16:creationId xmlns:a16="http://schemas.microsoft.com/office/drawing/2014/main" id="{4BFD9ADF-1686-4F45-B76B-A3C5EC585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1026" name="Picture 2" descr="rId2">
            <a:extLst>
              <a:ext uri="{FF2B5EF4-FFF2-40B4-BE49-F238E27FC236}">
                <a16:creationId xmlns:a16="http://schemas.microsoft.com/office/drawing/2014/main" id="{9C42F1DE-6ACD-476F-B8FC-C0BB3B73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1025" name="Picture 1" descr="rId3">
            <a:extLst>
              <a:ext uri="{FF2B5EF4-FFF2-40B4-BE49-F238E27FC236}">
                <a16:creationId xmlns:a16="http://schemas.microsoft.com/office/drawing/2014/main" id="{83ABD2EB-3F4B-44EA-97D2-5062DA1C1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7B6D3-45AB-490E-ADB9-00547C5C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Quiz#6: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3CA5A06-84BB-4DF3-9230-0EF00AAB771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400" dirty="0"/>
                  <a:t>Consider the DFT and DCT of </a:t>
                </a:r>
                <a:r>
                  <a:rPr lang="en-US" sz="2400" dirty="0" err="1"/>
                  <a:t>NxN</a:t>
                </a:r>
                <a:r>
                  <a:rPr lang="en-US" sz="2400" dirty="0"/>
                  <a:t> image, f,  as matrix similarity transform:</a:t>
                </a:r>
              </a:p>
              <a:p>
                <a:pPr marL="114300" indent="0" algn="ctr">
                  <a:buNone/>
                </a:pPr>
                <a:endParaRPr lang="en-US" sz="2400" i="1" dirty="0"/>
              </a:p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</a:t>
                </a:r>
                <a:r>
                  <a:rPr lang="en-US" sz="2400" baseline="-25000" dirty="0">
                    <a:sym typeface="Symbol" panose="05050102010706020507" pitchFamily="18" charset="2"/>
                  </a:rPr>
                  <a:t>NN</a:t>
                </a:r>
                <a:r>
                  <a:rPr lang="en-US" sz="2400" dirty="0"/>
                  <a:t> f </a:t>
                </a:r>
                <a:r>
                  <a:rPr lang="en-US" sz="2400" dirty="0">
                    <a:sym typeface="Symbol" panose="05050102010706020507" pitchFamily="18" charset="2"/>
                  </a:rPr>
                  <a:t></a:t>
                </a:r>
                <a:r>
                  <a:rPr lang="en-US" sz="2400" baseline="-25000" dirty="0">
                    <a:sym typeface="Symbol" panose="05050102010706020507" pitchFamily="18" charset="2"/>
                  </a:rPr>
                  <a:t>NN</a:t>
                </a:r>
                <a:r>
                  <a:rPr lang="en-US" sz="2400" dirty="0"/>
                  <a:t>   and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 C</a:t>
                </a:r>
                <a:r>
                  <a:rPr lang="en-US" sz="2400" baseline="-25000" dirty="0">
                    <a:sym typeface="Symbol" panose="05050102010706020507" pitchFamily="18" charset="2"/>
                  </a:rPr>
                  <a:t>NN</a:t>
                </a:r>
                <a:r>
                  <a:rPr lang="en-US" sz="2400" dirty="0"/>
                  <a:t> f </a:t>
                </a:r>
                <a:r>
                  <a:rPr lang="en-US" sz="2400" dirty="0">
                    <a:sym typeface="Symbol" panose="05050102010706020507" pitchFamily="18" charset="2"/>
                  </a:rPr>
                  <a:t>C</a:t>
                </a:r>
                <a:r>
                  <a:rPr lang="en-US" sz="2400" baseline="-25000" dirty="0">
                    <a:sym typeface="Symbol" panose="05050102010706020507" pitchFamily="18" charset="2"/>
                  </a:rPr>
                  <a:t>NN</a:t>
                </a:r>
                <a:r>
                  <a:rPr lang="en-US" sz="2400" dirty="0"/>
                  <a:t> </a:t>
                </a:r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dirty="0"/>
                  <a:t>Derive  the  Fourier and </a:t>
                </a:r>
                <a:r>
                  <a:rPr lang="en-US" sz="2400"/>
                  <a:t>Cosine base ,matrices</a:t>
                </a:r>
                <a:r>
                  <a:rPr lang="en-US" sz="2400" dirty="0"/>
                  <a:t>, </a:t>
                </a:r>
                <a:r>
                  <a:rPr lang="en-US" sz="2400" dirty="0">
                    <a:sym typeface="Symbol" panose="05050102010706020507" pitchFamily="18" charset="2"/>
                  </a:rPr>
                  <a:t></a:t>
                </a:r>
                <a:r>
                  <a:rPr lang="en-US" sz="2400" baseline="-25000" dirty="0">
                    <a:sym typeface="Symbol" panose="05050102010706020507" pitchFamily="18" charset="2"/>
                  </a:rPr>
                  <a:t>NN</a:t>
                </a:r>
                <a:r>
                  <a:rPr lang="en-US" sz="2400" dirty="0"/>
                  <a:t>  and </a:t>
                </a:r>
                <a:r>
                  <a:rPr lang="en-US" sz="2400" dirty="0">
                    <a:sym typeface="Symbol" panose="05050102010706020507" pitchFamily="18" charset="2"/>
                  </a:rPr>
                  <a:t>C</a:t>
                </a:r>
                <a:r>
                  <a:rPr lang="en-US" sz="2400" baseline="-25000" dirty="0">
                    <a:sym typeface="Symbol" panose="05050102010706020507" pitchFamily="18" charset="2"/>
                  </a:rPr>
                  <a:t>NN</a:t>
                </a:r>
                <a:r>
                  <a:rPr lang="en-US" sz="2400" dirty="0"/>
                  <a:t>  for N=4.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3CA5A06-84BB-4DF3-9230-0EF00AAB77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58896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1"/>
          <p:cNvSpPr txBox="1"/>
          <p:nvPr/>
        </p:nvSpPr>
        <p:spPr>
          <a:xfrm>
            <a:off x="989013" y="385763"/>
            <a:ext cx="7151687" cy="46196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01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Frequency Domain and Space Domain Filters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8" name="Google Shape;668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6588" y="1016000"/>
            <a:ext cx="7897812" cy="5805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/>
          </a:p>
        </p:txBody>
      </p:sp>
      <p:sp>
        <p:nvSpPr>
          <p:cNvPr id="674" name="Google Shape;674;p8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675" name="Google Shape;675;p82" descr="https://www.ceremade.dauphine.fr/~peyre/numerical-tour/tours/introduction_3_image/index_0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82563"/>
            <a:ext cx="10875963" cy="815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8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/>
          </a:p>
        </p:txBody>
      </p:sp>
      <p:sp>
        <p:nvSpPr>
          <p:cNvPr id="681" name="Google Shape;681;p8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682" name="Google Shape;682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9408"/>
            <a:ext cx="9144000" cy="583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51732-07F1-425A-B5F6-6342E6995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Product, Orthogonality, Basis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36E52A-0592-4083-A797-9CC8A9C075A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/>
                  <a:t>Inner Product</a:t>
                </a:r>
                <a:r>
                  <a:rPr lang="en-US" sz="2400" dirty="0"/>
                  <a:t>: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 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r>
                  <a:rPr lang="en-US" sz="2400" dirty="0"/>
                  <a:t>is a linear and conjugate symmetric map, satisfying </a:t>
                </a:r>
              </a:p>
              <a:p>
                <a:pPr marL="114300" indent="0" algn="ctr">
                  <a:buNone/>
                </a:pP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</m:oMath>
                </a14:m>
                <a:endParaRPr lang="en-US" sz="2400" dirty="0"/>
              </a:p>
              <a:p>
                <a:r>
                  <a:rPr lang="en-US" sz="2400" b="1" dirty="0"/>
                  <a:t>Orthogonality : </a:t>
                </a:r>
                <a:r>
                  <a:rPr lang="en-US" sz="2400" dirty="0"/>
                  <a:t>Two vectors are orthogonal  </a:t>
                </a:r>
                <a:r>
                  <a:rPr lang="en-US" sz="2400" dirty="0" err="1"/>
                  <a:t>iff</a:t>
                </a:r>
                <a:endParaRPr lang="en-US" sz="2400" dirty="0"/>
              </a:p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𝑓𝑜𝑟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         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b="1" dirty="0"/>
                  <a:t>Basis:</a:t>
                </a:r>
                <a:r>
                  <a:rPr lang="en-US" sz="2400" dirty="0"/>
                  <a:t> A set of  linearly independent vectors, which spans the vector space.</a:t>
                </a:r>
                <a:endParaRPr lang="tr-TR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36E52A-0592-4083-A797-9CC8A9C075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4235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ts val="3300"/>
            </a:pPr>
            <a:r>
              <a:rPr lang="tr-TR" dirty="0" err="1"/>
              <a:t>Hilbert</a:t>
            </a:r>
            <a:r>
              <a:rPr lang="tr-TR" dirty="0"/>
              <a:t> Space</a:t>
            </a:r>
            <a:r>
              <a:rPr lang="en-US" dirty="0"/>
              <a:t>s:  Extension to vector spaces, where vectors are functions, matrices, polynomials etc.</a:t>
            </a:r>
            <a:endParaRPr dirty="0"/>
          </a:p>
        </p:txBody>
      </p:sp>
      <p:sp>
        <p:nvSpPr>
          <p:cNvPr id="159" name="Google Shape;159;p10"/>
          <p:cNvSpPr txBox="1">
            <a:spLocks noGrp="1"/>
          </p:cNvSpPr>
          <p:nvPr>
            <p:ph type="body" idx="1"/>
          </p:nvPr>
        </p:nvSpPr>
        <p:spPr>
          <a:xfrm>
            <a:off x="628650" y="2068641"/>
            <a:ext cx="7886700" cy="3777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/>
              <a:t>For example: Inner product for function spaces is defined by</a:t>
            </a:r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endParaRPr lang="en-US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lang="en-US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lang="en-US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lang="en-US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lang="en-US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p:pic>
        <p:nvPicPr>
          <p:cNvPr id="160" name="Google Shape;16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2936" y="3389376"/>
            <a:ext cx="2344335" cy="317550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0"/>
          <p:cNvSpPr txBox="1"/>
          <p:nvPr/>
        </p:nvSpPr>
        <p:spPr>
          <a:xfrm>
            <a:off x="6912864" y="3011424"/>
            <a:ext cx="18838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David Hilbert</a:t>
            </a:r>
            <a:endParaRPr/>
          </a:p>
        </p:txBody>
      </p:sp>
      <p:pic>
        <p:nvPicPr>
          <p:cNvPr id="7" name="Google Shape;157;p10">
            <a:extLst>
              <a:ext uri="{FF2B5EF4-FFF2-40B4-BE49-F238E27FC236}">
                <a16:creationId xmlns:a16="http://schemas.microsoft.com/office/drawing/2014/main" id="{3DA59B05-10C7-4485-98A2-DFE595FB638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4495" y="2485263"/>
            <a:ext cx="4642597" cy="10523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44770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90068" y="4392191"/>
            <a:ext cx="5017237" cy="914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769" y="1365216"/>
            <a:ext cx="3625382" cy="280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91391" y="1447014"/>
            <a:ext cx="2411318" cy="272525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 txBox="1"/>
          <p:nvPr/>
        </p:nvSpPr>
        <p:spPr>
          <a:xfrm>
            <a:off x="4742688" y="2462784"/>
            <a:ext cx="41549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Google Shape;139;p7"/>
              <p:cNvSpPr txBox="1"/>
              <p:nvPr/>
            </p:nvSpPr>
            <p:spPr>
              <a:xfrm>
                <a:off x="1447102" y="4618833"/>
                <a:ext cx="1296442" cy="461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𝑓</m:t>
                      </m:r>
                      <m:r>
                        <a:rPr lang="tr-TR" sz="24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(</m:t>
                      </m:r>
                      <m:r>
                        <a:rPr lang="tr-TR" sz="24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𝑥</m:t>
                      </m:r>
                      <m:r>
                        <a:rPr lang="tr-TR" sz="24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) =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9" name="Google Shape;139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102" y="4618833"/>
                <a:ext cx="1296442" cy="461624"/>
              </a:xfrm>
              <a:prstGeom prst="rect">
                <a:avLst/>
              </a:prstGeom>
              <a:blipFill>
                <a:blip r:embed="rId6"/>
                <a:stretch>
                  <a:fillRect b="-2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A7E4990-EB8E-4AA5-9AAB-2E776444D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453" y="353960"/>
            <a:ext cx="8444759" cy="1250750"/>
          </a:xfrm>
        </p:spPr>
        <p:txBody>
          <a:bodyPr>
            <a:normAutofit fontScale="90000"/>
          </a:bodyPr>
          <a:lstStyle/>
          <a:p>
            <a:pPr lvl="0"/>
            <a:r>
              <a:rPr lang="en-US" sz="3600" dirty="0">
                <a:solidFill>
                  <a:srgbClr val="FF0000"/>
                </a:solidFill>
                <a:latin typeface="+mn-lt"/>
                <a:ea typeface="Verdana"/>
                <a:cs typeface="Verdana"/>
                <a:sym typeface="Verdana"/>
              </a:rPr>
              <a:t>Representation of periodic functions in terms of waves of different oscillations</a:t>
            </a:r>
            <a:b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738080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/>
              <a:t>Euler Formula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60F8E099-CD71-45DB-BAEF-9034F7A3234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tr-TR" sz="4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𝑗𝑠𝑖𝑛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tr-TR" sz="4400" dirty="0"/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60F8E099-CD71-45DB-BAEF-9034F7A323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35197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7500" y="2057400"/>
            <a:ext cx="59690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Calibri"/>
              <a:buNone/>
            </a:pPr>
            <a:r>
              <a:rPr lang="tr-TR" sz="2970" b="1"/>
              <a:t>Fourier Series: </a:t>
            </a:r>
            <a:r>
              <a:rPr lang="tr-TR" sz="2970"/>
              <a:t>Any periodic function can be represented as linear combination of sines and cosines</a:t>
            </a:r>
            <a:endParaRPr/>
          </a:p>
        </p:txBody>
      </p:sp>
      <p:sp>
        <p:nvSpPr>
          <p:cNvPr id="152" name="Google Shape;152;p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526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33953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Fourier Domain is a specific form of </a:t>
            </a:r>
            <a:r>
              <a:rPr lang="tr-TR" dirty="0" err="1"/>
              <a:t>Hilbert</a:t>
            </a:r>
            <a:r>
              <a:rPr lang="tr-TR" dirty="0"/>
              <a:t> </a:t>
            </a:r>
            <a:r>
              <a:rPr lang="tr-TR" dirty="0" err="1"/>
              <a:t>Spaces</a:t>
            </a:r>
            <a:r>
              <a:rPr lang="tr-TR" dirty="0"/>
              <a:t>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Google Shape;167;p1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8650" y="1830290"/>
                <a:ext cx="78867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indent="-457200">
                  <a:spcBef>
                    <a:spcPts val="0"/>
                  </a:spcBef>
                  <a:buSzPts val="2100"/>
                </a:pPr>
                <a:r>
                  <a:rPr lang="en-US" sz="2800" dirty="0"/>
                  <a:t>Functions,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𝒎𝒙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𝒄𝒐𝒔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𝒎𝒙</m:t>
                    </m:r>
                  </m:oMath>
                </a14:m>
                <a:r>
                  <a:rPr lang="en-US" sz="2800" dirty="0"/>
                  <a:t> (</a:t>
                </a:r>
                <a:r>
                  <a:rPr lang="en-US" sz="2800" i="1" dirty="0"/>
                  <a:t>m</a:t>
                </a:r>
                <a:r>
                  <a:rPr lang="en-US" sz="2800" dirty="0"/>
                  <a:t> is integer) form an orthogonal basis </a:t>
                </a:r>
              </a:p>
              <a:p>
                <a:pPr marL="0" indent="0">
                  <a:spcBef>
                    <a:spcPts val="0"/>
                  </a:spcBef>
                  <a:buSzPts val="2100"/>
                  <a:buNone/>
                </a:pPr>
                <a:r>
                  <a:rPr lang="en-US" sz="2800" dirty="0"/>
                  <a:t>or</a:t>
                </a:r>
              </a:p>
              <a:p>
                <a:pPr indent="-457200">
                  <a:spcBef>
                    <a:spcPts val="0"/>
                  </a:spcBef>
                  <a:buSzPts val="2100"/>
                </a:pPr>
                <a:r>
                  <a:rPr lang="en-US" sz="2800" dirty="0"/>
                  <a:t>Complex exponentials  form an orthogonal basis</a:t>
                </a:r>
              </a:p>
              <a:p>
                <a:pPr indent="-457200">
                  <a:spcBef>
                    <a:spcPts val="0"/>
                  </a:spcBef>
                  <a:buSzPts val="2100"/>
                </a:pPr>
                <a:endParaRPr lang="en-US" sz="2800" dirty="0"/>
              </a:p>
              <a:p>
                <a:pPr marL="171450" lvl="0" indent="-1714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Char char="•"/>
                </a:pPr>
                <a:r>
                  <a:rPr lang="en-US" sz="2800" dirty="0"/>
                  <a:t>Fourier Series: Representation of a periodic function in a space spanned by complex exponentials</a:t>
                </a:r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167" name="Google Shape;167;p1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1830290"/>
                <a:ext cx="7886700" cy="4351338"/>
              </a:xfrm>
              <a:prstGeom prst="rect">
                <a:avLst/>
              </a:prstGeom>
              <a:blipFill>
                <a:blip r:embed="rId4"/>
                <a:stretch>
                  <a:fillRect l="-1546" t="-11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Google Shape;168;p11"/>
          <p:cNvSpPr/>
          <p:nvPr/>
        </p:nvSpPr>
        <p:spPr>
          <a:xfrm>
            <a:off x="2603132" y="4940791"/>
            <a:ext cx="3352520" cy="98655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129100" b="-1797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800"/>
          </a:p>
        </p:txBody>
      </p:sp>
    </p:spTree>
    <p:extLst>
      <p:ext uri="{BB962C8B-B14F-4D97-AF65-F5344CB8AC3E}">
        <p14:creationId xmlns:p14="http://schemas.microsoft.com/office/powerpoint/2010/main" val="22073566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 dirty="0" err="1"/>
              <a:t>Orthogonality</a:t>
            </a:r>
            <a:r>
              <a:rPr lang="tr-TR" dirty="0"/>
              <a:t> of </a:t>
            </a:r>
            <a:r>
              <a:rPr lang="tr-TR" dirty="0" err="1"/>
              <a:t>complex</a:t>
            </a:r>
            <a:r>
              <a:rPr lang="tr-TR" dirty="0"/>
              <a:t> </a:t>
            </a:r>
            <a:r>
              <a:rPr lang="tr-TR" dirty="0" err="1"/>
              <a:t>exponentials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FB16488-40A0-4D21-9214-867F6DE76E95}"/>
                  </a:ext>
                </a:extLst>
              </p:cNvPr>
              <p:cNvSpPr/>
              <p:nvPr/>
            </p:nvSpPr>
            <p:spPr>
              <a:xfrm>
                <a:off x="272577" y="2257480"/>
                <a:ext cx="8390895" cy="14013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0" indent="0" algn="ctr"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ar-AE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/>
                            <m:t>e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𝑢𝑥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ar-AE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  .  </m:t>
                          </m:r>
                          <m:r>
                            <m:rPr>
                              <m:nor/>
                            </m:rPr>
                            <a:rPr lang="en-US" sz="2800" dirty="0"/>
                            <m:t>e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𝑢𝑥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ar-AE" sz="2800" i="1" dirty="0" smtClean="0">
                          <a:latin typeface="Cambria Math" panose="02040503050406030204" pitchFamily="18" charset="0"/>
                        </a:rPr>
                        <m:t>≜     ∫</m:t>
                      </m:r>
                      <m:sSup>
                        <m:sSupPr>
                          <m:ctrlPr>
                            <a:rPr lang="ar-AE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/>
                            <m:t>e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𝑢𝑥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ar-AE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  .  </m:t>
                          </m:r>
                          <m:r>
                            <m:rPr>
                              <m:nor/>
                            </m:rPr>
                            <a:rPr lang="en-US" sz="2800" dirty="0"/>
                            <m:t>e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marL="0" lvl="0" indent="0" algn="ctr">
                  <a:buSzPts val="2800"/>
                  <a:buNone/>
                </a:pPr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marL="0" lvl="0" indent="0" algn="ctr"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  , 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𝑓𝑜𝑟</m:t>
                      </m:r>
                      <m:sSub>
                        <m:sSubPr>
                          <m:ctrlPr>
                            <a:rPr lang="ar-AE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≠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FB16488-40A0-4D21-9214-867F6DE76E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77" y="2257480"/>
                <a:ext cx="8390895" cy="14013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89563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280" name="Google Shape;280;p26" descr="http://www.cs.unm.edu/~brayer/vision/cosines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363" y="176213"/>
            <a:ext cx="8442325" cy="6315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263040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9038" y="1030288"/>
            <a:ext cx="5375275" cy="5395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3052763" y="228600"/>
            <a:ext cx="5862637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b="1">
                <a:solidFill>
                  <a:srgbClr val="33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Fourier transforms</a:t>
            </a:r>
            <a:r>
              <a:rPr lang="tr-T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</a:t>
            </a:r>
            <a:r>
              <a:rPr lang="tr-TR" sz="1600" b="1">
                <a:solidFill>
                  <a:srgbClr val="33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10350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/>
          </a:p>
        </p:txBody>
      </p:sp>
      <p:sp>
        <p:nvSpPr>
          <p:cNvPr id="300" name="Google Shape;300;p2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301" name="Google Shape;301;p29" descr="https://www.ceremade.dauphine.fr/~peyre/numerical-tour/tours/introduction_3_image/index_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1175" y="0"/>
            <a:ext cx="8605838" cy="6454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76240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-TR"/>
              <a:t>3.1 Bandpass filters</a:t>
            </a:r>
            <a:endParaRPr/>
          </a:p>
        </p:txBody>
      </p:sp>
      <p:pic>
        <p:nvPicPr>
          <p:cNvPr id="624" name="Google Shape;624;p76"/>
          <p:cNvPicPr preferRelativeResize="0"/>
          <p:nvPr/>
        </p:nvPicPr>
        <p:blipFill rotWithShape="1">
          <a:blip r:embed="rId3">
            <a:alphaModFix/>
          </a:blip>
          <a:srcRect l="12755" t="2676" r="11633" b="5440"/>
          <a:stretch/>
        </p:blipFill>
        <p:spPr>
          <a:xfrm>
            <a:off x="270588" y="1245637"/>
            <a:ext cx="8467530" cy="56543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1416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7856</TotalTime>
  <Words>1705</Words>
  <Application>Microsoft Office PowerPoint</Application>
  <PresentationFormat>On-screen Show (4:3)</PresentationFormat>
  <Paragraphs>268</Paragraphs>
  <Slides>82</Slides>
  <Notes>74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2" baseType="lpstr">
      <vt:lpstr>Verdana</vt:lpstr>
      <vt:lpstr>Times New Roman</vt:lpstr>
      <vt:lpstr>Calibri Light</vt:lpstr>
      <vt:lpstr>Lato</vt:lpstr>
      <vt:lpstr>Symbol</vt:lpstr>
      <vt:lpstr>Calibri</vt:lpstr>
      <vt:lpstr>Cambria Math</vt:lpstr>
      <vt:lpstr>Arial</vt:lpstr>
      <vt:lpstr>Office Theme</vt:lpstr>
      <vt:lpstr>MSPhotoEd.3</vt:lpstr>
      <vt:lpstr>Week 6: Image Enhancement in Transform Domain</vt:lpstr>
      <vt:lpstr>Recall, Space Domain Representation of Images</vt:lpstr>
      <vt:lpstr>1. Vector spaces</vt:lpstr>
      <vt:lpstr>Example: 2-Dimensional Euclidean Space</vt:lpstr>
      <vt:lpstr>Ex: Matrix Spaces: Show that the space of all NxM matrices, is a vector space. Suggest a set of basis for this vector space</vt:lpstr>
      <vt:lpstr>2. Matrix Similarity Transforms</vt:lpstr>
      <vt:lpstr>Special Matrices</vt:lpstr>
      <vt:lpstr>Ex: Show that the following matrix is orthogonal</vt:lpstr>
      <vt:lpstr>Matrix similarity transforms</vt:lpstr>
      <vt:lpstr> Fourier Transform J.B. Fourier 1768-1830 </vt:lpstr>
      <vt:lpstr>Fourier Transform of Continuous Functions: Almost all function can be represented as weighted exponentials of complex exponentials</vt:lpstr>
      <vt:lpstr>Fourier Transform for 2-d Discrete Functions: Almost all 2-d functions can be represented as linear combination of complex exponentials</vt:lpstr>
      <vt:lpstr>Basis functions of 2-D Fourier Domain</vt:lpstr>
      <vt:lpstr>2-D Discrete Fourier transform as matrix similarity transform</vt:lpstr>
      <vt:lpstr>Fourier Domain Basis Functions : e^(-2πj(xu/M+ yv/N)) </vt:lpstr>
      <vt:lpstr>Split the complex exponential</vt:lpstr>
      <vt:lpstr>Define Image and Fourier matrix</vt:lpstr>
      <vt:lpstr>Fourier transform of an MxN image </vt:lpstr>
      <vt:lpstr>PowerPoint Presentation</vt:lpstr>
      <vt:lpstr>Note:</vt:lpstr>
      <vt:lpstr>Centering the Fourier Transform</vt:lpstr>
      <vt:lpstr>PowerPoint Presentation</vt:lpstr>
      <vt:lpstr>PowerPoint Presentation</vt:lpstr>
      <vt:lpstr>Fourier transform of Fourier:   Centered Magnitude </vt:lpstr>
      <vt:lpstr>PowerPoint Presentation</vt:lpstr>
      <vt:lpstr>PowerPoint Presentation</vt:lpstr>
      <vt:lpstr>PowerPoint Presentation</vt:lpstr>
      <vt:lpstr>Discrete Cosine Transform</vt:lpstr>
      <vt:lpstr>Discrete Cosine Transform, Nasır Ahmed, 1972</vt:lpstr>
      <vt:lpstr>Show that Cosine basis functions are orthogonal</vt:lpstr>
      <vt:lpstr>Two dimensional discrete cosine basis  for 8x8 images</vt:lpstr>
      <vt:lpstr>PowerPoint Presentation</vt:lpstr>
      <vt:lpstr>Hadamard Transform Jacques Hadamard, 1893</vt:lpstr>
      <vt:lpstr> </vt:lpstr>
      <vt:lpstr>Hadamard Basis Matrices for 8x8 images</vt:lpstr>
      <vt:lpstr>PowerPoint Presentation</vt:lpstr>
      <vt:lpstr>DFT , DCT , Hadamard Transforms</vt:lpstr>
      <vt:lpstr>Filtering in Frequency Domain</vt:lpstr>
      <vt:lpstr>Recall Convolution Property</vt:lpstr>
      <vt:lpstr>Frequency Domain Filters</vt:lpstr>
      <vt:lpstr>1. Low pass Filters</vt:lpstr>
      <vt:lpstr>1.1. Ideal Low pass filter</vt:lpstr>
      <vt:lpstr>Ideal Low Pass Filter</vt:lpstr>
      <vt:lpstr>PowerPoint Presentation</vt:lpstr>
      <vt:lpstr>1.2. Gaussian Low Pass Filters</vt:lpstr>
      <vt:lpstr>Ideal vs. Gaussian LPF </vt:lpstr>
      <vt:lpstr>Gaussian Low Pass Filtering for  Document Image Analysis </vt:lpstr>
      <vt:lpstr>1.3. Butterworth Low Pass  Filter</vt:lpstr>
      <vt:lpstr>Butterwoth Low Pass Filters in Spatial Domain</vt:lpstr>
      <vt:lpstr>2nd Order Butterworth Filtering with Different Cutoff Frequencies</vt:lpstr>
      <vt:lpstr>Comparison of Ideal and Butterworth Low Pass Filtering </vt:lpstr>
      <vt:lpstr>2. High Pass Filters:  Edge detectors in Frequency Domain</vt:lpstr>
      <vt:lpstr>High pass filters pass only the high frequency components of the image, outside a circle centered at the origin of F(u,v)</vt:lpstr>
      <vt:lpstr>2.1. Ideal High Pass Filters are Complement of Ideal Low Pass Filters</vt:lpstr>
      <vt:lpstr>2. 2,3. Gaussian and Butterworth  High Pass Filters are Complement of Low Pass Filters</vt:lpstr>
      <vt:lpstr>Ideal, Butterworth and Gaussian High Pass Filters </vt:lpstr>
      <vt:lpstr>Space Domain Representation of  Ideal, Butterworth and Gaussian High Pass Filters</vt:lpstr>
      <vt:lpstr>2. 1 Ideal High Pass Filter Outputs</vt:lpstr>
      <vt:lpstr>PowerPoint Presentation</vt:lpstr>
      <vt:lpstr>PowerPoint Presentation</vt:lpstr>
      <vt:lpstr>2.3 Butterworth High Pass Filter </vt:lpstr>
      <vt:lpstr>PowerPoint Presentation</vt:lpstr>
      <vt:lpstr>3. Band Filter</vt:lpstr>
      <vt:lpstr>Band Reject filters</vt:lpstr>
      <vt:lpstr>Band Pass Filters</vt:lpstr>
      <vt:lpstr>Band Reject Filters: Remove the blackened areas in Fourier Domain</vt:lpstr>
      <vt:lpstr>PowerPoint Presentation</vt:lpstr>
      <vt:lpstr>Quiz#6:</vt:lpstr>
      <vt:lpstr>PowerPoint Presentation</vt:lpstr>
      <vt:lpstr>PowerPoint Presentation</vt:lpstr>
      <vt:lpstr>PowerPoint Presentation</vt:lpstr>
      <vt:lpstr>Inner Product, Orthogonality, Basis</vt:lpstr>
      <vt:lpstr>Hilbert Spaces:  Extension to vector spaces, where vectors are functions, matrices, polynomials etc.</vt:lpstr>
      <vt:lpstr>Representation of periodic functions in terms of waves of different oscillations </vt:lpstr>
      <vt:lpstr>Euler Formula</vt:lpstr>
      <vt:lpstr>Fourier Series: Any periodic function can be represented as linear combination of sines and cosines</vt:lpstr>
      <vt:lpstr>Fourier Domain is a specific form of Hilbert Spaces </vt:lpstr>
      <vt:lpstr>Orthogonality of complex exponentials</vt:lpstr>
      <vt:lpstr>PowerPoint Presentation</vt:lpstr>
      <vt:lpstr>PowerPoint Presentation</vt:lpstr>
      <vt:lpstr>PowerPoint Presentation</vt:lpstr>
      <vt:lpstr>3.1 Bandpass filters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6: Image Enhancement in Transform Domain</dc:title>
  <dc:creator>Gonzalez</dc:creator>
  <cp:lastModifiedBy>Fatos</cp:lastModifiedBy>
  <cp:revision>90</cp:revision>
  <dcterms:created xsi:type="dcterms:W3CDTF">2001-12-06T17:51:11Z</dcterms:created>
  <dcterms:modified xsi:type="dcterms:W3CDTF">2022-11-06T17:03:57Z</dcterms:modified>
</cp:coreProperties>
</file>