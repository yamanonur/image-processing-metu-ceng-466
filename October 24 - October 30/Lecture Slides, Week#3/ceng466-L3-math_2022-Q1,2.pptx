
<file path=[Content_Types].xml><?xml version="1.0" encoding="utf-8"?>
<Types xmlns="http://schemas.openxmlformats.org/package/2006/content-types">
  <Default Extension="png" ContentType="image/png"/>
  <Default Extension="webm" ContentType="video/webm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m4v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73" r:id="rId3"/>
    <p:sldId id="257" r:id="rId4"/>
    <p:sldId id="336" r:id="rId5"/>
    <p:sldId id="337" r:id="rId6"/>
    <p:sldId id="258" r:id="rId7"/>
    <p:sldId id="275" r:id="rId8"/>
    <p:sldId id="274" r:id="rId9"/>
    <p:sldId id="276" r:id="rId10"/>
    <p:sldId id="277" r:id="rId11"/>
    <p:sldId id="322" r:id="rId12"/>
    <p:sldId id="259" r:id="rId13"/>
    <p:sldId id="260" r:id="rId14"/>
    <p:sldId id="278" r:id="rId15"/>
    <p:sldId id="262" r:id="rId16"/>
    <p:sldId id="263" r:id="rId17"/>
    <p:sldId id="281" r:id="rId18"/>
    <p:sldId id="266" r:id="rId19"/>
    <p:sldId id="267" r:id="rId20"/>
    <p:sldId id="268" r:id="rId21"/>
    <p:sldId id="265" r:id="rId22"/>
    <p:sldId id="355" r:id="rId23"/>
    <p:sldId id="333" r:id="rId24"/>
    <p:sldId id="261" r:id="rId25"/>
    <p:sldId id="323" r:id="rId26"/>
    <p:sldId id="279" r:id="rId27"/>
    <p:sldId id="280" r:id="rId28"/>
    <p:sldId id="264" r:id="rId29"/>
    <p:sldId id="282" r:id="rId30"/>
    <p:sldId id="284" r:id="rId31"/>
    <p:sldId id="283" r:id="rId32"/>
    <p:sldId id="285" r:id="rId33"/>
    <p:sldId id="334" r:id="rId34"/>
    <p:sldId id="286" r:id="rId35"/>
    <p:sldId id="287" r:id="rId36"/>
    <p:sldId id="288" r:id="rId37"/>
    <p:sldId id="335" r:id="rId38"/>
    <p:sldId id="338" r:id="rId39"/>
    <p:sldId id="341" r:id="rId40"/>
    <p:sldId id="340" r:id="rId41"/>
    <p:sldId id="339" r:id="rId42"/>
    <p:sldId id="289" r:id="rId43"/>
    <p:sldId id="290" r:id="rId44"/>
    <p:sldId id="291" r:id="rId45"/>
    <p:sldId id="292" r:id="rId46"/>
    <p:sldId id="294" r:id="rId47"/>
    <p:sldId id="293" r:id="rId48"/>
    <p:sldId id="342" r:id="rId49"/>
    <p:sldId id="269" r:id="rId50"/>
    <p:sldId id="344" r:id="rId51"/>
    <p:sldId id="343" r:id="rId52"/>
    <p:sldId id="353" r:id="rId53"/>
    <p:sldId id="345" r:id="rId54"/>
    <p:sldId id="296" r:id="rId55"/>
    <p:sldId id="295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11" r:id="rId69"/>
    <p:sldId id="310" r:id="rId70"/>
    <p:sldId id="309" r:id="rId71"/>
    <p:sldId id="312" r:id="rId72"/>
    <p:sldId id="331" r:id="rId73"/>
    <p:sldId id="346" r:id="rId74"/>
    <p:sldId id="352" r:id="rId75"/>
    <p:sldId id="350" r:id="rId76"/>
    <p:sldId id="354" r:id="rId77"/>
    <p:sldId id="356" r:id="rId78"/>
    <p:sldId id="351" r:id="rId79"/>
    <p:sldId id="313" r:id="rId80"/>
    <p:sldId id="314" r:id="rId81"/>
    <p:sldId id="332" r:id="rId82"/>
    <p:sldId id="315" r:id="rId83"/>
    <p:sldId id="319" r:id="rId84"/>
    <p:sldId id="316" r:id="rId85"/>
    <p:sldId id="321" r:id="rId86"/>
    <p:sldId id="320" r:id="rId87"/>
    <p:sldId id="324" r:id="rId88"/>
    <p:sldId id="325" r:id="rId89"/>
    <p:sldId id="358" r:id="rId90"/>
    <p:sldId id="327" r:id="rId91"/>
    <p:sldId id="326" r:id="rId92"/>
    <p:sldId id="357" r:id="rId93"/>
    <p:sldId id="329" r:id="rId94"/>
    <p:sldId id="348" r:id="rId95"/>
    <p:sldId id="347" r:id="rId9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8" roundtripDataSignature="AMtx7mjAl+1i75YKY9WW1qbAlPaLlS3g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2048"/>
  </p:normalViewPr>
  <p:slideViewPr>
    <p:cSldViewPr snapToGrid="0">
      <p:cViewPr>
        <p:scale>
          <a:sx n="95" d="100"/>
          <a:sy n="95" d="100"/>
        </p:scale>
        <p:origin x="1018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customschemas.google.com/relationships/presentationmetadata" Target="meta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0e02e70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0e02e70b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a0e02e70b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0e02e70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0e02e70b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a0e02e70b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8592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a0e02e70b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a0e02e70b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a0e02e70b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0e02e70b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0e02e70b7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a0e02e70b7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6102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3702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70-80 milyon Koni, 100-150 milyon çubuk ile nesneyi parçalıyoruz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144F3-C2A0-7A45-86A4-7BB9ACFB9804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4797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6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body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6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4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4v"/><Relationship Id="rId1" Type="http://schemas.microsoft.com/office/2007/relationships/media" Target="../media/media1.m4v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iff"/><Relationship Id="rId4" Type="http://schemas.openxmlformats.org/officeDocument/2006/relationships/image" Target="../media/image21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tiff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tiff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tif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tif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tif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6.tif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if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53.tif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56.tiff"/><Relationship Id="rId7" Type="http://schemas.microsoft.com/office/2007/relationships/hdphoto" Target="../media/hdphoto2.wdp"/><Relationship Id="rId2" Type="http://schemas.openxmlformats.org/officeDocument/2006/relationships/image" Target="../media/image55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microsoft.com/office/2007/relationships/hdphoto" Target="../media/hdphoto1.wdp"/><Relationship Id="rId4" Type="http://schemas.openxmlformats.org/officeDocument/2006/relationships/image" Target="../media/image69.png"/><Relationship Id="rId9" Type="http://schemas.microsoft.com/office/2007/relationships/hdphoto" Target="../media/hdphoto3.wdp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ebm"/><Relationship Id="rId1" Type="http://schemas.microsoft.com/office/2007/relationships/media" Target="../media/media2.webm"/><Relationship Id="rId4" Type="http://schemas.openxmlformats.org/officeDocument/2006/relationships/image" Target="../media/image7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tif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if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Week 3: Mathematical Tools for Image Processing</a:t>
            </a:r>
            <a:endParaRPr dirty="0"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560700" y="4378500"/>
            <a:ext cx="8022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tr-TR" dirty="0"/>
              <a:t>Fatoş T. Yarman Vural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tr-TR" dirty="0"/>
              <a:t>Hazal Moğultay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3B76E8-144D-3945-8997-2D0D331D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489092" cy="1603589"/>
          </a:xfrm>
        </p:spPr>
        <p:txBody>
          <a:bodyPr/>
          <a:lstStyle/>
          <a:p>
            <a:pPr lvl="0">
              <a:lnSpc>
                <a:spcPct val="115000"/>
              </a:lnSpc>
            </a:pPr>
            <a:r>
              <a:rPr lang="en-US" sz="2800" dirty="0"/>
              <a:t>There is nothing more practical than a good theory!</a:t>
            </a:r>
            <a:br>
              <a:rPr lang="en-US" sz="2800" dirty="0"/>
            </a:br>
            <a:r>
              <a:rPr lang="en-US" sz="2800" dirty="0"/>
              <a:t>Vladimir </a:t>
            </a:r>
            <a:r>
              <a:rPr lang="en-US" sz="2800" dirty="0" err="1"/>
              <a:t>Vapnik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068A7-3624-1C40-9BC9-09CC5AD6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6" y="1532239"/>
            <a:ext cx="8148869" cy="47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5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0e02e70b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Representation</a:t>
            </a:r>
            <a:endParaRPr/>
          </a:p>
        </p:txBody>
      </p:sp>
      <p:sp>
        <p:nvSpPr>
          <p:cNvPr id="111" name="Google Shape;111;ga0e02e70b7_0_0"/>
          <p:cNvSpPr txBox="1">
            <a:spLocks noGrp="1"/>
          </p:cNvSpPr>
          <p:nvPr>
            <p:ph type="body" idx="4294967295"/>
          </p:nvPr>
        </p:nvSpPr>
        <p:spPr>
          <a:xfrm>
            <a:off x="0" y="1600200"/>
            <a:ext cx="8229600" cy="45259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B0B67-14D4-164F-BA5B-4AD91D2592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2268" y="2196522"/>
            <a:ext cx="6210300" cy="3692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8968-4E19-467D-ABED-E7FA0C49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 descr="https://raw.githubusercontent.com/hazalmogultay/466Images/master/W5/roberts.png">
            <a:extLst>
              <a:ext uri="{FF2B5EF4-FFF2-40B4-BE49-F238E27FC236}">
                <a16:creationId xmlns:a16="http://schemas.microsoft.com/office/drawing/2014/main" id="{5EE03AC0-D6CD-43AD-982F-65E837169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00402" y="2051709"/>
            <a:ext cx="3615612" cy="22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raw.githubusercontent.com/hazalmogultay/466Images/master/W5/orig1.png">
            <a:extLst>
              <a:ext uri="{FF2B5EF4-FFF2-40B4-BE49-F238E27FC236}">
                <a16:creationId xmlns:a16="http://schemas.microsoft.com/office/drawing/2014/main" id="{B102BF61-EE68-46B3-A98B-133F5242E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43727" y="4534065"/>
            <a:ext cx="3491499" cy="216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40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0e02e70b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Representation</a:t>
            </a:r>
            <a:endParaRPr/>
          </a:p>
        </p:txBody>
      </p:sp>
      <p:sp>
        <p:nvSpPr>
          <p:cNvPr id="111" name="Google Shape;111;ga0e02e70b7_0_0"/>
          <p:cNvSpPr txBox="1">
            <a:spLocks noGrp="1"/>
          </p:cNvSpPr>
          <p:nvPr>
            <p:ph type="body" idx="4294967295"/>
          </p:nvPr>
        </p:nvSpPr>
        <p:spPr>
          <a:xfrm>
            <a:off x="387220" y="1600200"/>
            <a:ext cx="7842380" cy="45259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SzPct val="51000"/>
              <a:buFont typeface="Wingdings" panose="05000000000000000000" pitchFamily="2" charset="2"/>
              <a:buChar char="v"/>
            </a:pPr>
            <a:r>
              <a:rPr lang="en-US" sz="2800" dirty="0"/>
              <a:t>Functions,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51000"/>
              <a:buFont typeface="Wingdings" panose="05000000000000000000" pitchFamily="2" charset="2"/>
              <a:buChar char="v"/>
            </a:pPr>
            <a:r>
              <a:rPr lang="en-US" sz="2800" dirty="0"/>
              <a:t>Arrays, 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ct val="51000"/>
              <a:buFont typeface="Wingdings" panose="05000000000000000000" pitchFamily="2" charset="2"/>
              <a:buChar char="v"/>
            </a:pPr>
            <a:r>
              <a:rPr lang="en-US" sz="2400" dirty="0"/>
              <a:t>Matrices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ct val="51000"/>
              <a:buFont typeface="Wingdings" panose="05000000000000000000" pitchFamily="2" charset="2"/>
              <a:buChar char="v"/>
            </a:pPr>
            <a:r>
              <a:rPr lang="en-US" sz="2400" dirty="0"/>
              <a:t>Vectors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51000"/>
              <a:buNone/>
            </a:pPr>
            <a:endParaRPr lang="en-US" sz="3000" dirty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B0B67-14D4-164F-BA5B-4AD91D2592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0500" y="2616400"/>
            <a:ext cx="6210300" cy="36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2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Image Representation by </a:t>
            </a:r>
            <a:br>
              <a:rPr lang="en-US" sz="3600" dirty="0"/>
            </a:br>
            <a:r>
              <a:rPr lang="en-US" sz="3600" dirty="0"/>
              <a:t>2-D Functions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118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319213"/>
                <a:ext cx="8229600" cy="4806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indent="-139700">
                  <a:spcBef>
                    <a:spcPts val="640"/>
                  </a:spcBef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pPr marL="342900" indent="-139700">
                  <a:spcBef>
                    <a:spcPts val="640"/>
                  </a:spcBef>
                  <a:buSzPts val="3200"/>
                  <a:buNone/>
                </a:pPr>
                <a:r>
                  <a:rPr lang="en-US" sz="2800" dirty="0"/>
                  <a:t>Domain,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800" i="1" dirty="0"/>
                      <m:t>d</m:t>
                    </m:r>
                    <m:r>
                      <m:rPr>
                        <m:nor/>
                      </m:rPr>
                      <a:rPr lang="en-US" sz="2800" i="1" dirty="0"/>
                      <m:t>= (</m:t>
                    </m:r>
                    <m:r>
                      <m:rPr>
                        <m:nor/>
                      </m:rPr>
                      <a:rPr lang="en-US" sz="2800" i="1" dirty="0"/>
                      <m:t>x</m:t>
                    </m:r>
                    <m:r>
                      <m:rPr>
                        <m:nor/>
                      </m:rPr>
                      <a:rPr lang="en-US" sz="2800" i="1" dirty="0"/>
                      <m:t>,</m:t>
                    </m:r>
                    <m:r>
                      <m:rPr>
                        <m:nor/>
                      </m:rPr>
                      <a:rPr lang="en-US" sz="2800" i="1" dirty="0"/>
                      <m:t>y</m:t>
                    </m:r>
                    <m:r>
                      <m:rPr>
                        <m:nor/>
                      </m:rPr>
                      <a:rPr lang="en-US" sz="2800" i="1" dirty="0"/>
                      <m:t>),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𝑝𝑖𝑥𝑒𝑙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𝑐𝑜𝑜𝑟𝑑𝑖𝑛𝑎𝑡𝑒𝑠</m:t>
                    </m:r>
                  </m:oMath>
                </a14:m>
                <a:endParaRPr lang="en-US" sz="2800" dirty="0"/>
              </a:p>
              <a:p>
                <a:pPr marL="342900" indent="-139700">
                  <a:spcBef>
                    <a:spcPts val="640"/>
                  </a:spcBef>
                  <a:buSzPts val="3200"/>
                  <a:buNone/>
                </a:pPr>
                <a:r>
                  <a:rPr lang="en-US" sz="2800" dirty="0"/>
                  <a:t>Range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,  brightness values</a:t>
                </a:r>
              </a:p>
              <a:p>
                <a:pPr marL="342900" lvl="0" indent="-139700" algn="l" rtl="0">
                  <a:spcBef>
                    <a:spcPts val="64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Arial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18" name="Google Shape;118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19213"/>
                <a:ext cx="8229600" cy="48069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531619F-F16C-8744-BF04-A8A0E22D1A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920" y="3029314"/>
            <a:ext cx="8229600" cy="3417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93BF-4DA9-E849-B43C-22C3D4BF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F7F03A-F439-9F4D-9D2A-0F1BDB452D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Both domain and range is </a:t>
                </a:r>
                <a:r>
                  <a:rPr lang="en-US" dirty="0">
                    <a:solidFill>
                      <a:srgbClr val="FF0000"/>
                    </a:solidFill>
                  </a:rPr>
                  <a:t>continuous</a:t>
                </a:r>
              </a:p>
              <a:p>
                <a:pPr marL="800100" lvl="1" indent="-139700">
                  <a:spcBef>
                    <a:spcPts val="640"/>
                  </a:spcBef>
                  <a:buSzPts val="3200"/>
                  <a:buNone/>
                </a:pPr>
                <a:r>
                  <a:rPr lang="en-US" dirty="0"/>
                  <a:t>Domain d= (</a:t>
                </a:r>
                <a:r>
                  <a:rPr lang="en-US" dirty="0" err="1"/>
                  <a:t>x,y</a:t>
                </a:r>
                <a:r>
                  <a:rPr lang="en-US" dirty="0"/>
                  <a:t>),   coordinates</a:t>
                </a:r>
              </a:p>
              <a:p>
                <a:pPr marL="800100" lvl="1" indent="-139700">
                  <a:spcBef>
                    <a:spcPts val="640"/>
                  </a:spcBef>
                  <a:buSzPts val="3200"/>
                  <a:buNone/>
                </a:pPr>
                <a:r>
                  <a:rPr lang="en-US" dirty="0"/>
                  <a:t>Range R,  brightness values</a:t>
                </a:r>
              </a:p>
              <a:p>
                <a:pPr marL="800100" lvl="1" indent="-139700">
                  <a:spcBef>
                    <a:spcPts val="640"/>
                  </a:spcBef>
                  <a:buSzPts val="3200"/>
                  <a:buNone/>
                </a:pPr>
                <a:endParaRPr lang="en-US" dirty="0"/>
              </a:p>
              <a:p>
                <a:pPr marL="800100" lvl="1" indent="-139700">
                  <a:spcBef>
                    <a:spcPts val="640"/>
                  </a:spcBef>
                  <a:buSzPts val="3200"/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      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F7F03A-F439-9F4D-9D2A-0F1BDB452D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624B17-0798-9645-80B2-C67C28A61A80}"/>
              </a:ext>
            </a:extLst>
          </p:cNvPr>
          <p:cNvCxnSpPr/>
          <p:nvPr/>
        </p:nvCxnSpPr>
        <p:spPr>
          <a:xfrm>
            <a:off x="4760635" y="4577056"/>
            <a:ext cx="6425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05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5F1B-F9B2-4E40-8BF3-48CC0800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vs. Discrete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F050F1-9F80-BE45-8FD0-610AB80FC6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Digital image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 Both domain,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range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are integer valued</a:t>
                </a:r>
              </a:p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Discrete image 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dirty="0"/>
                  <a:t> is discrete, 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is continuous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F050F1-9F80-BE45-8FD0-610AB80FC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07" t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1C9C-82B5-C043-9738-17A02B87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1F7151-0A29-ED47-8B43-C94116A75D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Binary image: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Domain,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a discrete grid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Range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  <a:ea typeface="Noto Sans Symbols"/>
                        <a:cs typeface="Noto Sans Symbols"/>
                        <a:sym typeface="Noto Sans Symbols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(0,1)</m:t>
                    </m:r>
                  </m:oMath>
                </a14:m>
                <a:endParaRPr lang="el-GR" dirty="0"/>
              </a:p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Motion: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Domain is 3-dimensional integer grid, </a:t>
                </a:r>
              </a:p>
              <a:p>
                <a:pPr marL="469900" lvl="1" indent="0">
                  <a:spcBef>
                    <a:spcPts val="640"/>
                  </a:spcBef>
                  <a:buSzPts val="3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={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Range,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integer valued</a:t>
                </a:r>
              </a:p>
              <a:p>
                <a:pPr marL="469900" lvl="1" indent="0">
                  <a:spcBef>
                    <a:spcPts val="640"/>
                  </a:spcBef>
                  <a:buSzPts val="300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1F7151-0A29-ED47-8B43-C94116A75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07" t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57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5685-9361-A740-883C-062869BD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Gray Scale, Color, Multispectral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3862D06-EC38-C14F-8378-5645B479B8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sz="2800" dirty="0"/>
                  <a:t>Gray scale image 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Domain is integer grid</a:t>
                </a:r>
              </a:p>
              <a:p>
                <a:pPr marL="800100" lvl="1" indent="-330200">
                  <a:spcBef>
                    <a:spcPts val="640"/>
                  </a:spcBef>
                  <a:buSzPts val="3000"/>
                </a:pPr>
                <a:r>
                  <a:rPr lang="en-US" dirty="0"/>
                  <a:t>Range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  <a:ea typeface="Noto Sans Symbols"/>
                        <a:cs typeface="Noto Sans Symbols"/>
                        <a:sym typeface="Noto Sans Symbols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  <a:ea typeface="Noto Sans Symbols"/>
                        <a:cs typeface="Noto Sans Symbols"/>
                        <a:sym typeface="Noto Sans Symbols"/>
                      </a:rPr>
                      <m:t> (0.1, …….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469900" lvl="1" indent="0">
                  <a:spcBef>
                    <a:spcPts val="640"/>
                  </a:spcBef>
                  <a:buSzPts val="3000"/>
                  <a:buNone/>
                </a:pPr>
                <a:endParaRPr lang="en-US" dirty="0"/>
              </a:p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sz="2800" dirty="0"/>
                  <a:t>Color image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800" dirty="0"/>
              </a:p>
              <a:p>
                <a:pPr marL="12700" lvl="0" indent="0">
                  <a:spcBef>
                    <a:spcPts val="640"/>
                  </a:spcBef>
                  <a:buSzPts val="3000"/>
                  <a:buNone/>
                </a:pPr>
                <a:endParaRPr lang="en-US" sz="2800" dirty="0"/>
              </a:p>
              <a:p>
                <a:pPr marL="342900" lvl="0" indent="-330200">
                  <a:spcBef>
                    <a:spcPts val="640"/>
                  </a:spcBef>
                  <a:buSzPts val="3000"/>
                </a:pPr>
                <a:r>
                  <a:rPr lang="en-US" sz="2800" dirty="0"/>
                  <a:t>Multispectral image: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=1,….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3862D06-EC38-C14F-8378-5645B479B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43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04E03B-4D15-2A44-8939-AE71F9D35D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29126" y="274638"/>
                <a:ext cx="8257674" cy="1341604"/>
              </a:xfrm>
            </p:spPr>
            <p:txBody>
              <a:bodyPr/>
              <a:lstStyle/>
              <a:p>
                <a:pPr/>
                <a:r>
                  <a:rPr lang="en-US" dirty="0"/>
                  <a:t>3-d Motion Image: fMRI signals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04E03B-4D15-2A44-8939-AE71F9D35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29126" y="274638"/>
                <a:ext cx="8257674" cy="1341604"/>
              </a:xfrm>
              <a:blipFill>
                <a:blip r:embed="rId4"/>
                <a:stretch>
                  <a:fillRect l="-959" t="-13182" r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rain">
            <a:hlinkClick r:id="" action="ppaction://media"/>
            <a:extLst>
              <a:ext uri="{FF2B5EF4-FFF2-40B4-BE49-F238E27FC236}">
                <a16:creationId xmlns:a16="http://schemas.microsoft.com/office/drawing/2014/main" id="{21B8115D-D8FF-614D-8935-280B7B4FA1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63762" y="1710134"/>
            <a:ext cx="5888038" cy="44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9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0e02e70b7_0_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Representation by Arrays, Matrices and Vectors</a:t>
            </a:r>
            <a:endParaRPr dirty="0"/>
          </a:p>
        </p:txBody>
      </p:sp>
      <p:sp>
        <p:nvSpPr>
          <p:cNvPr id="125" name="Google Shape;125;ga0e02e70b7_0_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6" name="Google Shape;126;ga0e02e70b7_0_1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2107050"/>
            <a:ext cx="4114801" cy="37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0e02e70b7_0_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Representation by Arrays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(Matrices and Vectors)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3F1B-E585-5940-984C-571EE3BE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Color Images represented by three matrices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D76A0-E641-BC44-81EC-A6196C2E51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870" y="1600200"/>
            <a:ext cx="5742990" cy="47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87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6988" y="1660525"/>
            <a:ext cx="6515100" cy="454183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Sampling and Quantization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7125" y="1616075"/>
            <a:ext cx="5035550" cy="51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Quantization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0E78-7E00-A243-9AFD-B06CB9D4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Sampled and quantized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1DF1A-29DE-464F-ABC5-47AF92FF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07" y="1667865"/>
            <a:ext cx="7582586" cy="444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96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63" y="1579563"/>
            <a:ext cx="6175375" cy="50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D2550-273A-4037-BF68-77413E92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sampled Images</a:t>
            </a:r>
            <a:endParaRPr lang="tr-T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1100" y="1593850"/>
            <a:ext cx="5278438" cy="512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8EF0D6-92A3-4D6D-B2A1-882073C6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</a:t>
            </a:r>
            <a:endParaRPr lang="tr-T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7538" y="1566863"/>
            <a:ext cx="5354637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2DB19-C89F-4FC7-B571-C27CABAD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Quantized Images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4874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Spatial and Gray Level Resolution</a:t>
            </a:r>
            <a:endParaRPr/>
          </a:p>
        </p:txBody>
      </p:sp>
      <p:sp>
        <p:nvSpPr>
          <p:cNvPr id="165" name="Google Shape;16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1" dirty="0"/>
              <a:t>Spatial resolution</a:t>
            </a:r>
            <a:r>
              <a:rPr lang="en-US" sz="2400" b="1" dirty="0"/>
              <a:t> </a:t>
            </a:r>
            <a:r>
              <a:rPr lang="en-US" sz="2400" dirty="0"/>
              <a:t>is the smallest level of detail discernable in an image. </a:t>
            </a:r>
          </a:p>
          <a:p>
            <a:pPr marL="800100" lvl="1">
              <a:spcBef>
                <a:spcPts val="0"/>
              </a:spcBef>
              <a:buSzPts val="2400"/>
              <a:buFont typeface="Arial"/>
              <a:buChar char="•"/>
            </a:pPr>
            <a:r>
              <a:rPr lang="en-US" sz="2000" dirty="0"/>
              <a:t>Number of line pairs per millimeter, say 100 line pairs per millimeter.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1" dirty="0"/>
              <a:t>Gray-level resolution</a:t>
            </a:r>
            <a:r>
              <a:rPr lang="en-US" sz="2400" b="1" dirty="0"/>
              <a:t> </a:t>
            </a:r>
            <a:r>
              <a:rPr lang="en-US" sz="2400" dirty="0"/>
              <a:t>is the smallest discernable change in gray level. Very subjective.</a:t>
            </a:r>
            <a:endParaRPr sz="2400" i="1" dirty="0"/>
          </a:p>
        </p:txBody>
      </p:sp>
    </p:spTree>
    <p:extLst>
      <p:ext uri="{BB962C8B-B14F-4D97-AF65-F5344CB8AC3E}">
        <p14:creationId xmlns:p14="http://schemas.microsoft.com/office/powerpoint/2010/main" val="3741209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4080" y="2702586"/>
            <a:ext cx="5427050" cy="16687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871" y="661781"/>
            <a:ext cx="8583372" cy="1183949"/>
          </a:xfrm>
        </p:spPr>
        <p:txBody>
          <a:bodyPr>
            <a:normAutofit/>
          </a:bodyPr>
          <a:lstStyle/>
          <a:p>
            <a:r>
              <a:rPr lang="en-US" sz="3200" dirty="0"/>
              <a:t>Image Perception Model of Al Haytham</a:t>
            </a:r>
            <a:r>
              <a:rPr lang="tr-TR" sz="32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381" y="3858220"/>
            <a:ext cx="4770779" cy="2329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397" y="430188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Source</a:t>
            </a:r>
            <a:endParaRPr lang="tr-TR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2367009" y="4712785"/>
            <a:ext cx="5757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dirty="0"/>
              <a:t>Nesne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9431" y="3975308"/>
            <a:ext cx="5902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/>
              <a:t>sensör</a:t>
            </a:r>
            <a:endParaRPr lang="tr-TR" sz="1050" dirty="0"/>
          </a:p>
        </p:txBody>
      </p:sp>
      <p:cxnSp>
        <p:nvCxnSpPr>
          <p:cNvPr id="11" name="Curved Connector 10"/>
          <p:cNvCxnSpPr/>
          <p:nvPr/>
        </p:nvCxnSpPr>
        <p:spPr>
          <a:xfrm>
            <a:off x="5319132" y="3215733"/>
            <a:ext cx="2124307" cy="642488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>
            <a:off x="5612130" y="3858221"/>
            <a:ext cx="1831309" cy="117088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>
            <a:off x="5612130" y="3669031"/>
            <a:ext cx="1831309" cy="306278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/>
          <p:nvPr/>
        </p:nvCxnSpPr>
        <p:spPr>
          <a:xfrm>
            <a:off x="5319132" y="3098646"/>
            <a:ext cx="2124307" cy="650395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/>
          <p:nvPr/>
        </p:nvCxnSpPr>
        <p:spPr>
          <a:xfrm>
            <a:off x="5319132" y="3017521"/>
            <a:ext cx="2124307" cy="726053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/>
          <p:nvPr/>
        </p:nvCxnSpPr>
        <p:spPr>
          <a:xfrm>
            <a:off x="5612130" y="3749040"/>
            <a:ext cx="1977390" cy="218361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6764" y="4405512"/>
            <a:ext cx="1334366" cy="15906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6356" y="5865985"/>
            <a:ext cx="36808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Al</a:t>
            </a:r>
            <a:r>
              <a:rPr lang="tr-TR" sz="2100" dirty="0"/>
              <a:t>-H</a:t>
            </a:r>
            <a:r>
              <a:rPr lang="en-US" sz="2100" dirty="0" err="1"/>
              <a:t>aytham</a:t>
            </a:r>
            <a:r>
              <a:rPr lang="tr-TR" sz="2100" dirty="0"/>
              <a:t>: </a:t>
            </a:r>
            <a:r>
              <a:rPr lang="tr-TR" sz="2100" dirty="0" err="1"/>
              <a:t>Kitab</a:t>
            </a:r>
            <a:r>
              <a:rPr lang="tr-TR" sz="2100" dirty="0"/>
              <a:t>-el </a:t>
            </a:r>
            <a:r>
              <a:rPr lang="tr-TR" sz="2100" dirty="0" err="1"/>
              <a:t>Manazir</a:t>
            </a:r>
            <a:endParaRPr lang="tr-TR" sz="2100" dirty="0"/>
          </a:p>
          <a:p>
            <a:r>
              <a:rPr lang="tr-TR" sz="2100" dirty="0"/>
              <a:t>Optik Kitabı, 1021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C3A8C-84D0-425A-8AA7-544CEBD2369A}"/>
              </a:ext>
            </a:extLst>
          </p:cNvPr>
          <p:cNvSpPr txBox="1"/>
          <p:nvPr/>
        </p:nvSpPr>
        <p:spPr>
          <a:xfrm flipH="1">
            <a:off x="871886" y="3160295"/>
            <a:ext cx="2497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1.Perception: Partitions the scene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9A30B7-C960-4C6C-BEE8-F0DEC4F8A9B5}"/>
              </a:ext>
            </a:extLst>
          </p:cNvPr>
          <p:cNvSpPr txBox="1"/>
          <p:nvPr/>
        </p:nvSpPr>
        <p:spPr>
          <a:xfrm flipH="1">
            <a:off x="6035842" y="2099870"/>
            <a:ext cx="2890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Cognition: </a:t>
            </a:r>
          </a:p>
          <a:p>
            <a:r>
              <a:rPr lang="en-US" sz="2000" dirty="0"/>
              <a:t>Reunites the scene</a:t>
            </a:r>
          </a:p>
        </p:txBody>
      </p:sp>
    </p:spTree>
    <p:extLst>
      <p:ext uri="{BB962C8B-B14F-4D97-AF65-F5344CB8AC3E}">
        <p14:creationId xmlns:p14="http://schemas.microsoft.com/office/powerpoint/2010/main" val="58066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EE6093-C1F3-4D9D-A16C-81E20945D4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417638"/>
                <a:ext cx="8229600" cy="4708525"/>
              </a:xfrm>
            </p:spPr>
            <p:txBody>
              <a:bodyPr/>
              <a:lstStyle/>
              <a:p>
                <a:pPr marL="342900" lvl="0" indent="0" algn="ctr">
                  <a:spcBef>
                    <a:spcPts val="48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pPr marL="342900" lvl="0" indent="0">
                  <a:spcBef>
                    <a:spcPts val="48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illumination from light source, </a:t>
                </a:r>
              </a:p>
              <a:p>
                <a:pPr marL="342900" lvl="0" indent="0">
                  <a:spcBef>
                    <a:spcPts val="48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reflectance (bounded between 0 and 1) based on material properties. </a:t>
                </a:r>
              </a:p>
              <a:p>
                <a:pPr marL="342900" lvl="0" indent="0">
                  <a:spcBef>
                    <a:spcPts val="480"/>
                  </a:spcBef>
                  <a:buNone/>
                </a:pPr>
                <a:endParaRPr lang="en-US" sz="2400" dirty="0"/>
              </a:p>
              <a:p>
                <a:pPr marL="342900" lvl="0" indent="0">
                  <a:spcBef>
                    <a:spcPts val="480"/>
                  </a:spcBef>
                  <a:buNone/>
                </a:pPr>
                <a:r>
                  <a:rPr lang="en-US" sz="2400" dirty="0"/>
                  <a:t>Ex: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)=0.01 </m:t>
                    </m:r>
                  </m:oMath>
                </a14:m>
                <a:r>
                  <a:rPr lang="en-US" sz="2400" dirty="0"/>
                  <a:t>for black velvet, </a:t>
                </a:r>
              </a:p>
              <a:p>
                <a:pPr marL="342900" lvl="0" indent="0">
                  <a:spcBef>
                    <a:spcPts val="48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0.93 </m:t>
                    </m:r>
                  </m:oMath>
                </a14:m>
                <a:r>
                  <a:rPr lang="en-US" sz="2400" dirty="0"/>
                  <a:t>for snow white.</a:t>
                </a:r>
              </a:p>
              <a:p>
                <a:pPr marL="342900" lvl="0" indent="0">
                  <a:spcBef>
                    <a:spcPts val="48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400" i="1" dirty="0" smtClean="0">
                          <a:latin typeface="Cambria Math" panose="02040503050406030204" pitchFamily="18" charset="0"/>
                        </a:rPr>
                        <m:t>𝐿𝑚𝑖𝑛</m:t>
                      </m:r>
                      <m:r>
                        <a:rPr lang="es-ES" sz="2400" i="1" dirty="0">
                          <a:latin typeface="Cambria Math" panose="02040503050406030204" pitchFamily="18" charset="0"/>
                        </a:rPr>
                        <m:t>​ ≤ </m:t>
                      </m:r>
                      <m:r>
                        <a:rPr lang="es-E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400" i="1" dirty="0">
                          <a:latin typeface="Cambria Math" panose="02040503050406030204" pitchFamily="18" charset="0"/>
                        </a:rPr>
                        <m:t>) ≤</m:t>
                      </m:r>
                      <m:r>
                        <a:rPr lang="es-ES" sz="2400" i="1" dirty="0" err="1">
                          <a:latin typeface="Cambria Math" panose="02040503050406030204" pitchFamily="18" charset="0"/>
                        </a:rPr>
                        <m:t>𝐿𝑚𝑎𝑥</m:t>
                      </m:r>
                      <m:r>
                        <a:rPr lang="es-ES" sz="2400" i="1" dirty="0">
                          <a:latin typeface="Cambria Math" panose="02040503050406030204" pitchFamily="18" charset="0"/>
                        </a:rPr>
                        <m:t>​,</m:t>
                      </m:r>
                    </m:oMath>
                  </m:oMathPara>
                </a14:m>
                <a:endParaRPr lang="es-ES" sz="2400" dirty="0"/>
              </a:p>
              <a:p>
                <a:pPr marL="342900" lvl="0" indent="0">
                  <a:spcBef>
                    <a:spcPts val="480"/>
                  </a:spcBef>
                  <a:buNone/>
                </a:pPr>
                <a:br>
                  <a:rPr lang="en-US" sz="24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𝐿𝑚𝑖𝑛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​→0</m:t>
                      </m:r>
                    </m:oMath>
                  </m:oMathPara>
                </a14:m>
                <a:endParaRPr lang="en-US" sz="2400" dirty="0"/>
              </a:p>
              <a:p>
                <a:pPr marL="342900" lvl="0" indent="0">
                  <a:spcBef>
                    <a:spcPts val="48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𝐿𝑚𝑎𝑥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​→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−1​</m:t>
                      </m:r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  <a:p>
                <a:pPr marL="114300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EE6093-C1F3-4D9D-A16C-81E20945D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17638"/>
                <a:ext cx="8229600" cy="4708525"/>
              </a:xfrm>
              <a:blipFill>
                <a:blip r:embed="rId2"/>
                <a:stretch>
                  <a:fillRect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0C86477-4FAB-4059-ADB7-B87A1EB8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Image Formation Model</a:t>
            </a:r>
            <a:endParaRPr lang="tr-TR" dirty="0"/>
          </a:p>
        </p:txBody>
      </p:sp>
      <p:pic>
        <p:nvPicPr>
          <p:cNvPr id="1028" name="Picture 4" descr="https://camo.githubusercontent.com/16860656193a8e0f28ce73758ae6c07c99e58d38eec81cb07fe15f4f6e23722f/68747470733a2f2f7261772e67697468756275736572636f6e74656e742e636f6d2f68617a616c6d6f67756c7461792f343636496d616765732f6d61737465722f57332f4c332d66332e6a7067">
            <a:extLst>
              <a:ext uri="{FF2B5EF4-FFF2-40B4-BE49-F238E27FC236}">
                <a16:creationId xmlns:a16="http://schemas.microsoft.com/office/drawing/2014/main" id="{FB0F61FA-7DF8-4979-B059-B5E0ABB2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08551" y="4046621"/>
            <a:ext cx="3598037" cy="253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329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 Simple image formation 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Google Shape;138;p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79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Char char="•"/>
                </a:pPr>
                <a:r>
                  <a:rPr lang="en-US" sz="2400" dirty="0"/>
                  <a:t>Two-dimensional function </a:t>
                </a:r>
              </a:p>
              <a:p>
                <a:pPr marL="3429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400" dirty="0"/>
              </a:p>
              <a:p>
                <a:pPr marL="3429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):  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       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  <a:p>
                <a:pPr marL="3429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400" dirty="0"/>
              </a:p>
              <a:p>
                <a:pPr marL="3429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: pixel position. integers and bounded</a:t>
                </a:r>
              </a:p>
              <a:p>
                <a:pPr marL="3429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brightness values,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sz="2400" dirty="0"/>
              </a:p>
              <a:p>
                <a:pPr marL="3429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n-US" sz="2400" dirty="0"/>
              </a:p>
              <a:p>
                <a:pPr marL="342900" lvl="0" indent="-3429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 dirty="0"/>
              </a:p>
            </p:txBody>
          </p:sp>
        </mc:Choice>
        <mc:Fallback xmlns="">
          <p:sp>
            <p:nvSpPr>
              <p:cNvPr id="138" name="Google Shape;138;p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799400"/>
              </a:xfrm>
              <a:prstGeom prst="rect">
                <a:avLst/>
              </a:prstGeom>
              <a:blipFill>
                <a:blip r:embed="rId3"/>
                <a:stretch>
                  <a:fillRect l="-1037" t="-10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Google Shape;139;p4"/>
          <p:cNvSpPr/>
          <p:nvPr/>
        </p:nvSpPr>
        <p:spPr>
          <a:xfrm>
            <a:off x="4969041" y="2578359"/>
            <a:ext cx="607735" cy="4571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B1DD-5A26-884E-BF28-5C721A2B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91159-6D18-4549-8524-8AD3D4EC5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Q1: Given a discrete image, can we obtain its continuous version?</a:t>
            </a:r>
          </a:p>
          <a:p>
            <a:r>
              <a:rPr lang="en-US" sz="2800" dirty="0"/>
              <a:t>Q2: Given a low resolution image, can we increase resolution? </a:t>
            </a:r>
          </a:p>
          <a:p>
            <a:endParaRPr lang="en-US" sz="2800" dirty="0"/>
          </a:p>
          <a:p>
            <a:pPr marL="114300" indent="0">
              <a:buNone/>
            </a:pPr>
            <a:r>
              <a:rPr lang="en-US" sz="2800" dirty="0"/>
              <a:t>			</a:t>
            </a:r>
          </a:p>
          <a:p>
            <a:pPr marL="114300" indent="0" algn="ctr">
              <a:buNone/>
            </a:pPr>
            <a:r>
              <a:rPr lang="en-US" sz="2800" dirty="0"/>
              <a:t>Interpolation </a:t>
            </a:r>
          </a:p>
          <a:p>
            <a:pPr marL="114300" indent="0" algn="ctr">
              <a:buNone/>
            </a:pPr>
            <a:r>
              <a:rPr lang="en-US" sz="2800" dirty="0"/>
              <a:t>Inverse of sampling and quantization</a:t>
            </a:r>
          </a:p>
          <a:p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00AC5830-32F4-2C42-800F-E363D1184A7E}"/>
              </a:ext>
            </a:extLst>
          </p:cNvPr>
          <p:cNvSpPr/>
          <p:nvPr/>
        </p:nvSpPr>
        <p:spPr>
          <a:xfrm>
            <a:off x="4374816" y="3505869"/>
            <a:ext cx="266700" cy="889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66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C5B3-ED4B-BD47-A194-489C5B5A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FD2A22B-5AE7-B642-B185-ABF15BA7B5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Image as a one dimensional function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FD2A22B-5AE7-B642-B185-ABF15BA7B5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raw.githubusercontent.com/hazalmogultay/466Images/master/W3/image6.png">
            <a:extLst>
              <a:ext uri="{FF2B5EF4-FFF2-40B4-BE49-F238E27FC236}">
                <a16:creationId xmlns:a16="http://schemas.microsoft.com/office/drawing/2014/main" id="{AE995340-DA99-2443-BC64-852B2D979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825" y="3009657"/>
            <a:ext cx="36449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813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204B-657B-1C4E-9428-378823E7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Nearest Neighbor interpolation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D05A9-9E6A-7B40-BD61-4AC36153A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</a:t>
            </a:r>
            <a:r>
              <a:rPr lang="tr-TR" dirty="0"/>
              <a:t> </a:t>
            </a:r>
            <a:r>
              <a:rPr lang="tr-TR" dirty="0" err="1"/>
              <a:t>Assign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intensity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nearest</a:t>
            </a:r>
            <a:r>
              <a:rPr lang="tr-TR" dirty="0"/>
              <a:t> </a:t>
            </a:r>
            <a:r>
              <a:rPr lang="tr-TR" dirty="0" err="1"/>
              <a:t>pixel</a:t>
            </a:r>
            <a:r>
              <a:rPr lang="tr-TR" dirty="0"/>
              <a:t> as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intensity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a </a:t>
            </a:r>
            <a:r>
              <a:rPr lang="tr-TR" dirty="0" err="1"/>
              <a:t>blank</a:t>
            </a:r>
            <a:r>
              <a:rPr lang="tr-TR" dirty="0"/>
              <a:t> </a:t>
            </a:r>
            <a:r>
              <a:rPr lang="tr-TR" dirty="0" err="1"/>
              <a:t>pixel</a:t>
            </a:r>
            <a:r>
              <a:rPr lang="tr-TR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AB020-2974-514D-8B4B-23F893AF7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638" y="3499709"/>
            <a:ext cx="3505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66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Bilinear Interpolation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Google Shape;159;p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61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36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Estimate,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unknown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parameters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𝑐𝑥𝑦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using 4 neighbors.</a:t>
                </a:r>
              </a:p>
              <a:p>
                <a:pPr marL="0" lvl="0" indent="0" algn="l" rtl="0">
                  <a:spcBef>
                    <a:spcPts val="360"/>
                  </a:spcBef>
                  <a:spcAft>
                    <a:spcPts val="0"/>
                  </a:spcAft>
                  <a:buNone/>
                </a:pPr>
                <a:endParaRPr lang="en-US"/>
              </a:p>
              <a:p>
                <a:pPr marL="0" lvl="0" indent="0" algn="l" rtl="0">
                  <a:spcBef>
                    <a:spcPts val="360"/>
                  </a:spcBef>
                  <a:spcAft>
                    <a:spcPts val="0"/>
                  </a:spcAft>
                  <a:buNone/>
                </a:pPr>
                <a:r>
                  <a:rPr lang="en-US"/>
                  <a:t>4 </a:t>
                </a:r>
                <a:r>
                  <a:rPr lang="en-US" dirty="0"/>
                  <a:t>equations, 4 unknown</a:t>
                </a:r>
              </a:p>
              <a:p>
                <a:pPr marL="114300" indent="0">
                  <a:buNone/>
                </a:pPr>
                <a:br>
                  <a:rPr lang="tr-TR" dirty="0"/>
                </a:br>
                <a:endParaRPr dirty="0"/>
              </a:p>
            </p:txBody>
          </p:sp>
        </mc:Choice>
        <mc:Fallback xmlns="">
          <p:sp>
            <p:nvSpPr>
              <p:cNvPr id="159" name="Google Shape;159;p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6100"/>
              </a:xfrm>
              <a:prstGeom prst="rect">
                <a:avLst/>
              </a:prstGeom>
              <a:blipFill>
                <a:blip r:embed="rId4"/>
                <a:stretch>
                  <a:fillRect l="-1926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D3D15A1-6EB5-8644-84E0-4802F69253E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3535" y="3364736"/>
            <a:ext cx="2761564" cy="27615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5091-872C-8E40-955C-BCDAEA63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Bicubic Interpolation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93123-B044-A447-8139-61619E9A1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16unknown, 16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38B71D-493F-FB44-B8F5-75E5FC01E7B9}"/>
                  </a:ext>
                </a:extLst>
              </p:cNvPr>
              <p:cNvSpPr txBox="1"/>
              <p:nvPr/>
            </p:nvSpPr>
            <p:spPr>
              <a:xfrm>
                <a:off x="840259" y="2489887"/>
                <a:ext cx="3693640" cy="1260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sz="2800" i="1" dirty="0" smtClean="0">
                          <a:latin typeface="KaTeX_Math"/>
                        </a:rPr>
                        <m:t>v</m:t>
                      </m:r>
                      <m:r>
                        <m:rPr>
                          <m:nor/>
                        </m:rPr>
                        <a:rPr lang="tr-TR" sz="2800" dirty="0" smtClean="0">
                          <a:latin typeface="KaTeX_Main"/>
                        </a:rPr>
                        <m:t>(</m:t>
                      </m:r>
                      <m:r>
                        <m:rPr>
                          <m:nor/>
                        </m:rPr>
                        <a:rPr lang="tr-TR" sz="2800" i="1" dirty="0" smtClean="0">
                          <a:latin typeface="KaTeX_Math"/>
                        </a:rPr>
                        <m:t>x</m:t>
                      </m:r>
                      <m:r>
                        <m:rPr>
                          <m:nor/>
                        </m:rPr>
                        <a:rPr lang="tr-TR" sz="2800" dirty="0" smtClean="0">
                          <a:latin typeface="KaTeX_Main"/>
                        </a:rPr>
                        <m:t>,</m:t>
                      </m:r>
                      <m:r>
                        <m:rPr>
                          <m:nor/>
                        </m:rPr>
                        <a:rPr lang="tr-TR" sz="2800" i="1" dirty="0" smtClean="0">
                          <a:latin typeface="KaTeX_Math"/>
                        </a:rPr>
                        <m:t>y</m:t>
                      </m:r>
                      <m:r>
                        <m:rPr>
                          <m:nor/>
                        </m:rPr>
                        <a:rPr lang="tr-TR" sz="2800" dirty="0" smtClean="0">
                          <a:latin typeface="KaTeX_Main"/>
                        </a:rPr>
                        <m:t>)</m:t>
                      </m:r>
                      <m:r>
                        <m:rPr>
                          <m:nor/>
                        </m:rPr>
                        <a:rPr lang="tr-TR" sz="2800" b="0" i="0" dirty="0" smtClean="0">
                          <a:latin typeface="KaTeX_Main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800" dirty="0" smtClean="0">
                          <a:latin typeface="KaTeX_Main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/>
                      </m:nary>
                      <m:nary>
                        <m:naryPr>
                          <m:chr m:val="∑"/>
                          <m:ctrlPr>
                            <a:rPr lang="tr-TR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tr-TR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tr-TR" sz="2800" i="1" dirty="0">
                              <a:latin typeface="KaTeX_Math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tr-TR" sz="2800" i="1" baseline="-25000" dirty="0">
                              <a:latin typeface="KaTeX_Math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lang="tr-TR" sz="2800" dirty="0">
                              <a:latin typeface="KaTeX_Main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tr-TR" sz="2800" b="0" i="1" dirty="0" smtClean="0">
                              <a:latin typeface="KaTeX_Main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tr-TR" sz="2800" i="1" dirty="0">
                              <a:latin typeface="KaTeX_Math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tr-TR" sz="2800" i="1" baseline="-25000" dirty="0">
                              <a:latin typeface="KaTeX_Math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tr-TR" sz="2800" b="0" i="1" baseline="-25000" dirty="0" smtClean="0">
                              <a:latin typeface="KaTeX_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tr-TR" sz="2800" i="1" dirty="0">
                              <a:latin typeface="KaTeX_Math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tr-TR" sz="2800" i="1" baseline="-25000" dirty="0">
                              <a:latin typeface="KaTeX_Math"/>
                            </a:rPr>
                            <m:t>j</m:t>
                          </m:r>
                          <m:r>
                            <m:rPr>
                              <m:nor/>
                            </m:rPr>
                            <a:rPr lang="tr-TR" sz="2800" dirty="0">
                              <a:latin typeface="KaTeX_Main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38B71D-493F-FB44-B8F5-75E5FC01E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59" y="2489887"/>
                <a:ext cx="3693640" cy="1260089"/>
              </a:xfrm>
              <a:prstGeom prst="rect">
                <a:avLst/>
              </a:prstGeom>
              <a:blipFill>
                <a:blip r:embed="rId2"/>
                <a:stretch>
                  <a:fillRect l="-5137" t="-108000" r="-3082" b="-16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B7C3287-E533-F140-A7F3-7A7AF47DF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254" y="3083010"/>
            <a:ext cx="2761564" cy="276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96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5BF0-5CD2-3A43-95EB-4F391F15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Neighborhood and Distance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E95BC-B2F7-994D-8FD4-2D6DF84B3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neighbors of a pixels?</a:t>
            </a:r>
          </a:p>
          <a:p>
            <a:r>
              <a:rPr lang="en-US" dirty="0"/>
              <a:t>How to measure the distance between two pixels?</a:t>
            </a:r>
          </a:p>
        </p:txBody>
      </p:sp>
    </p:spTree>
    <p:extLst>
      <p:ext uri="{BB962C8B-B14F-4D97-AF65-F5344CB8AC3E}">
        <p14:creationId xmlns:p14="http://schemas.microsoft.com/office/powerpoint/2010/main" val="2975078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CFA5-0F64-6844-8FAB-4BDBDC1C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4-Neighborhood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13F6A-2483-2141-B232-A606AABD1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578" y="3387862"/>
            <a:ext cx="3321222" cy="3347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FBB451-887C-174D-A093-C45BFDFBAB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58346" y="1241853"/>
                <a:ext cx="8229600" cy="4525963"/>
              </a:xfrm>
            </p:spPr>
            <p:txBody>
              <a:bodyPr/>
              <a:lstStyle/>
              <a:p>
                <a:r>
                  <a:rPr lang="tr-TR" dirty="0"/>
                  <a:t> </a:t>
                </a:r>
                <a:r>
                  <a:rPr lang="tr-TR" dirty="0" err="1"/>
                  <a:t>Given</a:t>
                </a:r>
                <a:r>
                  <a:rPr lang="tr-TR" dirty="0"/>
                  <a:t> an </a:t>
                </a:r>
                <a:r>
                  <a:rPr lang="tr-TR" dirty="0" err="1"/>
                  <a:t>image</a:t>
                </a:r>
                <a:r>
                  <a:rPr lang="en-US" dirty="0"/>
                  <a:t>,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tr-TR" dirty="0"/>
              </a:p>
              <a:p>
                <a:endParaRPr lang="tr-TR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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 =</m:t>
                      </m:r>
                    </m:oMath>
                  </m:oMathPara>
                </a14:m>
                <a:endParaRPr lang="tr-TR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{(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−1), 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+1)}.</m:t>
                      </m:r>
                    </m:oMath>
                  </m:oMathPara>
                </a14:m>
                <a:endParaRPr lang="tr-T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FBB451-887C-174D-A093-C45BFDFBA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8346" y="1241853"/>
                <a:ext cx="8229600" cy="4525963"/>
              </a:xfrm>
              <a:blipFill>
                <a:blip r:embed="rId3"/>
                <a:stretch>
                  <a:fillRect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920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351E-D0F1-7D4C-82F2-E26D2DBF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8-Neighborhood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20FA3D-FCC2-9742-B6F0-CDC26EA706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tr-TR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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         ={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, +1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tr-T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i="1" dirty="0" smtClean="0">
                              <a:latin typeface="Cambria Math" panose="02040503050406030204" pitchFamily="18" charset="0"/>
                            </a:rPr>
                            <m:t>−1,+1</m:t>
                          </m:r>
                        </m:e>
                      </m:d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+1)}.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20FA3D-FCC2-9742-B6F0-CDC26EA70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s://raw.githubusercontent.com/hazalmogultay/466Images/master/W3/image11.png">
            <a:extLst>
              <a:ext uri="{FF2B5EF4-FFF2-40B4-BE49-F238E27FC236}">
                <a16:creationId xmlns:a16="http://schemas.microsoft.com/office/drawing/2014/main" id="{0A627EFB-7C3A-E343-88EC-D9F16619E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389" y="3617113"/>
            <a:ext cx="3051089" cy="278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89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7C64-BF39-4D7C-B6B0-B3180911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Distance or Similarity Between  Pixels</a:t>
            </a:r>
            <a:endParaRPr lang="tr-TR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842D7-2875-46E9-81A5-CD68C7A8F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 Distance</a:t>
            </a:r>
          </a:p>
          <a:p>
            <a:r>
              <a:rPr lang="en-US" dirty="0"/>
              <a:t>Color Distance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25964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CEAE-38C1-5448-AE1F-E4BE8DEC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4060A7-E72F-904E-ACE4-A3BAFD8A5FF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Continuous Domain: Euclidean Distance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​,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2​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​) </m:t>
                      </m:r>
                      <m:r>
                        <a:rPr lang="tr-TR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tr-TR" i="1" baseline="30000" dirty="0">
                          <a:latin typeface="Cambria Math" panose="02040503050406030204" pitchFamily="18" charset="0"/>
                        </a:rPr>
                        <m:t>1/2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tr-TR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4060A7-E72F-904E-ACE4-A3BAFD8A5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FB8EA9D-BEDE-504E-B314-533D77E5A4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5319" y="3284803"/>
            <a:ext cx="3138616" cy="318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77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EB91-F4C8-9D4B-9DB7-4563058D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Grid: </a:t>
            </a:r>
            <a:br>
              <a:rPr lang="en-US" dirty="0"/>
            </a:br>
            <a:r>
              <a:rPr lang="en-US" dirty="0"/>
              <a:t>City Block Distance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71737-DB94-384D-ABA3-23ABEE1B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1" y="3651421"/>
            <a:ext cx="2666656" cy="2523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966BBD-31A4-4441-A44D-35FA238FEA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583575"/>
                <a:ext cx="8229600" cy="2333518"/>
              </a:xfrm>
            </p:spPr>
            <p:txBody>
              <a:bodyPr/>
              <a:lstStyle/>
              <a:p>
                <a:r>
                  <a:rPr lang="tr-TR" i="1" dirty="0" err="1"/>
                  <a:t>Disance</a:t>
                </a:r>
                <a:r>
                  <a:rPr lang="tr-TR" i="1" dirty="0"/>
                  <a:t> in 4-neighborhood</a:t>
                </a:r>
              </a:p>
              <a:p>
                <a:endParaRPr lang="tr-TR" i="1" dirty="0"/>
              </a:p>
              <a:p>
                <a:pPr marL="114300" indent="0">
                  <a:buNone/>
                </a:pPr>
                <a:r>
                  <a:rPr lang="tr-TR" i="1" dirty="0"/>
                  <a:t>	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 (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​,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​∣+∣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​∣,</m:t>
                    </m:r>
                  </m:oMath>
                </a14:m>
                <a:endParaRPr lang="tr-TR" dirty="0"/>
              </a:p>
              <a:p>
                <a:pPr marL="114300" indent="0">
                  <a:buNone/>
                </a:pPr>
                <a:br>
                  <a:rPr lang="tr-TR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966BBD-31A4-4441-A44D-35FA238FE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83575"/>
                <a:ext cx="8229600" cy="2333518"/>
              </a:xfrm>
              <a:blipFill>
                <a:blip r:embed="rId4"/>
                <a:stretch>
                  <a:fillRect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3A6D119-9A90-2C4B-BF0C-C081E0BAD67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4615" y="3845239"/>
            <a:ext cx="2329249" cy="23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49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C042-B1A3-0044-B766-FEA107D8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Discrete Grid: Chessboard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7458D6-6013-5A46-B46D-A67E974A318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00201"/>
                <a:ext cx="8229600" cy="1377778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Distance in 8-neighborhood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​,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tr-TR" i="1" dirty="0" err="1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⁡(∣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​∣+∣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​∣),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7458D6-6013-5A46-B46D-A67E974A3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1"/>
                <a:ext cx="8229600" cy="1377778"/>
              </a:xfrm>
              <a:blipFill>
                <a:blip r:embed="rId3"/>
                <a:stretch>
                  <a:fillRect l="-519" t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6B66747-7356-6143-BE55-5B59CA0D9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366" y="2977979"/>
            <a:ext cx="3772071" cy="36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70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7E4E-E0EC-435F-ACD1-D7DA90CC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two colors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B487B1-2A44-4B3E-9FB1-CEFF119D7F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Given 2- colors in RGB color space, 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 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],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 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 err="1"/>
                  <a:t>Eucledean</a:t>
                </a:r>
                <a:r>
                  <a:rPr lang="en-US" sz="2400" dirty="0"/>
                  <a:t> Distance: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) = 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2​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​) </m:t>
                      </m:r>
                      <m:r>
                        <a:rPr lang="tr-TR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tr-TR" sz="2400" i="1" baseline="-25000" dirty="0">
                          <a:latin typeface="Cambria Math" panose="02040503050406030204" pitchFamily="18" charset="0"/>
                        </a:rPr>
                        <m:t>2​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tr-TR" sz="2400" i="1" baseline="30000" dirty="0">
                          <a:latin typeface="Cambria Math" panose="02040503050406030204" pitchFamily="18" charset="0"/>
                        </a:rPr>
                        <m:t> 1/2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tr-TR" sz="2400" dirty="0"/>
              </a:p>
              <a:p>
                <a:pPr marL="114300" indent="0">
                  <a:buNone/>
                </a:pPr>
                <a:endParaRPr lang="en-US" sz="2400" b="1" dirty="0"/>
              </a:p>
              <a:p>
                <a:pPr marL="114300" indent="0">
                  <a:buNone/>
                </a:pPr>
                <a:r>
                  <a:rPr lang="en-US" sz="2400" b="1" dirty="0"/>
                  <a:t>Note:</a:t>
                </a:r>
                <a:r>
                  <a:rPr lang="en-US" sz="2400" dirty="0"/>
                  <a:t> Colors need to be integer valued. Also, depending on the bit allocation per pixel they lie in an interval of 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[0,L-1]. Need normalization.</a:t>
                </a:r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B487B1-2A44-4B3E-9FB1-CEFF119D7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119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627D-2005-483B-9054-0062DE4A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E9395-125D-490A-90BD-D1F4993160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800" dirty="0"/>
                  <a:t>Find the City block distance and </a:t>
                </a:r>
                <a:r>
                  <a:rPr lang="en-US" sz="2800" dirty="0" err="1"/>
                  <a:t>Checkerbord</a:t>
                </a:r>
                <a:r>
                  <a:rPr lang="en-US" sz="2800" dirty="0"/>
                  <a:t> distances between the following pixels:</a:t>
                </a:r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(0,1)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(3,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tr-TR" dirty="0"/>
              </a:p>
              <a:p>
                <a:pPr marL="11430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E9395-125D-490A-90BD-D1F499316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039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81E1-9209-44F3-BC09-D2E1556C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4E591FF-C731-4B2A-A410-2573B8FC59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𝐶𝑖𝑡𝑦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𝐵𝑙𝑜𝑐𝑘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</m:oMath>
                  </m:oMathPara>
                </a14:m>
                <a:endParaRPr lang="en-US" sz="2800" i="1" dirty="0"/>
              </a:p>
              <a:p>
                <a:pPr marL="114300" indent="0">
                  <a:buNone/>
                </a:pPr>
                <a:endParaRPr lang="en-US" sz="2800" i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 (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​,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​)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​∣+∣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​∣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 3 +2= 5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𝐶h𝑒𝑐𝑘𝑒𝑟𝑏𝑜𝑎𝑟𝑑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​,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​)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tr-TR" sz="2800" i="1" dirty="0" err="1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⁡(∣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​∣+∣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​∣)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3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4E591FF-C731-4B2A-A410-2573B8FC5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961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627D-2005-483B-9054-0062DE4A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E9395-125D-490A-90BD-D1F4993160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Find the </a:t>
                </a:r>
                <a:r>
                  <a:rPr lang="en-US" dirty="0" err="1"/>
                  <a:t>Eucledean</a:t>
                </a:r>
                <a:r>
                  <a:rPr lang="en-US" dirty="0"/>
                  <a:t> distance between the following colors in RGB color space:</a:t>
                </a:r>
              </a:p>
              <a:p>
                <a:pPr marL="114300" indent="0">
                  <a:buNone/>
                </a:pPr>
                <a:r>
                  <a:rPr lang="en-US" dirty="0"/>
                  <a:t>		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[0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1]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[3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3 3]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69E9395-125D-490A-90BD-D1F499316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6368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8325-C6F8-4D12-BED0-D568EB05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23759AF-8746-4D76-917F-D266AE9446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800" dirty="0"/>
                  <a:t>Eucledean distance between two colors, </a:t>
                </a:r>
              </a:p>
              <a:p>
                <a:pPr marL="11430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[0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1]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[3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3 3]: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)= 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2​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​) </m:t>
                      </m:r>
                      <m:r>
                        <a:rPr lang="tr-TR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baseline="300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tr-TR" sz="2800" i="1" baseline="-25000" dirty="0">
                          <a:latin typeface="Cambria Math" panose="02040503050406030204" pitchFamily="18" charset="0"/>
                        </a:rPr>
                        <m:t>2​</m:t>
                      </m:r>
                      <m:r>
                        <a:rPr lang="tr-TR" sz="2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tr-TR" sz="2800" i="1" baseline="30000" dirty="0">
                          <a:latin typeface="Cambria Math" panose="02040503050406030204" pitchFamily="18" charset="0"/>
                        </a:rPr>
                        <m:t> ½</m:t>
                      </m:r>
                    </m:oMath>
                  </m:oMathPara>
                </a14:m>
                <a:endParaRPr lang="en-US" sz="2800" baseline="30000" dirty="0"/>
              </a:p>
              <a:p>
                <a:pPr marL="114300" indent="0">
                  <a:buNone/>
                </a:pPr>
                <a:endParaRPr lang="en-US" sz="2800" baseline="30000" dirty="0"/>
              </a:p>
              <a:p>
                <a:pPr marL="114300" indent="0">
                  <a:buNone/>
                </a:pPr>
                <a:r>
                  <a:rPr lang="en-US" sz="2800" dirty="0"/>
                  <a:t>= (9 +4 + 4)</a:t>
                </a:r>
                <a:r>
                  <a:rPr lang="tr-TR" sz="2800" baseline="30000" dirty="0"/>
                  <a:t> ½</a:t>
                </a:r>
                <a:r>
                  <a:rPr lang="en-US" sz="2800" baseline="30000" dirty="0"/>
                  <a:t> </a:t>
                </a:r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b="0" dirty="0"/>
                  <a:t> 4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23759AF-8746-4D76-917F-D266AE944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753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7869-24EB-394F-B489-88FCCF1E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geometry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F2C18-8923-BE45-A539-4B3567E3F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indent="-514350">
              <a:buFont typeface="+mj-lt"/>
              <a:buAutoNum type="arabicPeriod"/>
            </a:pPr>
            <a:r>
              <a:rPr lang="tr-TR" sz="2800" dirty="0" err="1"/>
              <a:t>Adjacency</a:t>
            </a:r>
            <a:r>
              <a:rPr lang="tr-TR" sz="2800" dirty="0"/>
              <a:t>, </a:t>
            </a:r>
          </a:p>
          <a:p>
            <a:pPr marL="628650" indent="-514350">
              <a:buFont typeface="+mj-lt"/>
              <a:buAutoNum type="arabicPeriod"/>
            </a:pPr>
            <a:r>
              <a:rPr lang="tr-TR" sz="2800" dirty="0" err="1"/>
              <a:t>Path</a:t>
            </a:r>
            <a:r>
              <a:rPr lang="tr-TR" sz="2800" dirty="0"/>
              <a:t>, </a:t>
            </a:r>
          </a:p>
          <a:p>
            <a:pPr marL="628650" indent="-514350">
              <a:buFont typeface="+mj-lt"/>
              <a:buAutoNum type="arabicPeriod"/>
            </a:pPr>
            <a:r>
              <a:rPr lang="tr-TR" sz="2800" dirty="0"/>
              <a:t>Connectivity, </a:t>
            </a:r>
          </a:p>
          <a:p>
            <a:pPr marL="628650" indent="-514350">
              <a:buFont typeface="+mj-lt"/>
              <a:buAutoNum type="arabicPeriod"/>
            </a:pPr>
            <a:r>
              <a:rPr lang="tr-TR" sz="2800" dirty="0" err="1"/>
              <a:t>Region</a:t>
            </a:r>
            <a:r>
              <a:rPr lang="tr-TR" sz="2800" dirty="0"/>
              <a:t>, </a:t>
            </a:r>
          </a:p>
          <a:p>
            <a:pPr marL="628650" indent="-514350">
              <a:buFont typeface="+mj-lt"/>
              <a:buAutoNum type="arabicPeriod"/>
            </a:pPr>
            <a:r>
              <a:rPr lang="tr-TR" sz="2800" dirty="0" err="1"/>
              <a:t>Boundary</a:t>
            </a:r>
            <a:r>
              <a:rPr lang="tr-TR" sz="2800" dirty="0"/>
              <a:t>, </a:t>
            </a:r>
          </a:p>
          <a:p>
            <a:pPr marL="628650" indent="-514350">
              <a:buFont typeface="+mj-lt"/>
              <a:buAutoNum type="arabicPeriod"/>
            </a:pPr>
            <a:r>
              <a:rPr lang="tr-TR" sz="2800" dirty="0" err="1"/>
              <a:t>Edge</a:t>
            </a:r>
            <a:r>
              <a:rPr lang="tr-TR" sz="2800" dirty="0"/>
              <a:t> </a:t>
            </a:r>
          </a:p>
          <a:p>
            <a:pPr marL="114300" indent="0">
              <a:buNone/>
            </a:pPr>
            <a:r>
              <a:rPr lang="tr-TR" dirty="0"/>
              <a:t>on a </a:t>
            </a:r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grid</a:t>
            </a:r>
            <a:r>
              <a:rPr lang="tr-TR" dirty="0"/>
              <a:t>.</a:t>
            </a:r>
          </a:p>
          <a:p>
            <a:pPr marL="114300" indent="0">
              <a:buNone/>
            </a:pPr>
            <a:br>
              <a:rPr lang="tr-T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2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062C-8494-DC41-80A3-DD58A306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Adjacency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60CD24-E2B3-1E45-8BAB-AF8F22C1EA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Let,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 {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baseline="-25000" dirty="0" err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 be a set of pixels defined over the intensity values used to define adjacency.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Ex: Given an 8 bits/pixel image, what is </a:t>
                </a:r>
              </a:p>
              <a:p>
                <a:pPr marL="5715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  <a:p>
                <a:pPr marL="5715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360CD24-E2B3-1E45-8BAB-AF8F22C1E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D231A5-8972-9F4A-A358-39D407F5BF2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0214" y="4051572"/>
            <a:ext cx="2932186" cy="2074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19E04-F20E-704B-8316-507ACE23B8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556" b="50000"/>
          <a:stretch/>
        </p:blipFill>
        <p:spPr>
          <a:xfrm>
            <a:off x="5475352" y="4145630"/>
            <a:ext cx="2690747" cy="1980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829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09CF-B650-EE40-A5A4-FA00E7B3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4-Adjacency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1B583F6-E439-A94F-BF58-C03D643E37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tr-TR" dirty="0" err="1"/>
                  <a:t>Pixels</a:t>
                </a:r>
                <a:r>
                  <a:rPr lang="tr-TR" dirty="0"/>
                  <a:t>,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tr-TR" dirty="0"/>
                  <a:t> </a:t>
                </a:r>
                <a:r>
                  <a:rPr lang="tr-TR" dirty="0" err="1"/>
                  <a:t>and</a:t>
                </a:r>
                <a:r>
                  <a:rPr lang="tr-TR" dirty="0"/>
                  <a:t>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tr-TR" dirty="0"/>
                  <a:t>, </a:t>
                </a:r>
                <a:r>
                  <a:rPr lang="tr-TR" dirty="0" err="1"/>
                  <a:t>defined</a:t>
                </a:r>
                <a:r>
                  <a:rPr lang="tr-TR" dirty="0"/>
                  <a:t> </a:t>
                </a:r>
                <a:r>
                  <a:rPr lang="tr-TR" dirty="0" err="1"/>
                  <a:t>over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intensity</a:t>
                </a:r>
                <a:r>
                  <a:rPr lang="tr-TR" dirty="0"/>
                  <a:t> </a:t>
                </a:r>
                <a:r>
                  <a:rPr lang="tr-TR" dirty="0" err="1"/>
                  <a:t>value</a:t>
                </a:r>
                <a:r>
                  <a:rPr lang="tr-TR" dirty="0"/>
                  <a:t> set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tr-TR" dirty="0"/>
                  <a:t>, </a:t>
                </a:r>
                <a:r>
                  <a:rPr lang="tr-TR" dirty="0" err="1"/>
                  <a:t>are</a:t>
                </a:r>
                <a:r>
                  <a:rPr lang="tr-TR" dirty="0"/>
                  <a:t> </a:t>
                </a:r>
                <a:r>
                  <a:rPr lang="tr-TR" b="1" dirty="0"/>
                  <a:t>4-adjacent</a:t>
                </a:r>
                <a:r>
                  <a:rPr lang="tr-TR" dirty="0"/>
                  <a:t>, </a:t>
                </a:r>
                <a:r>
                  <a:rPr lang="tr-TR" dirty="0" err="1"/>
                  <a:t>if</a:t>
                </a:r>
                <a:r>
                  <a:rPr lang="tr-TR" dirty="0"/>
                  <a:t> </a:t>
                </a:r>
              </a:p>
              <a:p>
                <a:pPr marL="114300" indent="0">
                  <a:buNone/>
                </a:pPr>
                <a:endParaRPr lang="tr-TR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4​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1B583F6-E439-A94F-BF58-C03D643E3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317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5AF3-5EB7-2B45-A401-5EC981FB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8-Adjacency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6D4E00-CF9C-D047-A5DC-B5CD8B8D5A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Pixels,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 and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/>
                  <a:t>defined over the intensity values set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are </a:t>
                </a:r>
                <a:r>
                  <a:rPr lang="en-US" b="1" dirty="0"/>
                  <a:t>8-adjacent,</a:t>
                </a:r>
                <a:r>
                  <a:rPr lang="en-US" dirty="0"/>
                  <a:t> if </a:t>
                </a:r>
              </a:p>
              <a:p>
                <a:pPr marL="114300" indent="0">
                  <a:buNone/>
                </a:pPr>
                <a:endParaRPr lang="en-US" i="1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 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6D4E00-CF9C-D047-A5DC-B5CD8B8D5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011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C66A-2DB0-B347-980E-2E47301F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adjacency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09912B9-BAD6-634B-82E0-B6FF88E0A3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tr-TR" dirty="0"/>
                  <a:t>Pixels, </a:t>
                </a:r>
                <a:r>
                  <a:rPr lang="tr-TR" i="1" dirty="0"/>
                  <a:t>p</a:t>
                </a:r>
                <a:r>
                  <a:rPr lang="tr-TR" dirty="0"/>
                  <a:t>(</a:t>
                </a:r>
                <a:r>
                  <a:rPr lang="tr-TR" i="1" dirty="0"/>
                  <a:t>V</a:t>
                </a:r>
                <a:r>
                  <a:rPr lang="tr-TR" dirty="0"/>
                  <a:t>) </a:t>
                </a:r>
                <a:r>
                  <a:rPr lang="tr-TR" dirty="0" err="1"/>
                  <a:t>and</a:t>
                </a:r>
                <a:r>
                  <a:rPr lang="tr-TR" dirty="0"/>
                  <a:t> </a:t>
                </a:r>
                <a:r>
                  <a:rPr lang="tr-TR" i="1" dirty="0" err="1"/>
                  <a:t>q</a:t>
                </a:r>
                <a:r>
                  <a:rPr lang="tr-TR" dirty="0"/>
                  <a:t>(</a:t>
                </a:r>
                <a:r>
                  <a:rPr lang="tr-TR" i="1" dirty="0"/>
                  <a:t>V</a:t>
                </a:r>
                <a:r>
                  <a:rPr lang="tr-TR" dirty="0"/>
                  <a:t>) </a:t>
                </a:r>
                <a:r>
                  <a:rPr lang="tr-TR" dirty="0" err="1"/>
                  <a:t>are</a:t>
                </a:r>
                <a:r>
                  <a:rPr lang="tr-TR" dirty="0"/>
                  <a:t> m-</a:t>
                </a:r>
                <a:r>
                  <a:rPr lang="tr-TR" dirty="0" err="1"/>
                  <a:t>adjacent</a:t>
                </a:r>
                <a:r>
                  <a:rPr lang="tr-TR" dirty="0"/>
                  <a:t> </a:t>
                </a:r>
                <a:r>
                  <a:rPr lang="tr-TR" dirty="0" err="1"/>
                  <a:t>if</a:t>
                </a:r>
                <a:endParaRPr lang="tr-TR" dirty="0"/>
              </a:p>
              <a:p>
                <a:pPr marL="114300" indent="0" algn="ctr">
                  <a:buNone/>
                </a:pPr>
                <a:endParaRPr lang="tr-TR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tr-TR" dirty="0"/>
              </a:p>
              <a:p>
                <a:pPr marL="114300" indent="0" algn="ctr">
                  <a:buNone/>
                </a:pPr>
                <a:r>
                  <a:rPr lang="tr-TR" dirty="0"/>
                  <a:t> </a:t>
                </a:r>
                <a:r>
                  <a:rPr lang="tr-TR" dirty="0" err="1"/>
                  <a:t>or</a:t>
                </a:r>
                <a:endParaRPr lang="tr-TR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)  ∈ 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𝑁𝐷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))  </m:t>
                    </m:r>
                  </m:oMath>
                </a14:m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endParaRPr lang="en-US" dirty="0"/>
              </a:p>
              <a:p>
                <a:pPr marL="114300" indent="0" algn="ctr">
                  <a:buNone/>
                </a:pPr>
                <a:endParaRPr lang="tr-TR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tr-TR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) </m:t>
                    </m:r>
                    <m:nary>
                      <m:naryPr>
                        <m:chr m:val="⋂"/>
                        <m:subHide m:val="on"/>
                        <m:supHide m:val="on"/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tr-TR" dirty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tr-TR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tr-TR" dirty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tr-TR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tr-TR" b="0" i="0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tr-TR" dirty="0"/>
                      <m:t>∅</m:t>
                    </m:r>
                  </m:oMath>
                </a14:m>
                <a:endParaRPr lang="tr-TR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09912B9-BAD6-634B-82E0-B6FF88E0A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16055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A3AD-EB8D-7444-9013-9E129722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2CB5-6E72-4D8E-BB41-1441CFDAD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4- adjacency, 8-adjacency and </a:t>
            </a:r>
          </a:p>
          <a:p>
            <a:r>
              <a:rPr lang="en-US" dirty="0"/>
              <a:t>m-adjacency of the center pixel for V={1}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4DD22-01CB-C349-B930-892372DB5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737"/>
          <a:stretch/>
        </p:blipFill>
        <p:spPr>
          <a:xfrm>
            <a:off x="2665235" y="2792247"/>
            <a:ext cx="3315687" cy="3882923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35E8D8-8C66-4073-8402-FBBE16902FBE}"/>
              </a:ext>
            </a:extLst>
          </p:cNvPr>
          <p:cNvSpPr/>
          <p:nvPr/>
        </p:nvSpPr>
        <p:spPr>
          <a:xfrm>
            <a:off x="4530012" y="4474783"/>
            <a:ext cx="373224" cy="415212"/>
          </a:xfrm>
          <a:prstGeom prst="rect">
            <a:avLst/>
          </a:prstGeom>
          <a:solidFill>
            <a:srgbClr val="FFFF00">
              <a:alpha val="4313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811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A3AD-EB8D-7444-9013-9E129722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V={1}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4DD22-01CB-C349-B930-892372DB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2" y="2182484"/>
            <a:ext cx="8691782" cy="33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4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Adjacency</a:t>
            </a:r>
            <a:endParaRPr dirty="0"/>
          </a:p>
        </p:txBody>
      </p:sp>
      <p:sp>
        <p:nvSpPr>
          <p:cNvPr id="189" name="Google Shape;18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Two pixels p(V) and q(V) are </a:t>
            </a:r>
            <a:r>
              <a:rPr lang="en-US" sz="2400" b="1" dirty="0"/>
              <a:t>adjacent </a:t>
            </a:r>
            <a:r>
              <a:rPr lang="en-US" sz="2400" dirty="0"/>
              <a:t>if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q(V) </a:t>
            </a:r>
            <a:r>
              <a:rPr lang="en-US" sz="2400" dirty="0">
                <a:latin typeface="Symbol" pitchFamily="2" charset="2"/>
              </a:rPr>
              <a:t>e</a:t>
            </a:r>
            <a:r>
              <a:rPr lang="en-US" sz="2400" dirty="0"/>
              <a:t> N (p(V))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4-adjacency:</a:t>
            </a:r>
            <a:r>
              <a:rPr lang="en-US" sz="2400" i="1" dirty="0"/>
              <a:t>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q(V) </a:t>
            </a:r>
            <a:r>
              <a:rPr lang="en-US" sz="2400" dirty="0">
                <a:latin typeface="Symbol" pitchFamily="2" charset="2"/>
              </a:rPr>
              <a:t>e</a:t>
            </a:r>
            <a:r>
              <a:rPr lang="en-US" sz="2400" dirty="0"/>
              <a:t> N</a:t>
            </a:r>
            <a:r>
              <a:rPr lang="en-US" sz="2400" baseline="-25000" dirty="0"/>
              <a:t>4 </a:t>
            </a:r>
            <a:r>
              <a:rPr lang="en-US" sz="2400" dirty="0"/>
              <a:t>(p(V)) </a:t>
            </a: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8-adjacency:</a:t>
            </a:r>
          </a:p>
          <a:p>
            <a:pPr marL="609600" indent="-609600" algn="ctr">
              <a:lnSpc>
                <a:spcPct val="90000"/>
              </a:lnSpc>
              <a:spcBef>
                <a:spcPts val="480"/>
              </a:spcBef>
              <a:buSzPts val="2400"/>
              <a:buNone/>
            </a:pPr>
            <a:r>
              <a:rPr lang="en-US" sz="2400" dirty="0"/>
              <a:t>q(V) </a:t>
            </a:r>
            <a:r>
              <a:rPr lang="en-US" sz="2400" dirty="0">
                <a:latin typeface="Symbol" pitchFamily="2" charset="2"/>
              </a:rPr>
              <a:t>e</a:t>
            </a:r>
            <a:r>
              <a:rPr lang="en-US" sz="2400" dirty="0"/>
              <a:t> N</a:t>
            </a:r>
            <a:r>
              <a:rPr lang="en-US" sz="2400" baseline="-25000" dirty="0"/>
              <a:t>8 </a:t>
            </a:r>
            <a:r>
              <a:rPr lang="en-US" sz="2400" dirty="0"/>
              <a:t>(p(V)) </a:t>
            </a: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m-adjacency:</a:t>
            </a:r>
          </a:p>
          <a:p>
            <a:pPr marL="609600" indent="-609600" algn="ctr">
              <a:lnSpc>
                <a:spcPct val="90000"/>
              </a:lnSpc>
              <a:spcBef>
                <a:spcPts val="480"/>
              </a:spcBef>
              <a:buSzPts val="2400"/>
              <a:buNone/>
            </a:pPr>
            <a:r>
              <a:rPr lang="en-US" sz="2400" dirty="0"/>
              <a:t>q(V) </a:t>
            </a:r>
            <a:r>
              <a:rPr lang="en-US" sz="2400" dirty="0">
                <a:latin typeface="Symbol" pitchFamily="2" charset="2"/>
              </a:rPr>
              <a:t>e</a:t>
            </a:r>
            <a:r>
              <a:rPr lang="en-US" sz="2400" dirty="0"/>
              <a:t> N</a:t>
            </a:r>
            <a:r>
              <a:rPr lang="en-US" sz="2400" baseline="-25000" dirty="0"/>
              <a:t>m </a:t>
            </a:r>
            <a:r>
              <a:rPr lang="en-US" sz="2400" dirty="0"/>
              <a:t>(p(V)) </a:t>
            </a: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 dirty="0"/>
          </a:p>
        </p:txBody>
      </p:sp>
    </p:spTree>
    <p:extLst>
      <p:ext uri="{BB962C8B-B14F-4D97-AF65-F5344CB8AC3E}">
        <p14:creationId xmlns:p14="http://schemas.microsoft.com/office/powerpoint/2010/main" val="1142805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C2A7-8461-49EF-8F49-607B9879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FC9CE79-D80C-436F-8484-847F5E9F3E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Find the pixels that are 4-adjacent and  8-adjacen in 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=(0,1), </m:t>
                    </m:r>
                  </m:oMath>
                </a14:m>
                <a:r>
                  <a:rPr lang="en-US" sz="2400" dirty="0"/>
                  <a:t>for the below image piece:</a:t>
                </a:r>
              </a:p>
              <a:p>
                <a:pPr marL="114300" indent="0">
                  <a:buNone/>
                </a:pPr>
                <a:br>
                  <a:rPr lang="en-US" dirty="0"/>
                </a:br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FC9CE79-D80C-436F-8484-847F5E9F3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99EE3E-051E-41BE-A36F-222EA8DE15CC}"/>
                  </a:ext>
                </a:extLst>
              </p:cNvPr>
              <p:cNvSpPr txBox="1"/>
              <p:nvPr/>
            </p:nvSpPr>
            <p:spPr>
              <a:xfrm>
                <a:off x="3484983" y="3368351"/>
                <a:ext cx="1828800" cy="146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tr-TR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tr-TR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99EE3E-051E-41BE-A36F-222EA8DE1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983" y="3368351"/>
                <a:ext cx="1828800" cy="146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942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E09D-0915-43D2-ACF5-D120286C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endParaRPr lang="tr-TR" dirty="0"/>
          </a:p>
        </p:txBody>
      </p:sp>
      <p:pic>
        <p:nvPicPr>
          <p:cNvPr id="1026" name="Picture 2" descr="https://raw.githubusercontent.com/hazalmogultay/466Images/master/W3/image17.png">
            <a:extLst>
              <a:ext uri="{FF2B5EF4-FFF2-40B4-BE49-F238E27FC236}">
                <a16:creationId xmlns:a16="http://schemas.microsoft.com/office/drawing/2014/main" id="{1E888FB2-10BB-442F-8430-638BDCCE0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16" y="2033608"/>
            <a:ext cx="5289855" cy="211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3310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4642-129E-46DC-B3E2-E3AEAF9D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079DE1-6C5E-4222-B3E2-EC5D8D5A55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pixels that are 8-adjacent and  m-adjacent,  in  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=(0,1), </m:t>
                    </m:r>
                  </m:oMath>
                </a14:m>
                <a:r>
                  <a:rPr lang="en-US" dirty="0"/>
                  <a:t>for the below image piece: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079DE1-6C5E-4222-B3E2-EC5D8D5A5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7C9D18-1ABA-49D9-9963-75FFF9974D30}"/>
                  </a:ext>
                </a:extLst>
              </p:cNvPr>
              <p:cNvSpPr txBox="1"/>
              <p:nvPr/>
            </p:nvSpPr>
            <p:spPr>
              <a:xfrm>
                <a:off x="3484983" y="3368351"/>
                <a:ext cx="1828800" cy="146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tr-TR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tr-TR" sz="36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tr-TR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7C9D18-1ABA-49D9-9963-75FFF9974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983" y="3368351"/>
                <a:ext cx="1828800" cy="146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0349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836D-2A84-4A65-98E0-EA756077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56283-461D-4A41-819D-DC43CADCA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789" y="1748589"/>
            <a:ext cx="8426115" cy="3923659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2050" name="Picture 2" descr="https://raw.githubusercontent.com/hazalmogultay/466Images/master/W3/image19.png">
            <a:extLst>
              <a:ext uri="{FF2B5EF4-FFF2-40B4-BE49-F238E27FC236}">
                <a16:creationId xmlns:a16="http://schemas.microsoft.com/office/drawing/2014/main" id="{58BA53A8-6EB5-4285-BA61-7076521B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92" y="2558938"/>
            <a:ext cx="6930616" cy="289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605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F85B-76B5-6342-A664-4C99CC0A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EF4FA0-5FFC-9A4E-8243-06C0E5A118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Path between two pixels, p(V) and q(V) is a sequence of pixels defined as follows: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), {(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), 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), ……..(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 err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), }​​,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where (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,y</a:t>
                </a:r>
                <a:r>
                  <a:rPr lang="en-US" baseline="-25000" dirty="0" err="1"/>
                  <a:t>i</a:t>
                </a:r>
                <a:r>
                  <a:rPr lang="en-US" dirty="0"/>
                  <a:t>) ∈N (x</a:t>
                </a:r>
                <a:r>
                  <a:rPr lang="en-US" baseline="-25000" dirty="0"/>
                  <a:t>i+1</a:t>
                </a:r>
                <a:r>
                  <a:rPr lang="en-US" dirty="0"/>
                  <a:t>,y</a:t>
                </a:r>
                <a:r>
                  <a:rPr lang="en-US" baseline="-25000" dirty="0"/>
                  <a:t>i+1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EF4FA0-5FFC-9A4E-8243-06C0E5A11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3751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58FB-FBEF-134A-8EA8-C5A7503C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Closed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C7FB9-F1BC-2D48-A744-62F676AB4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22774"/>
            <a:ext cx="8229600" cy="480339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If the pixels at locations 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(x</a:t>
            </a:r>
            <a:r>
              <a:rPr lang="en-US" baseline="-25000" dirty="0"/>
              <a:t>0</a:t>
            </a:r>
            <a:r>
              <a:rPr lang="en-US" dirty="0"/>
              <a:t>,y</a:t>
            </a:r>
            <a:r>
              <a:rPr lang="en-US" baseline="-25000" dirty="0"/>
              <a:t>0</a:t>
            </a:r>
            <a:r>
              <a:rPr lang="en-US" dirty="0"/>
              <a:t>) =(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 err="1"/>
              <a:t>,y</a:t>
            </a:r>
            <a:r>
              <a:rPr lang="en-US" baseline="-25000" dirty="0" err="1"/>
              <a:t>n</a:t>
            </a:r>
            <a:r>
              <a:rPr lang="en-US" dirty="0"/>
              <a:t>),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then the path is closed.</a:t>
            </a:r>
          </a:p>
          <a:p>
            <a:endParaRPr lang="en-US" b="1" dirty="0"/>
          </a:p>
          <a:p>
            <a:pPr marL="114300" indent="0">
              <a:buNone/>
            </a:pPr>
            <a:r>
              <a:rPr lang="en-US" sz="2800" b="1" dirty="0"/>
              <a:t>Note:</a:t>
            </a:r>
            <a:r>
              <a:rPr lang="en-US" sz="2800" dirty="0"/>
              <a:t> Both the definition of path and closed path depends on the neighborhood system, defined for an image dataset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7090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A94E-3404-8247-92BC-CB37ACC1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3. </a:t>
            </a:r>
            <a:r>
              <a:rPr lang="tr-TR" sz="4000" dirty="0"/>
              <a:t>Connectivity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2A8B7-5985-C348-8A0E-B2072EC43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2032686"/>
          </a:xfrm>
        </p:spPr>
        <p:txBody>
          <a:bodyPr/>
          <a:lstStyle/>
          <a:p>
            <a:r>
              <a:rPr lang="en-US" sz="2400" dirty="0"/>
              <a:t>Let S(V) be a set of pixels, with the brightness values defined over the set V, in an image, p(V) and q(V)are </a:t>
            </a:r>
            <a:r>
              <a:rPr lang="en-US" sz="2400" b="1" dirty="0"/>
              <a:t>connected</a:t>
            </a:r>
            <a:r>
              <a:rPr lang="en-US" sz="2400" dirty="0"/>
              <a:t> in </a:t>
            </a:r>
            <a:r>
              <a:rPr lang="en-US" sz="2400" i="1" dirty="0"/>
              <a:t>S</a:t>
            </a:r>
            <a:r>
              <a:rPr lang="en-US" sz="2400" dirty="0"/>
              <a:t>(</a:t>
            </a:r>
            <a:r>
              <a:rPr lang="en-US" sz="2400" i="1" dirty="0"/>
              <a:t>V</a:t>
            </a:r>
            <a:r>
              <a:rPr lang="en-US" sz="2400" dirty="0"/>
              <a:t>) </a:t>
            </a:r>
            <a:r>
              <a:rPr lang="en-US" sz="2400" b="1" dirty="0"/>
              <a:t>if there exists a path </a:t>
            </a:r>
            <a:r>
              <a:rPr lang="en-US" sz="2400" dirty="0"/>
              <a:t>between them consisting entirely of pixels in </a:t>
            </a:r>
            <a:r>
              <a:rPr lang="en-US" sz="2400" i="1" dirty="0"/>
              <a:t>S</a:t>
            </a:r>
            <a:r>
              <a:rPr lang="en-US" sz="2400" dirty="0"/>
              <a:t>(</a:t>
            </a:r>
            <a:r>
              <a:rPr lang="en-US" sz="2400" i="1" dirty="0"/>
              <a:t>V</a:t>
            </a:r>
            <a:r>
              <a:rPr lang="en-US" sz="2400" dirty="0"/>
              <a:t>).</a:t>
            </a:r>
          </a:p>
          <a:p>
            <a:pPr marL="114300" indent="0">
              <a:buNone/>
            </a:pPr>
            <a:br>
              <a:rPr lang="tr-TR" sz="2400" dirty="0"/>
            </a:b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61581-769E-FD45-A170-D62A4989B0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1730" y="3815450"/>
            <a:ext cx="6005384" cy="27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361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F156-F39E-144D-A128-B5F1370A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Connected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F533C0F-C3C6-9A4B-AEC5-308C352F09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506326" cy="4525963"/>
              </a:xfrm>
            </p:spPr>
            <p:txBody>
              <a:bodyPr/>
              <a:lstStyle/>
              <a:p>
                <a:r>
                  <a:rPr lang="en-US" dirty="0"/>
                  <a:t>Let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)∈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 be a pixel, the set of all pixels,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are connected to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 , is called the connected component.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F533C0F-C3C6-9A4B-AEC5-308C352F0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506326" cy="4525963"/>
              </a:xfrm>
              <a:blipFill>
                <a:blip r:embed="rId2"/>
                <a:stretch>
                  <a:fillRect r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1233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AFB7-A015-1547-9756-97ADB596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err="1"/>
              <a:t>Connected</a:t>
            </a:r>
            <a:r>
              <a:rPr lang="tr-TR" sz="4000" dirty="0"/>
              <a:t> Set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053EA-A410-124A-B2CD-8E7697B1D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 </a:t>
            </a:r>
            <a:r>
              <a:rPr lang="en-US" i="1" dirty="0"/>
              <a:t>S</a:t>
            </a:r>
            <a:r>
              <a:rPr lang="en-US" dirty="0"/>
              <a:t> has only one connected component, with respect to a set </a:t>
            </a:r>
            <a:r>
              <a:rPr lang="en-US" i="1" dirty="0"/>
              <a:t>V</a:t>
            </a:r>
            <a:r>
              <a:rPr lang="en-US" dirty="0"/>
              <a:t>, then it is a </a:t>
            </a:r>
            <a:r>
              <a:rPr lang="en-US" b="1" dirty="0"/>
              <a:t>connected set</a:t>
            </a:r>
            <a:r>
              <a:rPr lang="en-US" dirty="0"/>
              <a:t> with respect to 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2699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521F-5E06-6E40-88C2-F0EA23B49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4. </a:t>
            </a:r>
            <a:r>
              <a:rPr lang="tr-TR" sz="4000" dirty="0" err="1"/>
              <a:t>Region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E729C-E1EE-604E-A47F-8B05C49BF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400" dirty="0" err="1"/>
              <a:t>Let</a:t>
            </a:r>
            <a:r>
              <a:rPr lang="tr-TR" sz="2400" dirty="0"/>
              <a:t> </a:t>
            </a:r>
            <a:r>
              <a:rPr lang="tr-TR" sz="2400" b="1" dirty="0"/>
              <a:t>R</a:t>
            </a:r>
            <a:r>
              <a:rPr lang="tr-TR" sz="2400" dirty="0"/>
              <a:t> be a </a:t>
            </a:r>
            <a:r>
              <a:rPr lang="tr-TR" sz="2400" dirty="0" err="1"/>
              <a:t>subset</a:t>
            </a:r>
            <a:r>
              <a:rPr lang="tr-TR" sz="2400" dirty="0"/>
              <a:t> of </a:t>
            </a:r>
            <a:r>
              <a:rPr lang="tr-TR" sz="2400" dirty="0" err="1"/>
              <a:t>pixels</a:t>
            </a:r>
            <a:r>
              <a:rPr lang="tr-TR" sz="2400" dirty="0"/>
              <a:t>. </a:t>
            </a:r>
            <a:r>
              <a:rPr lang="tr-TR" sz="2400" b="1" i="1" dirty="0"/>
              <a:t>R</a:t>
            </a:r>
            <a:r>
              <a:rPr lang="tr-TR" sz="2400" dirty="0"/>
              <a:t> is </a:t>
            </a:r>
            <a:r>
              <a:rPr lang="tr-TR" sz="2400" dirty="0" err="1"/>
              <a:t>called</a:t>
            </a:r>
            <a:r>
              <a:rPr lang="tr-TR" sz="2400" dirty="0"/>
              <a:t> a </a:t>
            </a:r>
            <a:r>
              <a:rPr lang="tr-TR" sz="2400" b="1" dirty="0" err="1"/>
              <a:t>region</a:t>
            </a:r>
            <a:r>
              <a:rPr lang="tr-TR" sz="2400" dirty="0"/>
              <a:t>, </a:t>
            </a:r>
            <a:r>
              <a:rPr lang="tr-TR" sz="2400" dirty="0" err="1"/>
              <a:t>if</a:t>
            </a:r>
            <a:r>
              <a:rPr lang="tr-TR" sz="2400" dirty="0"/>
              <a:t> it is a </a:t>
            </a:r>
            <a:r>
              <a:rPr lang="tr-TR" sz="2400" dirty="0" err="1"/>
              <a:t>connected</a:t>
            </a:r>
            <a:r>
              <a:rPr lang="tr-TR" sz="2400" dirty="0"/>
              <a:t> set </a:t>
            </a:r>
            <a:r>
              <a:rPr lang="tr-TR" sz="2400" dirty="0" err="1"/>
              <a:t>with</a:t>
            </a:r>
            <a:r>
              <a:rPr lang="tr-TR" sz="2400" dirty="0"/>
              <a:t> </a:t>
            </a:r>
            <a:r>
              <a:rPr lang="tr-TR" sz="2400" dirty="0" err="1"/>
              <a:t>respect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a </a:t>
            </a:r>
            <a:r>
              <a:rPr lang="tr-TR" sz="2400" dirty="0" err="1"/>
              <a:t>predefined</a:t>
            </a:r>
            <a:r>
              <a:rPr lang="tr-TR" sz="2400" dirty="0"/>
              <a:t> set </a:t>
            </a:r>
            <a:r>
              <a:rPr lang="tr-TR" sz="2400" i="1" dirty="0"/>
              <a:t>V</a:t>
            </a:r>
            <a:r>
              <a:rPr lang="tr-TR" sz="2400" dirty="0"/>
              <a:t>.</a:t>
            </a:r>
          </a:p>
          <a:p>
            <a:pPr marL="114300" indent="0">
              <a:buNone/>
            </a:pPr>
            <a:endParaRPr lang="tr-TR" sz="2400" b="1" dirty="0"/>
          </a:p>
          <a:p>
            <a:r>
              <a:rPr lang="tr-TR" sz="2400" b="1" dirty="0" err="1"/>
              <a:t>Fact</a:t>
            </a:r>
            <a:r>
              <a:rPr lang="tr-TR" sz="2400" b="1" dirty="0"/>
              <a:t>: Objects</a:t>
            </a:r>
            <a:r>
              <a:rPr lang="tr-TR" sz="2400" dirty="0"/>
              <a:t> can be </a:t>
            </a:r>
            <a:r>
              <a:rPr lang="tr-TR" sz="2400" dirty="0" err="1"/>
              <a:t>described</a:t>
            </a:r>
            <a:r>
              <a:rPr lang="tr-TR" sz="2400" dirty="0"/>
              <a:t> </a:t>
            </a:r>
            <a:r>
              <a:rPr lang="tr-TR" sz="2400" dirty="0" err="1"/>
              <a:t>by</a:t>
            </a:r>
            <a:r>
              <a:rPr lang="tr-TR" sz="2400" dirty="0"/>
              <a:t> </a:t>
            </a:r>
            <a:r>
              <a:rPr lang="tr-TR" sz="2400" b="1" dirty="0" err="1"/>
              <a:t>regions</a:t>
            </a:r>
            <a:r>
              <a:rPr lang="tr-TR" sz="2400" dirty="0"/>
              <a:t>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15B28-454F-9740-A6E8-A8051073EA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2422" y="4300151"/>
            <a:ext cx="8921578" cy="174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975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14338-89A6-8A41-A6A2-F8E17A0C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1E8DCE-A114-3B42-92A0-5E933736C4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tr-TR" dirty="0" err="1"/>
                  <a:t>Given</a:t>
                </a:r>
                <a:r>
                  <a:rPr lang="tr-TR" dirty="0"/>
                  <a:t> an </a:t>
                </a:r>
                <a:r>
                  <a:rPr lang="tr-TR" dirty="0" err="1"/>
                  <a:t>image</a:t>
                </a:r>
                <a:r>
                  <a:rPr lang="tr-TR" dirty="0"/>
                  <a:t> </a:t>
                </a:r>
                <a:r>
                  <a:rPr lang="tr-TR" dirty="0" err="1"/>
                  <a:t>with</a:t>
                </a:r>
                <a:r>
                  <a:rPr lang="tr-TR" dirty="0"/>
                  <a:t> 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tr-TR" dirty="0" err="1"/>
                  <a:t>regions</a:t>
                </a:r>
                <a:r>
                  <a:rPr lang="tr-TR" dirty="0"/>
                  <a:t>, </a:t>
                </a:r>
                <a:r>
                  <a:rPr lang="tr-TR" dirty="0" err="1"/>
                  <a:t>corresponding</a:t>
                </a:r>
                <a:r>
                  <a:rPr lang="tr-TR" dirty="0"/>
                  <a:t> </a:t>
                </a:r>
                <a:r>
                  <a:rPr lang="tr-TR" dirty="0" err="1"/>
                  <a:t>to</a:t>
                </a:r>
                <a:r>
                  <a:rPr lang="tr-TR" dirty="0"/>
                  <a:t> </a:t>
                </a:r>
                <a:r>
                  <a:rPr lang="tr-TR" dirty="0" err="1"/>
                  <a:t>objects</a:t>
                </a:r>
                <a:r>
                  <a:rPr lang="tr-TR" dirty="0"/>
                  <a:t>,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region</a:t>
                </a:r>
                <a:r>
                  <a:rPr lang="tr-TR" dirty="0"/>
                  <a:t> </a:t>
                </a:r>
                <a:r>
                  <a:rPr lang="tr-TR" dirty="0" err="1"/>
                  <a:t>complement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tr-TR" i="1" dirty="0" err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tr-TR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tr-TR" i="1" baseline="30000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dirty="0"/>
                  <a:t>is </a:t>
                </a:r>
                <a:r>
                  <a:rPr lang="tr-TR" dirty="0" err="1"/>
                  <a:t>called</a:t>
                </a:r>
                <a:r>
                  <a:rPr lang="tr-TR" dirty="0"/>
                  <a:t> background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1E8DCE-A114-3B42-92A0-5E933736C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5766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BB5D-865C-8F4C-BFD6-465547B9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 </a:t>
            </a:r>
            <a:r>
              <a:rPr lang="tr-TR" sz="4000" dirty="0"/>
              <a:t>Hole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0A209D-4C31-2049-BC54-D3A81AF48B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region</a:t>
                </a:r>
                <a:r>
                  <a:rPr lang="tr-TR" dirty="0"/>
                  <a:t> </a:t>
                </a:r>
                <a:r>
                  <a:rPr lang="tr-TR" dirty="0" err="1"/>
                  <a:t>complement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tr-TR" b="1" i="1" dirty="0" err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tr-TR" b="1" i="1" baseline="-25000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tr-TR" b="1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tr-TR" b="1" i="1" baseline="30000" dirty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tr-TR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b="1" dirty="0"/>
                  <a:t>,</a:t>
                </a:r>
              </a:p>
              <a:p>
                <a:pPr marL="114300" indent="0">
                  <a:buNone/>
                </a:pPr>
                <a:r>
                  <a:rPr lang="tr-TR" dirty="0" err="1"/>
                  <a:t>which</a:t>
                </a:r>
                <a:r>
                  <a:rPr lang="tr-TR" dirty="0"/>
                  <a:t> is </a:t>
                </a:r>
                <a:r>
                  <a:rPr lang="tr-TR" dirty="0" err="1"/>
                  <a:t>surrounded</a:t>
                </a:r>
                <a:r>
                  <a:rPr lang="tr-TR" dirty="0"/>
                  <a:t> </a:t>
                </a:r>
                <a:r>
                  <a:rPr lang="tr-TR" dirty="0" err="1"/>
                  <a:t>by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pixels</a:t>
                </a:r>
                <a:r>
                  <a:rPr lang="tr-TR" dirty="0"/>
                  <a:t> in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region</a:t>
                </a:r>
                <a:r>
                  <a:rPr lang="tr-TR" dirty="0"/>
                  <a:t>  </a:t>
                </a:r>
                <a14:m>
                  <m:oMath xmlns:m="http://schemas.openxmlformats.org/officeDocument/2006/math">
                    <m:r>
                      <a:rPr lang="tr-TR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tr-TR" b="1" i="1" dirty="0" err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tr-TR" b="1" i="1" baseline="-25000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tr-TR" b="1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tr-TR" dirty="0"/>
                  <a:t> is </a:t>
                </a:r>
                <a:r>
                  <a:rPr lang="tr-TR" dirty="0" err="1"/>
                  <a:t>called</a:t>
                </a:r>
                <a:r>
                  <a:rPr lang="tr-TR" dirty="0"/>
                  <a:t> </a:t>
                </a:r>
                <a:r>
                  <a:rPr lang="tr-TR" dirty="0" err="1"/>
                  <a:t>holes</a:t>
                </a:r>
                <a:r>
                  <a:rPr lang="tr-TR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0A209D-4C31-2049-BC54-D3A81AF48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0CBCD0F-A47C-0640-8423-75ED468AB9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9393" y="3744097"/>
            <a:ext cx="5631114" cy="25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087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19CE-522D-A44B-B9D8-80407A60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AE173F-DF95-004B-8E0C-B0AB1055CF3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22174"/>
                <a:ext cx="8229600" cy="4803990"/>
              </a:xfrm>
            </p:spPr>
            <p:txBody>
              <a:bodyPr/>
              <a:lstStyle/>
              <a:p>
                <a:r>
                  <a:rPr lang="en-US" sz="2400" b="1" dirty="0"/>
                  <a:t>Inner boundary</a:t>
                </a:r>
                <a:r>
                  <a:rPr lang="en-US" sz="2400" dirty="0"/>
                  <a:t> of a region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400" dirty="0"/>
                  <a:t> is a set of connected pixels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400" b="1" dirty="0"/>
                  <a:t>,</a:t>
                </a:r>
                <a:r>
                  <a:rPr lang="en-US" sz="2400" dirty="0"/>
                  <a:t> where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​(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 baseline="30000" dirty="0" err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b="1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r>
                  <a:rPr lang="en-US" sz="2400" b="1" dirty="0"/>
                  <a:t>Outer boundary</a:t>
                </a:r>
                <a:r>
                  <a:rPr lang="en-US" sz="2400" dirty="0"/>
                  <a:t> of a region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400" dirty="0"/>
                  <a:t> is a set of connected pixels,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𝑹𝒄</m:t>
                    </m:r>
                  </m:oMath>
                </a14:m>
                <a:r>
                  <a:rPr lang="en-US" sz="2400" dirty="0"/>
                  <a:t>, where</a:t>
                </a:r>
                <a:r>
                  <a:rPr lang="tr-TR" sz="2400" dirty="0"/>
                  <a:t> </a:t>
                </a:r>
                <a14:m>
                  <m:oMath xmlns:m="http://schemas.openxmlformats.org/officeDocument/2006/math">
                    <m:r>
                      <a:rPr lang="tr-TR" sz="24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tr-TR" sz="2400" b="1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tr-TR" sz="24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tr-TR" sz="24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AE173F-DF95-004B-8E0C-B0AB1055CF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22174"/>
                <a:ext cx="8229600" cy="480399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7422A9F-D896-0B4C-BD76-DAB7A862D4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6851" y="3605462"/>
            <a:ext cx="3079615" cy="252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155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B38C-A10E-634C-8A8D-2D61E805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BA8786-866B-CC46-A7AE-7557010448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Edge is a </a:t>
                </a:r>
                <a:r>
                  <a:rPr lang="en-US" b="1" dirty="0"/>
                  <a:t>vector</a:t>
                </a:r>
                <a:r>
                  <a:rPr lang="en-US" dirty="0"/>
                  <a:t> associated to a pixel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 , when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The gradient of the vector is  </a:t>
                </a:r>
                <a:r>
                  <a:rPr lang="en-US" b="1" dirty="0"/>
                  <a:t>∣</a:t>
                </a:r>
                <a:r>
                  <a:rPr lang="en-US" b="1" i="1" dirty="0"/>
                  <a:t>p</a:t>
                </a:r>
                <a:r>
                  <a:rPr lang="en-US" b="1" dirty="0"/>
                  <a:t>−</a:t>
                </a:r>
                <a:r>
                  <a:rPr lang="en-US" b="1" i="1" dirty="0"/>
                  <a:t>q</a:t>
                </a:r>
                <a:r>
                  <a:rPr lang="en-US" b="1" dirty="0"/>
                  <a:t>∣≥</a:t>
                </a:r>
                <a:r>
                  <a:rPr lang="en-US" b="1" i="1" dirty="0"/>
                  <a:t>T</a:t>
                </a:r>
                <a:r>
                  <a:rPr lang="en-US" b="1" dirty="0"/>
                  <a:t>, </a:t>
                </a:r>
              </a:p>
              <a:p>
                <a:pPr marL="114300" indent="0">
                  <a:buNone/>
                </a:pPr>
                <a:r>
                  <a:rPr lang="en-US" i="1" dirty="0"/>
                  <a:t>T</a:t>
                </a:r>
                <a:r>
                  <a:rPr lang="en-US" dirty="0"/>
                  <a:t> is a predefined threshold.</a:t>
                </a:r>
              </a:p>
              <a:p>
                <a:r>
                  <a:rPr lang="en-US" dirty="0"/>
                  <a:t>Direction of the vector is perpendicular to ∣</a:t>
                </a:r>
                <a:r>
                  <a:rPr lang="en-US" i="1" dirty="0"/>
                  <a:t>p</a:t>
                </a:r>
                <a:r>
                  <a:rPr lang="en-US" dirty="0"/>
                  <a:t>−</a:t>
                </a:r>
                <a:r>
                  <a:rPr lang="en-US" i="1" dirty="0"/>
                  <a:t>q</a:t>
                </a:r>
                <a:r>
                  <a:rPr lang="en-US" dirty="0"/>
                  <a:t>∣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BA8786-866B-CC46-A7AE-755701044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 t="-809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E95511-6ADB-3846-AA1E-B9143DD89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938" y="4643695"/>
            <a:ext cx="2329592" cy="14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056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C7AD-F094-F54C-8F84-6D00F6B4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21700" cy="1143000"/>
          </a:xfrm>
        </p:spPr>
        <p:txBody>
          <a:bodyPr/>
          <a:lstStyle/>
          <a:p>
            <a:r>
              <a:rPr lang="en-US" dirty="0"/>
              <a:t>Mathematical Operations for DIP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7E08D-07B1-9147-9B21-7CD51F25F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77034"/>
            <a:ext cx="8229600" cy="5239176"/>
          </a:xfrm>
        </p:spPr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tr-TR" sz="2400" dirty="0" err="1"/>
              <a:t>Linear</a:t>
            </a:r>
            <a:r>
              <a:rPr lang="tr-TR" sz="2400" dirty="0"/>
              <a:t> Operations</a:t>
            </a:r>
          </a:p>
          <a:p>
            <a:pPr marL="571500" indent="-457200">
              <a:buFont typeface="+mj-lt"/>
              <a:buAutoNum type="arabicPeriod"/>
            </a:pPr>
            <a:r>
              <a:rPr lang="tr-TR" sz="2400" dirty="0" err="1"/>
              <a:t>Nonlinear</a:t>
            </a:r>
            <a:r>
              <a:rPr lang="tr-TR" sz="2400" dirty="0"/>
              <a:t> Operations</a:t>
            </a:r>
          </a:p>
          <a:p>
            <a:pPr marL="571500" indent="-457200">
              <a:buFont typeface="+mj-lt"/>
              <a:buAutoNum type="arabicPeriod"/>
            </a:pPr>
            <a:r>
              <a:rPr lang="tr-TR" sz="2400" dirty="0" err="1"/>
              <a:t>Array</a:t>
            </a:r>
            <a:r>
              <a:rPr lang="tr-TR" sz="2400" dirty="0"/>
              <a:t> Operations</a:t>
            </a:r>
          </a:p>
          <a:p>
            <a:pPr marL="571500" indent="-457200">
              <a:buFont typeface="+mj-lt"/>
              <a:buAutoNum type="arabicPeriod"/>
            </a:pPr>
            <a:r>
              <a:rPr lang="tr-TR" sz="2400" dirty="0" err="1"/>
              <a:t>Matrix</a:t>
            </a:r>
            <a:r>
              <a:rPr lang="tr-TR" sz="2400" dirty="0"/>
              <a:t> Operations</a:t>
            </a:r>
          </a:p>
          <a:p>
            <a:pPr marL="571500" indent="-457200">
              <a:buFont typeface="+mj-lt"/>
              <a:buAutoNum type="arabicPeriod"/>
            </a:pPr>
            <a:r>
              <a:rPr lang="tr-TR" sz="2400" dirty="0" err="1"/>
              <a:t>Probabilistic</a:t>
            </a:r>
            <a:r>
              <a:rPr lang="tr-TR" sz="2400" dirty="0"/>
              <a:t> Operations</a:t>
            </a:r>
          </a:p>
          <a:p>
            <a:pPr marL="571500" indent="-457200">
              <a:buFont typeface="+mj-lt"/>
              <a:buAutoNum type="arabicPeriod"/>
            </a:pPr>
            <a:r>
              <a:rPr lang="tr-TR" sz="2400" dirty="0"/>
              <a:t>Set Operations</a:t>
            </a:r>
          </a:p>
          <a:p>
            <a:pPr marL="114300" indent="0">
              <a:buNone/>
            </a:pPr>
            <a:br>
              <a:rPr lang="tr-TR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050EC-3BC6-B244-9C11-8DADFD82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55" y="4032948"/>
            <a:ext cx="6919789" cy="11121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E220672-BA9D-E54C-AF36-DF8E6B1D12AB}"/>
                  </a:ext>
                </a:extLst>
              </p:cNvPr>
              <p:cNvSpPr/>
              <p:nvPr/>
            </p:nvSpPr>
            <p:spPr>
              <a:xfrm>
                <a:off x="3034619" y="5367991"/>
                <a:ext cx="461799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3600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)].</m:t>
                      </m:r>
                    </m:oMath>
                  </m:oMathPara>
                </a14:m>
                <a:endParaRPr lang="tr-TR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E220672-BA9D-E54C-AF36-DF8E6B1D1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619" y="5367991"/>
                <a:ext cx="461799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9674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C464-9FD0-DE40-B559-DAED8CA4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346F64-F0EE-4946-A2CA-FD97A0D2F04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Operator, generates an output image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)].</m:t>
                      </m:r>
                    </m:oMath>
                  </m:oMathPara>
                </a14:m>
                <a:endParaRPr lang="en-US" sz="2400" dirty="0"/>
              </a:p>
              <a:p>
                <a:pPr marL="114300" indent="0" algn="ctr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Given two input images f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and f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), </a:t>
                </a:r>
                <a:r>
                  <a:rPr lang="en-US" sz="2400" i="1" dirty="0"/>
                  <a:t>H</a:t>
                </a:r>
                <a:r>
                  <a:rPr lang="en-US" sz="2400" dirty="0"/>
                  <a:t> is a </a:t>
                </a:r>
                <a:r>
                  <a:rPr lang="en-US" sz="2400" b="1" dirty="0"/>
                  <a:t>linear operator </a:t>
                </a:r>
                <a:r>
                  <a:rPr lang="en-US" sz="2400" dirty="0"/>
                  <a:t>if </a:t>
                </a:r>
                <a:r>
                  <a:rPr lang="en-US" sz="2400" b="1" dirty="0"/>
                  <a:t>superposition </a:t>
                </a:r>
                <a:r>
                  <a:rPr lang="en-US" sz="2400" dirty="0"/>
                  <a:t>holds: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] =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)] +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Ex: 2- Dimensional Convolution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346F64-F0EE-4946-A2CA-FD97A0D2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9138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70A5-D684-984A-903E-057D39BDC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5DF70-0BE7-4749-AC2C-BC22688B6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is </a:t>
            </a:r>
            <a:r>
              <a:rPr lang="en-US" b="1" dirty="0"/>
              <a:t>nonlinear</a:t>
            </a:r>
            <a:r>
              <a:rPr lang="en-US" dirty="0"/>
              <a:t> if superposition property does not hold.</a:t>
            </a:r>
          </a:p>
          <a:p>
            <a:endParaRPr lang="en-US" dirty="0"/>
          </a:p>
          <a:p>
            <a:r>
              <a:rPr lang="tr-TR" b="1" dirty="0" err="1"/>
              <a:t>Ex</a:t>
            </a:r>
            <a:r>
              <a:rPr lang="tr-TR" b="1" dirty="0"/>
              <a:t>: </a:t>
            </a:r>
            <a:r>
              <a:rPr lang="tr-TR" b="1" dirty="0" err="1"/>
              <a:t>max</a:t>
            </a:r>
            <a:r>
              <a:rPr lang="tr-TR" b="1" dirty="0"/>
              <a:t>, </a:t>
            </a:r>
            <a:r>
              <a:rPr lang="tr-TR" b="1" dirty="0" err="1"/>
              <a:t>min</a:t>
            </a:r>
            <a:r>
              <a:rPr lang="tr-TR" b="1" dirty="0"/>
              <a:t>, </a:t>
            </a:r>
            <a:r>
              <a:rPr lang="tr-TR" b="1" dirty="0" err="1"/>
              <a:t>absolute</a:t>
            </a:r>
            <a:r>
              <a:rPr lang="tr-TR" b="1" dirty="0"/>
              <a:t> </a:t>
            </a:r>
            <a:r>
              <a:rPr lang="tr-TR" b="1" dirty="0" err="1"/>
              <a:t>value</a:t>
            </a:r>
            <a:r>
              <a:rPr lang="tr-TR" dirty="0"/>
              <a:t> 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nonlinear</a:t>
            </a:r>
            <a:r>
              <a:rPr lang="tr-TR" dirty="0"/>
              <a:t> </a:t>
            </a:r>
            <a:r>
              <a:rPr lang="tr-TR" dirty="0" err="1"/>
              <a:t>operations</a:t>
            </a:r>
            <a:r>
              <a:rPr lang="tr-TR" dirty="0"/>
              <a:t>.</a:t>
            </a:r>
          </a:p>
          <a:p>
            <a:pPr marL="114300" indent="0">
              <a:buNone/>
            </a:pPr>
            <a:br>
              <a:rPr lang="tr-T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70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DEAA-81D2-F943-AAFE-D8D06A0B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(Arithmetic)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BBEA586-244B-9F46-B9EA-F1B03B12CB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)∓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 . 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dirty="0"/>
              </a:p>
              <a:p>
                <a:endParaRPr lang="tr-TR" dirty="0"/>
              </a:p>
              <a:p>
                <a:pPr marL="114300" indent="0">
                  <a:buNone/>
                </a:pPr>
                <a:r>
                  <a:rPr lang="tr-TR" dirty="0"/>
                  <a:t>Q: </a:t>
                </a:r>
                <a:r>
                  <a:rPr lang="tr-TR" dirty="0" err="1"/>
                  <a:t>Where</a:t>
                </a:r>
                <a:r>
                  <a:rPr lang="tr-TR" dirty="0"/>
                  <a:t> do </a:t>
                </a:r>
                <a:r>
                  <a:rPr lang="tr-TR" dirty="0" err="1"/>
                  <a:t>we</a:t>
                </a:r>
                <a:r>
                  <a:rPr lang="tr-TR" dirty="0"/>
                  <a:t> </a:t>
                </a:r>
                <a:r>
                  <a:rPr lang="tr-TR" dirty="0" err="1"/>
                  <a:t>use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arithmetic</a:t>
                </a:r>
                <a:r>
                  <a:rPr lang="tr-TR" dirty="0"/>
                  <a:t> </a:t>
                </a:r>
                <a:r>
                  <a:rPr lang="tr-TR" dirty="0" err="1"/>
                  <a:t>operations</a:t>
                </a:r>
                <a:r>
                  <a:rPr lang="tr-TR" dirty="0"/>
                  <a:t>?</a:t>
                </a:r>
              </a:p>
              <a:p>
                <a:endParaRPr lang="tr-T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BBEA586-244B-9F46-B9EA-F1B03B12C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6216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29C4-10FF-A14F-9E63-22580E0E1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Averaging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F453B5-7384-E94B-9A24-F91070F0C0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tr-TR" sz="2400" dirty="0" err="1"/>
                  <a:t>Consider</a:t>
                </a:r>
                <a:r>
                  <a:rPr lang="tr-TR" sz="2400" dirty="0"/>
                  <a:t> a</a:t>
                </a:r>
                <a:r>
                  <a:rPr lang="en-US" sz="2400" dirty="0"/>
                  <a:t> noisy</a:t>
                </a:r>
                <a:r>
                  <a:rPr lang="tr-TR" sz="2400" dirty="0"/>
                  <a:t> </a:t>
                </a:r>
                <a:r>
                  <a:rPr lang="tr-TR" sz="2400" dirty="0" err="1"/>
                  <a:t>image</a:t>
                </a:r>
                <a:r>
                  <a:rPr lang="tr-TR" sz="2400" dirty="0"/>
                  <a:t> of a </a:t>
                </a:r>
                <a:r>
                  <a:rPr lang="tr-TR" sz="2400" dirty="0" err="1"/>
                  <a:t>scene</a:t>
                </a:r>
                <a:r>
                  <a:rPr lang="tr-TR" sz="2400" dirty="0"/>
                  <a:t>,   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)​​+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)​​,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tr-TR" sz="2400" dirty="0"/>
                  <a:t>Zero </a:t>
                </a:r>
                <a:r>
                  <a:rPr lang="tr-TR" sz="2400" dirty="0" err="1"/>
                  <a:t>mean</a:t>
                </a:r>
                <a:r>
                  <a:rPr lang="tr-TR" sz="2400" dirty="0"/>
                  <a:t> </a:t>
                </a:r>
                <a:r>
                  <a:rPr lang="tr-TR" sz="2400" dirty="0" err="1"/>
                  <a:t>noise</a:t>
                </a:r>
                <a:r>
                  <a:rPr lang="tr-TR" sz="2400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tr-TR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))=1/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∑​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tr-TR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​(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endParaRPr lang="tr-TR" sz="2400" dirty="0"/>
              </a:p>
              <a:p>
                <a:pPr marL="114300" indent="0">
                  <a:buNone/>
                </a:pPr>
                <a:r>
                  <a:rPr lang="tr-TR" sz="2400" dirty="0" err="1"/>
                  <a:t>Suppose</a:t>
                </a:r>
                <a:r>
                  <a:rPr lang="tr-TR" sz="2400" dirty="0"/>
                  <a:t>, </a:t>
                </a:r>
                <a:r>
                  <a:rPr lang="tr-TR" sz="2400" dirty="0" err="1"/>
                  <a:t>we</a:t>
                </a:r>
                <a:r>
                  <a:rPr lang="tr-TR" sz="2400" dirty="0"/>
                  <a:t> </a:t>
                </a:r>
                <a:r>
                  <a:rPr lang="tr-TR" sz="2400" dirty="0" err="1"/>
                  <a:t>get</a:t>
                </a:r>
                <a:r>
                  <a:rPr lang="tr-TR" sz="2400" dirty="0"/>
                  <a:t> </a:t>
                </a:r>
                <a:r>
                  <a:rPr lang="tr-TR" sz="2400" dirty="0" err="1"/>
                  <a:t>several</a:t>
                </a:r>
                <a:r>
                  <a:rPr lang="tr-TR" sz="2400" dirty="0"/>
                  <a:t> </a:t>
                </a:r>
                <a:r>
                  <a:rPr lang="tr-TR" sz="2400" dirty="0" err="1"/>
                  <a:t>images</a:t>
                </a:r>
                <a:endParaRPr lang="tr-TR" sz="2400" dirty="0"/>
              </a:p>
              <a:p>
                <a:pPr marL="11430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400" i="1" baseline="-25000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)+ 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tr-TR" sz="2400" i="1" baseline="-25000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2400" dirty="0"/>
              </a:p>
              <a:p>
                <a:pPr marL="11430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)) + 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)) =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F453B5-7384-E94B-9A24-F91070F0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0145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EBC9-FCA7-BC44-9E42-2F4D2B52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Image Averaging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C1B2E-22F3-2749-9C17-75EB00C19E5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00" y="2264992"/>
            <a:ext cx="3048000" cy="287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AB8B65-56D0-D044-A3FA-BE854956461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300" y="1989931"/>
            <a:ext cx="2679700" cy="2523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F6969F-D73C-B240-A118-461A240549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700" y="2142331"/>
            <a:ext cx="2679700" cy="252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A1A43-68FA-0044-A370-F4D2159FBD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889" y="2428478"/>
            <a:ext cx="2679700" cy="2523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7CBEE7-CCD4-B14E-BAB0-2CA5D5245F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9400" y="2867024"/>
            <a:ext cx="2679700" cy="2523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F1BE7D-5495-A24F-A4F8-CF5E0ACB3318}"/>
              </a:ext>
            </a:extLst>
          </p:cNvPr>
          <p:cNvSpPr txBox="1"/>
          <p:nvPr/>
        </p:nvSpPr>
        <p:spPr>
          <a:xfrm>
            <a:off x="338879" y="5542808"/>
            <a:ext cx="3445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Multiple images of the same scene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F66D6-01E6-3146-AD9E-70340026F129}"/>
              </a:ext>
            </a:extLst>
          </p:cNvPr>
          <p:cNvSpPr txBox="1"/>
          <p:nvPr/>
        </p:nvSpPr>
        <p:spPr>
          <a:xfrm>
            <a:off x="5439939" y="5505492"/>
            <a:ext cx="3445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Noise removal by averaging</a:t>
            </a:r>
          </a:p>
        </p:txBody>
      </p:sp>
    </p:spTree>
    <p:extLst>
      <p:ext uri="{BB962C8B-B14F-4D97-AF65-F5344CB8AC3E}">
        <p14:creationId xmlns:p14="http://schemas.microsoft.com/office/powerpoint/2010/main" val="20317807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7620F1-7A0F-9C48-A7DA-BD7CC58807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13874" y="274638"/>
                <a:ext cx="7972926" cy="2191836"/>
              </a:xfrm>
            </p:spPr>
            <p:txBody>
              <a:bodyPr/>
              <a:lstStyle/>
              <a:p>
                <a:pPr/>
                <a:r>
                  <a:rPr lang="en-US" sz="3200" dirty="0"/>
                  <a:t>Image Difference for Change Detection</a:t>
                </a:r>
                <a:br>
                  <a:rPr lang="en-US" sz="3200" dirty="0"/>
                </a:br>
                <a:br>
                  <a:rPr lang="en-US" sz="32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7620F1-7A0F-9C48-A7DA-BD7CC5880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13874" y="274638"/>
                <a:ext cx="7972926" cy="21918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3577AB-561B-3C4C-BAE1-7CFD81AB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74" y="2768600"/>
            <a:ext cx="7807326" cy="390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69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CDC2-0CCA-8D40-9DB1-F8F067C2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EBED6-0535-2841-B3C2-A847C927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25" y="1612900"/>
            <a:ext cx="8117575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5CC55-7E51-434C-8B09-59B1C947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12" y="4449453"/>
            <a:ext cx="8229600" cy="15912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6C0956-D81A-9C4E-8019-3F888102D692}"/>
              </a:ext>
            </a:extLst>
          </p:cNvPr>
          <p:cNvSpPr txBox="1"/>
          <p:nvPr/>
        </p:nvSpPr>
        <p:spPr>
          <a:xfrm>
            <a:off x="3708400" y="3759200"/>
            <a:ext cx="1383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A.B=C</a:t>
            </a:r>
          </a:p>
        </p:txBody>
      </p:sp>
    </p:spTree>
    <p:extLst>
      <p:ext uri="{BB962C8B-B14F-4D97-AF65-F5344CB8AC3E}">
        <p14:creationId xmlns:p14="http://schemas.microsoft.com/office/powerpoint/2010/main" val="10550121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F50E-A6BE-0445-896B-6DD41C24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5A445-14C5-0F4A-9F6D-51B9ECFC1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Matrix and array operations are not the same</a:t>
            </a:r>
          </a:p>
          <a:p>
            <a:pPr lvl="1"/>
            <a:r>
              <a:rPr lang="en-US" dirty="0"/>
              <a:t>For multiplication</a:t>
            </a:r>
          </a:p>
          <a:p>
            <a:pPr lvl="1"/>
            <a:r>
              <a:rPr lang="en-US" dirty="0"/>
              <a:t>For division (inverse)</a:t>
            </a:r>
          </a:p>
        </p:txBody>
      </p:sp>
    </p:spTree>
    <p:extLst>
      <p:ext uri="{BB962C8B-B14F-4D97-AF65-F5344CB8AC3E}">
        <p14:creationId xmlns:p14="http://schemas.microsoft.com/office/powerpoint/2010/main" val="6019786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84C-36BE-4EFF-B5E3-0422CD80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array and matrix multiplications of the following 2 bits/pixel images: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,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5772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84C-36BE-4EFF-B5E3-0422CD80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 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010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E371-E2A4-478C-B01E-5E3BF7DD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FEF66F-74ED-472E-B445-BAF2CE33CE9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Step 1: Shift: 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Step 2: Scale: 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​)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​​]</m:t>
                    </m:r>
                  </m:oMath>
                </a14:m>
                <a:endParaRPr lang="en-US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2FEF66F-74ED-472E-B445-BAF2CE33C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0555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84C-36BE-4EFF-B5E3-0422CD80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800" dirty="0"/>
                  <a:t>Normalize the outputs of the following images to 2 bits per pixel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 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6DA4D7-50B8-40CE-908C-2A9BB17D0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" t="-404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72312E-4AC2-431F-8A76-91C25F48C083}"/>
                  </a:ext>
                </a:extLst>
              </p:cNvPr>
              <p:cNvSpPr txBox="1"/>
              <p:nvPr/>
            </p:nvSpPr>
            <p:spPr>
              <a:xfrm>
                <a:off x="762000" y="4772526"/>
                <a:ext cx="7615989" cy="1682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Recall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𝑔𝑚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/>
              </a:p>
              <a:p>
                <a:pPr marL="114300" indent="0">
                  <a:buNone/>
                </a:pPr>
                <a:endParaRPr lang="en-US" sz="2000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​(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−1)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𝑔𝑚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​)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​​]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72312E-4AC2-431F-8A76-91C25F48C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772526"/>
                <a:ext cx="7615989" cy="1682705"/>
              </a:xfrm>
              <a:prstGeom prst="rect">
                <a:avLst/>
              </a:prstGeom>
              <a:blipFill>
                <a:blip r:embed="rId3"/>
                <a:stretch>
                  <a:fillRect t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25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46B3-292F-48E1-900E-BABE9AA8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FAB96-51D7-4447-A483-5672BF6C2E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  <m:r>
                        <a:rPr lang="en-US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𝑔𝑀𝑁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FAB96-51D7-4447-A483-5672BF6C2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7778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8412-554D-4562-84F5-95CFCA85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Vectorize the Image Matrix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A81DCC-85DE-4988-A924-5D67F46F4C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Given an (</a:t>
                </a:r>
                <a:r>
                  <a:rPr lang="en-US" sz="2800" dirty="0" err="1"/>
                  <a:t>NxM</a:t>
                </a:r>
                <a:r>
                  <a:rPr lang="en-US" sz="2800" dirty="0"/>
                  <a:t>) image matrix, concatenate all the rows (or columns)</a:t>
                </a:r>
              </a:p>
              <a:p>
                <a:pPr marL="114300" indent="0">
                  <a:buNone/>
                </a:pP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(0,0)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−1,0)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(0,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 marL="114300" indent="0">
                  <a:buNone/>
                </a:pPr>
                <a:r>
                  <a:rPr lang="en-US" sz="2800" dirty="0"/>
                  <a:t>Vector form:</a:t>
                </a:r>
              </a:p>
              <a:p>
                <a:pPr marL="114300" indent="0">
                  <a:buNone/>
                </a:pPr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 = [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(0,0),…..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−1), ……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−1, 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−1)]</m:t>
                      </m:r>
                    </m:oMath>
                  </m:oMathPara>
                </a14:m>
                <a:endParaRPr lang="en-US" sz="2800" dirty="0"/>
              </a:p>
              <a:p>
                <a:pPr marL="114300" indent="0">
                  <a:buNone/>
                </a:pPr>
                <a:endParaRPr lang="tr-TR" sz="2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A81DCC-85DE-4988-A924-5D67F46F4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" t="-4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0342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6CF0-AC52-8E49-B787-270C7024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multiplication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BF4A6-08B6-5145-B1DE-D4A68533A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Y= Ax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7735C-6CAF-B94D-BFEE-08B43481D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77" y="3384550"/>
            <a:ext cx="6615227" cy="235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934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72DD-2539-2345-A607-79B9D9A3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use matrix and vector operations?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2FC325-2519-004E-9499-380D450CC4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Suppose that </a:t>
                </a:r>
                <a:r>
                  <a:rPr lang="en-US" sz="2400" b="1" dirty="0"/>
                  <a:t>g</a:t>
                </a:r>
                <a:r>
                  <a:rPr lang="en-US" sz="2400" dirty="0"/>
                  <a:t> is a noisy vector  image;</a:t>
                </a:r>
              </a:p>
              <a:p>
                <a:pPr marL="114300" indent="0">
                  <a:buNone/>
                </a:pPr>
                <a:r>
                  <a:rPr lang="en-US" sz="2400" i="1" dirty="0"/>
                  <a:t>			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𝑯𝒇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1" dirty="0"/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the clean image, 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 is the multiplicative noise matrix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 is the additive noise vector.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clean image can be obtained from the noisy image by the following operation:</a:t>
                </a:r>
              </a:p>
              <a:p>
                <a:endParaRPr lang="en-US" sz="2400" dirty="0"/>
              </a:p>
              <a:p>
                <a:pPr marL="114300" indent="0">
                  <a:buNone/>
                </a:pPr>
                <a:r>
                  <a:rPr lang="tr-TR" sz="2400" i="1" dirty="0"/>
                  <a:t>			</a:t>
                </a:r>
                <a14:m>
                  <m:oMath xmlns:m="http://schemas.openxmlformats.org/officeDocument/2006/math">
                    <m:r>
                      <a:rPr lang="tr-TR" sz="24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baseline="30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baseline="5000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tr-TR" sz="2400" b="1" i="1" baseline="50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b="1" i="1" dirty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2FC325-2519-004E-9499-380D450CC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2490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06F2-456E-8B44-90BB-CBA81220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543FA-8228-4241-ADA8-3DEE90AF5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</a:t>
            </a:r>
          </a:p>
          <a:p>
            <a:pPr lvl="1"/>
            <a:r>
              <a:rPr lang="en-US" dirty="0"/>
              <a:t>A probabilistic evet?</a:t>
            </a:r>
          </a:p>
          <a:p>
            <a:pPr lvl="1"/>
            <a:r>
              <a:rPr lang="en-US" dirty="0"/>
              <a:t>A deterministic event?</a:t>
            </a:r>
          </a:p>
        </p:txBody>
      </p:sp>
    </p:spTree>
    <p:extLst>
      <p:ext uri="{BB962C8B-B14F-4D97-AF65-F5344CB8AC3E}">
        <p14:creationId xmlns:p14="http://schemas.microsoft.com/office/powerpoint/2010/main" val="24880037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A65B-A5B0-8348-9A1C-F9C48BDB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950286-CC6A-E741-AB82-9C5FA9EFB2F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tr-TR" sz="2800" dirty="0"/>
                  <a:t>Given a </a:t>
                </a:r>
                <a:r>
                  <a:rPr lang="en-US" sz="2800" dirty="0"/>
                  <a:t>discrete </a:t>
                </a:r>
                <a:r>
                  <a:rPr lang="tr-TR" sz="2800" dirty="0" err="1"/>
                  <a:t>probabilistic</a:t>
                </a:r>
                <a:r>
                  <a:rPr lang="tr-TR" sz="2800" dirty="0"/>
                  <a:t> </a:t>
                </a:r>
                <a:r>
                  <a:rPr lang="tr-TR" sz="2800" dirty="0" err="1"/>
                  <a:t>event</a:t>
                </a:r>
                <a:r>
                  <a:rPr lang="tr-TR" sz="2800" dirty="0"/>
                  <a:t> </a:t>
                </a:r>
                <a:endParaRPr lang="en-US" sz="2800" dirty="0"/>
              </a:p>
              <a:p>
                <a:pPr marL="114300" indent="0">
                  <a:buNone/>
                </a:pPr>
                <a:r>
                  <a:rPr lang="en-US" sz="2800" dirty="0"/>
                  <a:t>			</a:t>
                </a:r>
                <a14:m>
                  <m:oMath xmlns:m="http://schemas.openxmlformats.org/officeDocument/2006/math">
                    <m:r>
                      <a:rPr lang="tr-TR" sz="2800" i="1" dirty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tr-TR" sz="2800" dirty="0"/>
              </a:p>
              <a:p>
                <a:r>
                  <a:rPr lang="tr-TR" sz="2800" b="1" dirty="0" err="1"/>
                  <a:t>Mean</a:t>
                </a:r>
                <a:r>
                  <a:rPr lang="tr-TR" sz="2800" b="1" dirty="0"/>
                  <a:t> </a:t>
                </a:r>
                <a:r>
                  <a:rPr lang="tr-TR" sz="2800" b="1" dirty="0" err="1"/>
                  <a:t>value</a:t>
                </a:r>
                <a:endParaRPr lang="tr-TR" sz="2800" b="1" dirty="0"/>
              </a:p>
              <a:p>
                <a:pPr marL="114300" indent="0">
                  <a:buNone/>
                </a:pPr>
                <a:r>
                  <a:rPr lang="tr-TR" sz="2800" i="1" dirty="0"/>
                  <a:t>		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)=∑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tr-TR" sz="2800" dirty="0"/>
              </a:p>
              <a:p>
                <a:r>
                  <a:rPr lang="tr-TR" sz="2800" b="1" dirty="0" err="1"/>
                  <a:t>Variance</a:t>
                </a:r>
                <a:r>
                  <a:rPr lang="tr-TR" sz="2800" dirty="0"/>
                  <a:t>,</a:t>
                </a:r>
              </a:p>
              <a:p>
                <a:pPr marL="114300" indent="0">
                  <a:buNone/>
                </a:pPr>
                <a:r>
                  <a:rPr lang="tr-TR" sz="2800" i="1" dirty="0"/>
                  <a:t>		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2800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l-GR" sz="28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2800" i="1" dirty="0">
                        <a:latin typeface="Cambria Math" panose="02040503050406030204" pitchFamily="18" charset="0"/>
                      </a:rPr>
                      <m:t>)2=∑(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l-GR" sz="28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2800" i="1" dirty="0">
                        <a:latin typeface="Cambria Math" panose="02040503050406030204" pitchFamily="18" charset="0"/>
                      </a:rPr>
                      <m:t>) 2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tr-TR" sz="2800" dirty="0"/>
              </a:p>
              <a:p>
                <a:r>
                  <a:rPr lang="tr-TR" sz="2800" b="1" i="1" dirty="0" err="1"/>
                  <a:t>kth</a:t>
                </a:r>
                <a:r>
                  <a:rPr lang="tr-TR" sz="2800" b="1" dirty="0"/>
                  <a:t> </a:t>
                </a:r>
                <a:r>
                  <a:rPr lang="tr-TR" sz="2800" b="1" dirty="0" err="1"/>
                  <a:t>central</a:t>
                </a:r>
                <a:r>
                  <a:rPr lang="tr-TR" sz="2800" b="1" dirty="0"/>
                  <a:t> moment</a:t>
                </a:r>
                <a:endParaRPr lang="en-US" sz="2800" b="1" dirty="0"/>
              </a:p>
              <a:p>
                <a:endParaRPr lang="tr-TR" sz="2800" dirty="0"/>
              </a:p>
              <a:p>
                <a:pPr marL="571500" lvl="1" indent="0">
                  <a:buNone/>
                </a:pPr>
                <a:r>
                  <a:rPr lang="tr-TR" i="1" dirty="0"/>
                  <a:t>		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tr-TR" i="1" baseline="300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tr-T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i="1" dirty="0" err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tr-TR" i="1" baseline="-25000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tr-TR" i="1" baseline="-250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tr-T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tr-TR" i="1" baseline="30000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tr-TR" i="1" dirty="0">
                        <a:latin typeface="Cambria Math" panose="02040503050406030204" pitchFamily="18" charset="0"/>
                      </a:rPr>
                      <m:t>=∑</m:t>
                    </m:r>
                    <m:d>
                      <m:dPr>
                        <m:ctrlPr>
                          <a:rPr lang="tr-TR" i="1" baseline="300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 dirty="0" err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tr-TR" i="1" baseline="-25000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i="1" baseline="-25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tr-TR" i="1" baseline="300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 dirty="0" err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tr-TR" i="1" baseline="-25000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i="1" baseline="-250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tr-T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3950286-CC6A-E741-AB82-9C5FA9EFB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0803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7FF0-7299-F740-8078-99E8B227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 popular density function for continuous random variable: Gaussian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3B87F-8FC7-E24B-A098-FF2EF960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48" y="2995354"/>
            <a:ext cx="6613436" cy="3079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111FD5C-1CA0-4131-BF8B-85BB68D8CDDB}"/>
                  </a:ext>
                </a:extLst>
              </p:cNvPr>
              <p:cNvSpPr/>
              <p:nvPr/>
            </p:nvSpPr>
            <p:spPr>
              <a:xfrm>
                <a:off x="1771123" y="1811848"/>
                <a:ext cx="5931880" cy="982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pt-BR" sz="2800" i="1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⁡[−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111FD5C-1CA0-4131-BF8B-85BB68D8C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123" y="1811848"/>
                <a:ext cx="5931880" cy="982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4877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2D64-D5E0-6640-8962-2C9EACDF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How do we define random events in Image processing?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044995-2F0C-F443-867D-E6F9504498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800" dirty="0"/>
                  <a:t>Assume each color,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dirty="0"/>
                  <a:t>in the palette of image is a </a:t>
                </a:r>
                <a:r>
                  <a:rPr lang="en-US" sz="2800" dirty="0" err="1"/>
                  <a:t>r.v.</a:t>
                </a:r>
                <a:endParaRPr lang="en-US" sz="2800" dirty="0"/>
              </a:p>
              <a:p>
                <a:pPr marL="628650" indent="-514350">
                  <a:buAutoNum type="arabicPeriod"/>
                </a:pPr>
                <a:endParaRPr lang="en-US" sz="2800" dirty="0"/>
              </a:p>
              <a:p>
                <a:pPr marL="114300" indent="0">
                  <a:buNone/>
                </a:pPr>
                <a:r>
                  <a:rPr lang="en-US" sz="2800" dirty="0"/>
                  <a:t>Probability density function is approximated by normalized color histogram:</a:t>
                </a:r>
              </a:p>
              <a:p>
                <a:pPr marL="114300" indent="0" algn="ctr">
                  <a:buNone/>
                </a:pPr>
                <a:r>
                  <a:rPr lang="en-US" sz="2800" dirty="0"/>
                  <a:t>p(</a:t>
                </a:r>
                <a:r>
                  <a:rPr lang="en-US" sz="2800" dirty="0" err="1"/>
                  <a:t>r</a:t>
                </a:r>
                <a:r>
                  <a:rPr lang="en-US" sz="2800" baseline="-25000" dirty="0" err="1"/>
                  <a:t>k</a:t>
                </a:r>
                <a:r>
                  <a:rPr lang="en-US" sz="2800" baseline="-25000" dirty="0"/>
                  <a:t> </a:t>
                </a:r>
                <a:r>
                  <a:rPr lang="en-US" sz="2800" dirty="0"/>
                  <a:t>)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n</a:t>
                </a:r>
                <a:r>
                  <a:rPr lang="en-US" sz="2800" baseline="-25000" dirty="0" err="1"/>
                  <a:t>k</a:t>
                </a:r>
                <a:r>
                  <a:rPr lang="en-US" sz="2800" baseline="-25000" dirty="0"/>
                  <a:t> </a:t>
                </a:r>
                <a:r>
                  <a:rPr lang="en-US" sz="2800" dirty="0"/>
                  <a:t>/ n</a:t>
                </a:r>
              </a:p>
              <a:p>
                <a:pPr marL="114300" indent="0">
                  <a:buNone/>
                </a:pPr>
                <a:r>
                  <a:rPr lang="en-US" sz="2800" dirty="0" err="1"/>
                  <a:t>n</a:t>
                </a:r>
                <a:r>
                  <a:rPr lang="en-US" sz="2800" baseline="-25000" dirty="0" err="1"/>
                  <a:t>k</a:t>
                </a:r>
                <a:r>
                  <a:rPr lang="en-US" sz="2800" baseline="-25000" dirty="0"/>
                  <a:t>  </a:t>
                </a:r>
                <a:r>
                  <a:rPr lang="en-US" sz="2800" dirty="0"/>
                  <a:t>= number of pixels with color , </a:t>
                </a:r>
                <a:r>
                  <a:rPr lang="en-US" sz="2800" dirty="0" err="1"/>
                  <a:t>r</a:t>
                </a:r>
                <a:r>
                  <a:rPr lang="en-US" sz="2800" baseline="-25000" dirty="0" err="1"/>
                  <a:t>k</a:t>
                </a:r>
                <a:endParaRPr lang="en-US" sz="2800" dirty="0"/>
              </a:p>
              <a:p>
                <a:pPr marL="114300" indent="0">
                  <a:buNone/>
                </a:pPr>
                <a:r>
                  <a:rPr lang="en-US" sz="2800" dirty="0"/>
                  <a:t>n= total number of pixels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044995-2F0C-F443-867D-E6F950449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8" t="-404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49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4D52-1A72-1844-9868-963BC49D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Example: Mean color of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18A62-FB28-B949-A79D-7396400F7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is the mean color and its variance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ABB2E-3576-FA46-92A5-DA401393BF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0" y="2654590"/>
            <a:ext cx="4432300" cy="333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219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0B92F6-6CFE-224B-986B-DEA0A60F66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dirty="0"/>
                  <a:t>Example: Assume that image generated by a random source, </a:t>
                </a:r>
                <a14:m>
                  <m:oMath xmlns:m="http://schemas.openxmlformats.org/officeDocument/2006/math">
                    <m:r>
                      <a:rPr lang="tr-TR" sz="3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32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tr-TR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32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3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32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3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0B92F6-6CFE-224B-986B-DEA0A60F6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4" t="-3723" r="-1556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B9404F-3810-2B43-BC86-F09DB7650B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Define the brightness value of each pixel at location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as a random variable,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the images,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of the same scene, 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i="1" dirty="0"/>
                  <a:t>	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 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))≈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​(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: </m:t>
                    </m:r>
                  </m:oMath>
                </a14:m>
                <a:r>
                  <a:rPr lang="en-US" sz="2400" dirty="0"/>
                  <a:t>number of brightness values with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400" dirty="0"/>
                  <a:t>for the pixel at location (</a:t>
                </a:r>
                <a:r>
                  <a:rPr lang="en-US" sz="2400" i="1" dirty="0" err="1"/>
                  <a:t>x</a:t>
                </a:r>
                <a:r>
                  <a:rPr lang="en-US" sz="2400" dirty="0" err="1"/>
                  <a:t>,</a:t>
                </a:r>
                <a:r>
                  <a:rPr lang="en-US" sz="2400" i="1" dirty="0" err="1"/>
                  <a:t>y</a:t>
                </a:r>
                <a:r>
                  <a:rPr lang="en-US" sz="2400" dirty="0"/>
                  <a:t>)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/>
                  <a:t>total number of images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B9404F-3810-2B43-BC86-F09DB7650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6076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6A4B-41F0-9241-80CE-65E4FF71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Example: </a:t>
            </a:r>
            <a:br>
              <a:rPr lang="en-US" sz="3600" dirty="0"/>
            </a:br>
            <a:r>
              <a:rPr lang="en-US" sz="2400" dirty="0"/>
              <a:t>Define each pixel in the stack of images is a random variable, what is the mean color, and its variance?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731E1-6444-6E4A-8128-495E6DB83E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1295" y="2459152"/>
            <a:ext cx="1332306" cy="1776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36450C-9529-D249-9559-97D38173D7A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4358857"/>
            <a:ext cx="1320800" cy="1761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D7668-6C36-3848-A82F-B5FF0D08DCB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250" y="4358857"/>
            <a:ext cx="1320800" cy="1761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E8B249-F8AB-3142-A315-013C56EB26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4587" y="4358857"/>
            <a:ext cx="1320800" cy="1761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2DFE0-A5A7-AF4E-8331-E1F7B853DD3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325" y="4431352"/>
            <a:ext cx="1320800" cy="1761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3953E8-E1D2-AF40-B4DC-2741190A33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2474495"/>
            <a:ext cx="1320800" cy="17610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769B25-D6A5-1B4E-8FDE-1A8630DA6CA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250" y="2474494"/>
            <a:ext cx="1320800" cy="17610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AE28F2-74D2-F94D-94AF-136C532808C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biLevel thresh="5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4587" y="2474493"/>
            <a:ext cx="1320800" cy="1761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B568C9-C5BF-8A44-A0CA-46420DAA39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325" y="2427928"/>
            <a:ext cx="1320800" cy="17610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A1C064-A4FD-0D4D-B8F7-320AE39A4ED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9707" y="4431352"/>
            <a:ext cx="1320800" cy="17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108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3426-E32C-1647-9543-7604408D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 err="1"/>
              <a:t>Geometric</a:t>
            </a:r>
            <a:r>
              <a:rPr lang="tr-TR" sz="3600" dirty="0"/>
              <a:t> </a:t>
            </a:r>
            <a:r>
              <a:rPr lang="tr-TR" sz="3600" dirty="0" err="1"/>
              <a:t>Transfor</a:t>
            </a:r>
            <a:r>
              <a:rPr lang="en-US" sz="3600" dirty="0" err="1"/>
              <a:t>ms</a:t>
            </a:r>
            <a:r>
              <a:rPr lang="tr-TR" sz="3600" dirty="0"/>
              <a:t>: </a:t>
            </a:r>
            <a:br>
              <a:rPr lang="en-US" sz="3600" dirty="0"/>
            </a:br>
            <a:r>
              <a:rPr lang="tr-TR" sz="3600" dirty="0" err="1"/>
              <a:t>Affine</a:t>
            </a:r>
            <a:r>
              <a:rPr lang="tr-TR" sz="3600" dirty="0"/>
              <a:t> </a:t>
            </a:r>
            <a:r>
              <a:rPr lang="tr-TR" sz="3600" dirty="0" err="1"/>
              <a:t>Transforms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A1666E6-6F2E-6243-848D-B04AB1F127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tr-TR" sz="2400" dirty="0"/>
                  <a:t>Affine </a:t>
                </a:r>
                <a:r>
                  <a:rPr lang="tr-TR" sz="2400" dirty="0" err="1"/>
                  <a:t>transform</a:t>
                </a:r>
                <a:r>
                  <a:rPr lang="tr-TR" sz="2400" dirty="0"/>
                  <a:t>  is a </a:t>
                </a:r>
                <a:r>
                  <a:rPr lang="tr-TR" sz="2400" dirty="0" err="1"/>
                  <a:t>linear</a:t>
                </a:r>
                <a:r>
                  <a:rPr lang="tr-TR" sz="2400" dirty="0"/>
                  <a:t> </a:t>
                </a:r>
                <a:r>
                  <a:rPr lang="tr-TR" sz="2400" dirty="0" err="1"/>
                  <a:t>mapping</a:t>
                </a:r>
                <a:r>
                  <a:rPr lang="tr-TR" sz="2400" dirty="0"/>
                  <a:t> of a </a:t>
                </a:r>
                <a:r>
                  <a:rPr lang="tr-TR" sz="2400" dirty="0" err="1"/>
                  <a:t>pixel</a:t>
                </a:r>
                <a:r>
                  <a:rPr lang="tr-TR" sz="2400" dirty="0"/>
                  <a:t> 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tr-TR" sz="2400" dirty="0" err="1"/>
                  <a:t>to</a:t>
                </a:r>
                <a:r>
                  <a:rPr lang="tr-TR" sz="2400" dirty="0"/>
                  <a:t> </a:t>
                </a:r>
                <a:r>
                  <a:rPr lang="tr-TR" sz="2400" dirty="0" err="1"/>
                  <a:t>another</a:t>
                </a:r>
                <a:r>
                  <a:rPr lang="tr-TR" sz="2400" dirty="0"/>
                  <a:t> </a:t>
                </a:r>
                <a:r>
                  <a:rPr lang="tr-TR" sz="2400" dirty="0" err="1"/>
                  <a:t>coordinate</a:t>
                </a:r>
                <a:r>
                  <a:rPr lang="tr-TR" sz="2400" dirty="0"/>
                  <a:t> 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tr-TR" sz="2400" dirty="0"/>
                  <a:t> as </a:t>
                </a:r>
                <a:r>
                  <a:rPr lang="tr-TR" sz="2400" dirty="0" err="1"/>
                  <a:t>follows</a:t>
                </a:r>
                <a:r>
                  <a:rPr lang="en-US" sz="2400" dirty="0"/>
                  <a:t>: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tr-TR" sz="2400" b="1" dirty="0"/>
              </a:p>
              <a:p>
                <a:pPr marL="114300" indent="0">
                  <a:buNone/>
                </a:pPr>
                <a:r>
                  <a:rPr lang="en-US" sz="2400" dirty="0"/>
                  <a:t>In matrix form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2400" i="1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/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400" i="1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2400" b="0" i="1" baseline="-25000" dirty="0" smtClean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tr-TR" sz="2400" dirty="0"/>
                              <m:t>,</m:t>
                            </m:r>
                          </m: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 0 0… 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2400" b="0" i="1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/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400" b="0" i="1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tr-TR" sz="2400" dirty="0"/>
                              <m:t>,</m:t>
                            </m:r>
                          </m: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2400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/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400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tr-TR" sz="2400" dirty="0"/>
                              <m:t>,</m:t>
                            </m:r>
                          </m:e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A1666E6-6F2E-6243-848D-B04AB1F12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5084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E556-1900-4A6A-BD0B-D0E669AA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Geometric transforms: Affine Transforms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D0E5A-6984-4C70-B6B6-DA4BDEE01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Keep parallel lines but not the angles and distances</a:t>
            </a:r>
          </a:p>
        </p:txBody>
      </p:sp>
      <p:pic>
        <p:nvPicPr>
          <p:cNvPr id="4" name="Affine_transformations.ogv.480p.vp9 (1)">
            <a:hlinkClick r:id="" action="ppaction://media"/>
            <a:extLst>
              <a:ext uri="{FF2B5EF4-FFF2-40B4-BE49-F238E27FC236}">
                <a16:creationId xmlns:a16="http://schemas.microsoft.com/office/drawing/2014/main" id="{9E667E43-F123-4887-86D7-5912F636C0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45633" y="2008940"/>
            <a:ext cx="4483768" cy="44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9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F2D235-FB13-184E-8224-7303551C1D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dirty="0"/>
                  <a:t>Affine matrix T=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0 0 0… 0</m:t>
                              </m:r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F2D235-FB13-184E-8224-7303551C1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8F7D3E-B3E4-AA4A-9DA7-B59FB98137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i="1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i="1" baseline="-25000" dirty="0"/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i="1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i="1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tr-TR" dirty="0"/>
                              <m:t>,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i="1" baseline="-25000" dirty="0"/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i="1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tr-TR" dirty="0"/>
                              <m:t>,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tr-TR" dirty="0"/>
              </a:p>
              <a:p>
                <a:pPr marL="114300" indent="0">
                  <a:buNone/>
                </a:pPr>
                <a:endParaRPr lang="en-US" sz="2400" b="1" dirty="0"/>
              </a:p>
              <a:p>
                <a:pPr marL="114300" indent="0">
                  <a:buNone/>
                </a:pPr>
                <a:r>
                  <a:rPr lang="tr-TR" sz="2400" b="1" dirty="0"/>
                  <a:t>T</a:t>
                </a:r>
                <a:r>
                  <a:rPr lang="tr-TR" sz="2400" dirty="0"/>
                  <a:t> is 3x3 </a:t>
                </a:r>
                <a:r>
                  <a:rPr lang="tr-TR" sz="2400" dirty="0" err="1"/>
                  <a:t>affine</a:t>
                </a:r>
                <a:r>
                  <a:rPr lang="tr-TR" sz="2400" dirty="0"/>
                  <a:t> </a:t>
                </a:r>
                <a:r>
                  <a:rPr lang="tr-TR" sz="2400" dirty="0" err="1"/>
                  <a:t>matrix</a:t>
                </a:r>
                <a:r>
                  <a:rPr lang="tr-TR" sz="2400" dirty="0"/>
                  <a:t> </a:t>
                </a:r>
                <a:r>
                  <a:rPr lang="tr-TR" sz="2400" dirty="0" err="1"/>
                  <a:t>for</a:t>
                </a:r>
                <a:endParaRPr lang="tr-TR" sz="2400" dirty="0"/>
              </a:p>
              <a:p>
                <a:r>
                  <a:rPr lang="tr-TR" sz="2400" dirty="0" err="1"/>
                  <a:t>Rotation</a:t>
                </a:r>
                <a:r>
                  <a:rPr lang="tr-TR" sz="2400" dirty="0"/>
                  <a:t> </a:t>
                </a:r>
              </a:p>
              <a:p>
                <a:r>
                  <a:rPr lang="tr-TR" sz="2400" dirty="0" err="1"/>
                  <a:t>Scale</a:t>
                </a:r>
                <a:endParaRPr lang="tr-TR" sz="2400" dirty="0"/>
              </a:p>
              <a:p>
                <a:r>
                  <a:rPr lang="tr-TR" sz="2400" dirty="0" err="1"/>
                  <a:t>Reflection</a:t>
                </a:r>
                <a:r>
                  <a:rPr lang="tr-TR" sz="2400" dirty="0"/>
                  <a:t> </a:t>
                </a:r>
              </a:p>
              <a:p>
                <a:r>
                  <a:rPr lang="tr-TR" sz="2400" dirty="0" err="1"/>
                  <a:t>Translation</a:t>
                </a:r>
                <a:endParaRPr lang="tr-TR" sz="2400" dirty="0"/>
              </a:p>
              <a:p>
                <a:r>
                  <a:rPr lang="tr-TR" sz="2400" dirty="0" err="1"/>
                  <a:t>Shear</a:t>
                </a:r>
                <a:endParaRPr lang="tr-TR" sz="2400" dirty="0"/>
              </a:p>
              <a:p>
                <a:pPr marL="114300" indent="0">
                  <a:buNone/>
                </a:pPr>
                <a:endParaRPr lang="tr-TR" dirty="0"/>
              </a:p>
              <a:p>
                <a:pPr marL="11430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8F7D3E-B3E4-AA4A-9DA7-B59FB9813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939F8B2-68CC-344D-9A44-8FC871981C4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4789" y="3320608"/>
            <a:ext cx="2139878" cy="298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618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F49F-9ADD-F146-BE50-40A30EEF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6C861-C071-AB44-BBF4-E082B81AD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48B40-4BDF-B344-8BBB-FD7D429A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906"/>
            <a:ext cx="9144000" cy="61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766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2F07-9CB9-46CB-8280-C3902E79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Example: Rotation</a:t>
            </a:r>
          </a:p>
        </p:txBody>
      </p:sp>
      <p:pic>
        <p:nvPicPr>
          <p:cNvPr id="1026" name="Picture 2" descr="https://camo.githubusercontent.com/6fe50338dd0859a9a360ab91920aa0e05b696c3a5df8106ca4160f5c26d5e9fd/68747470733a2f2f7261772e67697468756275736572636f6e74656e742e636f6d2f68617a616c6d6f67756c7461792f343636496d616765732f6d61737465722f57332f6e696d67322e706e67">
            <a:extLst>
              <a:ext uri="{FF2B5EF4-FFF2-40B4-BE49-F238E27FC236}">
                <a16:creationId xmlns:a16="http://schemas.microsoft.com/office/drawing/2014/main" id="{600E5678-FDF5-4FAB-A0D6-9D545D85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2152640"/>
            <a:ext cx="7805738" cy="406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0122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0609-A38B-9743-920B-8859C636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Logical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EBD404-CC92-4281-AD5D-6EFE9E20DE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Suppose you are given a binary image, where the object pixels  are represented by 1 and the background pixels are represented by 0. Represent this image by a point set.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tr-TR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EBD404-CC92-4281-AD5D-6EFE9E20D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7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871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E01A-4CD1-4E21-AC89-53FD96FB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 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131E4-37DC-4E20-844C-3C0594568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XOR</a:t>
            </a:r>
          </a:p>
          <a:p>
            <a:r>
              <a:rPr lang="en-US" dirty="0"/>
              <a:t>NOT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93603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0609-A38B-9743-920B-8859C636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2BFB1-A76A-6A47-B8A0-FE27006CC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530221"/>
            <a:ext cx="8407830" cy="46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905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8181</TotalTime>
  <Words>3263</Words>
  <Application>Microsoft Office PowerPoint</Application>
  <PresentationFormat>On-screen Show (4:3)</PresentationFormat>
  <Paragraphs>433</Paragraphs>
  <Slides>95</Slides>
  <Notes>16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5" baseType="lpstr">
      <vt:lpstr>Arial</vt:lpstr>
      <vt:lpstr>Calibri</vt:lpstr>
      <vt:lpstr>Cambria Math</vt:lpstr>
      <vt:lpstr>KaTeX_Main</vt:lpstr>
      <vt:lpstr>KaTeX_Math</vt:lpstr>
      <vt:lpstr>Noto Sans Symbols</vt:lpstr>
      <vt:lpstr>Symbol</vt:lpstr>
      <vt:lpstr>Times New Roman</vt:lpstr>
      <vt:lpstr>Wingdings</vt:lpstr>
      <vt:lpstr>Default Design</vt:lpstr>
      <vt:lpstr>Week 3: Mathematical Tools for Image Processing</vt:lpstr>
      <vt:lpstr>There is nothing more practical than a good theory! Vladimir Vapnik </vt:lpstr>
      <vt:lpstr>Image Representation</vt:lpstr>
      <vt:lpstr>PowerPoint Presentation</vt:lpstr>
      <vt:lpstr>Image Representation</vt:lpstr>
      <vt:lpstr>Image Representation by  2-D Functions</vt:lpstr>
      <vt:lpstr>Continuous Images</vt:lpstr>
      <vt:lpstr>Digital vs. Discrete Images</vt:lpstr>
      <vt:lpstr>PowerPoint Presentation</vt:lpstr>
      <vt:lpstr>Gray Scale, Color, Multispectral Images</vt:lpstr>
      <vt:lpstr>3-d Motion Image: fMRI signals f (x,y,z,t) =r</vt:lpstr>
      <vt:lpstr>Image Representation by Arrays, Matrices and Vectors</vt:lpstr>
      <vt:lpstr>Image Representation by Arrays (Matrices and Vectors)</vt:lpstr>
      <vt:lpstr>Color Images represented by three matrices</vt:lpstr>
      <vt:lpstr>Sampling and Quantization</vt:lpstr>
      <vt:lpstr>Quantization</vt:lpstr>
      <vt:lpstr>Sampled and quantized image</vt:lpstr>
      <vt:lpstr>Down sampled Images</vt:lpstr>
      <vt:lpstr>Quantization</vt:lpstr>
      <vt:lpstr>Quantized Images </vt:lpstr>
      <vt:lpstr>Spatial and Gray Level Resolution</vt:lpstr>
      <vt:lpstr>Image Perception Model of Al Haytham.</vt:lpstr>
      <vt:lpstr>Simple Image Formation Model</vt:lpstr>
      <vt:lpstr> Simple image formation model</vt:lpstr>
      <vt:lpstr>Interpolation</vt:lpstr>
      <vt:lpstr>Interpolation</vt:lpstr>
      <vt:lpstr>1. Nearest Neighbor interpolation</vt:lpstr>
      <vt:lpstr>2. Bilinear Interpolation </vt:lpstr>
      <vt:lpstr>3. Bicubic Interpolation</vt:lpstr>
      <vt:lpstr>Neighborhood and Distance </vt:lpstr>
      <vt:lpstr>4-Neighborhood Systems</vt:lpstr>
      <vt:lpstr>8-Neighborhood System</vt:lpstr>
      <vt:lpstr>Distance or Similarity Between  Pixels</vt:lpstr>
      <vt:lpstr>Spatial Distance</vt:lpstr>
      <vt:lpstr>Discrete Grid:  City Block Distance</vt:lpstr>
      <vt:lpstr>Discrete Grid: Chessboard distance</vt:lpstr>
      <vt:lpstr>Distance between two colors</vt:lpstr>
      <vt:lpstr>Example: </vt:lpstr>
      <vt:lpstr>Answer:  </vt:lpstr>
      <vt:lpstr>Example:</vt:lpstr>
      <vt:lpstr>Answer: </vt:lpstr>
      <vt:lpstr>Discrete geometry</vt:lpstr>
      <vt:lpstr>1. Adjacency </vt:lpstr>
      <vt:lpstr>4-Adjacency</vt:lpstr>
      <vt:lpstr>8-Adjacency</vt:lpstr>
      <vt:lpstr>Mixed adjacency</vt:lpstr>
      <vt:lpstr>Example:</vt:lpstr>
      <vt:lpstr>Answer: V={1}</vt:lpstr>
      <vt:lpstr>Adjacency</vt:lpstr>
      <vt:lpstr>Example: </vt:lpstr>
      <vt:lpstr>Answer: </vt:lpstr>
      <vt:lpstr>Example: </vt:lpstr>
      <vt:lpstr>Answer: </vt:lpstr>
      <vt:lpstr>2. Path</vt:lpstr>
      <vt:lpstr>Closed Path</vt:lpstr>
      <vt:lpstr>3. Connectivity</vt:lpstr>
      <vt:lpstr>Connected Component</vt:lpstr>
      <vt:lpstr>Connected Set</vt:lpstr>
      <vt:lpstr>4. Region</vt:lpstr>
      <vt:lpstr>Background</vt:lpstr>
      <vt:lpstr> Hole</vt:lpstr>
      <vt:lpstr>5. Boundary</vt:lpstr>
      <vt:lpstr>6. Edge</vt:lpstr>
      <vt:lpstr>Mathematical Operations for DIP</vt:lpstr>
      <vt:lpstr>Linear Operations</vt:lpstr>
      <vt:lpstr>Nonlinear Operators</vt:lpstr>
      <vt:lpstr>Array (Arithmetic) Operations</vt:lpstr>
      <vt:lpstr>Image Averaging</vt:lpstr>
      <vt:lpstr>Example: Image Averaging </vt:lpstr>
      <vt:lpstr>Image Difference for Change Detection  g(x,y) =f1(x,y) - f2(x,y)</vt:lpstr>
      <vt:lpstr>Matrix Operations</vt:lpstr>
      <vt:lpstr>Note</vt:lpstr>
      <vt:lpstr>Example: </vt:lpstr>
      <vt:lpstr>Answer: </vt:lpstr>
      <vt:lpstr>Normalization</vt:lpstr>
      <vt:lpstr>Example: </vt:lpstr>
      <vt:lpstr>Answer:</vt:lpstr>
      <vt:lpstr>Vectorize the Image Matrix</vt:lpstr>
      <vt:lpstr>Vector multiplication</vt:lpstr>
      <vt:lpstr>Where do we use matrix and vector operations?</vt:lpstr>
      <vt:lpstr>Probability Theory</vt:lpstr>
      <vt:lpstr>Probabilistic Operations</vt:lpstr>
      <vt:lpstr>A popular density function for continuous random variable: Gaussian Function</vt:lpstr>
      <vt:lpstr>How do we define random events in Image processing?</vt:lpstr>
      <vt:lpstr>Example: Mean color of an image</vt:lpstr>
      <vt:lpstr>Example: Assume that image generated by a random source, fi(x,y) </vt:lpstr>
      <vt:lpstr>Example:  Define each pixel in the stack of images is a random variable, what is the mean color, and its variance?</vt:lpstr>
      <vt:lpstr>Geometric Transforms:  Affine Transforms</vt:lpstr>
      <vt:lpstr>Geometric transforms: Affine Transforms</vt:lpstr>
      <vt:lpstr>Affine matrix T= [■8(A&amp;b@0 0 0… 0&amp;1)]</vt:lpstr>
      <vt:lpstr>PowerPoint Presentation</vt:lpstr>
      <vt:lpstr>Example: Rotation</vt:lpstr>
      <vt:lpstr>Logical Operations</vt:lpstr>
      <vt:lpstr>Logical Operations </vt:lpstr>
      <vt:lpstr>Logical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Mathematical Tools for Image Representation</dc:title>
  <dc:creator>cse</dc:creator>
  <cp:lastModifiedBy>Fatos</cp:lastModifiedBy>
  <cp:revision>139</cp:revision>
  <dcterms:created xsi:type="dcterms:W3CDTF">2005-09-05T18:35:56Z</dcterms:created>
  <dcterms:modified xsi:type="dcterms:W3CDTF">2022-10-11T10:36:44Z</dcterms:modified>
</cp:coreProperties>
</file>