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84" r:id="rId11"/>
    <p:sldId id="285" r:id="rId12"/>
    <p:sldId id="286" r:id="rId13"/>
    <p:sldId id="287" r:id="rId14"/>
    <p:sldId id="288" r:id="rId15"/>
    <p:sldId id="291" r:id="rId16"/>
    <p:sldId id="292" r:id="rId17"/>
    <p:sldId id="295" r:id="rId18"/>
    <p:sldId id="296" r:id="rId19"/>
    <p:sldId id="297" r:id="rId20"/>
    <p:sldId id="298" r:id="rId21"/>
    <p:sldId id="299" r:id="rId22"/>
    <p:sldId id="98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665" r:id="rId32"/>
    <p:sldId id="309" r:id="rId33"/>
    <p:sldId id="310" r:id="rId34"/>
    <p:sldId id="311" r:id="rId35"/>
    <p:sldId id="313" r:id="rId36"/>
    <p:sldId id="323" r:id="rId37"/>
    <p:sldId id="314" r:id="rId38"/>
    <p:sldId id="315" r:id="rId39"/>
    <p:sldId id="324" r:id="rId40"/>
    <p:sldId id="316" r:id="rId41"/>
    <p:sldId id="990" r:id="rId42"/>
    <p:sldId id="991" r:id="rId43"/>
    <p:sldId id="992" r:id="rId44"/>
    <p:sldId id="325" r:id="rId45"/>
    <p:sldId id="659" r:id="rId46"/>
    <p:sldId id="662" r:id="rId47"/>
    <p:sldId id="660" r:id="rId48"/>
    <p:sldId id="414" r:id="rId49"/>
    <p:sldId id="319" r:id="rId50"/>
    <p:sldId id="320" r:id="rId51"/>
    <p:sldId id="321" r:id="rId52"/>
    <p:sldId id="663" r:id="rId53"/>
    <p:sldId id="664" r:id="rId54"/>
    <p:sldId id="988" r:id="rId55"/>
  </p:sldIdLst>
  <p:sldSz cx="9144000" cy="6858000" type="screen4x3"/>
  <p:notesSz cx="6934200" cy="9080500"/>
  <p:embeddedFontLst>
    <p:embeddedFont>
      <p:font typeface="ＭＳ Ｐゴシック" panose="020B0600070205080204" pitchFamily="34" charset="-128"/>
      <p:regular r:id="rId57"/>
    </p:embeddedFont>
    <p:embeddedFont>
      <p:font typeface="Calibri" panose="020F0502020204030204" pitchFamily="34" charset="0"/>
      <p:regular r:id="rId58"/>
      <p:bold r:id="rId59"/>
      <p:italic r:id="rId60"/>
      <p:boldItalic r:id="rId61"/>
    </p:embeddedFont>
    <p:embeddedFont>
      <p:font typeface="Cambria Math" panose="02040503050406030204" pitchFamily="18" charset="0"/>
      <p:regular r:id="rId62"/>
    </p:embeddedFont>
    <p:embeddedFont>
      <p:font typeface="Tahoma" panose="020B0604030504040204" pitchFamily="34" charset="0"/>
      <p:regular r:id="rId63"/>
      <p:bold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0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gsxdl6rNhot2gEwYm7jaK095Fq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1418" y="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8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5138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29063" y="0"/>
            <a:ext cx="3005137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26475"/>
            <a:ext cx="3005138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29063" y="8626475"/>
            <a:ext cx="3005137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2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85570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5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6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8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9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0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1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2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4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5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6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8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71" name="Google Shape;671;p59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59:notes"/>
          <p:cNvSpPr txBox="1">
            <a:spLocks noGrp="1"/>
          </p:cNvSpPr>
          <p:nvPr>
            <p:ph type="sldNum" idx="12"/>
          </p:nvPr>
        </p:nvSpPr>
        <p:spPr>
          <a:xfrm>
            <a:off x="3929063" y="8626475"/>
            <a:ext cx="3005137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0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23D6E17-968E-47CA-982C-7F31F78019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7877A2-A1B8-461D-8533-F6C183A02B77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077250" name="Rectangle 2">
            <a:extLst>
              <a:ext uri="{FF2B5EF4-FFF2-40B4-BE49-F238E27FC236}">
                <a16:creationId xmlns:a16="http://schemas.microsoft.com/office/drawing/2014/main" id="{209F1CE3-8448-4A50-96FF-E8AA7FB3B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7251" name="Rectangle 3">
            <a:extLst>
              <a:ext uri="{FF2B5EF4-FFF2-40B4-BE49-F238E27FC236}">
                <a16:creationId xmlns:a16="http://schemas.microsoft.com/office/drawing/2014/main" id="{D8EE5079-FFDE-45A5-AC17-846BCA5D47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377433F-1628-426F-9259-E59C5FCF18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A4B44A-AE81-444A-B129-5641D8FEDE9B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083394" name="Rectangle 2">
            <a:extLst>
              <a:ext uri="{FF2B5EF4-FFF2-40B4-BE49-F238E27FC236}">
                <a16:creationId xmlns:a16="http://schemas.microsoft.com/office/drawing/2014/main" id="{F34E3337-1094-4CBC-B7DC-96115E55BE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3395" name="Rectangle 3">
            <a:extLst>
              <a:ext uri="{FF2B5EF4-FFF2-40B4-BE49-F238E27FC236}">
                <a16:creationId xmlns:a16="http://schemas.microsoft.com/office/drawing/2014/main" id="{D32B9F5F-7489-4DD6-9B50-F98CDC1C91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996841A-8756-4A80-9B61-8C46C0FB74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CEFB7D-2794-4A60-BB69-E0743ABD0F12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079298" name="Rectangle 2">
            <a:extLst>
              <a:ext uri="{FF2B5EF4-FFF2-40B4-BE49-F238E27FC236}">
                <a16:creationId xmlns:a16="http://schemas.microsoft.com/office/drawing/2014/main" id="{27D403C4-F994-4E1C-8E7A-664A7CBD96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9299" name="Rectangle 3">
            <a:extLst>
              <a:ext uri="{FF2B5EF4-FFF2-40B4-BE49-F238E27FC236}">
                <a16:creationId xmlns:a16="http://schemas.microsoft.com/office/drawing/2014/main" id="{0718D3FF-56F8-4CD8-98CC-43E1262758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5CDF18C-BFE2-43BC-A34F-AD5DFDE7D2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0E714A-7196-4DDE-807C-F3FF2A6A8113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471042" name="Rectangle 2">
            <a:extLst>
              <a:ext uri="{FF2B5EF4-FFF2-40B4-BE49-F238E27FC236}">
                <a16:creationId xmlns:a16="http://schemas.microsoft.com/office/drawing/2014/main" id="{4B8D2296-C8FE-4A3C-962E-DCC45C2C22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18FCA919-7C3B-4498-B164-9E530F18A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4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6:notes"/>
          <p:cNvSpPr txBox="1">
            <a:spLocks noGrp="1"/>
          </p:cNvSpPr>
          <p:nvPr>
            <p:ph type="body" idx="1"/>
          </p:nvPr>
        </p:nvSpPr>
        <p:spPr>
          <a:xfrm>
            <a:off x="923925" y="4313238"/>
            <a:ext cx="508635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69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0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7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7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73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7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7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7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77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7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8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78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7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9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7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0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80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8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6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6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10" Type="http://schemas.openxmlformats.org/officeDocument/2006/relationships/image" Target="../media/image13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0.png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8.png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73.wmf"/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5.bin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72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5" Type="http://schemas.openxmlformats.org/officeDocument/2006/relationships/oleObject" Target="../embeddings/oleObject7.bin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9.wmf"/><Relationship Id="rId14" Type="http://schemas.openxmlformats.org/officeDocument/2006/relationships/image" Target="../media/image71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 dirty="0"/>
              <a:t>Week 12: Edge Based Segmentation</a:t>
            </a:r>
            <a:endParaRPr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Hazal Moğultay and Fatoş T. Yarman Vural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Edge Based Segmentation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46125" y="1946275"/>
            <a:ext cx="8015320" cy="12002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In some image sets, lines, curves, and circular arcs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are more useful than regions or helpful in addition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to regions.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62000" y="3581400"/>
            <a:ext cx="430452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hlink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Lines and arcs are often used in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 b="0" i="0" u="none" strike="noStrike" cap="none" dirty="0">
              <a:solidFill>
                <a:schemeClr val="hlink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 dirty="0">
                <a:solidFill>
                  <a:schemeClr val="hlink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Object recognition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 dirty="0">
                <a:solidFill>
                  <a:schemeClr val="hlink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Stereo matching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 dirty="0">
                <a:solidFill>
                  <a:schemeClr val="hlink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Document analysis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 dirty="0">
                <a:solidFill>
                  <a:schemeClr val="hlink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Medical Image Analysis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 dirty="0">
                <a:solidFill>
                  <a:schemeClr val="hlink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Remote Sensing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9" name="Google Shape;99;p2" descr="la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9665" y="3352800"/>
            <a:ext cx="254000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©2019, Selim Aksoy</a:t>
            </a:r>
            <a:endParaRPr/>
          </a:p>
        </p:txBody>
      </p:sp>
      <p:sp>
        <p:nvSpPr>
          <p:cNvPr id="105" name="Google Shape;105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 sz="900" b="0" i="0" u="none" strike="noStrike" cap="none">
              <a:solidFill>
                <a:srgbClr val="0033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Edge Based  segmentation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5676" y="2057401"/>
            <a:ext cx="3230088" cy="2155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1473200"/>
            <a:ext cx="2747963" cy="1833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388" y="3560763"/>
            <a:ext cx="1833562" cy="274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95513" y="3560763"/>
            <a:ext cx="1833562" cy="2747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©2019, Selim Aksoy</a:t>
            </a:r>
            <a:endParaRPr/>
          </a:p>
        </p:txBody>
      </p:sp>
      <p:sp>
        <p:nvSpPr>
          <p:cNvPr id="116" name="Google Shape;116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 sz="900" b="0" i="0" u="none" strike="noStrike" cap="none" dirty="0">
              <a:solidFill>
                <a:srgbClr val="0033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From images to objects</a:t>
            </a: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dirty="0"/>
              <a:t>What defines an object?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 dirty="0"/>
              <a:t>Subjective problem, but has been well-studied.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 dirty="0"/>
              <a:t>“What is interesting and what is not” depends on the  application.</a:t>
            </a:r>
            <a:endParaRPr sz="2400" dirty="0"/>
          </a:p>
          <a:p>
            <a:pPr marL="57150" indent="-171450">
              <a:spcBef>
                <a:spcPts val="375"/>
              </a:spcBef>
            </a:pPr>
            <a:r>
              <a:rPr lang="en-US" sz="2700" dirty="0"/>
              <a:t>There is no single solution to this problem.</a:t>
            </a:r>
          </a:p>
          <a:p>
            <a:pPr marL="57150" indent="-171450"/>
            <a:r>
              <a:rPr lang="en-US" sz="2700" dirty="0"/>
              <a:t>Gestalt laws seek to formalize this.</a:t>
            </a:r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CS 484, Fall 2019</a:t>
            </a:r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©2019, Selim Aksoy</a:t>
            </a:r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900" b="0" i="0" u="none" strike="noStrike" cap="none">
              <a:solidFill>
                <a:srgbClr val="0033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Gestalt laws: The law of grouping the regions</a:t>
            </a:r>
            <a:endParaRPr dirty="0"/>
          </a:p>
        </p:txBody>
      </p:sp>
      <p:sp>
        <p:nvSpPr>
          <p:cNvPr id="127" name="Google Shape;127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514350" lvl="1" indent="-171450" algn="l" rtl="0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Proximity</a:t>
            </a:r>
            <a:r>
              <a:rPr lang="en-US" sz="2000" dirty="0"/>
              <a:t>: tokens that are nearby tend to be grouped.</a:t>
            </a:r>
            <a:endParaRPr dirty="0"/>
          </a:p>
          <a:p>
            <a:pPr marL="514350" lvl="1" indent="-171450" algn="l" rtl="0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Similarity:</a:t>
            </a:r>
            <a:r>
              <a:rPr lang="en-US" sz="2000" dirty="0"/>
              <a:t> similar tokens tend to be grouped together.</a:t>
            </a:r>
            <a:endParaRPr dirty="0"/>
          </a:p>
          <a:p>
            <a:pPr marL="514350" lvl="1" indent="-171450" algn="l" rtl="0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Common fate</a:t>
            </a:r>
            <a:r>
              <a:rPr lang="en-US" sz="2000" dirty="0"/>
              <a:t>: tokens that have coherent motion tend to be grouped together.</a:t>
            </a:r>
            <a:endParaRPr dirty="0"/>
          </a:p>
          <a:p>
            <a:pPr marL="514350" lvl="1" indent="-171450" algn="l" rtl="0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Common region: </a:t>
            </a:r>
            <a:r>
              <a:rPr lang="en-US" sz="2000" dirty="0"/>
              <a:t>tokens that lie inside the same closed region tend to be grouped together.</a:t>
            </a:r>
            <a:endParaRPr dirty="0"/>
          </a:p>
          <a:p>
            <a:pPr marL="514350" lvl="1" indent="-171450" algn="l" rtl="0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Parallelism:</a:t>
            </a:r>
            <a:r>
              <a:rPr lang="en-US" sz="2000" dirty="0"/>
              <a:t> parallel curves or tokens tend to be grouped together.</a:t>
            </a:r>
            <a:endParaRPr dirty="0"/>
          </a:p>
          <a:p>
            <a:pPr marL="514350" lvl="1" indent="-171450" algn="l" rtl="0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Closure:</a:t>
            </a:r>
            <a:r>
              <a:rPr lang="en-US" sz="2000" dirty="0"/>
              <a:t> tokens or curves that tend to lead to closed curves tend to be grouped together.</a:t>
            </a:r>
            <a:endParaRPr dirty="0"/>
          </a:p>
          <a:p>
            <a:pPr marL="514350" lvl="1" indent="-171450" algn="l" rtl="0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Symmetry:</a:t>
            </a:r>
            <a:r>
              <a:rPr lang="en-US" sz="2000" dirty="0"/>
              <a:t> curves that lead to symmetric groups are grouped together.</a:t>
            </a:r>
            <a:endParaRPr dirty="0"/>
          </a:p>
          <a:p>
            <a:pPr marL="514350" lvl="1" indent="-171450" algn="l" rtl="0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Continuity:</a:t>
            </a:r>
            <a:r>
              <a:rPr lang="en-US" sz="2000" dirty="0"/>
              <a:t> tokens that lead to “continuous” curves tend to be grouped.</a:t>
            </a:r>
            <a:endParaRPr dirty="0"/>
          </a:p>
          <a:p>
            <a:pPr marL="514350" lvl="1" indent="-171450" algn="l" rtl="0">
              <a:lnSpc>
                <a:spcPct val="7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Familiar configuration: </a:t>
            </a:r>
            <a:r>
              <a:rPr lang="en-US" sz="2000" dirty="0"/>
              <a:t>tokens that, when grouped, lead to a familiar object, tend to be grouped together.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Gestalt laws</a:t>
            </a:r>
            <a:endParaRPr/>
          </a:p>
        </p:txBody>
      </p:sp>
      <p:sp>
        <p:nvSpPr>
          <p:cNvPr id="133" name="Google Shape;133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©2019, Selim Aksoy</a:t>
            </a:r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sz="900" b="0" i="0" u="none" strike="noStrike" cap="none">
              <a:solidFill>
                <a:srgbClr val="0033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5364163" y="6249988"/>
            <a:ext cx="3429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Adapted from Kristen Grauman</a:t>
            </a:r>
            <a:endParaRPr sz="1200" b="0" i="0" u="none" strike="noStrike" cap="none">
              <a:solidFill>
                <a:srgbClr val="0033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6" name="Google Shape;136;p6" descr="http://whatscookingamerica.net/EdibleFlowers/LavenderFlower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7288" y="3933825"/>
            <a:ext cx="2513012" cy="17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 descr="http://www.pecorfamily.com/Blog_202006_2D06_2D21_20Fence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3575" y="1484313"/>
            <a:ext cx="1728788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 descr="http://www.chicagoist.com/attachments/chicagoist_alicia/GEES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388" y="1484313"/>
            <a:ext cx="287972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2124075" y="5805488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Similarity</a:t>
            </a:r>
            <a:endParaRPr sz="2400" b="0" i="0" u="none" strike="noStrike" cap="none">
              <a:solidFill>
                <a:srgbClr val="0033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0" name="Google Shape;140;p6" descr="http://www.doorexchange.net/Door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31088" y="1484313"/>
            <a:ext cx="1389062" cy="22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 descr="http://middlezonemusings.com/wp-content/uploads/2007/03/eiffel-tower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64163" y="3860800"/>
            <a:ext cx="1417637" cy="1890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 descr="http://www.seedmagazine.com/news/uploads/attractive_article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64163" y="1484313"/>
            <a:ext cx="1673225" cy="22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7092950" y="5589588"/>
            <a:ext cx="13239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Symmetry</a:t>
            </a:r>
            <a:endParaRPr/>
          </a:p>
        </p:txBody>
      </p:sp>
      <p:cxnSp>
        <p:nvCxnSpPr>
          <p:cNvPr id="144" name="Google Shape;144;p6"/>
          <p:cNvCxnSpPr/>
          <p:nvPr/>
        </p:nvCxnSpPr>
        <p:spPr>
          <a:xfrm rot="5400000">
            <a:off x="2771775" y="3789363"/>
            <a:ext cx="47529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5" name="Google Shape;145;p6" descr="http://wwwdelivery.superstock.com/WI/223/1532/PreviewComp/SuperStock_1532R-0831.jp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9388" y="3933825"/>
            <a:ext cx="2160587" cy="1728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" descr="http://www.global-b2b-network.com/direct/dbimage/50158606/Glass_Vase.jpg"/>
          <p:cNvPicPr preferRelativeResize="0"/>
          <p:nvPr/>
        </p:nvPicPr>
        <p:blipFill rotWithShape="1">
          <a:blip r:embed="rId10">
            <a:alphaModFix/>
          </a:blip>
          <a:srcRect t="29700" r="32800" b="30402"/>
          <a:stretch/>
        </p:blipFill>
        <p:spPr>
          <a:xfrm>
            <a:off x="6804025" y="4149725"/>
            <a:ext cx="2305050" cy="1366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Gestalt laws</a:t>
            </a:r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©2019, Selim Aksoy</a:t>
            </a:r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900" b="0" i="0" u="none" strike="noStrike" cap="none">
              <a:solidFill>
                <a:srgbClr val="0033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5364163" y="6249988"/>
            <a:ext cx="3429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Adapted from Kristen Grauman</a:t>
            </a:r>
            <a:endParaRPr sz="1200" b="0" i="0" u="none" strike="noStrike" cap="none">
              <a:solidFill>
                <a:srgbClr val="0033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5" name="Google Shape;155;p7" descr="http://www.capital.edu/Resources/Images/outside6_03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50" y="1412875"/>
            <a:ext cx="5257800" cy="2087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 descr="http://img.photobucket.com/albums/v338/CarolinaClay/OFC%20Blog/books.jpg"/>
          <p:cNvPicPr preferRelativeResize="0"/>
          <p:nvPr/>
        </p:nvPicPr>
        <p:blipFill rotWithShape="1">
          <a:blip r:embed="rId4">
            <a:alphaModFix/>
          </a:blip>
          <a:srcRect t="46950" r="26448"/>
          <a:stretch/>
        </p:blipFill>
        <p:spPr>
          <a:xfrm>
            <a:off x="827088" y="3644900"/>
            <a:ext cx="4040187" cy="1944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5963" y="3460750"/>
            <a:ext cx="3222625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 descr="http://www.lilano.de/catalog/images/traffic-berlin_200509DSC4853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40438" y="1412875"/>
            <a:ext cx="289560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/>
        </p:nvSpPr>
        <p:spPr>
          <a:xfrm>
            <a:off x="6611938" y="5692775"/>
            <a:ext cx="17049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Common fate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2339975" y="5661025"/>
            <a:ext cx="122713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Proximity</a:t>
            </a:r>
            <a:endParaRPr/>
          </a:p>
        </p:txBody>
      </p:sp>
      <p:cxnSp>
        <p:nvCxnSpPr>
          <p:cNvPr id="161" name="Google Shape;161;p7"/>
          <p:cNvCxnSpPr/>
          <p:nvPr/>
        </p:nvCxnSpPr>
        <p:spPr>
          <a:xfrm rot="5400000">
            <a:off x="3204369" y="3717132"/>
            <a:ext cx="475138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Edge Based Segmentation</a:t>
            </a:r>
            <a:endParaRPr/>
          </a:p>
        </p:txBody>
      </p:sp>
      <p:sp>
        <p:nvSpPr>
          <p:cNvPr id="167" name="Google Shape;167;p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Obtain the </a:t>
            </a:r>
            <a:r>
              <a:rPr lang="en-US" sz="2800" b="1"/>
              <a:t>edge map </a:t>
            </a:r>
            <a:r>
              <a:rPr lang="en-US" sz="2800"/>
              <a:t>at the output of an edge detection algorithm.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/>
              <a:t>Extract the </a:t>
            </a:r>
            <a:r>
              <a:rPr lang="en-US" sz="2800" b="1"/>
              <a:t>Boundary</a:t>
            </a:r>
            <a:r>
              <a:rPr lang="en-US" sz="2800"/>
              <a:t> using the edge map.</a:t>
            </a:r>
            <a:endParaRPr/>
          </a:p>
        </p:txBody>
      </p:sp>
      <p:sp>
        <p:nvSpPr>
          <p:cNvPr id="168" name="Google Shape;168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107C4-E6B8-416D-81C4-945126299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322" y="3351448"/>
            <a:ext cx="6871041" cy="3506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Output of Step 1: Laplacian operators</a:t>
            </a:r>
            <a:endParaRPr dirty="0"/>
          </a:p>
        </p:txBody>
      </p:sp>
      <p:sp>
        <p:nvSpPr>
          <p:cNvPr id="266" name="Google Shape;266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A75A10-8F11-4955-9FA2-7263F4A36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73" y="2129677"/>
            <a:ext cx="7352763" cy="3692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Marr/Hildreth edge detector</a:t>
            </a:r>
            <a:endParaRPr/>
          </a:p>
        </p:txBody>
      </p:sp>
      <p:sp>
        <p:nvSpPr>
          <p:cNvPr id="336" name="Google Shape;336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Step 1:</a:t>
            </a:r>
            <a:r>
              <a:rPr lang="en-US" dirty="0"/>
              <a:t> Convolve the image with  the Laplacian of Gaussian filter  and find  the zero crossings.</a:t>
            </a:r>
          </a:p>
          <a:p>
            <a:pPr marL="114300" indent="0">
              <a:buNone/>
            </a:pPr>
            <a:r>
              <a:rPr lang="en-US" b="1" dirty="0"/>
              <a:t>Step 2: </a:t>
            </a:r>
            <a:r>
              <a:rPr lang="en-US" dirty="0"/>
              <a:t> Convolve the image by gradient filters defined in horizontal, vertical, left diagonal and right diagonal directions and keep the edge direction providing the  largest magnitude.</a:t>
            </a:r>
          </a:p>
          <a:p>
            <a:pPr marL="114300" indent="0">
              <a:buNone/>
            </a:pPr>
            <a:r>
              <a:rPr lang="en-US" b="1" dirty="0"/>
              <a:t>Step 3: </a:t>
            </a:r>
            <a:r>
              <a:rPr lang="en-US" dirty="0"/>
              <a:t> Keep the zero crossings obtained in Step 1, whose corresponding  magnitude of the gradient above a specified threshold. </a:t>
            </a:r>
          </a:p>
          <a:p>
            <a:pPr marL="114300" indent="0">
              <a:buNone/>
            </a:pPr>
            <a:endParaRPr sz="2400" dirty="0"/>
          </a:p>
        </p:txBody>
      </p:sp>
      <p:sp>
        <p:nvSpPr>
          <p:cNvPr id="337" name="Google Shape;337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Marr/Hildreth edge detector</a:t>
            </a:r>
            <a:endParaRPr/>
          </a:p>
        </p:txBody>
      </p:sp>
      <p:sp>
        <p:nvSpPr>
          <p:cNvPr id="343" name="Google Shape;343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 484, Spring 2009</a:t>
            </a:r>
            <a:endParaRPr/>
          </a:p>
        </p:txBody>
      </p:sp>
      <p:sp>
        <p:nvSpPr>
          <p:cNvPr id="344" name="Google Shape;344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©2009, Selim Aksoy</a:t>
            </a:r>
            <a:endParaRPr/>
          </a:p>
        </p:txBody>
      </p:sp>
      <p:sp>
        <p:nvSpPr>
          <p:cNvPr id="345" name="Google Shape;345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6" name="Google Shape;34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600200"/>
            <a:ext cx="6769100" cy="5068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1225" y="1412875"/>
            <a:ext cx="141605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>
            <a:spLocks noGrp="1"/>
          </p:cNvSpPr>
          <p:nvPr>
            <p:ph type="title"/>
          </p:nvPr>
        </p:nvSpPr>
        <p:spPr>
          <a:xfrm>
            <a:off x="895350" y="495118"/>
            <a:ext cx="7924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Canny edge detector (J. Canny 1986)</a:t>
            </a:r>
            <a:endParaRPr/>
          </a:p>
        </p:txBody>
      </p:sp>
      <p:sp>
        <p:nvSpPr>
          <p:cNvPr id="353" name="Google Shape;353;p31"/>
          <p:cNvSpPr txBox="1">
            <a:spLocks noGrp="1"/>
          </p:cNvSpPr>
          <p:nvPr>
            <p:ph type="body" idx="1"/>
          </p:nvPr>
        </p:nvSpPr>
        <p:spPr>
          <a:xfrm>
            <a:off x="323850" y="1447800"/>
            <a:ext cx="84963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lvl="0" indent="-5334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60"/>
              <a:buFont typeface="Noto Sans Symbols"/>
              <a:buAutoNum type="arabicPeriod"/>
            </a:pPr>
            <a:r>
              <a:rPr lang="en-US" sz="2800">
                <a:solidFill>
                  <a:schemeClr val="hlink"/>
                </a:solidFill>
              </a:rPr>
              <a:t>Smooth</a:t>
            </a:r>
            <a:r>
              <a:rPr lang="en-US" sz="2800"/>
              <a:t> the image with a Gaussian filter </a:t>
            </a:r>
            <a:endParaRPr/>
          </a:p>
          <a:p>
            <a:pPr marL="533400" lvl="0" indent="-53340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Noto Sans Symbols"/>
              <a:buAutoNum type="arabicPeriod"/>
            </a:pPr>
            <a:r>
              <a:rPr lang="en-US" sz="2800"/>
              <a:t>Compute gradient </a:t>
            </a:r>
            <a:r>
              <a:rPr lang="en-US" sz="2800">
                <a:solidFill>
                  <a:schemeClr val="hlink"/>
                </a:solidFill>
              </a:rPr>
              <a:t>magnitude and direction</a:t>
            </a:r>
            <a:r>
              <a:rPr lang="en-US" sz="2800"/>
              <a:t> at each pixel of the smoothed image.</a:t>
            </a:r>
            <a:endParaRPr/>
          </a:p>
          <a:p>
            <a:pPr marL="533400" lvl="0" indent="-53340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660"/>
              <a:buFont typeface="Noto Sans Symbols"/>
              <a:buAutoNum type="arabicPeriod"/>
            </a:pPr>
            <a:r>
              <a:rPr lang="en-US" sz="2800">
                <a:solidFill>
                  <a:srgbClr val="FF0000"/>
                </a:solidFill>
              </a:rPr>
              <a:t>Non-maxima suppression: </a:t>
            </a:r>
            <a:r>
              <a:rPr lang="en-US" sz="2800"/>
              <a:t>Zero out any pixel response less than or equal to the two neighboring pixels on either side of it, along the direction of the gradient</a:t>
            </a:r>
            <a:endParaRPr/>
          </a:p>
          <a:p>
            <a:pPr marL="533400" lvl="0" indent="-53340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660"/>
              <a:buFont typeface="Noto Sans Symbols"/>
              <a:buAutoNum type="arabicPeriod"/>
            </a:pPr>
            <a:r>
              <a:rPr lang="en-US" sz="2800">
                <a:solidFill>
                  <a:srgbClr val="FF0000"/>
                </a:solidFill>
              </a:rPr>
              <a:t>Hysteresis thresholding</a:t>
            </a:r>
            <a:r>
              <a:rPr lang="en-US" sz="2800">
                <a:solidFill>
                  <a:schemeClr val="hlink"/>
                </a:solidFill>
              </a:rPr>
              <a:t>: </a:t>
            </a:r>
            <a:r>
              <a:rPr lang="en-US" sz="2800"/>
              <a:t>Track high-magnitude contours using thresholding</a:t>
            </a:r>
            <a:endParaRPr/>
          </a:p>
          <a:p>
            <a:pPr marL="533400" lvl="0" indent="-53340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hlink"/>
              </a:buClr>
              <a:buSzPts val="2660"/>
              <a:buFont typeface="Noto Sans Symbols"/>
              <a:buAutoNum type="arabicPeriod"/>
            </a:pPr>
            <a:r>
              <a:rPr lang="en-US" sz="2800">
                <a:solidFill>
                  <a:schemeClr val="hlink"/>
                </a:solidFill>
              </a:rPr>
              <a:t>Keep </a:t>
            </a:r>
            <a:r>
              <a:rPr lang="en-US" sz="2800"/>
              <a:t>only pixels along these contours, so weak little segments go away.</a:t>
            </a:r>
            <a:endParaRPr/>
          </a:p>
        </p:txBody>
      </p:sp>
      <p:sp>
        <p:nvSpPr>
          <p:cNvPr id="354" name="Google Shape;354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0000"/>
                </a:solidFill>
              </a:rPr>
              <a:t>Step 3: Non-maxima suppression</a:t>
            </a:r>
            <a:endParaRPr/>
          </a:p>
        </p:txBody>
      </p:sp>
      <p:sp>
        <p:nvSpPr>
          <p:cNvPr id="360" name="Google Shape;360;p32"/>
          <p:cNvSpPr txBox="1">
            <a:spLocks noGrp="1"/>
          </p:cNvSpPr>
          <p:nvPr>
            <p:ph type="body" idx="1"/>
          </p:nvPr>
        </p:nvSpPr>
        <p:spPr>
          <a:xfrm>
            <a:off x="20638" y="1919288"/>
            <a:ext cx="426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Suppress an edge pixel  that is not higher than the two neighboring pixels on either side of it along the direction of the gradient.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This operation can be used with any edge operator when thin boundaries are wanted.</a:t>
            </a:r>
            <a:endParaRPr dirty="0"/>
          </a:p>
        </p:txBody>
      </p:sp>
      <p:sp>
        <p:nvSpPr>
          <p:cNvPr id="361" name="Google Shape;361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304800" y="5440363"/>
            <a:ext cx="822801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Brighter squares illustrate stronger edge response.</a:t>
            </a:r>
            <a:endParaRPr/>
          </a:p>
        </p:txBody>
      </p:sp>
      <p:grpSp>
        <p:nvGrpSpPr>
          <p:cNvPr id="363" name="Google Shape;363;p32"/>
          <p:cNvGrpSpPr/>
          <p:nvPr/>
        </p:nvGrpSpPr>
        <p:grpSpPr>
          <a:xfrm>
            <a:off x="4287838" y="1919288"/>
            <a:ext cx="4716462" cy="3384550"/>
            <a:chOff x="2880" y="1162"/>
            <a:chExt cx="2880" cy="2100"/>
          </a:xfrm>
        </p:grpSpPr>
        <p:pic>
          <p:nvPicPr>
            <p:cNvPr id="364" name="Google Shape;364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80" y="1207"/>
              <a:ext cx="2880" cy="20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2"/>
            <p:cNvSpPr/>
            <p:nvPr/>
          </p:nvSpPr>
          <p:spPr>
            <a:xfrm>
              <a:off x="4740" y="1162"/>
              <a:ext cx="227" cy="9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66" name="Google Shape;366;p32"/>
          <p:cNvSpPr txBox="1"/>
          <p:nvPr/>
        </p:nvSpPr>
        <p:spPr>
          <a:xfrm>
            <a:off x="5364163" y="6249988"/>
            <a:ext cx="3429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Martial Hebert, CMU</a:t>
            </a:r>
            <a:endParaRPr sz="12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 txBox="1">
            <a:spLocks noGrp="1"/>
          </p:cNvSpPr>
          <p:nvPr>
            <p:ph type="title"/>
          </p:nvPr>
        </p:nvSpPr>
        <p:spPr>
          <a:xfrm>
            <a:off x="460375" y="20638"/>
            <a:ext cx="7772400" cy="157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0000"/>
                </a:solidFill>
              </a:rPr>
              <a:t>Step 4: Hysteresis thresholding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Google Shape;372;p3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33400" y="1357604"/>
                <a:ext cx="7924800" cy="4585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514350" lvl="1" indent="-1714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/>
                  <a:t>Start contour following with an edge pixel, where the gradient magnitude meets a high threshold,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514350" lvl="1" indent="-171450">
                  <a:buSzPts val="2400"/>
                </a:pPr>
                <a:r>
                  <a:rPr lang="en-US" sz="2400" dirty="0"/>
                  <a:t>Continue contour  following through pixels whose gradient magnitude meet a lower threshold,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baseline="-25000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= 0.5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400" dirty="0"/>
              </a:p>
              <a:p>
                <a:pPr marL="514350" lvl="1" indent="-171450">
                  <a:buSzPts val="2400"/>
                </a:pPr>
                <a:r>
                  <a:rPr lang="en-US" sz="2400" dirty="0"/>
                  <a:t>Remove  the contour segments, shorter than a predefined length,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pixels.</a:t>
                </a:r>
              </a:p>
              <a:p>
                <a:pPr marL="514350" lvl="1" indent="-171450">
                  <a:buSzPts val="2400"/>
                </a:pPr>
                <a:endParaRPr dirty="0"/>
              </a:p>
            </p:txBody>
          </p:sp>
        </mc:Choice>
        <mc:Fallback xmlns="">
          <p:sp>
            <p:nvSpPr>
              <p:cNvPr id="372" name="Google Shape;372;p3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3400" y="1357604"/>
                <a:ext cx="7924800" cy="4585996"/>
              </a:xfrm>
              <a:prstGeom prst="rect">
                <a:avLst/>
              </a:prstGeom>
              <a:blipFill>
                <a:blip r:embed="rId3"/>
                <a:stretch>
                  <a:fillRect t="-798" r="-1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" name="Google Shape;373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Ceng466</a:t>
            </a:r>
            <a:endParaRPr/>
          </a:p>
        </p:txBody>
      </p:sp>
      <p:sp>
        <p:nvSpPr>
          <p:cNvPr id="374" name="Google Shape;374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Google Shape;381;p34">
            <a:extLst>
              <a:ext uri="{FF2B5EF4-FFF2-40B4-BE49-F238E27FC236}">
                <a16:creationId xmlns:a16="http://schemas.microsoft.com/office/drawing/2014/main" id="{E15B1CAF-4875-4B2B-A91B-1047801F1A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3596951"/>
            <a:ext cx="5057192" cy="30571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82;p34">
            <a:extLst>
              <a:ext uri="{FF2B5EF4-FFF2-40B4-BE49-F238E27FC236}">
                <a16:creationId xmlns:a16="http://schemas.microsoft.com/office/drawing/2014/main" id="{64A32F50-0365-4419-9E66-D2B19C302A07}"/>
              </a:ext>
            </a:extLst>
          </p:cNvPr>
          <p:cNvSpPr txBox="1"/>
          <p:nvPr/>
        </p:nvSpPr>
        <p:spPr>
          <a:xfrm>
            <a:off x="5364163" y="6323013"/>
            <a:ext cx="3429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Times New Roman"/>
              <a:buNone/>
            </a:pPr>
            <a:r>
              <a:rPr lang="en-US" sz="1200" dirty="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Martial Hebert, CMU</a:t>
            </a:r>
            <a:endParaRPr sz="1200" dirty="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Canny edge detector</a:t>
            </a:r>
            <a:endParaRPr/>
          </a:p>
        </p:txBody>
      </p:sp>
      <p:sp>
        <p:nvSpPr>
          <p:cNvPr id="397" name="Google Shape;397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Ceng466</a:t>
            </a:r>
            <a:endParaRPr/>
          </a:p>
        </p:txBody>
      </p:sp>
      <p:sp>
        <p:nvSpPr>
          <p:cNvPr id="398" name="Google Shape;398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9" name="Google Shape;39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1535" y="1894114"/>
            <a:ext cx="5262466" cy="354563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 txBox="1"/>
          <p:nvPr/>
        </p:nvSpPr>
        <p:spPr>
          <a:xfrm>
            <a:off x="5364163" y="6249988"/>
            <a:ext cx="3429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Martial Hebert, CMU</a:t>
            </a:r>
            <a:endParaRPr sz="12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390;p35">
            <a:extLst>
              <a:ext uri="{FF2B5EF4-FFF2-40B4-BE49-F238E27FC236}">
                <a16:creationId xmlns:a16="http://schemas.microsoft.com/office/drawing/2014/main" id="{8E691100-75C3-42CE-9982-21EAACC65F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3822" t="8978" r="15407" b="15465"/>
          <a:stretch/>
        </p:blipFill>
        <p:spPr>
          <a:xfrm>
            <a:off x="289249" y="1814803"/>
            <a:ext cx="3592285" cy="3494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665163" y="282575"/>
            <a:ext cx="82613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en-US" sz="2970"/>
              <a:t>Marr-Hilderith vs. Canny</a:t>
            </a:r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©2009, Selim Aksoy</a:t>
            </a:r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8" name="Google Shape;40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0" y="1341438"/>
            <a:ext cx="6769100" cy="510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81850" y="576263"/>
            <a:ext cx="1765300" cy="587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0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Marr-Hilderith vs. Canny </a:t>
            </a:r>
            <a:endParaRPr/>
          </a:p>
        </p:txBody>
      </p:sp>
      <p:sp>
        <p:nvSpPr>
          <p:cNvPr id="433" name="Google Shape;433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4" name="Google Shape;43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173163"/>
            <a:ext cx="5111750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211138"/>
            <a:ext cx="1828800" cy="6110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Canny edge detector</a:t>
            </a:r>
            <a:endParaRPr/>
          </a:p>
        </p:txBody>
      </p:sp>
      <p:sp>
        <p:nvSpPr>
          <p:cNvPr id="441" name="Google Shape;441;p4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Canny operator gives single-pixel-wide images with good continuation between adjacent pixels.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It is the most widely used edge operator today; no one has done better since it came out in the late 80s. Many implementations are available.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It is very sensitive to its parameters, which need to be adjusted for different application domains.</a:t>
            </a:r>
            <a:endParaRPr dirty="0"/>
          </a:p>
        </p:txBody>
      </p:sp>
      <p:sp>
        <p:nvSpPr>
          <p:cNvPr id="442" name="Google Shape;442;p4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Edge Based Segmentation</a:t>
            </a:r>
            <a:endParaRPr/>
          </a:p>
        </p:txBody>
      </p:sp>
      <p:sp>
        <p:nvSpPr>
          <p:cNvPr id="448" name="Google Shape;448;p4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dirty="0"/>
              <a:t>Edge Detection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Calibri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Edge Linking and Boundary Extraction: Given the edge map at the output of an edge detection algorithm, find a closed boundary of a region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Calibri"/>
              <a:buAutoNum type="arabicPeriod"/>
            </a:pPr>
            <a:endParaRPr lang="en-US" sz="2800" dirty="0">
              <a:solidFill>
                <a:srgbClr val="C00000"/>
              </a:solidFill>
            </a:endParaRPr>
          </a:p>
          <a:p>
            <a:pPr marL="0" lvl="0" indent="0">
              <a:buClr>
                <a:srgbClr val="C00000"/>
              </a:buClr>
              <a:buSzPts val="2100"/>
              <a:buNone/>
            </a:pPr>
            <a:endParaRPr sz="2800" dirty="0"/>
          </a:p>
        </p:txBody>
      </p:sp>
      <p:sp>
        <p:nvSpPr>
          <p:cNvPr id="449" name="Google Shape;449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2. Edge Linking and Boundary Detection</a:t>
            </a:r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400" dirty="0"/>
              <a:t>1. Hough transform</a:t>
            </a:r>
          </a:p>
          <a:p>
            <a:pPr marL="114300" indent="0">
              <a:buNone/>
            </a:pPr>
            <a:r>
              <a:rPr lang="en-US" sz="2400" dirty="0"/>
              <a:t>2. Polygon approximation</a:t>
            </a:r>
          </a:p>
          <a:p>
            <a:pPr marL="114300" indent="0">
              <a:buNone/>
            </a:pPr>
            <a:r>
              <a:rPr lang="en-US" sz="2400" dirty="0"/>
              <a:t>3. Super slice method</a:t>
            </a:r>
            <a:endParaRPr lang="en-US" dirty="0"/>
          </a:p>
        </p:txBody>
      </p:sp>
      <p:sp>
        <p:nvSpPr>
          <p:cNvPr id="456" name="Google Shape;456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7" name="Google Shape;457;p43"/>
          <p:cNvPicPr preferRelativeResize="0"/>
          <p:nvPr/>
        </p:nvPicPr>
        <p:blipFill rotWithShape="1">
          <a:blip r:embed="rId3">
            <a:alphaModFix/>
          </a:blip>
          <a:srcRect t="50343" r="49317"/>
          <a:stretch/>
        </p:blipFill>
        <p:spPr>
          <a:xfrm>
            <a:off x="4495800" y="2401457"/>
            <a:ext cx="3886200" cy="378857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3"/>
          <p:cNvSpPr/>
          <p:nvPr/>
        </p:nvSpPr>
        <p:spPr>
          <a:xfrm>
            <a:off x="5105400" y="2819400"/>
            <a:ext cx="2743200" cy="3200400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4"/>
          <p:cNvSpPr txBox="1">
            <a:spLocks noGrp="1"/>
          </p:cNvSpPr>
          <p:nvPr>
            <p:ph type="title"/>
          </p:nvPr>
        </p:nvSpPr>
        <p:spPr>
          <a:xfrm>
            <a:off x="652832" y="220615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/>
              <a:t>1. Hough Transform</a:t>
            </a:r>
            <a:endParaRPr dirty="0"/>
          </a:p>
        </p:txBody>
      </p:sp>
      <p:sp>
        <p:nvSpPr>
          <p:cNvPr id="465" name="Google Shape;465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D0AA37A-BAC6-49F3-AE38-5D1F1A585E34}"/>
                  </a:ext>
                </a:extLst>
              </p:cNvPr>
              <p:cNvSpPr/>
              <p:nvPr/>
            </p:nvSpPr>
            <p:spPr>
              <a:xfrm>
                <a:off x="882977" y="2595570"/>
                <a:ext cx="73780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+………+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D0AA37A-BAC6-49F3-AE38-5D1F1A585E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77" y="2595570"/>
                <a:ext cx="7378045" cy="523220"/>
              </a:xfrm>
              <a:prstGeom prst="rect">
                <a:avLst/>
              </a:prstGeom>
              <a:blipFill>
                <a:blip r:embed="rId3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21F121-C68D-40D8-AF26-E22D49F4F36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3833" y="1035699"/>
                <a:ext cx="7941517" cy="189962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Goal: Given a data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𝑦𝑖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}, </m:t>
                    </m:r>
                  </m:oMath>
                </a14:m>
                <a:r>
                  <a:rPr lang="en-US" sz="2400" dirty="0"/>
                  <a:t>estimate the parameters of an analytical function to fit the dataset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21F121-C68D-40D8-AF26-E22D49F4F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3833" y="1035699"/>
                <a:ext cx="7941517" cy="1899626"/>
              </a:xfrm>
              <a:blipFill>
                <a:blip r:embed="rId4"/>
                <a:stretch>
                  <a:fillRect r="-1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4"/>
          <p:cNvSpPr txBox="1">
            <a:spLocks noGrp="1"/>
          </p:cNvSpPr>
          <p:nvPr>
            <p:ph type="title"/>
          </p:nvPr>
        </p:nvSpPr>
        <p:spPr>
          <a:xfrm>
            <a:off x="652832" y="220615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/>
              <a:t>Hough Transform and Hough Space</a:t>
            </a:r>
            <a:endParaRPr dirty="0"/>
          </a:p>
        </p:txBody>
      </p:sp>
      <p:sp>
        <p:nvSpPr>
          <p:cNvPr id="464" name="Google Shape;464;p44"/>
          <p:cNvSpPr txBox="1">
            <a:spLocks noGrp="1"/>
          </p:cNvSpPr>
          <p:nvPr>
            <p:ph type="body" idx="1"/>
          </p:nvPr>
        </p:nvSpPr>
        <p:spPr>
          <a:xfrm>
            <a:off x="1468745" y="2590254"/>
            <a:ext cx="8589655" cy="44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22" t="-314854" b="-271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400" dirty="0"/>
              <a:t> Hough transform:</a:t>
            </a:r>
            <a:endParaRPr sz="2400" dirty="0"/>
          </a:p>
        </p:txBody>
      </p:sp>
      <p:sp>
        <p:nvSpPr>
          <p:cNvPr id="465" name="Google Shape;465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1024785" y="3518212"/>
            <a:ext cx="2295525" cy="1952625"/>
          </a:xfrm>
          <a:prstGeom prst="rect">
            <a:avLst/>
          </a:prstGeom>
          <a:solidFill>
            <a:srgbClr val="2F549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rgbClr val="FF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44"/>
          <p:cNvSpPr/>
          <p:nvPr/>
        </p:nvSpPr>
        <p:spPr>
          <a:xfrm>
            <a:off x="1862600" y="463795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44"/>
          <p:cNvSpPr/>
          <p:nvPr/>
        </p:nvSpPr>
        <p:spPr>
          <a:xfrm>
            <a:off x="1392545" y="4095823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44"/>
          <p:cNvSpPr/>
          <p:nvPr/>
        </p:nvSpPr>
        <p:spPr>
          <a:xfrm>
            <a:off x="2337424" y="459208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44"/>
          <p:cNvSpPr/>
          <p:nvPr/>
        </p:nvSpPr>
        <p:spPr>
          <a:xfrm>
            <a:off x="2487079" y="4269241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44"/>
          <p:cNvSpPr/>
          <p:nvPr/>
        </p:nvSpPr>
        <p:spPr>
          <a:xfrm>
            <a:off x="2619339" y="4095823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3" name="Google Shape;473;p44"/>
              <p:cNvSpPr txBox="1"/>
              <p:nvPr/>
            </p:nvSpPr>
            <p:spPr>
              <a:xfrm>
                <a:off x="200764" y="5675141"/>
                <a:ext cx="4066436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3366"/>
                  </a:buClr>
                  <a:buSzPts val="2400"/>
                  <a:buFont typeface="Calibri"/>
                  <a:buNone/>
                </a:pPr>
                <a:r>
                  <a:rPr lang="en-US" sz="2400" dirty="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 Space, spanned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3366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(</m:t>
                    </m:r>
                    <m:r>
                      <a:rPr lang="en-US" sz="2400" i="1" dirty="0" err="1">
                        <a:solidFill>
                          <a:srgbClr val="003366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𝑥</m:t>
                    </m:r>
                    <m:r>
                      <a:rPr lang="en-US" sz="2400" i="1" dirty="0" err="1">
                        <a:solidFill>
                          <a:srgbClr val="003366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,</m:t>
                    </m:r>
                    <m:r>
                      <a:rPr lang="en-US" sz="2400" i="1" dirty="0" err="1">
                        <a:solidFill>
                          <a:srgbClr val="003366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𝑦</m:t>
                    </m:r>
                    <m:r>
                      <a:rPr lang="en-US" sz="2400" i="1" dirty="0">
                        <a:solidFill>
                          <a:srgbClr val="003366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) </m:t>
                    </m:r>
                  </m:oMath>
                </a14:m>
                <a:r>
                  <a:rPr lang="en-US" sz="2400" dirty="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coordinates</a:t>
                </a:r>
                <a:endParaRPr dirty="0"/>
              </a:p>
            </p:txBody>
          </p:sp>
        </mc:Choice>
        <mc:Fallback xmlns="">
          <p:sp>
            <p:nvSpPr>
              <p:cNvPr id="473" name="Google Shape;473;p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64" y="5675141"/>
                <a:ext cx="4066436" cy="830997"/>
              </a:xfrm>
              <a:prstGeom prst="rect">
                <a:avLst/>
              </a:prstGeom>
              <a:blipFill>
                <a:blip r:embed="rId4"/>
                <a:stretch>
                  <a:fillRect l="-2399" t="-5882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4" name="Google Shape;474;p44"/>
          <p:cNvSpPr/>
          <p:nvPr/>
        </p:nvSpPr>
        <p:spPr>
          <a:xfrm>
            <a:off x="1396899" y="4253644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44"/>
          <p:cNvSpPr/>
          <p:nvPr/>
        </p:nvSpPr>
        <p:spPr>
          <a:xfrm>
            <a:off x="1562046" y="4412382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4"/>
          <p:cNvSpPr/>
          <p:nvPr/>
        </p:nvSpPr>
        <p:spPr>
          <a:xfrm>
            <a:off x="2024696" y="477609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44"/>
          <p:cNvSpPr/>
          <p:nvPr/>
        </p:nvSpPr>
        <p:spPr>
          <a:xfrm>
            <a:off x="2199518" y="4740281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44"/>
          <p:cNvSpPr/>
          <p:nvPr/>
        </p:nvSpPr>
        <p:spPr>
          <a:xfrm>
            <a:off x="2620429" y="3928299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44"/>
          <p:cNvSpPr/>
          <p:nvPr/>
        </p:nvSpPr>
        <p:spPr>
          <a:xfrm>
            <a:off x="2778439" y="381286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44"/>
          <p:cNvSpPr/>
          <p:nvPr/>
        </p:nvSpPr>
        <p:spPr>
          <a:xfrm>
            <a:off x="1213939" y="3958600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44"/>
          <p:cNvSpPr/>
          <p:nvPr/>
        </p:nvSpPr>
        <p:spPr>
          <a:xfrm>
            <a:off x="5289115" y="3355677"/>
            <a:ext cx="2454058" cy="1870799"/>
          </a:xfrm>
          <a:custGeom>
            <a:avLst/>
            <a:gdLst/>
            <a:ahLst/>
            <a:cxnLst/>
            <a:rect l="l" t="t" r="r" b="b"/>
            <a:pathLst>
              <a:path w="2454058" h="1870799" extrusionOk="0">
                <a:moveTo>
                  <a:pt x="1044716" y="235219"/>
                </a:moveTo>
                <a:cubicBezTo>
                  <a:pt x="702905" y="494299"/>
                  <a:pt x="-111347" y="1286779"/>
                  <a:pt x="12750" y="1554568"/>
                </a:cubicBezTo>
                <a:cubicBezTo>
                  <a:pt x="136847" y="1822357"/>
                  <a:pt x="1399590" y="1926860"/>
                  <a:pt x="1789299" y="1841951"/>
                </a:cubicBezTo>
                <a:cubicBezTo>
                  <a:pt x="2179008" y="1757042"/>
                  <a:pt x="2244322" y="1317259"/>
                  <a:pt x="2351002" y="1045116"/>
                </a:cubicBezTo>
                <a:cubicBezTo>
                  <a:pt x="2457682" y="772973"/>
                  <a:pt x="2477276" y="383264"/>
                  <a:pt x="2429379" y="209093"/>
                </a:cubicBezTo>
                <a:cubicBezTo>
                  <a:pt x="2381482" y="34922"/>
                  <a:pt x="2287865" y="-2089"/>
                  <a:pt x="2063619" y="88"/>
                </a:cubicBezTo>
                <a:cubicBezTo>
                  <a:pt x="1839373" y="2265"/>
                  <a:pt x="1386527" y="-23861"/>
                  <a:pt x="1044716" y="235219"/>
                </a:cubicBezTo>
                <a:close/>
              </a:path>
            </a:pathLst>
          </a:custGeom>
          <a:gradFill>
            <a:gsLst>
              <a:gs pos="0">
                <a:srgbClr val="92AAEA"/>
              </a:gs>
              <a:gs pos="50000">
                <a:srgbClr val="BDCAF0"/>
              </a:gs>
              <a:gs pos="100000">
                <a:srgbClr val="DEE4F7"/>
              </a:gs>
            </a:gsLst>
            <a:lin ang="540000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44"/>
          <p:cNvSpPr/>
          <p:nvPr/>
        </p:nvSpPr>
        <p:spPr>
          <a:xfrm>
            <a:off x="4154988" y="4329976"/>
            <a:ext cx="899341" cy="18466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44"/>
          <p:cNvSpPr txBox="1"/>
          <p:nvPr/>
        </p:nvSpPr>
        <p:spPr>
          <a:xfrm>
            <a:off x="4876800" y="5567731"/>
            <a:ext cx="4138623" cy="8309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453" t="-4476" b="-1343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84" name="Google Shape;484;p44"/>
          <p:cNvSpPr txBox="1"/>
          <p:nvPr/>
        </p:nvSpPr>
        <p:spPr>
          <a:xfrm>
            <a:off x="1340862" y="3034413"/>
            <a:ext cx="1457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Map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D0AA37A-BAC6-49F3-AE38-5D1F1A585E34}"/>
                  </a:ext>
                </a:extLst>
              </p:cNvPr>
              <p:cNvSpPr/>
              <p:nvPr/>
            </p:nvSpPr>
            <p:spPr>
              <a:xfrm>
                <a:off x="850009" y="1249767"/>
                <a:ext cx="7378045" cy="12618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Given, a dataset of points and analytic function: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+………+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D0AA37A-BAC6-49F3-AE38-5D1F1A585E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09" y="1249767"/>
                <a:ext cx="7378045" cy="1261884"/>
              </a:xfrm>
              <a:prstGeom prst="rect">
                <a:avLst/>
              </a:prstGeom>
              <a:blipFill>
                <a:blip r:embed="rId6"/>
                <a:stretch>
                  <a:fillRect l="-1239" t="-3382" b="-12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013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2105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Hough Transform for Detection Line Segments</a:t>
            </a:r>
            <a:endParaRPr/>
          </a:p>
        </p:txBody>
      </p:sp>
      <p:sp>
        <p:nvSpPr>
          <p:cNvPr id="490" name="Google Shape;490;p4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Goal: </a:t>
            </a:r>
            <a:r>
              <a:rPr lang="en-US" sz="2400"/>
              <a:t>Given an edge map, find the best parameter pair (a,b) to fit a line to the edges.</a:t>
            </a:r>
            <a:endParaRPr sz="2400"/>
          </a:p>
        </p:txBody>
      </p:sp>
      <p:sp>
        <p:nvSpPr>
          <p:cNvPr id="491" name="Google Shape;491;p4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ceng466</a:t>
            </a:r>
            <a:endParaRPr/>
          </a:p>
        </p:txBody>
      </p:sp>
      <p:sp>
        <p:nvSpPr>
          <p:cNvPr id="492" name="Google Shape;492;p4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45"/>
          <p:cNvSpPr/>
          <p:nvPr/>
        </p:nvSpPr>
        <p:spPr>
          <a:xfrm>
            <a:off x="761999" y="3620427"/>
            <a:ext cx="3200399" cy="2653988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rgbClr val="FF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45"/>
          <p:cNvSpPr/>
          <p:nvPr/>
        </p:nvSpPr>
        <p:spPr>
          <a:xfrm>
            <a:off x="1712672" y="5154562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45"/>
          <p:cNvSpPr/>
          <p:nvPr/>
        </p:nvSpPr>
        <p:spPr>
          <a:xfrm>
            <a:off x="1232769" y="5559810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45"/>
          <p:cNvSpPr/>
          <p:nvPr/>
        </p:nvSpPr>
        <p:spPr>
          <a:xfrm>
            <a:off x="2319978" y="4592084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45"/>
          <p:cNvSpPr/>
          <p:nvPr/>
        </p:nvSpPr>
        <p:spPr>
          <a:xfrm>
            <a:off x="2362199" y="4384943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45"/>
          <p:cNvSpPr/>
          <p:nvPr/>
        </p:nvSpPr>
        <p:spPr>
          <a:xfrm>
            <a:off x="2577493" y="4177802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45"/>
          <p:cNvSpPr/>
          <p:nvPr/>
        </p:nvSpPr>
        <p:spPr>
          <a:xfrm>
            <a:off x="3009375" y="4177800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45"/>
          <p:cNvSpPr/>
          <p:nvPr/>
        </p:nvSpPr>
        <p:spPr>
          <a:xfrm>
            <a:off x="1440010" y="5361703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45"/>
          <p:cNvSpPr/>
          <p:nvPr/>
        </p:nvSpPr>
        <p:spPr>
          <a:xfrm>
            <a:off x="1951391" y="4947421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45"/>
          <p:cNvSpPr/>
          <p:nvPr/>
        </p:nvSpPr>
        <p:spPr>
          <a:xfrm>
            <a:off x="2182072" y="4740280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45"/>
          <p:cNvSpPr/>
          <p:nvPr/>
        </p:nvSpPr>
        <p:spPr>
          <a:xfrm>
            <a:off x="2584427" y="3970661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45"/>
          <p:cNvSpPr/>
          <p:nvPr/>
        </p:nvSpPr>
        <p:spPr>
          <a:xfrm>
            <a:off x="2789967" y="4177801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45"/>
          <p:cNvSpPr/>
          <p:nvPr/>
        </p:nvSpPr>
        <p:spPr>
          <a:xfrm>
            <a:off x="1001060" y="5568844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6" name="Google Shape;506;p45"/>
          <p:cNvCxnSpPr/>
          <p:nvPr/>
        </p:nvCxnSpPr>
        <p:spPr>
          <a:xfrm rot="10800000" flipH="1">
            <a:off x="838200" y="3970661"/>
            <a:ext cx="2514600" cy="1896739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7" name="Google Shape;507;p45"/>
          <p:cNvSpPr/>
          <p:nvPr/>
        </p:nvSpPr>
        <p:spPr>
          <a:xfrm>
            <a:off x="3846248" y="3739828"/>
            <a:ext cx="1855443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78" b="-184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2105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Hough Transform for Detection Line Segments</a:t>
            </a:r>
            <a:endParaRPr/>
          </a:p>
        </p:txBody>
      </p:sp>
      <p:sp>
        <p:nvSpPr>
          <p:cNvPr id="513" name="Google Shape;513;p46"/>
          <p:cNvSpPr txBox="1">
            <a:spLocks noGrp="1"/>
          </p:cNvSpPr>
          <p:nvPr>
            <p:ph type="body" idx="1"/>
          </p:nvPr>
        </p:nvSpPr>
        <p:spPr>
          <a:xfrm>
            <a:off x="628650" y="1295400"/>
            <a:ext cx="7886700" cy="4881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85" t="-12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14" name="Google Shape;514;p4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ceng466</a:t>
            </a:r>
            <a:endParaRPr/>
          </a:p>
        </p:txBody>
      </p:sp>
      <p:sp>
        <p:nvSpPr>
          <p:cNvPr id="515" name="Google Shape;515;p4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6" name="Google Shape;51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9800" y="3663920"/>
            <a:ext cx="4765766" cy="2026564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6"/>
          <p:cNvSpPr/>
          <p:nvPr/>
        </p:nvSpPr>
        <p:spPr>
          <a:xfrm>
            <a:off x="912087" y="5848057"/>
            <a:ext cx="68087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Image Space                                      Hough Space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A Point in the image space corresponds to line in the parameter space.</a:t>
            </a:r>
            <a:endParaRPr/>
          </a:p>
        </p:txBody>
      </p:sp>
      <p:sp>
        <p:nvSpPr>
          <p:cNvPr id="523" name="Google Shape;523;p4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524" name="Google Shape;524;p47"/>
          <p:cNvPicPr preferRelativeResize="0"/>
          <p:nvPr/>
        </p:nvPicPr>
        <p:blipFill rotWithShape="1">
          <a:blip r:embed="rId3">
            <a:alphaModFix/>
          </a:blip>
          <a:srcRect l="34166"/>
          <a:stretch/>
        </p:blipFill>
        <p:spPr>
          <a:xfrm>
            <a:off x="1466850" y="2667000"/>
            <a:ext cx="6019800" cy="32004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221BDD8-813B-4222-BF13-5C51CA45B1AA}"/>
                  </a:ext>
                </a:extLst>
              </p:cNvPr>
              <p:cNvSpPr/>
              <p:nvPr/>
            </p:nvSpPr>
            <p:spPr>
              <a:xfrm>
                <a:off x="795149" y="5911812"/>
                <a:ext cx="66935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b="0" i="0" dirty="0">
                    <a:latin typeface="+mj-lt"/>
                  </a:rPr>
                  <a:t>b</a:t>
                </a:r>
                <a:r>
                  <a:rPr lang="en-US" sz="2800" i="0" dirty="0">
                    <a:latin typeface="+mj-lt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𝑎𝑥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221BDD8-813B-4222-BF13-5C51CA45B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49" y="5911812"/>
                <a:ext cx="6693564" cy="523220"/>
              </a:xfrm>
              <a:prstGeom prst="rect">
                <a:avLst/>
              </a:prstGeom>
              <a:blipFill>
                <a:blip r:embed="rId4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1EB5FF-CF14-4F9C-92D6-1287B9F66E9B}"/>
                  </a:ext>
                </a:extLst>
              </p:cNvPr>
              <p:cNvSpPr txBox="1"/>
              <p:nvPr/>
            </p:nvSpPr>
            <p:spPr>
              <a:xfrm>
                <a:off x="5948490" y="3520684"/>
                <a:ext cx="160364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1EB5FF-CF14-4F9C-92D6-1287B9F66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490" y="3520684"/>
                <a:ext cx="160364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Accumulator Cells</a:t>
            </a:r>
            <a:endParaRPr/>
          </a:p>
        </p:txBody>
      </p:sp>
      <p:sp>
        <p:nvSpPr>
          <p:cNvPr id="530" name="Google Shape;530;p48"/>
          <p:cNvSpPr txBox="1">
            <a:spLocks noGrp="1"/>
          </p:cNvSpPr>
          <p:nvPr>
            <p:ph type="body" idx="1"/>
          </p:nvPr>
        </p:nvSpPr>
        <p:spPr>
          <a:xfrm>
            <a:off x="628650" y="1496297"/>
            <a:ext cx="7886700" cy="468066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64" t="-20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31" name="Google Shape;531;p4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532" name="Google Shape;532;p48"/>
          <p:cNvSpPr/>
          <p:nvPr/>
        </p:nvSpPr>
        <p:spPr>
          <a:xfrm>
            <a:off x="761999" y="3620427"/>
            <a:ext cx="3200399" cy="2653988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rgbClr val="FF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p48"/>
          <p:cNvSpPr/>
          <p:nvPr/>
        </p:nvSpPr>
        <p:spPr>
          <a:xfrm>
            <a:off x="1712672" y="5154562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48"/>
          <p:cNvSpPr/>
          <p:nvPr/>
        </p:nvSpPr>
        <p:spPr>
          <a:xfrm>
            <a:off x="1232769" y="5559810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48"/>
          <p:cNvSpPr/>
          <p:nvPr/>
        </p:nvSpPr>
        <p:spPr>
          <a:xfrm>
            <a:off x="2319978" y="4592084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48"/>
          <p:cNvSpPr/>
          <p:nvPr/>
        </p:nvSpPr>
        <p:spPr>
          <a:xfrm>
            <a:off x="2362199" y="4384943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48"/>
          <p:cNvSpPr/>
          <p:nvPr/>
        </p:nvSpPr>
        <p:spPr>
          <a:xfrm>
            <a:off x="2577493" y="4177802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48"/>
          <p:cNvSpPr/>
          <p:nvPr/>
        </p:nvSpPr>
        <p:spPr>
          <a:xfrm>
            <a:off x="3009375" y="4177800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48"/>
          <p:cNvSpPr/>
          <p:nvPr/>
        </p:nvSpPr>
        <p:spPr>
          <a:xfrm>
            <a:off x="1440010" y="5361703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p48"/>
          <p:cNvSpPr/>
          <p:nvPr/>
        </p:nvSpPr>
        <p:spPr>
          <a:xfrm>
            <a:off x="1951391" y="4947421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48"/>
          <p:cNvSpPr/>
          <p:nvPr/>
        </p:nvSpPr>
        <p:spPr>
          <a:xfrm>
            <a:off x="2182072" y="4740280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48"/>
          <p:cNvSpPr/>
          <p:nvPr/>
        </p:nvSpPr>
        <p:spPr>
          <a:xfrm>
            <a:off x="2584427" y="3970661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48"/>
          <p:cNvSpPr/>
          <p:nvPr/>
        </p:nvSpPr>
        <p:spPr>
          <a:xfrm>
            <a:off x="2789967" y="4177801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p48"/>
          <p:cNvSpPr/>
          <p:nvPr/>
        </p:nvSpPr>
        <p:spPr>
          <a:xfrm>
            <a:off x="1001060" y="5568844"/>
            <a:ext cx="212474" cy="207141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5" name="Google Shape;545;p48"/>
          <p:cNvPicPr preferRelativeResize="0"/>
          <p:nvPr/>
        </p:nvPicPr>
        <p:blipFill rotWithShape="1">
          <a:blip r:embed="rId4">
            <a:alphaModFix/>
          </a:blip>
          <a:srcRect r="64765"/>
          <a:stretch/>
        </p:blipFill>
        <p:spPr>
          <a:xfrm>
            <a:off x="5029200" y="3483914"/>
            <a:ext cx="3755247" cy="2960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9"/>
          <p:cNvSpPr txBox="1">
            <a:spLocks noGrp="1"/>
          </p:cNvSpPr>
          <p:nvPr>
            <p:ph type="title"/>
          </p:nvPr>
        </p:nvSpPr>
        <p:spPr>
          <a:xfrm>
            <a:off x="628650" y="36023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Accumulator Cells in the Hough Space</a:t>
            </a:r>
            <a:endParaRPr/>
          </a:p>
        </p:txBody>
      </p:sp>
      <p:sp>
        <p:nvSpPr>
          <p:cNvPr id="551" name="Google Shape;551;p49"/>
          <p:cNvSpPr txBox="1">
            <a:spLocks noGrp="1"/>
          </p:cNvSpPr>
          <p:nvPr>
            <p:ph type="body" idx="1"/>
          </p:nvPr>
        </p:nvSpPr>
        <p:spPr>
          <a:xfrm>
            <a:off x="628650" y="1844510"/>
            <a:ext cx="78867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42" t="-20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52" name="Google Shape;552;p49"/>
          <p:cNvSpPr txBox="1">
            <a:spLocks noGrp="1"/>
          </p:cNvSpPr>
          <p:nvPr>
            <p:ph type="sldNum" idx="12"/>
          </p:nvPr>
        </p:nvSpPr>
        <p:spPr>
          <a:xfrm>
            <a:off x="6457950" y="636568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553" name="Google Shape;553;p49"/>
          <p:cNvPicPr preferRelativeResize="0"/>
          <p:nvPr/>
        </p:nvPicPr>
        <p:blipFill rotWithShape="1">
          <a:blip r:embed="rId4">
            <a:alphaModFix/>
          </a:blip>
          <a:srcRect r="65780"/>
          <a:stretch/>
        </p:blipFill>
        <p:spPr>
          <a:xfrm>
            <a:off x="2975677" y="3563935"/>
            <a:ext cx="3097503" cy="2747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Algorithm: Line Detection with Hough Transform</a:t>
            </a:r>
            <a:endParaRPr sz="4000"/>
          </a:p>
        </p:txBody>
      </p:sp>
      <p:sp>
        <p:nvSpPr>
          <p:cNvPr id="559" name="Google Shape;559;p50"/>
          <p:cNvSpPr txBox="1">
            <a:spLocks noGrp="1"/>
          </p:cNvSpPr>
          <p:nvPr>
            <p:ph type="body" idx="1"/>
          </p:nvPr>
        </p:nvSpPr>
        <p:spPr>
          <a:xfrm>
            <a:off x="628650" y="2005013"/>
            <a:ext cx="809625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123" t="-1748" r="-963" b="-14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dirty="0"/>
              <a:t> </a:t>
            </a:r>
            <a:endParaRPr dirty="0"/>
          </a:p>
        </p:txBody>
      </p:sp>
      <p:sp>
        <p:nvSpPr>
          <p:cNvPr id="560" name="Google Shape;560;p5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1"/>
          <p:cNvSpPr txBox="1">
            <a:spLocks noGrp="1"/>
          </p:cNvSpPr>
          <p:nvPr>
            <p:ph type="title"/>
          </p:nvPr>
        </p:nvSpPr>
        <p:spPr>
          <a:xfrm>
            <a:off x="381000" y="365126"/>
            <a:ext cx="8610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766" t="-12378" b="-1714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66" name="Google Shape;566;p5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cxnSp>
        <p:nvCxnSpPr>
          <p:cNvPr id="567" name="Google Shape;567;p51"/>
          <p:cNvCxnSpPr/>
          <p:nvPr/>
        </p:nvCxnSpPr>
        <p:spPr>
          <a:xfrm>
            <a:off x="628650" y="2795451"/>
            <a:ext cx="0" cy="167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8" name="Google Shape;568;p51"/>
          <p:cNvCxnSpPr/>
          <p:nvPr/>
        </p:nvCxnSpPr>
        <p:spPr>
          <a:xfrm>
            <a:off x="381000" y="4471851"/>
            <a:ext cx="1676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9" name="Google Shape;569;p51"/>
          <p:cNvCxnSpPr/>
          <p:nvPr/>
        </p:nvCxnSpPr>
        <p:spPr>
          <a:xfrm>
            <a:off x="3352800" y="2819400"/>
            <a:ext cx="0" cy="167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0" name="Google Shape;570;p51"/>
          <p:cNvCxnSpPr/>
          <p:nvPr/>
        </p:nvCxnSpPr>
        <p:spPr>
          <a:xfrm>
            <a:off x="3352800" y="4471851"/>
            <a:ext cx="1676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1" name="Google Shape;571;p51"/>
          <p:cNvCxnSpPr/>
          <p:nvPr/>
        </p:nvCxnSpPr>
        <p:spPr>
          <a:xfrm>
            <a:off x="381000" y="3505200"/>
            <a:ext cx="2057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2" name="Google Shape;572;p51"/>
          <p:cNvCxnSpPr/>
          <p:nvPr/>
        </p:nvCxnSpPr>
        <p:spPr>
          <a:xfrm>
            <a:off x="4267200" y="3024051"/>
            <a:ext cx="0" cy="1447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3" name="Google Shape;573;p51"/>
          <p:cNvSpPr/>
          <p:nvPr/>
        </p:nvSpPr>
        <p:spPr>
          <a:xfrm>
            <a:off x="2435838" y="5486399"/>
            <a:ext cx="416973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ax + b is not suitable (why?)</a:t>
            </a:r>
            <a:endParaRPr/>
          </a:p>
        </p:txBody>
      </p:sp>
      <p:grpSp>
        <p:nvGrpSpPr>
          <p:cNvPr id="574" name="Google Shape;574;p51"/>
          <p:cNvGrpSpPr/>
          <p:nvPr/>
        </p:nvGrpSpPr>
        <p:grpSpPr>
          <a:xfrm>
            <a:off x="6324600" y="2795451"/>
            <a:ext cx="1512888" cy="1584325"/>
            <a:chOff x="3061" y="3067"/>
            <a:chExt cx="953" cy="998"/>
          </a:xfrm>
        </p:grpSpPr>
        <p:sp>
          <p:nvSpPr>
            <p:cNvPr id="575" name="Google Shape;575;p51"/>
            <p:cNvSpPr/>
            <p:nvPr/>
          </p:nvSpPr>
          <p:spPr>
            <a:xfrm>
              <a:off x="3061" y="3067"/>
              <a:ext cx="95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6" name="Google Shape;576;p51"/>
            <p:cNvSpPr/>
            <p:nvPr/>
          </p:nvSpPr>
          <p:spPr>
            <a:xfrm>
              <a:off x="3061" y="3067"/>
              <a:ext cx="48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7" name="Google Shape;577;p51"/>
            <p:cNvSpPr/>
            <p:nvPr/>
          </p:nvSpPr>
          <p:spPr>
            <a:xfrm>
              <a:off x="3061" y="3067"/>
              <a:ext cx="24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8" name="Google Shape;578;p51"/>
            <p:cNvSpPr/>
            <p:nvPr/>
          </p:nvSpPr>
          <p:spPr>
            <a:xfrm>
              <a:off x="3544" y="3067"/>
              <a:ext cx="24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9" name="Google Shape;579;p51"/>
            <p:cNvSpPr/>
            <p:nvPr/>
          </p:nvSpPr>
          <p:spPr>
            <a:xfrm>
              <a:off x="3061" y="3067"/>
              <a:ext cx="953" cy="52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0" name="Google Shape;580;p51"/>
            <p:cNvSpPr/>
            <p:nvPr/>
          </p:nvSpPr>
          <p:spPr>
            <a:xfrm>
              <a:off x="3061" y="3067"/>
              <a:ext cx="953" cy="28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1" name="Google Shape;581;p51"/>
            <p:cNvSpPr/>
            <p:nvPr/>
          </p:nvSpPr>
          <p:spPr>
            <a:xfrm>
              <a:off x="3061" y="3595"/>
              <a:ext cx="953" cy="240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2" name="Google Shape;582;p51"/>
            <p:cNvSpPr/>
            <p:nvPr/>
          </p:nvSpPr>
          <p:spPr>
            <a:xfrm>
              <a:off x="3544" y="3595"/>
              <a:ext cx="243" cy="240"/>
            </a:xfrm>
            <a:prstGeom prst="rect">
              <a:avLst/>
            </a:prstGeom>
            <a:solidFill>
              <a:srgbClr val="FF3300"/>
            </a:solidFill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83" name="Google Shape;583;p51"/>
          <p:cNvSpPr/>
          <p:nvPr/>
        </p:nvSpPr>
        <p:spPr>
          <a:xfrm>
            <a:off x="6109607" y="4326398"/>
            <a:ext cx="2621935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891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84" name="Google Shape;584;p51"/>
          <p:cNvSpPr/>
          <p:nvPr/>
        </p:nvSpPr>
        <p:spPr>
          <a:xfrm>
            <a:off x="5438692" y="2640454"/>
            <a:ext cx="858376" cy="173932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Slope, </a:t>
            </a:r>
            <a:r>
              <a:rPr lang="en-US" b="1"/>
              <a:t>a=   ∞  </a:t>
            </a:r>
            <a:r>
              <a:rPr lang="en-US"/>
              <a:t>or intercept, </a:t>
            </a:r>
            <a:r>
              <a:rPr lang="en-US" b="1"/>
              <a:t>b = ∞</a:t>
            </a:r>
            <a:endParaRPr b="1"/>
          </a:p>
        </p:txBody>
      </p:sp>
      <p:sp>
        <p:nvSpPr>
          <p:cNvPr id="590" name="Google Shape;590;p5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cxnSp>
        <p:nvCxnSpPr>
          <p:cNvPr id="591" name="Google Shape;591;p52"/>
          <p:cNvCxnSpPr/>
          <p:nvPr/>
        </p:nvCxnSpPr>
        <p:spPr>
          <a:xfrm>
            <a:off x="628650" y="2795451"/>
            <a:ext cx="0" cy="167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2" name="Google Shape;592;p52"/>
          <p:cNvCxnSpPr/>
          <p:nvPr/>
        </p:nvCxnSpPr>
        <p:spPr>
          <a:xfrm>
            <a:off x="381000" y="4471851"/>
            <a:ext cx="1676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3" name="Google Shape;593;p52"/>
          <p:cNvCxnSpPr/>
          <p:nvPr/>
        </p:nvCxnSpPr>
        <p:spPr>
          <a:xfrm>
            <a:off x="3352800" y="2819400"/>
            <a:ext cx="0" cy="167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4" name="Google Shape;594;p52"/>
          <p:cNvCxnSpPr/>
          <p:nvPr/>
        </p:nvCxnSpPr>
        <p:spPr>
          <a:xfrm>
            <a:off x="3352800" y="4471851"/>
            <a:ext cx="1676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5" name="Google Shape;595;p52"/>
          <p:cNvCxnSpPr/>
          <p:nvPr/>
        </p:nvCxnSpPr>
        <p:spPr>
          <a:xfrm>
            <a:off x="381000" y="3505200"/>
            <a:ext cx="2057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6" name="Google Shape;596;p52"/>
          <p:cNvCxnSpPr/>
          <p:nvPr/>
        </p:nvCxnSpPr>
        <p:spPr>
          <a:xfrm>
            <a:off x="4267200" y="3024051"/>
            <a:ext cx="0" cy="1447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97" name="Google Shape;597;p52"/>
          <p:cNvGrpSpPr/>
          <p:nvPr/>
        </p:nvGrpSpPr>
        <p:grpSpPr>
          <a:xfrm>
            <a:off x="6324600" y="2795451"/>
            <a:ext cx="1512888" cy="1584325"/>
            <a:chOff x="3061" y="3067"/>
            <a:chExt cx="953" cy="998"/>
          </a:xfrm>
        </p:grpSpPr>
        <p:sp>
          <p:nvSpPr>
            <p:cNvPr id="598" name="Google Shape;598;p52"/>
            <p:cNvSpPr/>
            <p:nvPr/>
          </p:nvSpPr>
          <p:spPr>
            <a:xfrm>
              <a:off x="3061" y="3067"/>
              <a:ext cx="95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9" name="Google Shape;599;p52"/>
            <p:cNvSpPr/>
            <p:nvPr/>
          </p:nvSpPr>
          <p:spPr>
            <a:xfrm>
              <a:off x="3061" y="3067"/>
              <a:ext cx="48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0" name="Google Shape;600;p52"/>
            <p:cNvSpPr/>
            <p:nvPr/>
          </p:nvSpPr>
          <p:spPr>
            <a:xfrm>
              <a:off x="3061" y="3067"/>
              <a:ext cx="24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1" name="Google Shape;601;p52"/>
            <p:cNvSpPr/>
            <p:nvPr/>
          </p:nvSpPr>
          <p:spPr>
            <a:xfrm>
              <a:off x="3544" y="3067"/>
              <a:ext cx="24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2" name="Google Shape;602;p52"/>
            <p:cNvSpPr/>
            <p:nvPr/>
          </p:nvSpPr>
          <p:spPr>
            <a:xfrm>
              <a:off x="3061" y="3067"/>
              <a:ext cx="953" cy="52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3" name="Google Shape;603;p52"/>
            <p:cNvSpPr/>
            <p:nvPr/>
          </p:nvSpPr>
          <p:spPr>
            <a:xfrm>
              <a:off x="3061" y="3067"/>
              <a:ext cx="953" cy="28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4" name="Google Shape;604;p52"/>
            <p:cNvSpPr/>
            <p:nvPr/>
          </p:nvSpPr>
          <p:spPr>
            <a:xfrm>
              <a:off x="3061" y="3595"/>
              <a:ext cx="953" cy="240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5" name="Google Shape;605;p52"/>
            <p:cNvSpPr/>
            <p:nvPr/>
          </p:nvSpPr>
          <p:spPr>
            <a:xfrm>
              <a:off x="3544" y="3595"/>
              <a:ext cx="243" cy="240"/>
            </a:xfrm>
            <a:prstGeom prst="rect">
              <a:avLst/>
            </a:prstGeom>
            <a:solidFill>
              <a:srgbClr val="FF3300"/>
            </a:solidFill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06" name="Google Shape;606;p52"/>
          <p:cNvSpPr/>
          <p:nvPr/>
        </p:nvSpPr>
        <p:spPr>
          <a:xfrm>
            <a:off x="5638800" y="4313130"/>
            <a:ext cx="3290861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162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607" name="Google Shape;607;p52"/>
          <p:cNvSpPr/>
          <p:nvPr/>
        </p:nvSpPr>
        <p:spPr>
          <a:xfrm>
            <a:off x="5022240" y="2635539"/>
            <a:ext cx="1383324" cy="173932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2919" r="-907" b="-729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D962-675B-445B-B854-03816499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Equation in Polar Coordinates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7E1D1-B306-43AD-B85D-B1773CF68E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51360-5456-4B81-8D0C-22EC668E6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032" y="2146043"/>
            <a:ext cx="3453279" cy="26739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AA2C02-8CAA-46ED-8499-7CD17BE0D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408" y="5368680"/>
            <a:ext cx="4353918" cy="53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19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2" name="Google Shape;632;p54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28650" y="365126"/>
                <a:ext cx="7886700" cy="1325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lvl="0">
                  <a:buSzPts val="3300"/>
                </a:pPr>
                <a:r>
                  <a:rPr lang="en-US" dirty="0"/>
                  <a:t>Hough Transform 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,)           </m:t>
                    </m:r>
                  </m:oMath>
                </a14:m>
                <a:r>
                  <a:rPr lang="en-US" dirty="0"/>
                  <a:t>{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}</a:t>
                </a:r>
                <a:endParaRPr dirty="0"/>
              </a:p>
            </p:txBody>
          </p:sp>
        </mc:Choice>
        <mc:Fallback xmlns="">
          <p:sp>
            <p:nvSpPr>
              <p:cNvPr id="632" name="Google Shape;632;p5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365126"/>
                <a:ext cx="7886700" cy="1325563"/>
              </a:xfrm>
              <a:prstGeom prst="rect">
                <a:avLst/>
              </a:prstGeom>
              <a:blipFill>
                <a:blip r:embed="rId3"/>
                <a:stretch>
                  <a:fillRect l="-20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3" name="Google Shape;633;p5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>
              <a:spcBef>
                <a:spcPts val="0"/>
              </a:spcBef>
              <a:buSzPts val="2100"/>
              <a:buNone/>
            </a:pPr>
            <a:endParaRPr sz="3200" dirty="0"/>
          </a:p>
        </p:txBody>
      </p:sp>
      <p:sp>
        <p:nvSpPr>
          <p:cNvPr id="634" name="Google Shape;634;p5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635" name="Google Shape;635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2740153"/>
            <a:ext cx="7620000" cy="34417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4D5C05-C508-4A1B-9AE3-0622C5F50800}"/>
                  </a:ext>
                </a:extLst>
              </p:cNvPr>
              <p:cNvSpPr txBox="1"/>
              <p:nvPr/>
            </p:nvSpPr>
            <p:spPr>
              <a:xfrm>
                <a:off x="3124270" y="2415997"/>
                <a:ext cx="34431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𝑆𝑖𝑛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4D5C05-C508-4A1B-9AE3-0622C5F50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70" y="2415997"/>
                <a:ext cx="344312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11F7FCE-C348-429F-A1D7-466AF13AFB4A}"/>
              </a:ext>
            </a:extLst>
          </p:cNvPr>
          <p:cNvCxnSpPr/>
          <p:nvPr/>
        </p:nvCxnSpPr>
        <p:spPr>
          <a:xfrm>
            <a:off x="5843696" y="1100214"/>
            <a:ext cx="723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55"/>
          <p:cNvPicPr preferRelativeResize="0"/>
          <p:nvPr/>
        </p:nvPicPr>
        <p:blipFill rotWithShape="1">
          <a:blip r:embed="rId3">
            <a:alphaModFix/>
          </a:blip>
          <a:srcRect l="26147" t="-214" r="-2294" b="49298"/>
          <a:stretch/>
        </p:blipFill>
        <p:spPr>
          <a:xfrm>
            <a:off x="1003040" y="3480318"/>
            <a:ext cx="5854959" cy="2855787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5"/>
          <p:cNvSpPr txBox="1">
            <a:spLocks noGrp="1"/>
          </p:cNvSpPr>
          <p:nvPr>
            <p:ph type="title"/>
          </p:nvPr>
        </p:nvSpPr>
        <p:spPr>
          <a:xfrm>
            <a:off x="1362268" y="818920"/>
            <a:ext cx="7347859" cy="240823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249" t="-6805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Calibri"/>
              <a:buNone/>
            </a:pPr>
            <a:r>
              <a:rPr lang="en-US" dirty="0"/>
              <a:t> 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B59D160-98F6-432B-BBBD-D6A37DBA2491}"/>
                  </a:ext>
                </a:extLst>
              </p:cNvPr>
              <p:cNvSpPr/>
              <p:nvPr/>
            </p:nvSpPr>
            <p:spPr>
              <a:xfrm>
                <a:off x="1184325" y="1606791"/>
                <a:ext cx="362778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𝑆𝑖𝑛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B59D160-98F6-432B-BBBD-D6A37DBA24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325" y="1606791"/>
                <a:ext cx="362778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Hough transform: Line segments</a:t>
            </a:r>
            <a:endParaRPr/>
          </a:p>
        </p:txBody>
      </p:sp>
      <p:sp>
        <p:nvSpPr>
          <p:cNvPr id="647" name="Google Shape;647;p5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 484, Spring 2009</a:t>
            </a:r>
            <a:endParaRPr/>
          </a:p>
        </p:txBody>
      </p:sp>
      <p:sp>
        <p:nvSpPr>
          <p:cNvPr id="648" name="Google Shape;648;p5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©2009, Selim Aksoy</a:t>
            </a:r>
            <a:endParaRPr/>
          </a:p>
        </p:txBody>
      </p:sp>
      <p:sp>
        <p:nvSpPr>
          <p:cNvPr id="649" name="Google Shape;649;p5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0" name="Google Shape;65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375" y="1469572"/>
            <a:ext cx="8366384" cy="403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Hough transform: line segments</a:t>
            </a:r>
            <a:endParaRPr dirty="0"/>
          </a:p>
        </p:txBody>
      </p:sp>
      <p:sp>
        <p:nvSpPr>
          <p:cNvPr id="664" name="Google Shape;664;p5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 484, Spring 2009</a:t>
            </a:r>
            <a:endParaRPr/>
          </a:p>
        </p:txBody>
      </p:sp>
      <p:sp>
        <p:nvSpPr>
          <p:cNvPr id="665" name="Google Shape;665;p5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©2009, Selim Aksoy</a:t>
            </a:r>
            <a:endParaRPr/>
          </a:p>
        </p:txBody>
      </p:sp>
      <p:sp>
        <p:nvSpPr>
          <p:cNvPr id="666" name="Google Shape;666;p5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7" name="Google Shape;667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575" y="1222375"/>
            <a:ext cx="7056438" cy="420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7450" y="5408613"/>
            <a:ext cx="6734175" cy="111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9C751-1339-4813-82FE-44488C4F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Hough transform for line fitting output a closed boundary?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94053D-F55D-4644-839A-209653CD54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04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How to Extract Closed Boundary</a:t>
            </a:r>
            <a:endParaRPr/>
          </a:p>
        </p:txBody>
      </p:sp>
      <p:pic>
        <p:nvPicPr>
          <p:cNvPr id="675" name="Google Shape;675;p5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6567" t="33676" r="21195" b="13787"/>
          <a:stretch/>
        </p:blipFill>
        <p:spPr>
          <a:xfrm>
            <a:off x="977900" y="2168236"/>
            <a:ext cx="6642100" cy="3622964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0"/>
          <p:cNvSpPr txBox="1">
            <a:spLocks noGrp="1"/>
          </p:cNvSpPr>
          <p:nvPr>
            <p:ph type="title"/>
          </p:nvPr>
        </p:nvSpPr>
        <p:spPr>
          <a:xfrm>
            <a:off x="685800" y="79375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Hough Transform</a:t>
            </a:r>
            <a:endParaRPr/>
          </a:p>
        </p:txBody>
      </p:sp>
      <p:sp>
        <p:nvSpPr>
          <p:cNvPr id="682" name="Google Shape;682;p60"/>
          <p:cNvSpPr txBox="1">
            <a:spLocks noGrp="1"/>
          </p:cNvSpPr>
          <p:nvPr>
            <p:ph type="body" idx="1"/>
          </p:nvPr>
        </p:nvSpPr>
        <p:spPr>
          <a:xfrm>
            <a:off x="323850" y="1341438"/>
            <a:ext cx="8496300" cy="324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Hough transform detects high order polynomials specified by a parametric function.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If the parameters are a</a:t>
            </a:r>
            <a:r>
              <a:rPr lang="en-US" sz="2400" baseline="-25000" dirty="0"/>
              <a:t>1</a:t>
            </a:r>
            <a:r>
              <a:rPr lang="en-US" sz="2400" dirty="0"/>
              <a:t>, a</a:t>
            </a:r>
            <a:r>
              <a:rPr lang="en-US" sz="2400" baseline="-25000" dirty="0"/>
              <a:t>2</a:t>
            </a:r>
            <a:r>
              <a:rPr lang="en-US" sz="2400" dirty="0"/>
              <a:t>, … a</a:t>
            </a:r>
            <a:r>
              <a:rPr lang="en-US" sz="2400" baseline="-25000" dirty="0"/>
              <a:t>n</a:t>
            </a:r>
            <a:r>
              <a:rPr lang="en-US" sz="2400" dirty="0"/>
              <a:t>, then the Hough transform uses an n-dimensional accumulator array in which it accumulates votes for the correct parameters of the lines or curves found on the image.</a:t>
            </a:r>
            <a:endParaRPr dirty="0"/>
          </a:p>
        </p:txBody>
      </p:sp>
      <p:sp>
        <p:nvSpPr>
          <p:cNvPr id="683" name="Google Shape;683;p6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4" name="Google Shape;684;p60"/>
          <p:cNvSpPr/>
          <p:nvPr/>
        </p:nvSpPr>
        <p:spPr>
          <a:xfrm>
            <a:off x="1647825" y="4365625"/>
            <a:ext cx="2295525" cy="1952625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rgbClr val="FF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60"/>
          <p:cNvSpPr/>
          <p:nvPr/>
        </p:nvSpPr>
        <p:spPr>
          <a:xfrm>
            <a:off x="2643188" y="564038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6" name="Google Shape;686;p60"/>
          <p:cNvSpPr/>
          <p:nvPr/>
        </p:nvSpPr>
        <p:spPr>
          <a:xfrm>
            <a:off x="2362200" y="5002213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60"/>
          <p:cNvSpPr/>
          <p:nvPr/>
        </p:nvSpPr>
        <p:spPr>
          <a:xfrm>
            <a:off x="2947988" y="533558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60"/>
          <p:cNvSpPr/>
          <p:nvPr/>
        </p:nvSpPr>
        <p:spPr>
          <a:xfrm>
            <a:off x="3100388" y="518318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p60"/>
          <p:cNvSpPr/>
          <p:nvPr/>
        </p:nvSpPr>
        <p:spPr>
          <a:xfrm>
            <a:off x="3252788" y="503078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0" name="Google Shape;690;p60"/>
          <p:cNvSpPr txBox="1"/>
          <p:nvPr/>
        </p:nvSpPr>
        <p:spPr>
          <a:xfrm>
            <a:off x="1528763" y="3679826"/>
            <a:ext cx="11240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ax + b</a:t>
            </a:r>
            <a:endParaRPr/>
          </a:p>
        </p:txBody>
      </p:sp>
      <p:sp>
        <p:nvSpPr>
          <p:cNvPr id="691" name="Google Shape;691;p60"/>
          <p:cNvSpPr txBox="1"/>
          <p:nvPr/>
        </p:nvSpPr>
        <p:spPr>
          <a:xfrm>
            <a:off x="476250" y="5224463"/>
            <a:ext cx="79692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</a:t>
            </a:r>
            <a:endParaRPr/>
          </a:p>
        </p:txBody>
      </p:sp>
      <p:grpSp>
        <p:nvGrpSpPr>
          <p:cNvPr id="692" name="Google Shape;692;p60"/>
          <p:cNvGrpSpPr/>
          <p:nvPr/>
        </p:nvGrpSpPr>
        <p:grpSpPr>
          <a:xfrm>
            <a:off x="5153025" y="4725988"/>
            <a:ext cx="1512888" cy="1584325"/>
            <a:chOff x="3061" y="3067"/>
            <a:chExt cx="953" cy="998"/>
          </a:xfrm>
        </p:grpSpPr>
        <p:sp>
          <p:nvSpPr>
            <p:cNvPr id="693" name="Google Shape;693;p60"/>
            <p:cNvSpPr/>
            <p:nvPr/>
          </p:nvSpPr>
          <p:spPr>
            <a:xfrm>
              <a:off x="3061" y="3067"/>
              <a:ext cx="95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4" name="Google Shape;694;p60"/>
            <p:cNvSpPr/>
            <p:nvPr/>
          </p:nvSpPr>
          <p:spPr>
            <a:xfrm>
              <a:off x="3061" y="3067"/>
              <a:ext cx="48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5" name="Google Shape;695;p60"/>
            <p:cNvSpPr/>
            <p:nvPr/>
          </p:nvSpPr>
          <p:spPr>
            <a:xfrm>
              <a:off x="3061" y="3067"/>
              <a:ext cx="24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6" name="Google Shape;696;p60"/>
            <p:cNvSpPr/>
            <p:nvPr/>
          </p:nvSpPr>
          <p:spPr>
            <a:xfrm>
              <a:off x="3544" y="3067"/>
              <a:ext cx="243" cy="99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7" name="Google Shape;697;p60"/>
            <p:cNvSpPr/>
            <p:nvPr/>
          </p:nvSpPr>
          <p:spPr>
            <a:xfrm>
              <a:off x="3061" y="3067"/>
              <a:ext cx="953" cy="52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8" name="Google Shape;698;p60"/>
            <p:cNvSpPr/>
            <p:nvPr/>
          </p:nvSpPr>
          <p:spPr>
            <a:xfrm>
              <a:off x="3061" y="3067"/>
              <a:ext cx="953" cy="288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9" name="Google Shape;699;p60"/>
            <p:cNvSpPr/>
            <p:nvPr/>
          </p:nvSpPr>
          <p:spPr>
            <a:xfrm>
              <a:off x="3061" y="3595"/>
              <a:ext cx="953" cy="240"/>
            </a:xfrm>
            <a:prstGeom prst="rect">
              <a:avLst/>
            </a:prstGeom>
            <a:noFill/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0" name="Google Shape;700;p60"/>
            <p:cNvSpPr/>
            <p:nvPr/>
          </p:nvSpPr>
          <p:spPr>
            <a:xfrm>
              <a:off x="3544" y="3595"/>
              <a:ext cx="243" cy="240"/>
            </a:xfrm>
            <a:prstGeom prst="rect">
              <a:avLst/>
            </a:prstGeom>
            <a:solidFill>
              <a:srgbClr val="FF3300"/>
            </a:solidFill>
            <a:ln w="9525" cap="flat" cmpd="sng">
              <a:solidFill>
                <a:srgbClr val="99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01" name="Google Shape;701;p60"/>
          <p:cNvSpPr txBox="1"/>
          <p:nvPr/>
        </p:nvSpPr>
        <p:spPr>
          <a:xfrm>
            <a:off x="4791075" y="533400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702" name="Google Shape;702;p60"/>
          <p:cNvSpPr txBox="1"/>
          <p:nvPr/>
        </p:nvSpPr>
        <p:spPr>
          <a:xfrm>
            <a:off x="5802313" y="4365625"/>
            <a:ext cx="2872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703" name="Google Shape;703;p60"/>
          <p:cNvSpPr txBox="1"/>
          <p:nvPr/>
        </p:nvSpPr>
        <p:spPr>
          <a:xfrm>
            <a:off x="6810375" y="5224463"/>
            <a:ext cx="14160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accumulator</a:t>
            </a:r>
            <a:endParaRPr/>
          </a:p>
        </p:txBody>
      </p:sp>
      <p:sp>
        <p:nvSpPr>
          <p:cNvPr id="704" name="Google Shape;704;p60"/>
          <p:cNvSpPr txBox="1"/>
          <p:nvPr/>
        </p:nvSpPr>
        <p:spPr>
          <a:xfrm>
            <a:off x="5364163" y="6323013"/>
            <a:ext cx="3429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Linda Shapiro, U of Washington</a:t>
            </a:r>
            <a:endParaRPr sz="12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00DD1-7978-43E4-82C0-F9F37366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Hough Transform for circle fitting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0E3D8-0614-47EF-95DE-326A53E39D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5" name="Google Shape;684;p60">
            <a:extLst>
              <a:ext uri="{FF2B5EF4-FFF2-40B4-BE49-F238E27FC236}">
                <a16:creationId xmlns:a16="http://schemas.microsoft.com/office/drawing/2014/main" id="{99A9CD6F-59C2-4DC3-B535-5D6B91677064}"/>
              </a:ext>
            </a:extLst>
          </p:cNvPr>
          <p:cNvSpPr/>
          <p:nvPr/>
        </p:nvSpPr>
        <p:spPr>
          <a:xfrm>
            <a:off x="1136303" y="2648291"/>
            <a:ext cx="2295525" cy="1952625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rgbClr val="FF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85;p60">
            <a:extLst>
              <a:ext uri="{FF2B5EF4-FFF2-40B4-BE49-F238E27FC236}">
                <a16:creationId xmlns:a16="http://schemas.microsoft.com/office/drawing/2014/main" id="{DCA4AE7B-C122-4DA0-BAA9-1D3A5C250B7E}"/>
              </a:ext>
            </a:extLst>
          </p:cNvPr>
          <p:cNvSpPr/>
          <p:nvPr/>
        </p:nvSpPr>
        <p:spPr>
          <a:xfrm>
            <a:off x="2369358" y="386353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686;p60">
            <a:extLst>
              <a:ext uri="{FF2B5EF4-FFF2-40B4-BE49-F238E27FC236}">
                <a16:creationId xmlns:a16="http://schemas.microsoft.com/office/drawing/2014/main" id="{62E81DFB-1A97-4742-833A-B7AAFD0E7AC7}"/>
              </a:ext>
            </a:extLst>
          </p:cNvPr>
          <p:cNvSpPr/>
          <p:nvPr/>
        </p:nvSpPr>
        <p:spPr>
          <a:xfrm>
            <a:off x="1702072" y="3080507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687;p60">
            <a:extLst>
              <a:ext uri="{FF2B5EF4-FFF2-40B4-BE49-F238E27FC236}">
                <a16:creationId xmlns:a16="http://schemas.microsoft.com/office/drawing/2014/main" id="{6BC81D02-F5B0-403D-95C7-98E625D24233}"/>
              </a:ext>
            </a:extLst>
          </p:cNvPr>
          <p:cNvSpPr/>
          <p:nvPr/>
        </p:nvSpPr>
        <p:spPr>
          <a:xfrm>
            <a:off x="1859592" y="4059340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688;p60">
            <a:extLst>
              <a:ext uri="{FF2B5EF4-FFF2-40B4-BE49-F238E27FC236}">
                <a16:creationId xmlns:a16="http://schemas.microsoft.com/office/drawing/2014/main" id="{DA6E611C-6987-4883-BD76-269368348882}"/>
              </a:ext>
            </a:extLst>
          </p:cNvPr>
          <p:cNvSpPr/>
          <p:nvPr/>
        </p:nvSpPr>
        <p:spPr>
          <a:xfrm>
            <a:off x="1443548" y="367857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689;p60">
            <a:extLst>
              <a:ext uri="{FF2B5EF4-FFF2-40B4-BE49-F238E27FC236}">
                <a16:creationId xmlns:a16="http://schemas.microsoft.com/office/drawing/2014/main" id="{B801450E-B47D-4B21-803C-932C87BDCF23}"/>
              </a:ext>
            </a:extLst>
          </p:cNvPr>
          <p:cNvSpPr/>
          <p:nvPr/>
        </p:nvSpPr>
        <p:spPr>
          <a:xfrm>
            <a:off x="1443548" y="329978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685;p60">
            <a:extLst>
              <a:ext uri="{FF2B5EF4-FFF2-40B4-BE49-F238E27FC236}">
                <a16:creationId xmlns:a16="http://schemas.microsoft.com/office/drawing/2014/main" id="{D686ED5F-D975-418C-A4AF-523CF6BD5C68}"/>
              </a:ext>
            </a:extLst>
          </p:cNvPr>
          <p:cNvSpPr/>
          <p:nvPr/>
        </p:nvSpPr>
        <p:spPr>
          <a:xfrm>
            <a:off x="2490750" y="3179713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685;p60">
            <a:extLst>
              <a:ext uri="{FF2B5EF4-FFF2-40B4-BE49-F238E27FC236}">
                <a16:creationId xmlns:a16="http://schemas.microsoft.com/office/drawing/2014/main" id="{2EA70EFE-940E-4C61-A54E-E66B0ACB1667}"/>
              </a:ext>
            </a:extLst>
          </p:cNvPr>
          <p:cNvSpPr/>
          <p:nvPr/>
        </p:nvSpPr>
        <p:spPr>
          <a:xfrm>
            <a:off x="1935792" y="2928107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685;p60">
            <a:extLst>
              <a:ext uri="{FF2B5EF4-FFF2-40B4-BE49-F238E27FC236}">
                <a16:creationId xmlns:a16="http://schemas.microsoft.com/office/drawing/2014/main" id="{A835BB76-092A-4BD9-8015-4D51993DA8E0}"/>
              </a:ext>
            </a:extLst>
          </p:cNvPr>
          <p:cNvSpPr/>
          <p:nvPr/>
        </p:nvSpPr>
        <p:spPr>
          <a:xfrm>
            <a:off x="2566950" y="3554784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685;p60">
            <a:extLst>
              <a:ext uri="{FF2B5EF4-FFF2-40B4-BE49-F238E27FC236}">
                <a16:creationId xmlns:a16="http://schemas.microsoft.com/office/drawing/2014/main" id="{AAAADB71-EEDA-4CE7-9CDB-384290259DEA}"/>
              </a:ext>
            </a:extLst>
          </p:cNvPr>
          <p:cNvSpPr/>
          <p:nvPr/>
        </p:nvSpPr>
        <p:spPr>
          <a:xfrm>
            <a:off x="2207865" y="4112760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685;p60">
            <a:extLst>
              <a:ext uri="{FF2B5EF4-FFF2-40B4-BE49-F238E27FC236}">
                <a16:creationId xmlns:a16="http://schemas.microsoft.com/office/drawing/2014/main" id="{C5C1F0D9-F8C5-4C39-AE30-DDE34C19E6EF}"/>
              </a:ext>
            </a:extLst>
          </p:cNvPr>
          <p:cNvSpPr/>
          <p:nvPr/>
        </p:nvSpPr>
        <p:spPr>
          <a:xfrm>
            <a:off x="2516691" y="371113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685;p60">
            <a:extLst>
              <a:ext uri="{FF2B5EF4-FFF2-40B4-BE49-F238E27FC236}">
                <a16:creationId xmlns:a16="http://schemas.microsoft.com/office/drawing/2014/main" id="{FC844EEE-3CFB-4889-8509-F4FEC5465FD0}"/>
              </a:ext>
            </a:extLst>
          </p:cNvPr>
          <p:cNvSpPr/>
          <p:nvPr/>
        </p:nvSpPr>
        <p:spPr>
          <a:xfrm>
            <a:off x="2046372" y="4173379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685;p60">
            <a:extLst>
              <a:ext uri="{FF2B5EF4-FFF2-40B4-BE49-F238E27FC236}">
                <a16:creationId xmlns:a16="http://schemas.microsoft.com/office/drawing/2014/main" id="{A28124B8-C684-4F29-B93F-41FB95BCCE12}"/>
              </a:ext>
            </a:extLst>
          </p:cNvPr>
          <p:cNvSpPr/>
          <p:nvPr/>
        </p:nvSpPr>
        <p:spPr>
          <a:xfrm>
            <a:off x="2195158" y="2949001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685;p60">
            <a:extLst>
              <a:ext uri="{FF2B5EF4-FFF2-40B4-BE49-F238E27FC236}">
                <a16:creationId xmlns:a16="http://schemas.microsoft.com/office/drawing/2014/main" id="{8F59E71D-9D5E-466F-9DEE-C1C1142D234B}"/>
              </a:ext>
            </a:extLst>
          </p:cNvPr>
          <p:cNvSpPr/>
          <p:nvPr/>
        </p:nvSpPr>
        <p:spPr>
          <a:xfrm>
            <a:off x="2521758" y="401593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685;p60">
            <a:extLst>
              <a:ext uri="{FF2B5EF4-FFF2-40B4-BE49-F238E27FC236}">
                <a16:creationId xmlns:a16="http://schemas.microsoft.com/office/drawing/2014/main" id="{E7421C51-82B1-4CC2-897F-65AEF2E0504A}"/>
              </a:ext>
            </a:extLst>
          </p:cNvPr>
          <p:cNvSpPr/>
          <p:nvPr/>
        </p:nvSpPr>
        <p:spPr>
          <a:xfrm>
            <a:off x="2663939" y="330295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685;p60">
            <a:extLst>
              <a:ext uri="{FF2B5EF4-FFF2-40B4-BE49-F238E27FC236}">
                <a16:creationId xmlns:a16="http://schemas.microsoft.com/office/drawing/2014/main" id="{516A6302-1A75-422A-B682-702E852C907C}"/>
              </a:ext>
            </a:extLst>
          </p:cNvPr>
          <p:cNvSpPr/>
          <p:nvPr/>
        </p:nvSpPr>
        <p:spPr>
          <a:xfrm>
            <a:off x="1623289" y="4107773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7FF8E0-74F2-4E83-98AE-613633992873}"/>
              </a:ext>
            </a:extLst>
          </p:cNvPr>
          <p:cNvCxnSpPr/>
          <p:nvPr/>
        </p:nvCxnSpPr>
        <p:spPr>
          <a:xfrm>
            <a:off x="4107465" y="3784736"/>
            <a:ext cx="1290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5585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Hough transform: Circles</a:t>
            </a:r>
            <a:endParaRPr/>
          </a:p>
        </p:txBody>
      </p:sp>
      <p:sp>
        <p:nvSpPr>
          <p:cNvPr id="711" name="Google Shape;711;p6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61"/>
          <p:cNvSpPr/>
          <p:nvPr/>
        </p:nvSpPr>
        <p:spPr>
          <a:xfrm>
            <a:off x="2194723" y="3880902"/>
            <a:ext cx="1524000" cy="1524000"/>
          </a:xfrm>
          <a:prstGeom prst="ellipse">
            <a:avLst/>
          </a:prstGeom>
          <a:solidFill>
            <a:srgbClr val="CC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3" name="Google Shape;713;p61"/>
          <p:cNvCxnSpPr/>
          <p:nvPr/>
        </p:nvCxnSpPr>
        <p:spPr>
          <a:xfrm rot="10800000">
            <a:off x="2956723" y="4642902"/>
            <a:ext cx="762000" cy="0"/>
          </a:xfrm>
          <a:prstGeom prst="straightConnector1">
            <a:avLst/>
          </a:prstGeom>
          <a:noFill/>
          <a:ln w="9525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4" name="Google Shape;714;p61"/>
          <p:cNvSpPr txBox="1"/>
          <p:nvPr/>
        </p:nvSpPr>
        <p:spPr>
          <a:xfrm>
            <a:off x="3109123" y="4190423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Times New Roman"/>
              <a:buNone/>
            </a:pPr>
            <a:r>
              <a:rPr lang="en-US" sz="24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dirty="0"/>
          </a:p>
        </p:txBody>
      </p:sp>
      <p:sp>
        <p:nvSpPr>
          <p:cNvPr id="715" name="Google Shape;715;p61"/>
          <p:cNvSpPr txBox="1"/>
          <p:nvPr/>
        </p:nvSpPr>
        <p:spPr>
          <a:xfrm>
            <a:off x="5364163" y="6249988"/>
            <a:ext cx="34290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Linda Shapiro, U of Washington</a:t>
            </a:r>
            <a:endParaRPr sz="1200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6" name="Google Shape;716;p61"/>
          <p:cNvCxnSpPr/>
          <p:nvPr/>
        </p:nvCxnSpPr>
        <p:spPr>
          <a:xfrm>
            <a:off x="1204123" y="3347502"/>
            <a:ext cx="0" cy="2362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7" name="Google Shape;717;p61"/>
          <p:cNvCxnSpPr/>
          <p:nvPr/>
        </p:nvCxnSpPr>
        <p:spPr>
          <a:xfrm>
            <a:off x="1204123" y="5663982"/>
            <a:ext cx="277336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8" name="Google Shape;718;p61"/>
          <p:cNvCxnSpPr>
            <a:stCxn id="713" idx="1"/>
          </p:cNvCxnSpPr>
          <p:nvPr/>
        </p:nvCxnSpPr>
        <p:spPr>
          <a:xfrm>
            <a:off x="2956723" y="4642903"/>
            <a:ext cx="0" cy="106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9" name="Google Shape;719;p61"/>
          <p:cNvCxnSpPr>
            <a:stCxn id="713" idx="1"/>
          </p:cNvCxnSpPr>
          <p:nvPr/>
        </p:nvCxnSpPr>
        <p:spPr>
          <a:xfrm rot="10800000">
            <a:off x="1204123" y="4642903"/>
            <a:ext cx="1752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0" name="Google Shape;720;p61"/>
          <p:cNvSpPr txBox="1"/>
          <p:nvPr/>
        </p:nvSpPr>
        <p:spPr>
          <a:xfrm>
            <a:off x="2880523" y="5709702"/>
            <a:ext cx="564706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7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721" name="Google Shape;721;p61"/>
          <p:cNvSpPr txBox="1"/>
          <p:nvPr/>
        </p:nvSpPr>
        <p:spPr>
          <a:xfrm>
            <a:off x="684367" y="4341937"/>
            <a:ext cx="566437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10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DDE5D33-715B-4EDA-96ED-FA469CE24B3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100207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Goal Find the parameter set of a </a:t>
                </a:r>
                <a:r>
                  <a:rPr lang="en-US" dirty="0" err="1"/>
                  <a:t>cisrcle</a:t>
                </a:r>
                <a:r>
                  <a:rPr lang="en-US" dirty="0"/>
                  <a:t> which fits the edge map best.</a:t>
                </a:r>
              </a:p>
              <a:p>
                <a:pPr marL="114300" indent="0" algn="ctr">
                  <a:buNone/>
                </a:pPr>
                <a:endParaRPr lang="en-US" sz="2800" b="0" dirty="0"/>
              </a:p>
              <a:p>
                <a:pPr marL="114300" indent="0" algn="ctr">
                  <a:buNone/>
                </a:pPr>
                <a:r>
                  <a:rPr lang="en-US" sz="2800" b="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 )</a:t>
                </a:r>
                <a:r>
                  <a:rPr lang="en-US" sz="2800" baseline="30000" dirty="0"/>
                  <a:t> </a:t>
                </a:r>
                <a14:m>
                  <m:oMath xmlns:m="http://schemas.openxmlformats.org/officeDocument/2006/math">
                    <m:r>
                      <a:rPr lang="en-US" sz="2800" i="1" baseline="30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= d</a:t>
                </a:r>
                <a:r>
                  <a:rPr lang="en-US" sz="2800" baseline="30000" dirty="0"/>
                  <a:t> </a:t>
                </a:r>
                <a14:m>
                  <m:oMath xmlns:m="http://schemas.openxmlformats.org/officeDocument/2006/math">
                    <m:r>
                      <a:rPr lang="en-US" sz="2800" i="1" baseline="30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DDE5D33-715B-4EDA-96ED-FA469CE24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25625"/>
                <a:ext cx="7886700" cy="1002073"/>
              </a:xfrm>
              <a:blipFill>
                <a:blip r:embed="rId5"/>
                <a:stretch>
                  <a:fillRect t="-606" b="-1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C1D168A-0F5B-4558-A3E2-3F0087B830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Suppose the radius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given: A point in image space is mapped to a circle in Hough space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C1D168A-0F5B-4558-A3E2-3F0087B830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C2AA4-2B3F-4984-9FFB-82910A2DE0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A1F94-C1C9-48BD-AB37-69970D208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13" y="2528384"/>
            <a:ext cx="7304403" cy="31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003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F87B-E5D8-4EB6-8F69-EF4C79E8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Circle point in image space maps to what in Hough space?                 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2BA31-A11C-47F3-9B32-4210CA64C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6736F-DDF4-4EB2-9682-C7F8DBC092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F7547-534D-4E51-86D8-9D1FF01E8C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62486"/>
          <a:stretch/>
        </p:blipFill>
        <p:spPr>
          <a:xfrm>
            <a:off x="1022725" y="2591472"/>
            <a:ext cx="2592888" cy="281964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AD57138-7F86-4A72-AE0D-8384011709A6}"/>
              </a:ext>
            </a:extLst>
          </p:cNvPr>
          <p:cNvSpPr/>
          <p:nvPr/>
        </p:nvSpPr>
        <p:spPr>
          <a:xfrm>
            <a:off x="3433664" y="3651956"/>
            <a:ext cx="1259633" cy="1456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076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F87B-E5D8-4EB6-8F69-EF4C79E8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H: Circle points                    Cones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2BA31-A11C-47F3-9B32-4210CA64C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6736F-DDF4-4EB2-9682-C7F8DBC092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F7547-534D-4E51-86D8-9D1FF01E8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24" y="2591472"/>
            <a:ext cx="6911939" cy="281964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0C489A-92F9-4993-A83E-70FDE2C598EC}"/>
              </a:ext>
            </a:extLst>
          </p:cNvPr>
          <p:cNvCxnSpPr/>
          <p:nvPr/>
        </p:nvCxnSpPr>
        <p:spPr>
          <a:xfrm>
            <a:off x="3484984" y="1017037"/>
            <a:ext cx="16188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4756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0E0B7-27B9-4615-BA15-CF4E42BE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Hough Transform for nonparametric shapes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3697E-0A88-4A22-9466-7B04E7946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Given a set of edge pixels, how to find a nonparametric boundary?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03376-A0C7-4157-A82F-C2D2EA3268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89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226" name="Rectangle 2">
            <a:extLst>
              <a:ext uri="{FF2B5EF4-FFF2-40B4-BE49-F238E27FC236}">
                <a16:creationId xmlns:a16="http://schemas.microsoft.com/office/drawing/2014/main" id="{83D27434-3CBE-4884-9B39-4ECEE7E53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altLang="ja-JP" sz="4000">
                <a:ea typeface="ＭＳ Ｐゴシック" panose="020B0600070205080204" pitchFamily="34" charset="-128"/>
              </a:rPr>
              <a:t>Generalized Hough Transform</a:t>
            </a:r>
          </a:p>
        </p:txBody>
      </p:sp>
      <p:sp>
        <p:nvSpPr>
          <p:cNvPr id="1076227" name="Rectangle 3">
            <a:extLst>
              <a:ext uri="{FF2B5EF4-FFF2-40B4-BE49-F238E27FC236}">
                <a16:creationId xmlns:a16="http://schemas.microsoft.com/office/drawing/2014/main" id="{460B2C35-AA35-4A8E-BF03-5DE017607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38200"/>
            <a:ext cx="7848600" cy="76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6228" name="Text Box 4">
            <a:extLst>
              <a:ext uri="{FF2B5EF4-FFF2-40B4-BE49-F238E27FC236}">
                <a16:creationId xmlns:a16="http://schemas.microsoft.com/office/drawing/2014/main" id="{1F824325-F18A-482D-8929-666A321A5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19200"/>
            <a:ext cx="5070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en-US" sz="2000"/>
              <a:t>  Model Shape NOT described by equation</a:t>
            </a:r>
          </a:p>
        </p:txBody>
      </p:sp>
      <p:pic>
        <p:nvPicPr>
          <p:cNvPr id="1076236" name="Picture 12" descr="lec9-5">
            <a:extLst>
              <a:ext uri="{FF2B5EF4-FFF2-40B4-BE49-F238E27FC236}">
                <a16:creationId xmlns:a16="http://schemas.microsoft.com/office/drawing/2014/main" id="{977FB6F5-5433-4EBB-A6DF-846D5665F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97"/>
          <a:stretch>
            <a:fillRect/>
          </a:stretch>
        </p:blipFill>
        <p:spPr bwMode="auto">
          <a:xfrm>
            <a:off x="914400" y="2057400"/>
            <a:ext cx="7599363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70" name="Rectangle 2">
            <a:extLst>
              <a:ext uri="{FF2B5EF4-FFF2-40B4-BE49-F238E27FC236}">
                <a16:creationId xmlns:a16="http://schemas.microsoft.com/office/drawing/2014/main" id="{BEACFFBA-4FA1-466E-98CE-EC1D2AFDB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altLang="ja-JP" sz="4000">
                <a:ea typeface="ＭＳ Ｐゴシック" panose="020B0600070205080204" pitchFamily="34" charset="-128"/>
              </a:rPr>
              <a:t>Generalized Hough Transform</a:t>
            </a:r>
          </a:p>
        </p:txBody>
      </p:sp>
      <p:sp>
        <p:nvSpPr>
          <p:cNvPr id="1082371" name="Rectangle 3">
            <a:extLst>
              <a:ext uri="{FF2B5EF4-FFF2-40B4-BE49-F238E27FC236}">
                <a16:creationId xmlns:a16="http://schemas.microsoft.com/office/drawing/2014/main" id="{DEFE8DBD-5BAD-4F1A-9CDF-BA067E2E8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38200"/>
            <a:ext cx="7848600" cy="76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2372" name="Text Box 4">
            <a:extLst>
              <a:ext uri="{FF2B5EF4-FFF2-40B4-BE49-F238E27FC236}">
                <a16:creationId xmlns:a16="http://schemas.microsoft.com/office/drawing/2014/main" id="{B2224BA0-81F6-4A14-A0C7-FD16085AE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19200"/>
            <a:ext cx="5070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en-US" sz="2000"/>
              <a:t>  Model Shape NOT described by equation</a:t>
            </a:r>
          </a:p>
        </p:txBody>
      </p:sp>
      <p:pic>
        <p:nvPicPr>
          <p:cNvPr id="1082373" name="Picture 5" descr="lec9-5">
            <a:extLst>
              <a:ext uri="{FF2B5EF4-FFF2-40B4-BE49-F238E27FC236}">
                <a16:creationId xmlns:a16="http://schemas.microsoft.com/office/drawing/2014/main" id="{39CDAD81-5765-4283-9045-EEC1F519B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60"/>
          <a:stretch>
            <a:fillRect/>
          </a:stretch>
        </p:blipFill>
        <p:spPr bwMode="auto">
          <a:xfrm>
            <a:off x="762000" y="1905000"/>
            <a:ext cx="7599363" cy="426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274" name="Rectangle 2">
            <a:extLst>
              <a:ext uri="{FF2B5EF4-FFF2-40B4-BE49-F238E27FC236}">
                <a16:creationId xmlns:a16="http://schemas.microsoft.com/office/drawing/2014/main" id="{E3FE5853-4BEB-4022-9670-DC4DFC68B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altLang="ja-JP" sz="4000">
                <a:ea typeface="ＭＳ Ｐゴシック" panose="020B0600070205080204" pitchFamily="34" charset="-128"/>
              </a:rPr>
              <a:t>Generalized Hough Transform</a:t>
            </a:r>
          </a:p>
        </p:txBody>
      </p:sp>
      <p:sp>
        <p:nvSpPr>
          <p:cNvPr id="1078275" name="Rectangle 3">
            <a:extLst>
              <a:ext uri="{FF2B5EF4-FFF2-40B4-BE49-F238E27FC236}">
                <a16:creationId xmlns:a16="http://schemas.microsoft.com/office/drawing/2014/main" id="{08032B4B-394B-4CE8-9734-FA567EEE5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14400"/>
            <a:ext cx="7848600" cy="76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8277" name="Text Box 5">
            <a:extLst>
              <a:ext uri="{FF2B5EF4-FFF2-40B4-BE49-F238E27FC236}">
                <a16:creationId xmlns:a16="http://schemas.microsoft.com/office/drawing/2014/main" id="{329441C1-8AC8-40E0-B57F-71211BFF2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368425"/>
            <a:ext cx="5137150" cy="485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Find Object Center                   given edges </a:t>
            </a:r>
          </a:p>
          <a:p>
            <a:endParaRPr lang="en-US" altLang="en-US" sz="2400"/>
          </a:p>
          <a:p>
            <a:r>
              <a:rPr lang="en-US" altLang="en-US" sz="1800"/>
              <a:t>Create Accumulator Array </a:t>
            </a:r>
          </a:p>
          <a:p>
            <a:endParaRPr lang="en-US" altLang="en-US" sz="1800"/>
          </a:p>
          <a:p>
            <a:r>
              <a:rPr lang="en-US" altLang="en-US" sz="1800"/>
              <a:t>Initialize:</a:t>
            </a:r>
          </a:p>
          <a:p>
            <a:endParaRPr lang="en-US" altLang="en-US" sz="1800"/>
          </a:p>
          <a:p>
            <a:r>
              <a:rPr lang="en-US" altLang="en-US" sz="1800"/>
              <a:t>For each edge point</a:t>
            </a:r>
          </a:p>
          <a:p>
            <a:endParaRPr lang="en-US" altLang="en-US" sz="1800"/>
          </a:p>
          <a:p>
            <a:r>
              <a:rPr lang="en-US" altLang="en-US" sz="1800"/>
              <a:t>	For each entry            in table, compute:</a:t>
            </a:r>
          </a:p>
          <a:p>
            <a:endParaRPr lang="en-US" altLang="en-US" sz="1800"/>
          </a:p>
          <a:p>
            <a:r>
              <a:rPr lang="en-US" altLang="en-US" sz="1800"/>
              <a:t>	</a:t>
            </a:r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	Increment Accumulator:</a:t>
            </a:r>
          </a:p>
          <a:p>
            <a:endParaRPr lang="en-US" altLang="en-US" sz="1800"/>
          </a:p>
          <a:p>
            <a:r>
              <a:rPr lang="en-US" altLang="en-US" sz="1800"/>
              <a:t>Find Local Maxima in</a:t>
            </a:r>
          </a:p>
        </p:txBody>
      </p:sp>
      <p:graphicFrame>
        <p:nvGraphicFramePr>
          <p:cNvPr id="1078278" name="Object 6">
            <a:extLst>
              <a:ext uri="{FF2B5EF4-FFF2-40B4-BE49-F238E27FC236}">
                <a16:creationId xmlns:a16="http://schemas.microsoft.com/office/drawing/2014/main" id="{96277565-A5EB-46D4-984E-32CE619536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2688" y="1978025"/>
          <a:ext cx="12842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" name="Equation" r:id="rId4" imgW="583920" imgH="228600" progId="Equation.3">
                  <p:embed/>
                </p:oleObj>
              </mc:Choice>
              <mc:Fallback>
                <p:oleObj name="Equation" r:id="rId4" imgW="583920" imgH="228600" progId="Equation.3">
                  <p:embed/>
                  <p:pic>
                    <p:nvPicPr>
                      <p:cNvPr id="1078278" name="Object 6">
                        <a:extLst>
                          <a:ext uri="{FF2B5EF4-FFF2-40B4-BE49-F238E27FC236}">
                            <a16:creationId xmlns:a16="http://schemas.microsoft.com/office/drawing/2014/main" id="{96277565-A5EB-46D4-984E-32CE619536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1978025"/>
                        <a:ext cx="128428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79" name="Object 7">
            <a:extLst>
              <a:ext uri="{FF2B5EF4-FFF2-40B4-BE49-F238E27FC236}">
                <a16:creationId xmlns:a16="http://schemas.microsoft.com/office/drawing/2014/main" id="{B0D5B5E2-669D-47A1-AB48-B79540118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2625" y="2511425"/>
          <a:ext cx="32940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Equation" r:id="rId6" imgW="1498320" imgH="228600" progId="Equation.3">
                  <p:embed/>
                </p:oleObj>
              </mc:Choice>
              <mc:Fallback>
                <p:oleObj name="Equation" r:id="rId6" imgW="1498320" imgH="228600" progId="Equation.3">
                  <p:embed/>
                  <p:pic>
                    <p:nvPicPr>
                      <p:cNvPr id="1078279" name="Object 7">
                        <a:extLst>
                          <a:ext uri="{FF2B5EF4-FFF2-40B4-BE49-F238E27FC236}">
                            <a16:creationId xmlns:a16="http://schemas.microsoft.com/office/drawing/2014/main" id="{B0D5B5E2-669D-47A1-AB48-B795401182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2511425"/>
                        <a:ext cx="32940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0" name="Object 8">
            <a:extLst>
              <a:ext uri="{FF2B5EF4-FFF2-40B4-BE49-F238E27FC236}">
                <a16:creationId xmlns:a16="http://schemas.microsoft.com/office/drawing/2014/main" id="{A66165F8-2AB9-48C3-90EC-4E2F1DFE50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6413" y="3054350"/>
          <a:ext cx="13684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" name="Equation" r:id="rId8" imgW="622080" imgH="228600" progId="Equation.3">
                  <p:embed/>
                </p:oleObj>
              </mc:Choice>
              <mc:Fallback>
                <p:oleObj name="Equation" r:id="rId8" imgW="622080" imgH="228600" progId="Equation.3">
                  <p:embed/>
                  <p:pic>
                    <p:nvPicPr>
                      <p:cNvPr id="1078280" name="Object 8">
                        <a:extLst>
                          <a:ext uri="{FF2B5EF4-FFF2-40B4-BE49-F238E27FC236}">
                            <a16:creationId xmlns:a16="http://schemas.microsoft.com/office/drawing/2014/main" id="{A66165F8-2AB9-48C3-90EC-4E2F1DFE50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13" y="3054350"/>
                        <a:ext cx="13684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1" name="Object 9">
            <a:extLst>
              <a:ext uri="{FF2B5EF4-FFF2-40B4-BE49-F238E27FC236}">
                <a16:creationId xmlns:a16="http://schemas.microsoft.com/office/drawing/2014/main" id="{F1EEECF1-C342-476F-B7D3-C378CB138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2288" y="5257800"/>
          <a:ext cx="32115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name="Equation" r:id="rId10" imgW="1460160" imgH="228600" progId="Equation.3">
                  <p:embed/>
                </p:oleObj>
              </mc:Choice>
              <mc:Fallback>
                <p:oleObj name="Equation" r:id="rId10" imgW="1460160" imgH="228600" progId="Equation.3">
                  <p:embed/>
                  <p:pic>
                    <p:nvPicPr>
                      <p:cNvPr id="1078281" name="Object 9">
                        <a:extLst>
                          <a:ext uri="{FF2B5EF4-FFF2-40B4-BE49-F238E27FC236}">
                            <a16:creationId xmlns:a16="http://schemas.microsoft.com/office/drawing/2014/main" id="{F1EEECF1-C342-476F-B7D3-C378CB1385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5257800"/>
                        <a:ext cx="321151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2" name="Object 10">
            <a:extLst>
              <a:ext uri="{FF2B5EF4-FFF2-40B4-BE49-F238E27FC236}">
                <a16:creationId xmlns:a16="http://schemas.microsoft.com/office/drawing/2014/main" id="{A6198A4D-1335-488A-9CB6-8A00D1D23C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3563" y="5816600"/>
          <a:ext cx="12842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" name="Equation" r:id="rId12" imgW="583920" imgH="228600" progId="Equation.3">
                  <p:embed/>
                </p:oleObj>
              </mc:Choice>
              <mc:Fallback>
                <p:oleObj name="Equation" r:id="rId12" imgW="583920" imgH="228600" progId="Equation.3">
                  <p:embed/>
                  <p:pic>
                    <p:nvPicPr>
                      <p:cNvPr id="1078282" name="Object 10">
                        <a:extLst>
                          <a:ext uri="{FF2B5EF4-FFF2-40B4-BE49-F238E27FC236}">
                            <a16:creationId xmlns:a16="http://schemas.microsoft.com/office/drawing/2014/main" id="{A6198A4D-1335-488A-9CB6-8A00D1D23C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5816600"/>
                        <a:ext cx="128428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3" name="Object 11">
            <a:extLst>
              <a:ext uri="{FF2B5EF4-FFF2-40B4-BE49-F238E27FC236}">
                <a16:creationId xmlns:a16="http://schemas.microsoft.com/office/drawing/2014/main" id="{62A334D4-5FB0-4E79-B469-4471502E47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2838" y="4102100"/>
          <a:ext cx="240030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" name="Equation" r:id="rId13" imgW="1091880" imgH="482400" progId="Equation.3">
                  <p:embed/>
                </p:oleObj>
              </mc:Choice>
              <mc:Fallback>
                <p:oleObj name="Equation" r:id="rId13" imgW="1091880" imgH="482400" progId="Equation.3">
                  <p:embed/>
                  <p:pic>
                    <p:nvPicPr>
                      <p:cNvPr id="1078283" name="Object 11">
                        <a:extLst>
                          <a:ext uri="{FF2B5EF4-FFF2-40B4-BE49-F238E27FC236}">
                            <a16:creationId xmlns:a16="http://schemas.microsoft.com/office/drawing/2014/main" id="{62A334D4-5FB0-4E79-B469-4471502E47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38" y="4102100"/>
                        <a:ext cx="2400300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4" name="Object 12">
            <a:extLst>
              <a:ext uri="{FF2B5EF4-FFF2-40B4-BE49-F238E27FC236}">
                <a16:creationId xmlns:a16="http://schemas.microsoft.com/office/drawing/2014/main" id="{8652C99B-CFA9-4082-9295-D0D9D2DBF2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2188" y="3556000"/>
          <a:ext cx="33496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" name="Equation" r:id="rId15" imgW="152280" imgH="241200" progId="Equation.3">
                  <p:embed/>
                </p:oleObj>
              </mc:Choice>
              <mc:Fallback>
                <p:oleObj name="Equation" r:id="rId15" imgW="152280" imgH="241200" progId="Equation.3">
                  <p:embed/>
                  <p:pic>
                    <p:nvPicPr>
                      <p:cNvPr id="1078284" name="Object 12">
                        <a:extLst>
                          <a:ext uri="{FF2B5EF4-FFF2-40B4-BE49-F238E27FC236}">
                            <a16:creationId xmlns:a16="http://schemas.microsoft.com/office/drawing/2014/main" id="{8652C99B-CFA9-4082-9295-D0D9D2DBF2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188" y="3556000"/>
                        <a:ext cx="33496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85" name="Line 13">
            <a:extLst>
              <a:ext uri="{FF2B5EF4-FFF2-40B4-BE49-F238E27FC236}">
                <a16:creationId xmlns:a16="http://schemas.microsoft.com/office/drawing/2014/main" id="{04884838-1780-4522-800F-013DE0EA8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4088" y="36957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78286" name="Object 14">
            <a:extLst>
              <a:ext uri="{FF2B5EF4-FFF2-40B4-BE49-F238E27FC236}">
                <a16:creationId xmlns:a16="http://schemas.microsoft.com/office/drawing/2014/main" id="{449C9BA4-E09B-4FB3-960A-611E0DF944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6875" y="1295400"/>
          <a:ext cx="10620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" name="Equation" r:id="rId17" imgW="482400" imgH="228600" progId="Equation.3">
                  <p:embed/>
                </p:oleObj>
              </mc:Choice>
              <mc:Fallback>
                <p:oleObj name="Equation" r:id="rId17" imgW="482400" imgH="228600" progId="Equation.3">
                  <p:embed/>
                  <p:pic>
                    <p:nvPicPr>
                      <p:cNvPr id="1078286" name="Object 14">
                        <a:extLst>
                          <a:ext uri="{FF2B5EF4-FFF2-40B4-BE49-F238E27FC236}">
                            <a16:creationId xmlns:a16="http://schemas.microsoft.com/office/drawing/2014/main" id="{449C9BA4-E09B-4FB3-960A-611E0DF94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5" y="1295400"/>
                        <a:ext cx="10620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8" name="Object 16">
            <a:extLst>
              <a:ext uri="{FF2B5EF4-FFF2-40B4-BE49-F238E27FC236}">
                <a16:creationId xmlns:a16="http://schemas.microsoft.com/office/drawing/2014/main" id="{1F559C25-7C74-4B6C-9118-58A987390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2888" y="1295400"/>
          <a:ext cx="13684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" name="Equation" r:id="rId19" imgW="622080" imgH="228600" progId="Equation.3">
                  <p:embed/>
                </p:oleObj>
              </mc:Choice>
              <mc:Fallback>
                <p:oleObj name="Equation" r:id="rId19" imgW="622080" imgH="228600" progId="Equation.3">
                  <p:embed/>
                  <p:pic>
                    <p:nvPicPr>
                      <p:cNvPr id="1078288" name="Object 16">
                        <a:extLst>
                          <a:ext uri="{FF2B5EF4-FFF2-40B4-BE49-F238E27FC236}">
                            <a16:creationId xmlns:a16="http://schemas.microsoft.com/office/drawing/2014/main" id="{1F559C25-7C74-4B6C-9118-58A987390C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888" y="1295400"/>
                        <a:ext cx="13684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024" name="Picture 8" descr="lec9-7">
            <a:extLst>
              <a:ext uri="{FF2B5EF4-FFF2-40B4-BE49-F238E27FC236}">
                <a16:creationId xmlns:a16="http://schemas.microsoft.com/office/drawing/2014/main" id="{1B3F0C85-A5B4-4275-AD14-D9CE5F18A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22"/>
          <a:stretch>
            <a:fillRect/>
          </a:stretch>
        </p:blipFill>
        <p:spPr bwMode="auto">
          <a:xfrm>
            <a:off x="914400" y="0"/>
            <a:ext cx="7162800" cy="393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0026" name="Picture 10" descr="lec9-7">
            <a:extLst>
              <a:ext uri="{FF2B5EF4-FFF2-40B4-BE49-F238E27FC236}">
                <a16:creationId xmlns:a16="http://schemas.microsoft.com/office/drawing/2014/main" id="{B8518CBE-9DE8-49C7-A98C-5DF4E4FC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7" b="17963"/>
          <a:stretch>
            <a:fillRect/>
          </a:stretch>
        </p:blipFill>
        <p:spPr bwMode="auto">
          <a:xfrm>
            <a:off x="1219200" y="3962400"/>
            <a:ext cx="7162800" cy="266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4"/>
          <p:cNvSpPr txBox="1">
            <a:spLocks noGrp="1"/>
          </p:cNvSpPr>
          <p:nvPr>
            <p:ph type="title"/>
          </p:nvPr>
        </p:nvSpPr>
        <p:spPr>
          <a:xfrm>
            <a:off x="387220" y="365126"/>
            <a:ext cx="854217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2. Border Detection with Polygon Approximation</a:t>
            </a:r>
            <a:endParaRPr dirty="0"/>
          </a:p>
        </p:txBody>
      </p:sp>
      <p:sp>
        <p:nvSpPr>
          <p:cNvPr id="747" name="Google Shape;747;p6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48" name="Google Shape;748;p64"/>
          <p:cNvSpPr/>
          <p:nvPr/>
        </p:nvSpPr>
        <p:spPr>
          <a:xfrm>
            <a:off x="1661921" y="2835052"/>
            <a:ext cx="4899025" cy="365125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rgbClr val="FF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64"/>
          <p:cNvSpPr/>
          <p:nvPr/>
        </p:nvSpPr>
        <p:spPr>
          <a:xfrm>
            <a:off x="2463705" y="5126812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64"/>
          <p:cNvSpPr/>
          <p:nvPr/>
        </p:nvSpPr>
        <p:spPr>
          <a:xfrm>
            <a:off x="5486400" y="3429000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64"/>
          <p:cNvSpPr/>
          <p:nvPr/>
        </p:nvSpPr>
        <p:spPr>
          <a:xfrm>
            <a:off x="2608385" y="4340226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64"/>
          <p:cNvSpPr/>
          <p:nvPr/>
        </p:nvSpPr>
        <p:spPr>
          <a:xfrm>
            <a:off x="3508139" y="3528789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3" name="Google Shape;753;p64"/>
          <p:cNvSpPr/>
          <p:nvPr/>
        </p:nvSpPr>
        <p:spPr>
          <a:xfrm>
            <a:off x="3657173" y="352225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64"/>
          <p:cNvSpPr/>
          <p:nvPr/>
        </p:nvSpPr>
        <p:spPr>
          <a:xfrm>
            <a:off x="5181600" y="4365992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64"/>
          <p:cNvSpPr/>
          <p:nvPr/>
        </p:nvSpPr>
        <p:spPr>
          <a:xfrm>
            <a:off x="5334000" y="373779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64"/>
          <p:cNvSpPr/>
          <p:nvPr/>
        </p:nvSpPr>
        <p:spPr>
          <a:xfrm>
            <a:off x="2616105" y="525303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p64"/>
          <p:cNvSpPr/>
          <p:nvPr/>
        </p:nvSpPr>
        <p:spPr>
          <a:xfrm>
            <a:off x="5486400" y="3574509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64"/>
          <p:cNvSpPr/>
          <p:nvPr/>
        </p:nvSpPr>
        <p:spPr>
          <a:xfrm>
            <a:off x="4411666" y="3452589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9" name="Google Shape;759;p64"/>
          <p:cNvSpPr/>
          <p:nvPr/>
        </p:nvSpPr>
        <p:spPr>
          <a:xfrm>
            <a:off x="4561541" y="3429000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0" name="Google Shape;760;p64"/>
          <p:cNvSpPr/>
          <p:nvPr/>
        </p:nvSpPr>
        <p:spPr>
          <a:xfrm>
            <a:off x="4592583" y="5355412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1" name="Google Shape;761;p64"/>
          <p:cNvSpPr/>
          <p:nvPr/>
        </p:nvSpPr>
        <p:spPr>
          <a:xfrm>
            <a:off x="2971800" y="3944783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2" name="Google Shape;762;p64"/>
          <p:cNvSpPr/>
          <p:nvPr/>
        </p:nvSpPr>
        <p:spPr>
          <a:xfrm>
            <a:off x="3402447" y="564243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p64"/>
          <p:cNvSpPr/>
          <p:nvPr/>
        </p:nvSpPr>
        <p:spPr>
          <a:xfrm>
            <a:off x="2798617" y="5565827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p64"/>
          <p:cNvSpPr/>
          <p:nvPr/>
        </p:nvSpPr>
        <p:spPr>
          <a:xfrm>
            <a:off x="3806634" y="5916143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64"/>
          <p:cNvSpPr/>
          <p:nvPr/>
        </p:nvSpPr>
        <p:spPr>
          <a:xfrm>
            <a:off x="4259266" y="5798830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6" name="Google Shape;766;p64"/>
          <p:cNvSpPr/>
          <p:nvPr/>
        </p:nvSpPr>
        <p:spPr>
          <a:xfrm>
            <a:off x="4995354" y="5050612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Border Detection with Polygon Approximation</a:t>
            </a:r>
            <a:endParaRPr/>
          </a:p>
        </p:txBody>
      </p:sp>
      <p:sp>
        <p:nvSpPr>
          <p:cNvPr id="772" name="Google Shape;772;p6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773" name="Google Shape;773;p65"/>
          <p:cNvSpPr/>
          <p:nvPr/>
        </p:nvSpPr>
        <p:spPr>
          <a:xfrm>
            <a:off x="1661921" y="2835052"/>
            <a:ext cx="4899025" cy="365125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rgbClr val="FF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4" name="Google Shape;774;p65"/>
          <p:cNvSpPr/>
          <p:nvPr/>
        </p:nvSpPr>
        <p:spPr>
          <a:xfrm>
            <a:off x="2463705" y="5126812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65"/>
          <p:cNvSpPr/>
          <p:nvPr/>
        </p:nvSpPr>
        <p:spPr>
          <a:xfrm>
            <a:off x="5486400" y="3429000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65"/>
          <p:cNvSpPr/>
          <p:nvPr/>
        </p:nvSpPr>
        <p:spPr>
          <a:xfrm>
            <a:off x="2608385" y="4340226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65"/>
          <p:cNvSpPr/>
          <p:nvPr/>
        </p:nvSpPr>
        <p:spPr>
          <a:xfrm>
            <a:off x="3508139" y="3528789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8" name="Google Shape;778;p65"/>
          <p:cNvSpPr/>
          <p:nvPr/>
        </p:nvSpPr>
        <p:spPr>
          <a:xfrm>
            <a:off x="3657173" y="352225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" name="Google Shape;779;p65"/>
          <p:cNvSpPr/>
          <p:nvPr/>
        </p:nvSpPr>
        <p:spPr>
          <a:xfrm>
            <a:off x="5181600" y="4365992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0" name="Google Shape;780;p65"/>
          <p:cNvSpPr/>
          <p:nvPr/>
        </p:nvSpPr>
        <p:spPr>
          <a:xfrm>
            <a:off x="5334000" y="373779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1" name="Google Shape;781;p65"/>
          <p:cNvSpPr/>
          <p:nvPr/>
        </p:nvSpPr>
        <p:spPr>
          <a:xfrm>
            <a:off x="2616105" y="5253038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2" name="Google Shape;782;p65"/>
          <p:cNvSpPr/>
          <p:nvPr/>
        </p:nvSpPr>
        <p:spPr>
          <a:xfrm>
            <a:off x="5486400" y="3574509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65"/>
          <p:cNvSpPr/>
          <p:nvPr/>
        </p:nvSpPr>
        <p:spPr>
          <a:xfrm>
            <a:off x="4411666" y="3452589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4" name="Google Shape;784;p65"/>
          <p:cNvSpPr/>
          <p:nvPr/>
        </p:nvSpPr>
        <p:spPr>
          <a:xfrm>
            <a:off x="4561541" y="3429000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65"/>
          <p:cNvSpPr/>
          <p:nvPr/>
        </p:nvSpPr>
        <p:spPr>
          <a:xfrm>
            <a:off x="4592583" y="5355412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65"/>
          <p:cNvSpPr/>
          <p:nvPr/>
        </p:nvSpPr>
        <p:spPr>
          <a:xfrm>
            <a:off x="2971800" y="3944783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65"/>
          <p:cNvSpPr/>
          <p:nvPr/>
        </p:nvSpPr>
        <p:spPr>
          <a:xfrm>
            <a:off x="3402447" y="5642435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65"/>
          <p:cNvSpPr/>
          <p:nvPr/>
        </p:nvSpPr>
        <p:spPr>
          <a:xfrm>
            <a:off x="2798617" y="5565827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" name="Google Shape;789;p65"/>
          <p:cNvSpPr/>
          <p:nvPr/>
        </p:nvSpPr>
        <p:spPr>
          <a:xfrm>
            <a:off x="3806634" y="5916143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0" name="Google Shape;790;p65"/>
          <p:cNvSpPr/>
          <p:nvPr/>
        </p:nvSpPr>
        <p:spPr>
          <a:xfrm>
            <a:off x="4259266" y="5798830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1" name="Google Shape;791;p65"/>
          <p:cNvSpPr/>
          <p:nvPr/>
        </p:nvSpPr>
        <p:spPr>
          <a:xfrm>
            <a:off x="4995354" y="5050612"/>
            <a:ext cx="152400" cy="152400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2" name="Google Shape;792;p65"/>
          <p:cNvCxnSpPr>
            <a:stCxn id="781" idx="3"/>
            <a:endCxn id="775" idx="1"/>
          </p:cNvCxnSpPr>
          <p:nvPr/>
        </p:nvCxnSpPr>
        <p:spPr>
          <a:xfrm rot="10800000" flipH="1">
            <a:off x="2768505" y="3505238"/>
            <a:ext cx="2718000" cy="1824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3" name="Google Shape;793;p65"/>
          <p:cNvCxnSpPr>
            <a:endCxn id="790" idx="2"/>
          </p:cNvCxnSpPr>
          <p:nvPr/>
        </p:nvCxnSpPr>
        <p:spPr>
          <a:xfrm>
            <a:off x="3402466" y="4876930"/>
            <a:ext cx="933000" cy="1074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4" name="Google Shape;794;p65"/>
          <p:cNvCxnSpPr>
            <a:stCxn id="775" idx="0"/>
            <a:endCxn id="790" idx="2"/>
          </p:cNvCxnSpPr>
          <p:nvPr/>
        </p:nvCxnSpPr>
        <p:spPr>
          <a:xfrm flipH="1">
            <a:off x="4335600" y="3429000"/>
            <a:ext cx="1227000" cy="2522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5" name="Google Shape;795;p65"/>
          <p:cNvCxnSpPr>
            <a:endCxn id="790" idx="2"/>
          </p:cNvCxnSpPr>
          <p:nvPr/>
        </p:nvCxnSpPr>
        <p:spPr>
          <a:xfrm>
            <a:off x="2768566" y="5329330"/>
            <a:ext cx="1566900" cy="621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Polygon Approximation to a Single Object</a:t>
            </a:r>
            <a:endParaRPr dirty="0"/>
          </a:p>
        </p:txBody>
      </p:sp>
      <p:sp>
        <p:nvSpPr>
          <p:cNvPr id="802" name="Google Shape;802;p6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3656B-19D4-4302-A7AA-3908F8B6B2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12"/>
          <a:stretch/>
        </p:blipFill>
        <p:spPr>
          <a:xfrm>
            <a:off x="301584" y="1992085"/>
            <a:ext cx="8540831" cy="398235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9BA5-928E-4CA2-9C69-0CAFE249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Super slice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B553B-B6C9-415B-978F-E4DEC4F20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Combine region based and edge based methods.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54F27-096A-480A-B5AC-169C80745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A0512-BA3C-46CB-B399-D319D3AA7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420" y="2592600"/>
            <a:ext cx="5705643" cy="3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6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94A2-A5BF-44A4-B942-4B5F99FE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Slice Method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8F573E-4396-4F77-9580-A07A52BE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533" y="1027907"/>
            <a:ext cx="4514467" cy="29796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E86B3-A2CC-479F-A3C6-2E6FE4DC7E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B0A74-495D-40C1-B5B9-637BD3290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06" y="3892320"/>
            <a:ext cx="4150877" cy="2464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089F1-AB53-4E95-B58E-EDD6915A4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96" y="4007545"/>
            <a:ext cx="4161631" cy="27128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E64555-7BA9-476D-9B51-B1FDDF013F0E}"/>
              </a:ext>
            </a:extLst>
          </p:cNvPr>
          <p:cNvSpPr/>
          <p:nvPr/>
        </p:nvSpPr>
        <p:spPr>
          <a:xfrm>
            <a:off x="296527" y="1468380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" indent="0">
              <a:buNone/>
            </a:pPr>
            <a:r>
              <a:rPr lang="en-US" sz="2000" dirty="0"/>
              <a:t>1. Find the edge map</a:t>
            </a:r>
          </a:p>
          <a:p>
            <a:pPr marL="114300" indent="0">
              <a:buNone/>
            </a:pPr>
            <a:r>
              <a:rPr lang="en-US" sz="2000" dirty="0"/>
              <a:t>2. Find a region based segmentation map</a:t>
            </a:r>
          </a:p>
          <a:p>
            <a:pPr marL="114300" indent="0">
              <a:buNone/>
            </a:pPr>
            <a:r>
              <a:rPr lang="en-US" sz="2000" dirty="0"/>
              <a:t>3. Merge the two map by maximizing the edge and boundary overlaps.</a:t>
            </a:r>
          </a:p>
        </p:txBody>
      </p:sp>
    </p:spTree>
    <p:extLst>
      <p:ext uri="{BB962C8B-B14F-4D97-AF65-F5344CB8AC3E}">
        <p14:creationId xmlns:p14="http://schemas.microsoft.com/office/powerpoint/2010/main" val="40987649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597-225B-43A3-B2F4-92BA8152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Quiz #14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C8AE6-F491-4E2C-9E35-D45D9A564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400" dirty="0"/>
              <a:t>Fit a Gaussian density to the color histogram of the following image patch, using Mean Shift method.</a:t>
            </a:r>
          </a:p>
          <a:p>
            <a:pPr marL="571500" indent="-457200">
              <a:buAutoNum type="alphaLcParenR"/>
            </a:pPr>
            <a:r>
              <a:rPr lang="en-US" sz="2400" dirty="0"/>
              <a:t>Find the mean.</a:t>
            </a:r>
          </a:p>
          <a:p>
            <a:pPr marL="571500" indent="-457200">
              <a:buAutoNum type="alphaLcParenR"/>
            </a:pPr>
            <a:r>
              <a:rPr lang="en-US" sz="2400" dirty="0"/>
              <a:t>Find the variance.</a:t>
            </a:r>
          </a:p>
          <a:p>
            <a:pPr marL="114300" indent="0">
              <a:buNone/>
            </a:pPr>
            <a:r>
              <a:rPr lang="en-US" sz="2400" dirty="0"/>
              <a:t>Initialize with mean, m(0) = 1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B0630-1E42-4414-8338-DCF28D7159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247118-317A-42BE-9AD8-BAE3D553C11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90650" y="4330903"/>
          <a:ext cx="204201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0504">
                  <a:extLst>
                    <a:ext uri="{9D8B030D-6E8A-4147-A177-3AD203B41FA5}">
                      <a16:colId xmlns:a16="http://schemas.microsoft.com/office/drawing/2014/main" val="3504907980"/>
                    </a:ext>
                  </a:extLst>
                </a:gridCol>
                <a:gridCol w="510504">
                  <a:extLst>
                    <a:ext uri="{9D8B030D-6E8A-4147-A177-3AD203B41FA5}">
                      <a16:colId xmlns:a16="http://schemas.microsoft.com/office/drawing/2014/main" val="3173268101"/>
                    </a:ext>
                  </a:extLst>
                </a:gridCol>
                <a:gridCol w="510504">
                  <a:extLst>
                    <a:ext uri="{9D8B030D-6E8A-4147-A177-3AD203B41FA5}">
                      <a16:colId xmlns:a16="http://schemas.microsoft.com/office/drawing/2014/main" val="1379763497"/>
                    </a:ext>
                  </a:extLst>
                </a:gridCol>
                <a:gridCol w="510504">
                  <a:extLst>
                    <a:ext uri="{9D8B030D-6E8A-4147-A177-3AD203B41FA5}">
                      <a16:colId xmlns:a16="http://schemas.microsoft.com/office/drawing/2014/main" val="1560899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25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127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18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47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37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4136</TotalTime>
  <Words>1464</Words>
  <Application>Microsoft Office PowerPoint</Application>
  <PresentationFormat>On-screen Show (4:3)</PresentationFormat>
  <Paragraphs>267</Paragraphs>
  <Slides>54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Calibri</vt:lpstr>
      <vt:lpstr>Cambria Math</vt:lpstr>
      <vt:lpstr>Arial</vt:lpstr>
      <vt:lpstr>Times New Roman</vt:lpstr>
      <vt:lpstr>ＭＳ Ｐゴシック</vt:lpstr>
      <vt:lpstr>Tahoma</vt:lpstr>
      <vt:lpstr>Noto Sans Symbols</vt:lpstr>
      <vt:lpstr>Office Theme</vt:lpstr>
      <vt:lpstr>Equation</vt:lpstr>
      <vt:lpstr>Week 12: Edge Based Segmentation</vt:lpstr>
      <vt:lpstr>Edge Based Segmentation</vt:lpstr>
      <vt:lpstr>Edge Based  segmentation</vt:lpstr>
      <vt:lpstr>From images to objects</vt:lpstr>
      <vt:lpstr>Gestalt laws: The law of grouping the regions</vt:lpstr>
      <vt:lpstr>Gestalt laws</vt:lpstr>
      <vt:lpstr>Gestalt laws</vt:lpstr>
      <vt:lpstr>Edge Based Segmentation</vt:lpstr>
      <vt:lpstr>Output of Step 1: Laplacian operators</vt:lpstr>
      <vt:lpstr>Marr/Hildreth edge detector</vt:lpstr>
      <vt:lpstr>Marr/Hildreth edge detector</vt:lpstr>
      <vt:lpstr>Canny edge detector (J. Canny 1986)</vt:lpstr>
      <vt:lpstr>Step 3: Non-maxima suppression</vt:lpstr>
      <vt:lpstr>Step 4: Hysteresis thresholding</vt:lpstr>
      <vt:lpstr>Canny edge detector</vt:lpstr>
      <vt:lpstr>Marr-Hilderith vs. Canny</vt:lpstr>
      <vt:lpstr>Marr-Hilderith vs. Canny </vt:lpstr>
      <vt:lpstr>Canny edge detector</vt:lpstr>
      <vt:lpstr>Edge Based Segmentation</vt:lpstr>
      <vt:lpstr>2. Edge Linking and Boundary Detection</vt:lpstr>
      <vt:lpstr>1. Hough Transform</vt:lpstr>
      <vt:lpstr>Hough Transform and Hough Space</vt:lpstr>
      <vt:lpstr>Hough Transform for Detection Line Segments</vt:lpstr>
      <vt:lpstr>Hough Transform for Detection Line Segments</vt:lpstr>
      <vt:lpstr>A Point in the image space corresponds to line in the parameter space.</vt:lpstr>
      <vt:lpstr>Accumulator Cells</vt:lpstr>
      <vt:lpstr>Accumulator Cells in the Hough Space</vt:lpstr>
      <vt:lpstr>Algorithm: Line Detection with Hough Transform</vt:lpstr>
      <vt:lpstr> </vt:lpstr>
      <vt:lpstr>Slope, a=   ∞  or intercept, b = ∞</vt:lpstr>
      <vt:lpstr>Line Equation in Polar Coordinates</vt:lpstr>
      <vt:lpstr>Hough Transform , H: (x,y,)           {ρ, θ}</vt:lpstr>
      <vt:lpstr> </vt:lpstr>
      <vt:lpstr>Hough transform: Line segments</vt:lpstr>
      <vt:lpstr>Hough transform: line segments</vt:lpstr>
      <vt:lpstr>Does Hough transform for line fitting output a closed boundary?</vt:lpstr>
      <vt:lpstr>How to Extract Closed Boundary</vt:lpstr>
      <vt:lpstr>Hough Transform</vt:lpstr>
      <vt:lpstr>Hough Transform for circle fitting</vt:lpstr>
      <vt:lpstr>Hough transform: Circles</vt:lpstr>
      <vt:lpstr>Suppose the radius d is given: A point in image space is mapped to a circle in Hough space </vt:lpstr>
      <vt:lpstr>A Circle point in image space maps to what in Hough space?                   </vt:lpstr>
      <vt:lpstr>H: Circle points                    Cones </vt:lpstr>
      <vt:lpstr>Generalized Hough Transform for nonparametric shapes</vt:lpstr>
      <vt:lpstr>Generalized Hough Transform</vt:lpstr>
      <vt:lpstr>Generalized Hough Transform</vt:lpstr>
      <vt:lpstr>Generalized Hough Transform</vt:lpstr>
      <vt:lpstr>PowerPoint Presentation</vt:lpstr>
      <vt:lpstr>2. Border Detection with Polygon Approximation</vt:lpstr>
      <vt:lpstr>Border Detection with Polygon Approximation</vt:lpstr>
      <vt:lpstr>Polygon Approximation to a Single Object</vt:lpstr>
      <vt:lpstr>3. Super slice method</vt:lpstr>
      <vt:lpstr>Super Slice Method</vt:lpstr>
      <vt:lpstr>Quiz #14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13: Edge Based Segmentation</dc:title>
  <dc:creator>uw</dc:creator>
  <cp:lastModifiedBy>Fatos</cp:lastModifiedBy>
  <cp:revision>43</cp:revision>
  <dcterms:created xsi:type="dcterms:W3CDTF">2002-10-25T20:26:46Z</dcterms:created>
  <dcterms:modified xsi:type="dcterms:W3CDTF">2022-12-14T10:04:56Z</dcterms:modified>
</cp:coreProperties>
</file>