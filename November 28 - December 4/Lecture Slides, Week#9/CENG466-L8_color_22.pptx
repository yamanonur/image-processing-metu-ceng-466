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316" r:id="rId17"/>
    <p:sldId id="317" r:id="rId18"/>
    <p:sldId id="318" r:id="rId19"/>
    <p:sldId id="319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20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21" r:id="rId49"/>
    <p:sldId id="300" r:id="rId50"/>
    <p:sldId id="301" r:id="rId51"/>
    <p:sldId id="302" r:id="rId52"/>
    <p:sldId id="303" r:id="rId53"/>
    <p:sldId id="307" r:id="rId54"/>
    <p:sldId id="309" r:id="rId55"/>
    <p:sldId id="308" r:id="rId56"/>
    <p:sldId id="310" r:id="rId57"/>
    <p:sldId id="304" r:id="rId58"/>
    <p:sldId id="305" r:id="rId59"/>
    <p:sldId id="322" r:id="rId60"/>
    <p:sldId id="311" r:id="rId61"/>
    <p:sldId id="313" r:id="rId62"/>
    <p:sldId id="314" r:id="rId63"/>
    <p:sldId id="312" r:id="rId64"/>
    <p:sldId id="323" r:id="rId6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Cambria Math" panose="02040503050406030204" pitchFamily="18" charset="0"/>
      <p:regular r:id="rId71"/>
    </p:embeddedFont>
    <p:embeddedFont>
      <p:font typeface="Lato" panose="020B0604020202020204" charset="0"/>
      <p:regular r:id="rId72"/>
      <p:bold r:id="rId73"/>
      <p:italic r:id="rId74"/>
      <p:boldItalic r:id="rId75"/>
    </p:embeddedFont>
    <p:embeddedFont>
      <p:font typeface="Tahoma" panose="020B0604030504040204" pitchFamily="34" charset="0"/>
      <p:regular r:id="rId76"/>
      <p:bold r:id="rId77"/>
    </p:embeddedFont>
    <p:embeddedFont>
      <p:font typeface="Verdana" panose="020B0604030504040204" pitchFamily="34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hgcRCC4VakarEWsYsjXLvjY5kg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3" autoAdjust="0"/>
  </p:normalViewPr>
  <p:slideViewPr>
    <p:cSldViewPr snapToGrid="0">
      <p:cViewPr varScale="1">
        <p:scale>
          <a:sx n="87" d="100"/>
          <a:sy n="87" d="100"/>
        </p:scale>
        <p:origin x="1274" y="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font" Target="fonts/font15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notesMaster" Target="notesMasters/notesMaster1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428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a817dca8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a817dca8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a817dca8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a817dca8c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ga817dca8c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a817dca8c9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a817dca8c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a817dca8c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a817dca8c9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a817dca8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a817dca8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a817dca8c9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817dca8c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817dca8c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a817dca8c9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2855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a817dca8c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a817dca8c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ga817dca8c9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3137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7" name="Google Shape;537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03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6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lip Art and Text" type="clipArtAndTx">
  <p:cSld name="CLIPART_AND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5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5"/>
          <p:cNvSpPr>
            <a:spLocks noGrp="1"/>
          </p:cNvSpPr>
          <p:nvPr>
            <p:ph type="clipArt" idx="2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5"/>
          <p:cNvSpPr txBox="1">
            <a:spLocks noGrp="1"/>
          </p:cNvSpPr>
          <p:nvPr>
            <p:ph type="body" idx="1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6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6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6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6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6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0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1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leydog.com/glossary/definition.php?term=Young-Helmholtz+Trichromatic+(three+color)+Theo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Week 8</a:t>
            </a:r>
            <a:r>
              <a:rPr lang="en-US" b="1" dirty="0">
                <a:solidFill>
                  <a:srgbClr val="FF0000"/>
                </a:solidFill>
              </a:rPr>
              <a:t>: C</a:t>
            </a:r>
            <a:r>
              <a:rPr lang="en-US" b="1" dirty="0">
                <a:solidFill>
                  <a:srgbClr val="FFFF00"/>
                </a:solidFill>
              </a:rPr>
              <a:t>O</a:t>
            </a:r>
            <a:r>
              <a:rPr lang="en-US" b="1" dirty="0">
                <a:solidFill>
                  <a:srgbClr val="00B0F0"/>
                </a:solidFill>
              </a:rPr>
              <a:t>L</a:t>
            </a:r>
            <a:r>
              <a:rPr lang="en-US" b="1" dirty="0">
                <a:solidFill>
                  <a:srgbClr val="00B050"/>
                </a:solidFill>
              </a:rPr>
              <a:t>O</a:t>
            </a:r>
            <a:r>
              <a:rPr lang="en-US" b="1" dirty="0"/>
              <a:t>R</a:t>
            </a:r>
            <a:endParaRPr b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60"/>
              <a:buNone/>
            </a:pPr>
            <a:r>
              <a:rPr lang="en-US" sz="2960">
                <a:solidFill>
                  <a:srgbClr val="002060"/>
                </a:solidFill>
              </a:rPr>
              <a:t>A SET OF CODES GENERATED BY THE BRAİN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ts val="2960"/>
              <a:buNone/>
            </a:pPr>
            <a:r>
              <a:rPr lang="en-US" sz="2960">
                <a:solidFill>
                  <a:srgbClr val="002060"/>
                </a:solidFill>
              </a:rPr>
              <a:t>How do you quantify?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ts val="2960"/>
              <a:buNone/>
            </a:pPr>
            <a:r>
              <a:rPr lang="en-US" sz="2960">
                <a:solidFill>
                  <a:srgbClr val="002060"/>
                </a:solidFill>
              </a:rPr>
              <a:t>How do you use?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457200" y="65692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/>
              <a:t>Color is crucial to represent image content</a:t>
            </a:r>
            <a:endParaRPr sz="3959" dirty="0"/>
          </a:p>
        </p:txBody>
      </p:sp>
      <p:pic>
        <p:nvPicPr>
          <p:cNvPr id="104" name="Google Shape;104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66950" y="2705894"/>
            <a:ext cx="46101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2627784" y="5301208"/>
            <a:ext cx="4194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Tiger in forest?   Cat on a rug?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Color?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Color is an electromagnetic waveform, in Physics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Color is the coded light by our brain, in Neuroscience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Color Formation </a:t>
            </a:r>
            <a:endParaRPr dirty="0"/>
          </a:p>
        </p:txBody>
      </p:sp>
      <p:sp>
        <p:nvSpPr>
          <p:cNvPr id="127" name="Google Shape;127;p5"/>
          <p:cNvSpPr/>
          <p:nvPr/>
        </p:nvSpPr>
        <p:spPr>
          <a:xfrm>
            <a:off x="642392" y="1659383"/>
            <a:ext cx="785921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source of illumination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spectral reflectance of the object’s surface: 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Sensory device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0AAE6-3985-4291-A96C-893E2C6A0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29" y="3507156"/>
            <a:ext cx="5311543" cy="29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9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White Light</a:t>
            </a: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 dirty="0"/>
              <a:t>The electromagnetic waveform in the visible spectrum, </a:t>
            </a:r>
            <a:r>
              <a:rPr lang="en-US" dirty="0"/>
              <a:t> composed of approximately equal energy in </a:t>
            </a:r>
            <a:r>
              <a:rPr lang="en-US" u="sng" dirty="0"/>
              <a:t>all </a:t>
            </a:r>
            <a:r>
              <a:rPr lang="en-US" dirty="0"/>
              <a:t>wavelengths.</a:t>
            </a:r>
            <a:endParaRPr dirty="0"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744" y="3356992"/>
            <a:ext cx="4928096" cy="3133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What is yellow object?</a:t>
            </a:r>
            <a:endParaRPr dirty="0"/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457200" y="163119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 dirty="0"/>
              <a:t>A yellow </a:t>
            </a:r>
            <a:r>
              <a:rPr lang="en-US" sz="2800" dirty="0"/>
              <a:t>object has a surface material that reflects wavelength corresponding to yellow, when illuminated by </a:t>
            </a:r>
            <a:r>
              <a:rPr lang="en-US" sz="2800" b="1" dirty="0"/>
              <a:t>white light </a:t>
            </a:r>
            <a:endParaRPr dirty="0"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t="40241"/>
          <a:stretch/>
        </p:blipFill>
        <p:spPr>
          <a:xfrm>
            <a:off x="790414" y="3048001"/>
            <a:ext cx="7267187" cy="34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Color as we perceive</a:t>
            </a:r>
            <a:endParaRPr/>
          </a:p>
        </p:txBody>
      </p:sp>
      <p:sp>
        <p:nvSpPr>
          <p:cNvPr id="148" name="Google Shape;14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/>
              <a:t>Q:</a:t>
            </a:r>
            <a:r>
              <a:rPr lang="en-US" sz="2800"/>
              <a:t> How does the human visual system process the irradiated light from the objects to generate color?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l="17283" t="52986"/>
          <a:stretch/>
        </p:blipFill>
        <p:spPr>
          <a:xfrm rot="10800000">
            <a:off x="1269995" y="4197147"/>
            <a:ext cx="5544616" cy="180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 l="7408" t="34644" r="6171" b="28496"/>
          <a:stretch/>
        </p:blipFill>
        <p:spPr>
          <a:xfrm flipH="1">
            <a:off x="1691680" y="2983990"/>
            <a:ext cx="5190090" cy="1093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510" y="1484784"/>
            <a:ext cx="7556500" cy="50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Three Color System: cones work as tiny filters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Color Generation in Human Brain,</a:t>
            </a:r>
            <a:br>
              <a:rPr lang="en-US" sz="3959"/>
            </a:br>
            <a:endParaRPr sz="3959"/>
          </a:p>
        </p:txBody>
      </p:sp>
      <p:sp>
        <p:nvSpPr>
          <p:cNvPr id="171" name="Google Shape;171;p11"/>
          <p:cNvSpPr txBox="1"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Mixes three primary colors to generate the other color 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Takes the difference of the two neighboring color codes to assign the color of an object</a:t>
            </a:r>
            <a:endParaRPr/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4278" y="2996952"/>
            <a:ext cx="4075443" cy="3301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Mathematical Representation of Color </a:t>
            </a:r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Trichromatic Theory  (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Young-Helmholtz</a:t>
            </a:r>
            <a:r>
              <a:rPr lang="en-US" dirty="0"/>
              <a:t>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” Almost all the colors can be generated from three independent vectors, in three dimensional color space”</a:t>
            </a:r>
            <a:endParaRPr dirty="0"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755576" y="1600200"/>
            <a:ext cx="7931224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lang="en-US" sz="2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R</a:t>
            </a:r>
            <a:r>
              <a:rPr lang="en-US" sz="2400" b="1" dirty="0">
                <a:solidFill>
                  <a:srgbClr val="00B050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lang="en-US" sz="2400" b="1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is an additive system used for displays.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400" dirty="0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2"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Black =  [0, 0, 0]</a:t>
            </a:r>
          </a:p>
          <a:p>
            <a:pPr lvl="2">
              <a:buClr>
                <a:schemeClr val="dk1"/>
              </a:buClr>
              <a:buSzPts val="2800"/>
            </a:pPr>
            <a:endParaRPr dirty="0"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Char char="•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en-US" sz="2400" b="1" dirty="0">
                <a:solidFill>
                  <a:srgbClr val="FF2F92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lang="en-US" sz="2400" b="1" dirty="0">
                <a:solidFill>
                  <a:srgbClr val="FFFF00"/>
                </a:solidFill>
                <a:latin typeface="Tahoma"/>
                <a:ea typeface="Tahoma"/>
                <a:cs typeface="Tahoma"/>
                <a:sym typeface="Tahoma"/>
              </a:rPr>
              <a:t>Y</a:t>
            </a: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is a subtractive system for printing.</a:t>
            </a:r>
          </a:p>
          <a:p>
            <a:pPr marR="0" lvl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Black = [L-1, L-1, L-1]</a:t>
            </a:r>
            <a:endParaRPr dirty="0"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Char char="•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HSI</a:t>
            </a: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is a good perceptual space for art, psychology, and image processing.</a:t>
            </a:r>
            <a:endParaRPr dirty="0"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Char char="•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b="1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YIQ </a:t>
            </a: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used for TV is good for compression.</a:t>
            </a:r>
            <a:endParaRPr dirty="0"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Char char="•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…..</a:t>
            </a:r>
            <a:endParaRPr dirty="0"/>
          </a:p>
          <a:p>
            <a:pPr marL="0" marR="0" lvl="0" indent="-15240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Char char="•"/>
            </a:pPr>
            <a:r>
              <a:rPr lang="en-US" sz="24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etc.</a:t>
            </a:r>
            <a:endParaRPr dirty="0"/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Color Systems in 3-D Space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RGB vs. CMY Systems</a:t>
            </a:r>
            <a:endParaRPr dirty="0"/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986" y="2348283"/>
            <a:ext cx="2438141" cy="21786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95" name="Google Shape;195;p14"/>
          <p:cNvPicPr preferRelativeResize="0"/>
          <p:nvPr/>
        </p:nvPicPr>
        <p:blipFill rotWithShape="1">
          <a:blip r:embed="rId4">
            <a:alphaModFix/>
          </a:blip>
          <a:srcRect l="5101" t="5776" r="57336" b="11780"/>
          <a:stretch/>
        </p:blipFill>
        <p:spPr>
          <a:xfrm>
            <a:off x="773915" y="2348283"/>
            <a:ext cx="2230543" cy="227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/>
          <p:nvPr/>
        </p:nvSpPr>
        <p:spPr>
          <a:xfrm>
            <a:off x="563485" y="1523676"/>
            <a:ext cx="36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hlin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RGB: Add colors to black 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4631409" y="1523677"/>
            <a:ext cx="45590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432FF"/>
                </a:solidFill>
                <a:latin typeface="Calibri"/>
                <a:ea typeface="Calibri"/>
                <a:cs typeface="Calibri"/>
                <a:sym typeface="Calibri"/>
              </a:rPr>
              <a:t>CMY:  Subtract colors from white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5696" y="1700808"/>
            <a:ext cx="6542307" cy="352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792" y="1412473"/>
            <a:ext cx="2933476" cy="381672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RGB and CMY Color Spaces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760922" y="5671125"/>
            <a:ext cx="5098942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 point on gray scale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2400" baseline="-25000" dirty="0"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has </a:t>
            </a:r>
            <a:r>
              <a:rPr lang="en-US" sz="24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 baseline="-250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 baseline="-25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24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g</a:t>
            </a:r>
            <a:r>
              <a:rPr lang="en-US" sz="2400" baseline="-250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 baseline="-25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, 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b</a:t>
            </a:r>
            <a:r>
              <a:rPr lang="en-US" sz="2400" baseline="-25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endParaRPr sz="2400"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6"/>
          <p:cNvPicPr preferRelativeResize="0"/>
          <p:nvPr/>
        </p:nvPicPr>
        <p:blipFill rotWithShape="1">
          <a:blip r:embed="rId3">
            <a:alphaModFix/>
          </a:blip>
          <a:srcRect l="26941" r="28158" b="13044"/>
          <a:stretch/>
        </p:blipFill>
        <p:spPr>
          <a:xfrm>
            <a:off x="147869" y="2866309"/>
            <a:ext cx="3960440" cy="2969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 rotWithShape="1">
          <a:blip r:embed="rId4">
            <a:alphaModFix/>
          </a:blip>
          <a:srcRect l="28353" r="27884" b="14511"/>
          <a:stretch/>
        </p:blipFill>
        <p:spPr>
          <a:xfrm>
            <a:off x="4990361" y="2859399"/>
            <a:ext cx="3696439" cy="289111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827584" y="6021288"/>
            <a:ext cx="30543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Color Cube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210280" y="6021287"/>
            <a:ext cx="47709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Digitized Color Cube: RGB safe colors</a:t>
            </a:r>
            <a:endParaRPr dirty="0"/>
          </a:p>
        </p:txBody>
      </p: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457200" y="2539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/>
              <a:t>Mapping between RGB and CMY  Systems</a:t>
            </a:r>
            <a:endParaRPr dirty="0"/>
          </a:p>
        </p:txBody>
      </p:sp>
      <p:sp>
        <p:nvSpPr>
          <p:cNvPr id="217" name="Google Shape;217;p16"/>
          <p:cNvSpPr txBox="1"/>
          <p:nvPr/>
        </p:nvSpPr>
        <p:spPr>
          <a:xfrm>
            <a:off x="3491880" y="1517649"/>
            <a:ext cx="2556662" cy="116326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5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8" y="1714500"/>
            <a:ext cx="5730875" cy="46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RGB Color System is Additive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3466-B530-42C0-A1D3-0E355088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you decompose a color into R, G and B components</a:t>
            </a:r>
          </a:p>
        </p:txBody>
      </p:sp>
      <p:pic>
        <p:nvPicPr>
          <p:cNvPr id="1026" name="Picture 2" descr="https://raw.githubusercontent.com/hazalmogultay/466Images/master/W9-Color/1.png">
            <a:extLst>
              <a:ext uri="{FF2B5EF4-FFF2-40B4-BE49-F238E27FC236}">
                <a16:creationId xmlns:a16="http://schemas.microsoft.com/office/drawing/2014/main" id="{78FDBDF8-5157-41FF-800D-4469BE572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76"/>
          <a:stretch/>
        </p:blipFill>
        <p:spPr bwMode="auto">
          <a:xfrm>
            <a:off x="189285" y="2815527"/>
            <a:ext cx="8846793" cy="166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4FC69D-C107-47E2-A123-169AD4F4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97" y="1613354"/>
            <a:ext cx="1375529" cy="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0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3466-B530-42C0-A1D3-0E355088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you decompose a color into R, G and B components</a:t>
            </a:r>
          </a:p>
        </p:txBody>
      </p:sp>
      <p:pic>
        <p:nvPicPr>
          <p:cNvPr id="1026" name="Picture 2" descr="https://raw.githubusercontent.com/hazalmogultay/466Images/master/W9-Color/1.png">
            <a:extLst>
              <a:ext uri="{FF2B5EF4-FFF2-40B4-BE49-F238E27FC236}">
                <a16:creationId xmlns:a16="http://schemas.microsoft.com/office/drawing/2014/main" id="{78FDBDF8-5157-41FF-800D-4469BE572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85" y="2815526"/>
            <a:ext cx="8846793" cy="19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881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4BBA-5A72-4F02-8706-531EFDA8C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69" y="274638"/>
            <a:ext cx="8407831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one is more similar to light pink?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553D99-B5B6-431E-9367-77519ED7D767}"/>
                  </a:ext>
                </a:extLst>
              </p:cNvPr>
              <p:cNvSpPr/>
              <p:nvPr/>
            </p:nvSpPr>
            <p:spPr>
              <a:xfrm>
                <a:off x="681925" y="4227974"/>
                <a:ext cx="8369085" cy="1934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i="1" dirty="0" err="1">
                    <a:latin typeface="KaTeX_Math"/>
                  </a:rPr>
                  <a:t>Eucledean</a:t>
                </a:r>
                <a:r>
                  <a:rPr lang="en-US" sz="2800" i="1" dirty="0">
                    <a:latin typeface="KaTeX_Math"/>
                  </a:rPr>
                  <a:t> Distance: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i="1" baseline="-25000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𝑝𝑖𝑛𝑘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i="1" dirty="0" err="1" smtClean="0">
                          <a:latin typeface="Cambria Math" panose="02040503050406030204" pitchFamily="18" charset="0"/>
                        </a:rPr>
                        <m:t>𝑙𝑖𝑔h𝑡𝑝𝑖𝑛𝑘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2×51​.</m:t>
                          </m:r>
                        </m:e>
                      </m:rad>
                    </m:oMath>
                  </m:oMathPara>
                </a14:m>
                <a:endParaRPr lang="en-US" sz="2800" dirty="0">
                  <a:latin typeface="Lato" panose="020B0604020202020204" charset="0"/>
                </a:endParaRPr>
              </a:p>
              <a:p>
                <a:endParaRPr lang="en-US" sz="2800" dirty="0">
                  <a:latin typeface="Lato" panose="020B060402020202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800" i="1" baseline="-25000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dirty="0" err="1">
                          <a:latin typeface="Cambria Math" panose="02040503050406030204" pitchFamily="18" charset="0"/>
                        </a:rPr>
                        <m:t>𝑙𝑖𝑔h𝑡𝑝𝑖𝑛𝑘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51​.</m:t>
                          </m:r>
                        </m:e>
                      </m:rad>
                    </m:oMath>
                  </m:oMathPara>
                </a14:m>
                <a:endParaRPr lang="en-US" sz="2800" dirty="0">
                  <a:latin typeface="Lato" panose="020B060402020202020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5553D99-B5B6-431E-9367-77519ED7D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5" y="4227974"/>
                <a:ext cx="8369085" cy="1934889"/>
              </a:xfrm>
              <a:prstGeom prst="rect">
                <a:avLst/>
              </a:prstGeom>
              <a:blipFill>
                <a:blip r:embed="rId2"/>
                <a:stretch>
                  <a:fillRect l="-1529" t="-3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https://raw.githubusercontent.com/hazalmogultay/466Images/master/W9-Color/1.png">
            <a:extLst>
              <a:ext uri="{FF2B5EF4-FFF2-40B4-BE49-F238E27FC236}">
                <a16:creationId xmlns:a16="http://schemas.microsoft.com/office/drawing/2014/main" id="{85F6A8A1-FF58-49EF-82A2-9E2F57FA5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03" y="1784912"/>
            <a:ext cx="8846793" cy="19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553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9B42-2740-4D74-9E10-7B04A883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Fact: HVS does not work with vector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28C59-44FD-4B12-831B-10D727E0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Cones: </a:t>
            </a:r>
            <a:r>
              <a:rPr lang="en-US" dirty="0" err="1"/>
              <a:t>Cromaticity</a:t>
            </a:r>
            <a:r>
              <a:rPr lang="en-US" dirty="0"/>
              <a:t>, Hue and saturation</a:t>
            </a:r>
          </a:p>
          <a:p>
            <a:r>
              <a:rPr lang="en-US" dirty="0" err="1"/>
              <a:t>Rodes</a:t>
            </a:r>
            <a:r>
              <a:rPr lang="en-US" dirty="0"/>
              <a:t> : Gray Scale brightness values</a:t>
            </a:r>
          </a:p>
        </p:txBody>
      </p:sp>
    </p:spTree>
    <p:extLst>
      <p:ext uri="{BB962C8B-B14F-4D97-AF65-F5344CB8AC3E}">
        <p14:creationId xmlns:p14="http://schemas.microsoft.com/office/powerpoint/2010/main" val="2048322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1525" y="2071688"/>
            <a:ext cx="5059363" cy="271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HSI Color Coordinate System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1525" y="1628800"/>
            <a:ext cx="5059363" cy="6408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>
                <a:latin typeface="Calibri"/>
                <a:ea typeface="Calibri"/>
                <a:cs typeface="Calibri"/>
                <a:sym typeface="Calibri"/>
              </a:rPr>
              <a:t>Pull the color cube from the black and White ends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0072" y="1600200"/>
            <a:ext cx="3708400" cy="524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>
                <a:latin typeface="Calibri"/>
                <a:ea typeface="Calibri"/>
                <a:cs typeface="Calibri"/>
                <a:sym typeface="Calibri"/>
              </a:rPr>
              <a:t>Pad it from the sides to form triangular or circular cross sections, called </a:t>
            </a:r>
            <a:r>
              <a:rPr lang="en-US" sz="3959" dirty="0">
                <a:solidFill>
                  <a:srgbClr val="FF0000"/>
                </a:solidFill>
                <a:sym typeface="Calibri"/>
              </a:rPr>
              <a:t>color plane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46" name="Google Shape;246;p20"/>
          <p:cNvSpPr txBox="1">
            <a:spLocks noGrp="1"/>
          </p:cNvSpPr>
          <p:nvPr>
            <p:ph type="body" idx="1"/>
          </p:nvPr>
        </p:nvSpPr>
        <p:spPr>
          <a:xfrm>
            <a:off x="457199" y="2492896"/>
            <a:ext cx="5194921" cy="3633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Hue: </a:t>
            </a:r>
            <a:r>
              <a:rPr lang="en-US" sz="2400" dirty="0"/>
              <a:t>Pure colors, such as red, orange, yellow… H= (0, 360</a:t>
            </a:r>
            <a:r>
              <a:rPr lang="en-US" sz="2400" baseline="30000" dirty="0"/>
              <a:t>0</a:t>
            </a:r>
            <a:r>
              <a:rPr lang="en-US" sz="2400" dirty="0"/>
              <a:t>)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Saturation: </a:t>
            </a:r>
            <a:r>
              <a:rPr lang="en-US" sz="2400" dirty="0"/>
              <a:t> Relative purity of a color measured by hue S=(0,1).</a:t>
            </a:r>
            <a:endParaRPr sz="2400" b="1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Intensity: </a:t>
            </a:r>
            <a:r>
              <a:rPr lang="en-US" sz="2400" dirty="0"/>
              <a:t>Brightness value, I = (0, L-1)</a:t>
            </a:r>
            <a:endParaRPr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Normalize HIS coordinates  to (0,1)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5512" y="1513668"/>
            <a:ext cx="6096000" cy="498528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/>
              <a:t>Or form hexagonal cross sections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139" y="1611825"/>
            <a:ext cx="8549898" cy="4649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712177" y="714350"/>
            <a:ext cx="759215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 Color Plane has the highest  HUE  around the circle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1292225"/>
            <a:ext cx="7427913" cy="42719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259D01-9F7E-48EE-90F3-31F9ADD0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200" dirty="0"/>
              <a:t>Deform HIS space back to RGB (CMY) Space</a:t>
            </a:r>
            <a:br>
              <a:rPr lang="en-US" sz="3200" dirty="0"/>
            </a:br>
            <a:r>
              <a:rPr lang="en-US" sz="2700" dirty="0"/>
              <a:t>Generate 9 different color planes of HIS space for a fixed saturation in the deformed RGB (CMY) Space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113" y="1541463"/>
            <a:ext cx="7342187" cy="3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Editing saturation of colors</a:t>
            </a:r>
            <a:endParaRPr/>
          </a:p>
        </p:txBody>
      </p:sp>
      <p:pic>
        <p:nvPicPr>
          <p:cNvPr id="280" name="Google Shape;280;p25" descr="fo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86000"/>
            <a:ext cx="2922588" cy="2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foo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0400" y="2286000"/>
            <a:ext cx="2857500" cy="2309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foo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2200" y="2286000"/>
            <a:ext cx="28194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52400" y="5029200"/>
            <a:ext cx="88392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(Left) Image of food originating from a digital camera; 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(center) saturation value of each pixel decreased 20%; 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(right) saturation value of each pixel increased 40%.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RGB and HSI Representation of Lena </a:t>
            </a:r>
            <a:endParaRPr/>
          </a:p>
        </p:txBody>
      </p:sp>
      <p:pic>
        <p:nvPicPr>
          <p:cNvPr id="289" name="Google Shape;289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4920"/>
          <a:stretch/>
        </p:blipFill>
        <p:spPr>
          <a:xfrm>
            <a:off x="2267744" y="1255965"/>
            <a:ext cx="6773701" cy="2495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5736" y="3933056"/>
            <a:ext cx="6874381" cy="261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r="75692" b="11560"/>
          <a:stretch/>
        </p:blipFill>
        <p:spPr>
          <a:xfrm>
            <a:off x="219968" y="2519254"/>
            <a:ext cx="1975768" cy="198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575" y="2708925"/>
            <a:ext cx="8752850" cy="37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Verdana"/>
              <a:buNone/>
            </a:pPr>
            <a:r>
              <a:rPr lang="en-US" sz="3959" dirty="0">
                <a:latin typeface="Verdana"/>
                <a:ea typeface="Verdana"/>
                <a:cs typeface="Verdana"/>
                <a:sym typeface="Verdana"/>
              </a:rPr>
              <a:t>Intensity carries  most of the information</a:t>
            </a:r>
            <a:endParaRPr sz="3959" dirty="0"/>
          </a:p>
        </p:txBody>
      </p:sp>
      <p:pic>
        <p:nvPicPr>
          <p:cNvPr id="299" name="Google Shape;29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7837" y="1516673"/>
            <a:ext cx="2751993" cy="78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231" y="2106613"/>
            <a:ext cx="8385961" cy="389415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Effect of Noise in HSI Channels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4400"/>
              <a:buFont typeface="Calibri"/>
              <a:buNone/>
            </a:pPr>
            <a:r>
              <a:rPr lang="en-US" dirty="0">
                <a:solidFill>
                  <a:srgbClr val="000000"/>
                </a:solidFill>
              </a:rPr>
              <a:t>YIQ and YUV Color Spaces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 for TV signals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14" name="Google Shape;314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Have better compression properties</a:t>
            </a: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Separates Luminance  and chrominance</a:t>
            </a:r>
            <a:endParaRPr dirty="0">
              <a:solidFill>
                <a:srgbClr val="000000"/>
              </a:solidFill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Luminance Y </a:t>
            </a:r>
            <a:endParaRPr dirty="0">
              <a:solidFill>
                <a:srgbClr val="000000"/>
              </a:solidFill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Chrominance I, Q</a:t>
            </a:r>
            <a:endParaRPr dirty="0">
              <a:solidFill>
                <a:srgbClr val="000000"/>
              </a:solidFill>
            </a:endParaRPr>
          </a:p>
          <a:p>
            <a:pPr marL="40005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Humans are more sensitive to Y than I,Q</a:t>
            </a:r>
            <a:endParaRPr dirty="0">
              <a:solidFill>
                <a:srgbClr val="000000"/>
              </a:solidFill>
            </a:endParaRPr>
          </a:p>
          <a:p>
            <a:pPr marL="40005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Luminance Y is encoded using </a:t>
            </a:r>
            <a:r>
              <a:rPr lang="en-US" sz="2400" b="1" dirty="0">
                <a:solidFill>
                  <a:srgbClr val="000000"/>
                </a:solidFill>
              </a:rPr>
              <a:t>more bits </a:t>
            </a:r>
            <a:r>
              <a:rPr lang="en-US" sz="2400" dirty="0">
                <a:solidFill>
                  <a:srgbClr val="000000"/>
                </a:solidFill>
              </a:rPr>
              <a:t>than chrominance values I and Q</a:t>
            </a: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Luminance used by black/white TVs</a:t>
            </a: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All 3 values are used by color TVs</a:t>
            </a:r>
            <a:endParaRPr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YUV encoding are used in some digital video and JPEG and MPEG compression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sldNum" idx="12"/>
          </p:nvPr>
        </p:nvSpPr>
        <p:spPr>
          <a:xfrm>
            <a:off x="6553200" y="636124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21" name="Google Shape;321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4400"/>
              <a:buFont typeface="Calibri"/>
              <a:buNone/>
            </a:pPr>
            <a:r>
              <a:rPr lang="en-US">
                <a:solidFill>
                  <a:schemeClr val="folHlink"/>
                </a:solidFill>
              </a:rPr>
              <a:t>Conversion from RGB to YIQ</a:t>
            </a:r>
            <a:r>
              <a:rPr lang="en-US"/>
              <a:t> </a:t>
            </a:r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/>
          </a:p>
        </p:txBody>
      </p:sp>
      <p:sp>
        <p:nvSpPr>
          <p:cNvPr id="323" name="Google Shape;323;p35"/>
          <p:cNvSpPr txBox="1"/>
          <p:nvPr/>
        </p:nvSpPr>
        <p:spPr>
          <a:xfrm>
            <a:off x="457200" y="4876800"/>
            <a:ext cx="84374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We often use YIQ for color to gray-tone conversion.</a:t>
            </a:r>
            <a:endParaRPr dirty="0"/>
          </a:p>
        </p:txBody>
      </p:sp>
      <p:pic>
        <p:nvPicPr>
          <p:cNvPr id="324" name="Google Shape;324;p35"/>
          <p:cNvPicPr preferRelativeResize="0"/>
          <p:nvPr/>
        </p:nvPicPr>
        <p:blipFill rotWithShape="1">
          <a:blip r:embed="rId3">
            <a:alphaModFix/>
          </a:blip>
          <a:srcRect l="35625" t="72656" r="11873" b="13281"/>
          <a:stretch/>
        </p:blipFill>
        <p:spPr>
          <a:xfrm>
            <a:off x="694357" y="2552497"/>
            <a:ext cx="7124495" cy="200483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5"/>
          <p:cNvSpPr txBox="1"/>
          <p:nvPr/>
        </p:nvSpPr>
        <p:spPr>
          <a:xfrm>
            <a:off x="746125" y="2014538"/>
            <a:ext cx="7664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An approximate linear transformation from RGB to YIQ: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Conversion from RGB to HSI</a:t>
            </a:r>
            <a:endParaRPr/>
          </a:p>
        </p:txBody>
      </p:sp>
      <p:pic>
        <p:nvPicPr>
          <p:cNvPr id="331" name="Google Shape;331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51720" y="1700808"/>
            <a:ext cx="4737100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2150" y="3219450"/>
            <a:ext cx="2679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0620" y="4005064"/>
            <a:ext cx="20193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A47C-5677-4CAA-A377-67C13F11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01858"/>
          </a:xfrm>
        </p:spPr>
        <p:txBody>
          <a:bodyPr>
            <a:normAutofit/>
          </a:bodyPr>
          <a:lstStyle/>
          <a:p>
            <a:r>
              <a:rPr lang="en-US" dirty="0"/>
              <a:t>Can we define a color system in a two dimensional space, where colors can be represented for a given intensity value?</a:t>
            </a:r>
          </a:p>
        </p:txBody>
      </p:sp>
    </p:spTree>
    <p:extLst>
      <p:ext uri="{BB962C8B-B14F-4D97-AF65-F5344CB8AC3E}">
        <p14:creationId xmlns:p14="http://schemas.microsoft.com/office/powerpoint/2010/main" val="2649851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a817dca8c9_0_0"/>
          <p:cNvSpPr txBox="1">
            <a:spLocks noGrp="1"/>
          </p:cNvSpPr>
          <p:nvPr>
            <p:ph type="title"/>
          </p:nvPr>
        </p:nvSpPr>
        <p:spPr>
          <a:xfrm>
            <a:off x="457200" y="8706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Color Normalization</a:t>
            </a:r>
            <a:endParaRPr/>
          </a:p>
        </p:txBody>
      </p:sp>
      <p:pic>
        <p:nvPicPr>
          <p:cNvPr id="340" name="Google Shape;340;ga817dca8c9_0_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7736" y="2214554"/>
            <a:ext cx="8600400" cy="23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a817dca8c9_0_0"/>
          <p:cNvSpPr/>
          <p:nvPr/>
        </p:nvSpPr>
        <p:spPr>
          <a:xfrm>
            <a:off x="457200" y="4797152"/>
            <a:ext cx="764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</a:rPr>
              <a:t>Add r, g and  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a817dca8c9_0_45"/>
          <p:cNvSpPr txBox="1">
            <a:spLocks noGrp="1"/>
          </p:cNvSpPr>
          <p:nvPr>
            <p:ph type="title"/>
          </p:nvPr>
        </p:nvSpPr>
        <p:spPr>
          <a:xfrm>
            <a:off x="457200" y="8706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Color Normalization</a:t>
            </a:r>
            <a:endParaRPr/>
          </a:p>
        </p:txBody>
      </p:sp>
      <p:pic>
        <p:nvPicPr>
          <p:cNvPr id="348" name="Google Shape;348;ga817dca8c9_0_4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7736" y="2214554"/>
            <a:ext cx="8600400" cy="23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a817dca8c9_0_45"/>
          <p:cNvSpPr/>
          <p:nvPr/>
        </p:nvSpPr>
        <p:spPr>
          <a:xfrm>
            <a:off x="457200" y="4797152"/>
            <a:ext cx="764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=1.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817dca8c9_0_30"/>
          <p:cNvSpPr txBox="1">
            <a:spLocks noGrp="1"/>
          </p:cNvSpPr>
          <p:nvPr>
            <p:ph type="body" idx="1"/>
          </p:nvPr>
        </p:nvSpPr>
        <p:spPr>
          <a:xfrm>
            <a:off x="643812" y="2629662"/>
            <a:ext cx="8229600" cy="395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 dirty="0" err="1">
                <a:latin typeface="Cambria Math"/>
                <a:ea typeface="Cambria Math"/>
                <a:cs typeface="Cambria Math"/>
                <a:sym typeface="Cambria Math"/>
              </a:rPr>
              <a:t>r+g+b</a:t>
            </a:r>
            <a:r>
              <a:rPr lang="en-US" sz="2800" dirty="0">
                <a:latin typeface="Cambria Math"/>
                <a:ea typeface="Cambria Math"/>
                <a:cs typeface="Cambria Math"/>
                <a:sym typeface="Cambria Math"/>
              </a:rPr>
              <a:t>=1.</a:t>
            </a:r>
            <a:endParaRPr sz="28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Thus, we can define a two dimensional space spanned by r and b.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We can get </a:t>
            </a:r>
            <a:r>
              <a:rPr lang="en-US" b="1" dirty="0"/>
              <a:t>g (green) </a:t>
            </a:r>
            <a:r>
              <a:rPr lang="en-US" dirty="0"/>
              <a:t>value from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i="1" dirty="0">
                <a:latin typeface="Cambria Math"/>
                <a:ea typeface="Cambria Math"/>
                <a:cs typeface="Cambria Math"/>
                <a:sym typeface="Cambria Math"/>
              </a:rPr>
              <a:t>g</a:t>
            </a:r>
            <a:r>
              <a:rPr lang="en-US" sz="2800" dirty="0">
                <a:latin typeface="Cambria Math"/>
                <a:ea typeface="Cambria Math"/>
                <a:cs typeface="Cambria Math"/>
                <a:sym typeface="Cambria Math"/>
              </a:rPr>
              <a:t>=1-r-b.</a:t>
            </a:r>
            <a:endParaRPr sz="28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ga817dca8c9_0_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Color Normalization Enables to reduce the dimension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ga817dca8c9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599" y="1357301"/>
            <a:ext cx="4611565" cy="577765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a817dca8c9_0_7"/>
          <p:cNvSpPr txBox="1">
            <a:spLocks noGrp="1"/>
          </p:cNvSpPr>
          <p:nvPr>
            <p:ph type="ctrTitle"/>
          </p:nvPr>
        </p:nvSpPr>
        <p:spPr>
          <a:xfrm>
            <a:off x="142844" y="214290"/>
            <a:ext cx="8787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Choromaticity</a:t>
            </a:r>
            <a:r>
              <a:rPr lang="en-US" sz="3959" dirty="0"/>
              <a:t>: Normalize </a:t>
            </a:r>
            <a:r>
              <a:rPr lang="en-US" sz="3959" dirty="0" err="1"/>
              <a:t>r+g+b</a:t>
            </a:r>
            <a:r>
              <a:rPr lang="en-US" sz="3959" dirty="0"/>
              <a:t>=1</a:t>
            </a:r>
            <a:br>
              <a:rPr lang="en-US" sz="3959" dirty="0"/>
            </a:br>
            <a:r>
              <a:rPr lang="en-US" sz="2430" dirty="0"/>
              <a:t>Plot r (red) vs. b (blue) and compute the corresponding g (green)</a:t>
            </a:r>
            <a:endParaRPr sz="2430" dirty="0"/>
          </a:p>
        </p:txBody>
      </p:sp>
      <p:sp>
        <p:nvSpPr>
          <p:cNvPr id="364" name="Google Shape;364;ga817dca8c9_0_7"/>
          <p:cNvSpPr txBox="1"/>
          <p:nvPr/>
        </p:nvSpPr>
        <p:spPr>
          <a:xfrm>
            <a:off x="4572000" y="2119074"/>
            <a:ext cx="4233300" cy="338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Good for generating colors, inside the triangle (HDTV)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Pure colors are at the boundary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Inside the Gamut is the mixture of  less saturated colors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Color Image Processing Examples</a:t>
            </a:r>
            <a:endParaRPr dirty="0"/>
          </a:p>
        </p:txBody>
      </p:sp>
      <p:sp>
        <p:nvSpPr>
          <p:cNvPr id="371" name="Google Shape;371;p36"/>
          <p:cNvSpPr txBox="1">
            <a:spLocks noGrp="1"/>
          </p:cNvSpPr>
          <p:nvPr>
            <p:ph type="body" idx="1"/>
          </p:nvPr>
        </p:nvSpPr>
        <p:spPr>
          <a:xfrm>
            <a:off x="1936600" y="1600200"/>
            <a:ext cx="6750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Histogram Processing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Content-based Image retrieval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Object Recognition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Color Segmentation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Face Detection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Image Enhancement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78" name="Google Shape;37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482600" algn="ctr" rtl="0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-US" sz="4000"/>
              <a:t>Histogram Processing</a:t>
            </a:r>
            <a:endParaRPr/>
          </a:p>
        </p:txBody>
      </p:sp>
      <p:sp>
        <p:nvSpPr>
          <p:cNvPr id="379" name="Google Shape;379;p37"/>
          <p:cNvSpPr txBox="1">
            <a:spLocks noGrp="1"/>
          </p:cNvSpPr>
          <p:nvPr>
            <p:ph type="body" idx="1"/>
          </p:nvPr>
        </p:nvSpPr>
        <p:spPr>
          <a:xfrm>
            <a:off x="417513" y="2209800"/>
            <a:ext cx="872648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Histogram is fast and easy to compute.</a:t>
            </a:r>
            <a:endParaRPr sz="2800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  <a:p>
            <a:pPr marL="3429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Image size can easily be normalized by histograms, so that different image histograms can be compared.</a:t>
            </a:r>
            <a:endParaRPr sz="2800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800" dirty="0"/>
          </a:p>
          <a:p>
            <a:pPr marL="3429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Can match color histograms for database query, object detection or recognition.</a:t>
            </a:r>
            <a:endParaRPr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86" name="Google Shape;386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/>
              <a:t>How to make a color histogram?</a:t>
            </a:r>
            <a:endParaRPr dirty="0"/>
          </a:p>
        </p:txBody>
      </p:sp>
      <p:sp>
        <p:nvSpPr>
          <p:cNvPr id="387" name="Google Shape;387;p38"/>
          <p:cNvSpPr txBox="1">
            <a:spLocks noGrp="1"/>
          </p:cNvSpPr>
          <p:nvPr>
            <p:ph type="body" idx="1"/>
          </p:nvPr>
        </p:nvSpPr>
        <p:spPr>
          <a:xfrm>
            <a:off x="995100" y="1600200"/>
            <a:ext cx="7691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dirty="0"/>
              <a:t>Create </a:t>
            </a:r>
            <a:r>
              <a:rPr lang="en-US" sz="2800" dirty="0">
                <a:solidFill>
                  <a:srgbClr val="FF0000"/>
                </a:solidFill>
              </a:rPr>
              <a:t>three </a:t>
            </a:r>
            <a:r>
              <a:rPr lang="en-US" sz="2800" dirty="0"/>
              <a:t>1-D Histograms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dirty="0"/>
              <a:t>Create </a:t>
            </a:r>
            <a:r>
              <a:rPr lang="en-US" sz="2800" dirty="0">
                <a:solidFill>
                  <a:srgbClr val="FF0000"/>
                </a:solidFill>
              </a:rPr>
              <a:t>2-D</a:t>
            </a:r>
            <a:r>
              <a:rPr lang="en-US" sz="2800" dirty="0"/>
              <a:t> Histograms, by using Chromaticity Diagrams, h(</a:t>
            </a:r>
            <a:r>
              <a:rPr lang="en-US" sz="2800" dirty="0" err="1"/>
              <a:t>r,b</a:t>
            </a:r>
            <a:r>
              <a:rPr lang="en-US" sz="2800" dirty="0"/>
              <a:t>)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dirty="0"/>
              <a:t>Create  </a:t>
            </a:r>
            <a:r>
              <a:rPr lang="en-US" sz="2800" dirty="0">
                <a:solidFill>
                  <a:srgbClr val="FF0000"/>
                </a:solidFill>
              </a:rPr>
              <a:t>3-D</a:t>
            </a:r>
            <a:r>
              <a:rPr lang="en-US" sz="2800" dirty="0"/>
              <a:t> Histograms, h(</a:t>
            </a:r>
            <a:r>
              <a:rPr lang="en-US" sz="2800" dirty="0" err="1"/>
              <a:t>r,g,b</a:t>
            </a:r>
            <a:r>
              <a:rPr lang="en-US" sz="2800" dirty="0"/>
              <a:t>)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 dirty="0"/>
              <a:t>Create a single pseudo color  code between 0 and (L-1) by using RGB color bits</a:t>
            </a:r>
            <a:endParaRPr sz="28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Three independent Histograms</a:t>
            </a:r>
            <a:endParaRPr/>
          </a:p>
        </p:txBody>
      </p:sp>
      <p:pic>
        <p:nvPicPr>
          <p:cNvPr id="394" name="Google Shape;39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592" y="2691882"/>
            <a:ext cx="8546841" cy="2906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2-D and 3-D Histograms</a:t>
            </a:r>
            <a:endParaRPr/>
          </a:p>
        </p:txBody>
      </p:sp>
      <p:sp>
        <p:nvSpPr>
          <p:cNvPr id="400" name="Google Shape;400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01" name="Google Shape;40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924944"/>
            <a:ext cx="8229600" cy="2332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408" name="Google Shape;408;p41"/>
          <p:cNvSpPr txBox="1">
            <a:spLocks noGrp="1"/>
          </p:cNvSpPr>
          <p:nvPr>
            <p:ph type="title"/>
          </p:nvPr>
        </p:nvSpPr>
        <p:spPr>
          <a:xfrm>
            <a:off x="467544" y="274638"/>
            <a:ext cx="8219256" cy="163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959"/>
              <a:buFont typeface="Calibri"/>
              <a:buNone/>
            </a:pPr>
            <a:r>
              <a:rPr lang="en-US" sz="3959">
                <a:solidFill>
                  <a:schemeClr val="hlink"/>
                </a:solidFill>
              </a:rPr>
              <a:t>Use the color codes to generate bin histograms: </a:t>
            </a:r>
            <a:br>
              <a:rPr lang="en-US" sz="3959">
                <a:solidFill>
                  <a:schemeClr val="hlink"/>
                </a:solidFill>
              </a:rPr>
            </a:br>
            <a:r>
              <a:rPr lang="en-US" sz="2430">
                <a:solidFill>
                  <a:schemeClr val="hlink"/>
                </a:solidFill>
              </a:rPr>
              <a:t>Take 2 most significant bit in R,G,B obtain 2</a:t>
            </a:r>
            <a:r>
              <a:rPr lang="en-US" sz="2430" baseline="30000">
                <a:solidFill>
                  <a:schemeClr val="hlink"/>
                </a:solidFill>
              </a:rPr>
              <a:t>6</a:t>
            </a:r>
            <a:r>
              <a:rPr lang="en-US" sz="2430">
                <a:solidFill>
                  <a:schemeClr val="hlink"/>
                </a:solidFill>
              </a:rPr>
              <a:t>=64 bins</a:t>
            </a:r>
            <a:endParaRPr sz="2430">
              <a:solidFill>
                <a:schemeClr val="hlink"/>
              </a:solidFill>
            </a:endParaRPr>
          </a:p>
        </p:txBody>
      </p:sp>
      <p:pic>
        <p:nvPicPr>
          <p:cNvPr id="409" name="Google Shape;409;p41" descr="pigsCorbi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905000"/>
            <a:ext cx="2619375" cy="2325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 descr="pigs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4114800"/>
            <a:ext cx="3276600" cy="2389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 descr="tig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8800" y="2133600"/>
            <a:ext cx="2011363" cy="19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 descr="tig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0" y="4114800"/>
            <a:ext cx="3195638" cy="240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a817dca8c9_0_36"/>
          <p:cNvSpPr txBox="1">
            <a:spLocks noGrp="1"/>
          </p:cNvSpPr>
          <p:nvPr>
            <p:ph type="title"/>
          </p:nvPr>
        </p:nvSpPr>
        <p:spPr>
          <a:xfrm>
            <a:off x="457200" y="46637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</a:t>
            </a:r>
            <a:r>
              <a:rPr lang="en-US" sz="4000" dirty="0"/>
              <a:t>Content Based Image Retrieval:</a:t>
            </a:r>
            <a:br>
              <a:rPr lang="en-US" sz="4000" dirty="0"/>
            </a:br>
            <a:r>
              <a:rPr lang="en-US" sz="4000" dirty="0"/>
              <a:t>Retrieve Similar Images</a:t>
            </a:r>
            <a:endParaRPr sz="4000" dirty="0"/>
          </a:p>
        </p:txBody>
      </p:sp>
      <p:pic>
        <p:nvPicPr>
          <p:cNvPr id="419" name="Google Shape;419;ga817dca8c9_0_36"/>
          <p:cNvPicPr preferRelativeResize="0"/>
          <p:nvPr/>
        </p:nvPicPr>
        <p:blipFill rotWithShape="1">
          <a:blip r:embed="rId3">
            <a:alphaModFix/>
          </a:blip>
          <a:srcRect l="2469" t="4419" r="62892" b="72801"/>
          <a:stretch/>
        </p:blipFill>
        <p:spPr>
          <a:xfrm>
            <a:off x="569363" y="3680346"/>
            <a:ext cx="2364450" cy="213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a817dca8c9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900" y="1760538"/>
            <a:ext cx="3731930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measure Image Similarity?</a:t>
            </a:r>
            <a:endParaRPr/>
          </a:p>
        </p:txBody>
      </p:sp>
      <p:sp>
        <p:nvSpPr>
          <p:cNvPr id="426" name="Google Shape;426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 err="1"/>
              <a:t>Kullback-Leibler</a:t>
            </a:r>
            <a:r>
              <a:rPr lang="en-US" dirty="0"/>
              <a:t> Divergence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Sum of Square Error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/>
              <a:t>Histogram Intersection and Match</a:t>
            </a:r>
            <a:endParaRPr dirty="0"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Kullback-Leibler Divergence</a:t>
            </a:r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body" idx="1"/>
          </p:nvPr>
        </p:nvSpPr>
        <p:spPr>
          <a:xfrm>
            <a:off x="457200" y="1604596"/>
            <a:ext cx="8229600" cy="452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49" t="-1399" r="-20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 </a:t>
            </a:r>
            <a:endParaRPr dirty="0"/>
          </a:p>
        </p:txBody>
      </p:sp>
      <p:pic>
        <p:nvPicPr>
          <p:cNvPr id="4" name="Google Shape;446;p45">
            <a:extLst>
              <a:ext uri="{FF2B5EF4-FFF2-40B4-BE49-F238E27FC236}">
                <a16:creationId xmlns:a16="http://schemas.microsoft.com/office/drawing/2014/main" id="{B02178AD-44D6-447E-9999-FD91E7608D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61896" y="4909892"/>
            <a:ext cx="3174024" cy="1673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B35B25-D20E-4D1B-82B4-1D5A6CAA5738}"/>
              </a:ext>
            </a:extLst>
          </p:cNvPr>
          <p:cNvSpPr/>
          <p:nvPr/>
        </p:nvSpPr>
        <p:spPr>
          <a:xfrm>
            <a:off x="3468067" y="5253404"/>
            <a:ext cx="1521069" cy="949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Kullback-Leibler Divergence</a:t>
            </a:r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49" t="-1399" r="-20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 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A1FE1A2-F0A4-4C28-89D6-D96FB044031B}"/>
                  </a:ext>
                </a:extLst>
              </p:cNvPr>
              <p:cNvSpPr/>
              <p:nvPr/>
            </p:nvSpPr>
            <p:spPr>
              <a:xfrm>
                <a:off x="457200" y="5000934"/>
                <a:ext cx="807557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Lato" panose="020B0604020202020204" charset="0"/>
                  </a:rPr>
                  <a:t>Average difference of the number of bits required for encoding the pixel colors in 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𝑟𝑖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r>
                  <a:rPr lang="en-US" sz="2800" dirty="0">
                    <a:latin typeface="Lato" panose="020B060402020202020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𝑟𝑖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​).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A1FE1A2-F0A4-4C28-89D6-D96FB04403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000934"/>
                <a:ext cx="8075570" cy="954107"/>
              </a:xfrm>
              <a:prstGeom prst="rect">
                <a:avLst/>
              </a:prstGeom>
              <a:blipFill>
                <a:blip r:embed="rId4"/>
                <a:stretch>
                  <a:fillRect l="-1509" t="-6369" b="-15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6043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 of Square Error</a:t>
            </a:r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body" idx="1"/>
          </p:nvPr>
        </p:nvSpPr>
        <p:spPr>
          <a:xfrm>
            <a:off x="412965" y="1644208"/>
            <a:ext cx="7809300" cy="452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51" t="-13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Histogram Intersection and Match</a:t>
            </a:r>
            <a:endParaRPr/>
          </a:p>
        </p:txBody>
      </p:sp>
      <p:sp>
        <p:nvSpPr>
          <p:cNvPr id="445" name="Google Shape;445;p45"/>
          <p:cNvSpPr txBox="1">
            <a:spLocks noGrp="1"/>
          </p:cNvSpPr>
          <p:nvPr>
            <p:ph type="body" idx="1"/>
          </p:nvPr>
        </p:nvSpPr>
        <p:spPr>
          <a:xfrm>
            <a:off x="457200" y="160486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448" name="Google Shape;448;p45"/>
          <p:cNvSpPr/>
          <p:nvPr/>
        </p:nvSpPr>
        <p:spPr>
          <a:xfrm>
            <a:off x="611560" y="4548066"/>
            <a:ext cx="7848872" cy="187711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93" t="-2683" b="-127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pic>
        <p:nvPicPr>
          <p:cNvPr id="447" name="Google Shape;447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9485" y="1470857"/>
            <a:ext cx="5395765" cy="288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455" name="Google Shape;455;p46"/>
          <p:cNvSpPr txBox="1">
            <a:spLocks noGrp="1"/>
          </p:cNvSpPr>
          <p:nvPr>
            <p:ph type="title"/>
          </p:nvPr>
        </p:nvSpPr>
        <p:spPr>
          <a:xfrm>
            <a:off x="457200" y="2350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2. CBIR: Content Based Image Retrieval</a:t>
            </a:r>
            <a:endParaRPr/>
          </a:p>
        </p:txBody>
      </p:sp>
      <p:pic>
        <p:nvPicPr>
          <p:cNvPr id="456" name="Google Shape;456;p46" descr="skie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981200"/>
            <a:ext cx="6400800" cy="46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6"/>
          <p:cNvSpPr txBox="1"/>
          <p:nvPr/>
        </p:nvSpPr>
        <p:spPr>
          <a:xfrm>
            <a:off x="6934200" y="2209800"/>
            <a:ext cx="19050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Top left image is query image. The others are retrieved by having similar color histogram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464" name="Google Shape;464;p47"/>
          <p:cNvSpPr txBox="1">
            <a:spLocks noGrp="1"/>
          </p:cNvSpPr>
          <p:nvPr>
            <p:ph type="title"/>
          </p:nvPr>
        </p:nvSpPr>
        <p:spPr>
          <a:xfrm>
            <a:off x="371628" y="55375"/>
            <a:ext cx="878527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459" dirty="0"/>
              <a:t>3. Object Recognition: Apples versus Oranges </a:t>
            </a:r>
            <a:endParaRPr sz="3900" dirty="0"/>
          </a:p>
        </p:txBody>
      </p:sp>
      <p:pic>
        <p:nvPicPr>
          <p:cNvPr id="465" name="Google Shape;465;p47" descr="VVhis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158663"/>
            <a:ext cx="8001000" cy="215423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7"/>
          <p:cNvSpPr txBox="1"/>
          <p:nvPr/>
        </p:nvSpPr>
        <p:spPr>
          <a:xfrm>
            <a:off x="533400" y="5156025"/>
            <a:ext cx="80772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Separate HSI histograms for apples (left) and oranges (right) used by IBM’s </a:t>
            </a:r>
            <a:r>
              <a:rPr lang="en-US" sz="21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VeggieVision</a:t>
            </a:r>
            <a:r>
              <a:rPr lang="en-US" sz="2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recognizing products at the grocery store checkout station </a:t>
            </a:r>
            <a:endParaRPr sz="1100" dirty="0"/>
          </a:p>
        </p:txBody>
      </p:sp>
      <p:sp>
        <p:nvSpPr>
          <p:cNvPr id="467" name="Google Shape;467;p47"/>
          <p:cNvSpPr txBox="1"/>
          <p:nvPr/>
        </p:nvSpPr>
        <p:spPr>
          <a:xfrm>
            <a:off x="4022725" y="1423650"/>
            <a:ext cx="349200" cy="17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pic>
        <p:nvPicPr>
          <p:cNvPr id="468" name="Google Shape;468;p47"/>
          <p:cNvPicPr preferRelativeResize="0"/>
          <p:nvPr/>
        </p:nvPicPr>
        <p:blipFill rotWithShape="1">
          <a:blip r:embed="rId4">
            <a:alphaModFix/>
          </a:blip>
          <a:srcRect t="17545" b="14643"/>
          <a:stretch/>
        </p:blipFill>
        <p:spPr>
          <a:xfrm>
            <a:off x="2332623" y="3562825"/>
            <a:ext cx="4402550" cy="1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a817dca8c9_0_55"/>
          <p:cNvSpPr txBox="1">
            <a:spLocks noGrp="1"/>
          </p:cNvSpPr>
          <p:nvPr>
            <p:ph type="title"/>
          </p:nvPr>
        </p:nvSpPr>
        <p:spPr>
          <a:xfrm>
            <a:off x="457200" y="712177"/>
            <a:ext cx="8229600" cy="233435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/>
              <a:t>4. Color Clustering </a:t>
            </a:r>
            <a:br>
              <a:rPr lang="en-US" sz="3600" dirty="0"/>
            </a:br>
            <a:r>
              <a:rPr lang="en-US" sz="2400" dirty="0">
                <a:solidFill>
                  <a:srgbClr val="000000"/>
                </a:solidFill>
                <a:latin typeface="Helvetica Neue"/>
              </a:rPr>
              <a:t>Given an image, g</a:t>
            </a:r>
            <a:r>
              <a:rPr lang="en-US" altLang="en-US" sz="2400" dirty="0">
                <a:solidFill>
                  <a:srgbClr val="000000"/>
                </a:solidFill>
                <a:latin typeface="Helvetica Neue"/>
              </a:rPr>
              <a:t>roup the colors in the palette of L colors into K colors with respect to a similarity predicate, such that the similar colors fall into the same group.</a:t>
            </a:r>
            <a:br>
              <a:rPr lang="en-US" altLang="en-US" sz="2400" dirty="0">
                <a:solidFill>
                  <a:srgbClr val="000000"/>
                </a:solidFill>
                <a:latin typeface="Helvetica Neue"/>
              </a:rPr>
            </a:b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sz="2400" dirty="0">
                <a:solidFill>
                  <a:srgbClr val="000000"/>
                </a:solidFill>
                <a:latin typeface="Helvetica Neue"/>
              </a:rPr>
              <a:t> K&lt;L, </a:t>
            </a:r>
            <a:endParaRPr sz="2400" dirty="0"/>
          </a:p>
        </p:txBody>
      </p:sp>
      <p:pic>
        <p:nvPicPr>
          <p:cNvPr id="502" name="Google Shape;502;ga817dca8c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4945" y="3046535"/>
            <a:ext cx="4101425" cy="3178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04C70F-BF38-447F-806E-BD411EA90A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918" b="32053"/>
          <a:stretch/>
        </p:blipFill>
        <p:spPr>
          <a:xfrm>
            <a:off x="319109" y="3363059"/>
            <a:ext cx="3739701" cy="24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77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63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K-Means Color Clustering Method:</a:t>
            </a:r>
            <a:b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dirty="0">
                <a:latin typeface="Calibri" panose="020F0502020204030204" pitchFamily="34" charset="0"/>
                <a:ea typeface="Tahoma"/>
                <a:cs typeface="Calibri" panose="020F0502020204030204" pitchFamily="34" charset="0"/>
                <a:sym typeface="Tahoma"/>
              </a:rPr>
              <a:t>Clusters the similar colors into K- Groups, in d-Dimensional color space</a:t>
            </a:r>
            <a:endParaRPr dirty="0"/>
          </a:p>
        </p:txBody>
      </p:sp>
      <p:pic>
        <p:nvPicPr>
          <p:cNvPr id="516" name="Google Shape;51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6558" y="1946519"/>
            <a:ext cx="4197475" cy="40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chemeClr val="folHlink"/>
                </a:solidFill>
              </a:rPr>
              <a:t>K-Means Clustering Algorithm: </a:t>
            </a:r>
            <a:endParaRPr sz="3200" dirty="0">
              <a:solidFill>
                <a:srgbClr val="00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Google Shape;510;p51"/>
              <p:cNvSpPr txBox="1"/>
              <p:nvPr/>
            </p:nvSpPr>
            <p:spPr>
              <a:xfrm>
                <a:off x="562709" y="1442643"/>
                <a:ext cx="8277956" cy="5056344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marR="0" lvl="0" indent="-457200" algn="l" rtl="0">
                  <a:spcBef>
                    <a:spcPts val="0"/>
                  </a:spcBef>
                  <a:spcAft>
                    <a:spcPts val="0"/>
                  </a:spcAft>
                  <a:buAutoNum type="arabicPeriod"/>
                </a:pPr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Set , iteration count,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𝑖𝑐</m:t>
                    </m:r>
                    <m:r>
                      <a:rPr lang="en-US" sz="2000" b="0" i="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1</m:t>
                    </m:r>
                  </m:oMath>
                </a14:m>
                <a:endParaRPr lang="en-US" sz="2000" dirty="0"/>
              </a:p>
              <a:p>
                <a:pPr marR="0" lvl="0" algn="l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2000"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2. Choose randomly a set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𝐾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means 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𝑚</m:t>
                    </m:r>
                    <m:r>
                      <a:rPr lang="en-US" sz="2000" i="1" baseline="-2500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1</m:t>
                    </m:r>
                    <m:d>
                      <m:dPr>
                        <m:ctrlPr>
                          <a:rPr lang="en-US" sz="2000" i="1" baseline="-25000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1</m:t>
                        </m:r>
                      </m:e>
                    </m:d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, …, 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/>
              </a:p>
              <a:p>
                <a:pPr lvl="0"/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3. </a:t>
                </a:r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For each color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, compute the </a:t>
                </a:r>
                <a:r>
                  <a:rPr lang="en-US" sz="2000" dirty="0" err="1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Eucledean</a:t>
                </a:r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 distance: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 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    D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</m:t>
                    </m:r>
                    <m:d>
                      <m:dPr>
                        <m:ctrlPr>
                          <a:rPr lang="ar-AE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  <m:t>𝑖</m:t>
                            </m:r>
                          </m:sub>
                        </m:sSub>
                        <m:r>
                          <a:rPr lang="ar-AE" sz="2000" i="1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,</m:t>
                        </m:r>
                        <m:sSub>
                          <m:sSubPr>
                            <m:ctrlPr>
                              <a:rPr lang="ar-AE" sz="200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sz="20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</m:ctrlPr>
                          </m:dPr>
                          <m:e>
                            <m:r>
                              <a:rPr lang="ar-AE" sz="2000" i="1" dirty="0" err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ahoma"/>
                                <a:cs typeface="Tahoma"/>
                                <a:sym typeface="Tahoma"/>
                              </a:rPr>
                              <m:t>𝑖𝑐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                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                       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𝑘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=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1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,…</m:t>
                    </m:r>
                    <m:r>
                      <a:rPr lang="ar-AE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𝐾</m:t>
                    </m:r>
                  </m:oMath>
                </a14:m>
                <a:endParaRPr lang="ar-AE" sz="2000" dirty="0">
                  <a:solidFill>
                    <a:srgbClr val="002060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endParaRPr>
              </a:p>
              <a:p>
                <a:pPr lvl="0"/>
                <a:endParaRPr lang="en-US" sz="2000" dirty="0">
                  <a:solidFill>
                    <a:srgbClr val="002060"/>
                  </a:solidFill>
                  <a:latin typeface="Calibri" panose="020F0502020204030204" pitchFamily="34" charset="0"/>
                  <a:ea typeface="Tahoma"/>
                  <a:cs typeface="Calibri" panose="020F0502020204030204" pitchFamily="34" charset="0"/>
                  <a:sym typeface="Tahoma"/>
                </a:endParaRPr>
              </a:p>
              <a:p>
                <a:pPr lvl="0"/>
                <a:r>
                  <a:rPr lang="ar-AE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    </a:t>
                </a:r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and 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 to the cluster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𝐶𝑗</m:t>
                    </m:r>
                    <m:r>
                      <a:rPr lang="en-US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(</m:t>
                    </m:r>
                    <m:r>
                      <a:rPr lang="en-US" sz="2000" i="1" dirty="0" err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𝑖𝑐</m:t>
                    </m:r>
                    <m:r>
                      <a:rPr lang="en-US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  <a:latin typeface="Calibri" panose="020F0502020204030204" pitchFamily="34" charset="0"/>
                    <a:ea typeface="Tahoma"/>
                    <a:cs typeface="Calibri" panose="020F0502020204030204" pitchFamily="34" charset="0"/>
                    <a:sym typeface="Tahoma"/>
                  </a:rPr>
                  <a:t>with nearest mean.</a:t>
                </a:r>
              </a:p>
              <a:p>
                <a:pPr lvl="0"/>
                <a:endParaRPr lang="en-US" sz="2000" dirty="0">
                  <a:solidFill>
                    <a:srgbClr val="002060"/>
                  </a:solidFill>
                </a:endParaRPr>
              </a:p>
              <a:p>
                <a:pPr marL="457200" lvl="0" indent="-457200">
                  <a:buAutoNum type="arabicPeriod" startAt="4"/>
                </a:pPr>
                <a:r>
                  <a:rPr lang="en-US" sz="2000" dirty="0">
                    <a:solidFill>
                      <a:srgbClr val="002060"/>
                    </a:solidFill>
                    <a:latin typeface="Tahoma"/>
                    <a:ea typeface="Tahoma"/>
                    <a:cs typeface="Tahoma"/>
                    <a:sym typeface="Tahoma"/>
                  </a:rPr>
                  <a:t>Increment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𝑖𝑐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  <a:latin typeface="Tahoma"/>
                    <a:ea typeface="Tahoma"/>
                    <a:cs typeface="Tahoma"/>
                    <a:sym typeface="Tahoma"/>
                  </a:rPr>
                  <a:t> by 1, update the means to get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</m:t>
                    </m:r>
                    <m:r>
                      <a:rPr lang="en-US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𝑚</m:t>
                    </m:r>
                    <m:r>
                      <a:rPr lang="en-US" sz="2000" i="1" baseline="-250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1</m:t>
                    </m:r>
                    <m:d>
                      <m:dPr>
                        <m:ctrlPr>
                          <a:rPr lang="en-US" sz="2000" i="1" baseline="-250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𝑖𝑐</m:t>
                        </m:r>
                      </m:e>
                    </m:d>
                    <m:r>
                      <a:rPr lang="en-US" sz="20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𝑖𝑐</m:t>
                        </m:r>
                      </m:e>
                    </m:d>
                  </m:oMath>
                </a14:m>
                <a:endParaRPr lang="en-US" sz="2000" i="1" dirty="0">
                  <a:solidFill>
                    <a:srgbClr val="002060"/>
                  </a:solidFill>
                  <a:latin typeface="Cambria Math" panose="02040503050406030204" pitchFamily="18" charset="0"/>
                  <a:ea typeface="Tahoma"/>
                  <a:cs typeface="Tahoma"/>
                  <a:sym typeface="Tahoma"/>
                </a:endParaRPr>
              </a:p>
              <a:p>
                <a:pPr marL="457200" lvl="0" indent="-457200">
                  <a:buAutoNum type="arabicPeriod" startAt="4"/>
                </a:pPr>
                <a:endParaRPr lang="en-US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Tahoma"/>
                  <a:cs typeface="Tahoma"/>
                  <a:sym typeface="Tahoma"/>
                </a:endParaRPr>
              </a:p>
              <a:p>
                <a:pPr lvl="0"/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5. Repeat steps 3 and 4 until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𝐶𝑘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i="1" dirty="0" err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𝑖𝑐</m:t>
                        </m:r>
                      </m:e>
                    </m:d>
                    <m:r>
                      <a:rPr lang="en-US" sz="20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= </m:t>
                    </m:r>
                    <m:r>
                      <a:rPr lang="en-US" sz="20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𝐶𝑘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𝑖𝑐</m:t>
                        </m:r>
                        <m: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+</m:t>
                        </m:r>
                        <m:r>
                          <a:rPr lang="en-US" sz="20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ahoma"/>
                            <a:cs typeface="Tahoma"/>
                            <a:sym typeface="Tahoma"/>
                          </a:rPr>
                          <m:t>1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, </m:t>
                    </m:r>
                    <m:r>
                      <a:rPr lang="en-US" sz="20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ahoma"/>
                        <a:cs typeface="Tahoma"/>
                        <a:sym typeface="Tahoma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for all k.</a:t>
                </a:r>
                <a:endParaRPr sz="2000" dirty="0"/>
              </a:p>
            </p:txBody>
          </p:sp>
        </mc:Choice>
        <mc:Fallback xmlns="">
          <p:sp>
            <p:nvSpPr>
              <p:cNvPr id="510" name="Google Shape;510;p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09" y="1442643"/>
                <a:ext cx="8277956" cy="5056344"/>
              </a:xfrm>
              <a:prstGeom prst="rect">
                <a:avLst/>
              </a:prstGeom>
              <a:blipFill>
                <a:blip r:embed="rId3"/>
                <a:stretch>
                  <a:fillRect l="-735" t="-722" b="-1083"/>
                </a:stretch>
              </a:blip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240F57D-6912-4E46-8BDC-AF05FBD0D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341" y="5051182"/>
            <a:ext cx="2860345" cy="91531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523" name="Google Shape;523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4400"/>
              <a:buFont typeface="Calibri"/>
              <a:buNone/>
            </a:pPr>
            <a:r>
              <a:rPr lang="en-US">
                <a:solidFill>
                  <a:schemeClr val="folHlink"/>
                </a:solidFill>
              </a:rPr>
              <a:t>K-means Clustering Example</a:t>
            </a:r>
            <a:endParaRPr/>
          </a:p>
        </p:txBody>
      </p:sp>
      <p:sp>
        <p:nvSpPr>
          <p:cNvPr id="526" name="Google Shape;526;p53"/>
          <p:cNvSpPr txBox="1"/>
          <p:nvPr/>
        </p:nvSpPr>
        <p:spPr>
          <a:xfrm>
            <a:off x="910004" y="1596969"/>
            <a:ext cx="21780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Original RGB Image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46350C-8E10-4496-96C2-346C95093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90" y="2143012"/>
            <a:ext cx="9124029" cy="296092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475" name="Google Shape;475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/>
              <a:t>5. Face Detection: Skin color in RGB space </a:t>
            </a:r>
            <a:r>
              <a:rPr lang="en-US" sz="2520" dirty="0"/>
              <a:t>(shown as normalized red vs normalized green)</a:t>
            </a:r>
            <a:endParaRPr dirty="0"/>
          </a:p>
        </p:txBody>
      </p:sp>
      <p:pic>
        <p:nvPicPr>
          <p:cNvPr id="476" name="Google Shape;476;p48" descr="skin_color_distribution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006290"/>
            <a:ext cx="5238000" cy="41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8"/>
          <p:cNvSpPr txBox="1"/>
          <p:nvPr/>
        </p:nvSpPr>
        <p:spPr>
          <a:xfrm>
            <a:off x="6055675" y="2133600"/>
            <a:ext cx="3088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FF"/>
                </a:solidFill>
                <a:latin typeface="Tahoma"/>
                <a:ea typeface="Tahoma"/>
                <a:cs typeface="Tahoma"/>
                <a:sym typeface="Tahoma"/>
              </a:rPr>
              <a:t>Purple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Skin color samples from several people. </a:t>
            </a: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FFFF"/>
                </a:solidFill>
                <a:latin typeface="Tahoma"/>
                <a:ea typeface="Tahoma"/>
                <a:cs typeface="Tahoma"/>
                <a:sym typeface="Tahoma"/>
              </a:rPr>
              <a:t>Cyan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lang="en-US" sz="2400" dirty="0">
                <a:solidFill>
                  <a:srgbClr val="BF9000"/>
                </a:solidFill>
                <a:highlight>
                  <a:srgbClr val="FFFF00"/>
                </a:highlight>
                <a:latin typeface="Tahoma"/>
                <a:ea typeface="Tahoma"/>
                <a:cs typeface="Tahoma"/>
                <a:sym typeface="Tahoma"/>
              </a:rPr>
              <a:t>yellow: 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skin in shadow or behind a beard. 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484" name="Google Shape;484;p49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959"/>
              <a:buFont typeface="Calibri"/>
              <a:buNone/>
            </a:pPr>
            <a:r>
              <a:rPr lang="en-US" sz="3959">
                <a:solidFill>
                  <a:srgbClr val="FF0000"/>
                </a:solidFill>
              </a:rPr>
              <a:t>Face detection in video frame: </a:t>
            </a:r>
            <a:br>
              <a:rPr lang="en-US" sz="3959">
                <a:solidFill>
                  <a:srgbClr val="FF0000"/>
                </a:solidFill>
              </a:rPr>
            </a:br>
            <a:r>
              <a:rPr lang="en-US" sz="3959">
                <a:solidFill>
                  <a:srgbClr val="FF0000"/>
                </a:solidFill>
              </a:rPr>
              <a:t>Train first</a:t>
            </a:r>
            <a:endParaRPr sz="3959">
              <a:solidFill>
                <a:srgbClr val="FF0000"/>
              </a:solidFill>
            </a:endParaRPr>
          </a:p>
        </p:txBody>
      </p:sp>
      <p:sp>
        <p:nvSpPr>
          <p:cNvPr id="485" name="Google Shape;485;p49"/>
          <p:cNvSpPr txBox="1">
            <a:spLocks noGrp="1"/>
          </p:cNvSpPr>
          <p:nvPr>
            <p:ph type="body" idx="1"/>
          </p:nvPr>
        </p:nvSpPr>
        <p:spPr>
          <a:xfrm>
            <a:off x="457200" y="4191000"/>
            <a:ext cx="8497888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(left) input video frame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(center) pixels clustered according to RGB space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(right) largest connected component with aspect similar to a face (all work contributed by Vera Bakic)</a:t>
            </a:r>
            <a:endParaRPr/>
          </a:p>
        </p:txBody>
      </p:sp>
      <p:pic>
        <p:nvPicPr>
          <p:cNvPr id="486" name="Google Shape;486;p49" descr="f00_i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981200"/>
            <a:ext cx="2895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9" descr="f00_i01_cla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1981200"/>
            <a:ext cx="2514600" cy="1884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9" descr="f00_i01_fa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9800" y="1981200"/>
            <a:ext cx="2514600" cy="18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4799-C216-4971-A536-073E7D0F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Image Enhancement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E884B-DDCF-4153-8F32-3A253D014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Blurring filters</a:t>
            </a:r>
          </a:p>
          <a:p>
            <a:r>
              <a:rPr lang="en-US" dirty="0"/>
              <a:t>Sharpening filters</a:t>
            </a:r>
          </a:p>
        </p:txBody>
      </p:sp>
    </p:spTree>
    <p:extLst>
      <p:ext uri="{BB962C8B-B14F-4D97-AF65-F5344CB8AC3E}">
        <p14:creationId xmlns:p14="http://schemas.microsoft.com/office/powerpoint/2010/main" val="16660338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0" y="1777706"/>
            <a:ext cx="9001156" cy="470977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4"/>
          <p:cNvSpPr txBox="1">
            <a:spLocks noGrp="1"/>
          </p:cNvSpPr>
          <p:nvPr>
            <p:ph type="title"/>
          </p:nvPr>
        </p:nvSpPr>
        <p:spPr>
          <a:xfrm>
            <a:off x="323528" y="274638"/>
            <a:ext cx="868754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Averaging in RGB and I of HSI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44" y="1438445"/>
            <a:ext cx="8879911" cy="39908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Gradient in R, G and B channels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282" y="928670"/>
            <a:ext cx="8929717" cy="58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959"/>
              <a:buFont typeface="Verdana"/>
              <a:buNone/>
            </a:pPr>
            <a:r>
              <a:rPr lang="en-US" sz="3959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Gradient in RGB and I of HSI</a:t>
            </a:r>
            <a:br>
              <a:rPr lang="en-US" sz="3959"/>
            </a:br>
            <a:endParaRPr sz="3959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28" y="1556792"/>
            <a:ext cx="8918207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Sharpenning</a:t>
            </a:r>
            <a:r>
              <a:rPr lang="en-US"/>
              <a:t> with Laplacian in </a:t>
            </a:r>
            <a:br>
              <a:rPr lang="en-US"/>
            </a:br>
            <a:r>
              <a:rPr lang="en-US"/>
              <a:t>RGB </a:t>
            </a:r>
            <a:r>
              <a:rPr lang="en-US" dirty="0"/>
              <a:t>and I of HSI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19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AA00-648E-4F73-8D67-65631A60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Quiz#9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E1F90-0BE5-4C99-8329-81418E610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731" y="1226528"/>
            <a:ext cx="8748346" cy="489963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800" dirty="0"/>
              <a:t>Convert the following RGB image to monochrome image.</a:t>
            </a:r>
          </a:p>
          <a:p>
            <a:pPr marL="114300" indent="0">
              <a:buNone/>
            </a:pPr>
            <a:r>
              <a:rPr lang="en-US" sz="2800" dirty="0"/>
              <a:t>                 R                                G                              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677A66-DF8B-4E6A-9EA9-9160C3FED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79850"/>
              </p:ext>
            </p:extLst>
          </p:nvPr>
        </p:nvGraphicFramePr>
        <p:xfrm>
          <a:off x="1116623" y="2264018"/>
          <a:ext cx="1776046" cy="1828800"/>
        </p:xfrm>
        <a:graphic>
          <a:graphicData uri="http://schemas.openxmlformats.org/drawingml/2006/table">
            <a:tbl>
              <a:tblPr firstRow="1" bandRow="1"/>
              <a:tblGrid>
                <a:gridCol w="437449">
                  <a:extLst>
                    <a:ext uri="{9D8B030D-6E8A-4147-A177-3AD203B41FA5}">
                      <a16:colId xmlns:a16="http://schemas.microsoft.com/office/drawing/2014/main" val="3768012949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645459482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480348555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959499082"/>
                    </a:ext>
                  </a:extLst>
                </a:gridCol>
              </a:tblGrid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17322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0598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44456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807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CEC8A9-A6AA-40F1-95AC-2E6ADD119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932950"/>
              </p:ext>
            </p:extLst>
          </p:nvPr>
        </p:nvGraphicFramePr>
        <p:xfrm>
          <a:off x="3921370" y="2275740"/>
          <a:ext cx="1776046" cy="1828800"/>
        </p:xfrm>
        <a:graphic>
          <a:graphicData uri="http://schemas.openxmlformats.org/drawingml/2006/table">
            <a:tbl>
              <a:tblPr firstRow="1" bandRow="1"/>
              <a:tblGrid>
                <a:gridCol w="437449">
                  <a:extLst>
                    <a:ext uri="{9D8B030D-6E8A-4147-A177-3AD203B41FA5}">
                      <a16:colId xmlns:a16="http://schemas.microsoft.com/office/drawing/2014/main" val="3768012949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645459482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480348555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959499082"/>
                    </a:ext>
                  </a:extLst>
                </a:gridCol>
              </a:tblGrid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17322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0598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44456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807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A86EFE-194D-4371-B3BC-435713257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653854"/>
              </p:ext>
            </p:extLst>
          </p:nvPr>
        </p:nvGraphicFramePr>
        <p:xfrm>
          <a:off x="6548804" y="2275740"/>
          <a:ext cx="1776046" cy="1828800"/>
        </p:xfrm>
        <a:graphic>
          <a:graphicData uri="http://schemas.openxmlformats.org/drawingml/2006/table">
            <a:tbl>
              <a:tblPr firstRow="1" bandRow="1"/>
              <a:tblGrid>
                <a:gridCol w="437449">
                  <a:extLst>
                    <a:ext uri="{9D8B030D-6E8A-4147-A177-3AD203B41FA5}">
                      <a16:colId xmlns:a16="http://schemas.microsoft.com/office/drawing/2014/main" val="3768012949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645459482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1480348555"/>
                    </a:ext>
                  </a:extLst>
                </a:gridCol>
                <a:gridCol w="446199">
                  <a:extLst>
                    <a:ext uri="{9D8B030D-6E8A-4147-A177-3AD203B41FA5}">
                      <a16:colId xmlns:a16="http://schemas.microsoft.com/office/drawing/2014/main" val="959499082"/>
                    </a:ext>
                  </a:extLst>
                </a:gridCol>
              </a:tblGrid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17322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05984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44456"/>
                  </a:ext>
                </a:extLst>
              </a:tr>
              <a:tr h="354989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80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06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5654</TotalTime>
  <Words>1547</Words>
  <Application>Microsoft Office PowerPoint</Application>
  <PresentationFormat>On-screen Show (4:3)</PresentationFormat>
  <Paragraphs>295</Paragraphs>
  <Slides>64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Calibri</vt:lpstr>
      <vt:lpstr>Cambria Math</vt:lpstr>
      <vt:lpstr>Arial</vt:lpstr>
      <vt:lpstr>Lato</vt:lpstr>
      <vt:lpstr>Helvetica Neue</vt:lpstr>
      <vt:lpstr>Verdana</vt:lpstr>
      <vt:lpstr>Tahoma</vt:lpstr>
      <vt:lpstr>KaTeX_Math</vt:lpstr>
      <vt:lpstr>Noto Sans Symbols</vt:lpstr>
      <vt:lpstr>Office Theme</vt:lpstr>
      <vt:lpstr>Week 8: COLOR</vt:lpstr>
      <vt:lpstr>Color is crucial to represent image content</vt:lpstr>
      <vt:lpstr>What is Color?</vt:lpstr>
      <vt:lpstr>Color Formation </vt:lpstr>
      <vt:lpstr>White Light</vt:lpstr>
      <vt:lpstr>What is yellow object?</vt:lpstr>
      <vt:lpstr>Color as we perceive</vt:lpstr>
      <vt:lpstr>Three Color System: cones work as tiny filters</vt:lpstr>
      <vt:lpstr>Color Generation in Human Brain, </vt:lpstr>
      <vt:lpstr>Mathematical Representation of Color </vt:lpstr>
      <vt:lpstr>Color Systems in 3-D Space</vt:lpstr>
      <vt:lpstr>RGB vs. CMY Systems</vt:lpstr>
      <vt:lpstr>RGB and CMY Color Spaces</vt:lpstr>
      <vt:lpstr>Mapping between RGB and CMY  Systems</vt:lpstr>
      <vt:lpstr>RGB Color System is Additive</vt:lpstr>
      <vt:lpstr>Can you decompose a color into R, G and B components</vt:lpstr>
      <vt:lpstr>Can you decompose a color into R, G and B components</vt:lpstr>
      <vt:lpstr>Which one is more similar to light pink?</vt:lpstr>
      <vt:lpstr>Fact: HVS does not work with vector operations</vt:lpstr>
      <vt:lpstr>HSI Color Coordinate System</vt:lpstr>
      <vt:lpstr>Pull the color cube from the black and White ends</vt:lpstr>
      <vt:lpstr>Pad it from the sides to form triangular or circular cross sections, called color plane</vt:lpstr>
      <vt:lpstr>Or form hexagonal cross sections</vt:lpstr>
      <vt:lpstr>PowerPoint Presentation</vt:lpstr>
      <vt:lpstr>Deform HIS space back to RGB (CMY) Space Generate 9 different color planes of HIS space for a fixed saturation in the deformed RGB (CMY) Space</vt:lpstr>
      <vt:lpstr>PowerPoint Presentation</vt:lpstr>
      <vt:lpstr>Editing saturation of colors</vt:lpstr>
      <vt:lpstr>RGB and HSI Representation of Lena </vt:lpstr>
      <vt:lpstr>Intensity carries  most of the information</vt:lpstr>
      <vt:lpstr>Effect of Noise in HSI Channels</vt:lpstr>
      <vt:lpstr>YIQ and YUV Color Spaces  for TV signals</vt:lpstr>
      <vt:lpstr>Conversion from RGB to YIQ </vt:lpstr>
      <vt:lpstr>Conversion from RGB to HSI</vt:lpstr>
      <vt:lpstr>Can we define a color system in a two dimensional space, where colors can be represented for a given intensity value?</vt:lpstr>
      <vt:lpstr>Color Normalization</vt:lpstr>
      <vt:lpstr>Color Normalization</vt:lpstr>
      <vt:lpstr>Color Normalization Enables to reduce the dimension </vt:lpstr>
      <vt:lpstr>Choromaticity: Normalize r+g+b=1 Plot r (red) vs. b (blue) and compute the corresponding g (green)</vt:lpstr>
      <vt:lpstr>Color Image Processing Examples</vt:lpstr>
      <vt:lpstr>Histogram Processing</vt:lpstr>
      <vt:lpstr>How to make a color histogram?</vt:lpstr>
      <vt:lpstr>Three independent Histograms</vt:lpstr>
      <vt:lpstr>2-D and 3-D Histograms</vt:lpstr>
      <vt:lpstr>Use the color codes to generate bin histograms:  Take 2 most significant bit in R,G,B obtain 26=64 bins</vt:lpstr>
      <vt:lpstr>2. Content Based Image Retrieval: Retrieve Similar Images</vt:lpstr>
      <vt:lpstr>How to measure Image Similarity?</vt:lpstr>
      <vt:lpstr>Kullback-Leibler Divergence</vt:lpstr>
      <vt:lpstr>Kullback-Leibler Divergence</vt:lpstr>
      <vt:lpstr>Sum of Square Error</vt:lpstr>
      <vt:lpstr>Histogram Intersection and Match</vt:lpstr>
      <vt:lpstr>2. CBIR: Content Based Image Retrieval</vt:lpstr>
      <vt:lpstr>3. Object Recognition: Apples versus Oranges </vt:lpstr>
      <vt:lpstr>4. Color Clustering  Given an image, group the colors in the palette of L colors into K colors with respect to a similarity predicate, such that the similar colors fall into the same group.   K&lt;L, </vt:lpstr>
      <vt:lpstr>K-Means Color Clustering Method: Clusters the similar colors into K- Groups, in d-Dimensional color space</vt:lpstr>
      <vt:lpstr>K-Means Clustering Algorithm: </vt:lpstr>
      <vt:lpstr>K-means Clustering Example</vt:lpstr>
      <vt:lpstr>5. Face Detection: Skin color in RGB space (shown as normalized red vs normalized green)</vt:lpstr>
      <vt:lpstr>Face detection in video frame:  Train first</vt:lpstr>
      <vt:lpstr>Color Image Enhancement</vt:lpstr>
      <vt:lpstr>Averaging in RGB and I of HSI</vt:lpstr>
      <vt:lpstr>Gradient in R, G and B channels</vt:lpstr>
      <vt:lpstr>Gradient in RGB and I of HSI </vt:lpstr>
      <vt:lpstr>Sharpenning with Laplacian in  RGB and I of HSI</vt:lpstr>
      <vt:lpstr>Quiz#9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9: COLOR</dc:title>
  <dc:creator>Windows User</dc:creator>
  <cp:lastModifiedBy>Fatos</cp:lastModifiedBy>
  <cp:revision>48</cp:revision>
  <dcterms:created xsi:type="dcterms:W3CDTF">2008-10-07T17:21:41Z</dcterms:created>
  <dcterms:modified xsi:type="dcterms:W3CDTF">2022-11-20T18:20:06Z</dcterms:modified>
</cp:coreProperties>
</file>