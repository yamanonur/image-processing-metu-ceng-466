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738" r:id="rId1"/>
  </p:sldMasterIdLst>
  <p:notesMasterIdLst>
    <p:notesMasterId r:id="rId62"/>
  </p:notesMasterIdLst>
  <p:sldIdLst>
    <p:sldId id="256" r:id="rId2"/>
    <p:sldId id="257" r:id="rId3"/>
    <p:sldId id="258" r:id="rId4"/>
    <p:sldId id="259" r:id="rId5"/>
    <p:sldId id="260" r:id="rId6"/>
    <p:sldId id="519" r:id="rId7"/>
    <p:sldId id="271" r:id="rId8"/>
    <p:sldId id="516" r:id="rId9"/>
    <p:sldId id="268" r:id="rId10"/>
    <p:sldId id="518" r:id="rId11"/>
    <p:sldId id="261" r:id="rId12"/>
    <p:sldId id="262" r:id="rId13"/>
    <p:sldId id="521" r:id="rId14"/>
    <p:sldId id="265" r:id="rId15"/>
    <p:sldId id="263" r:id="rId16"/>
    <p:sldId id="264" r:id="rId17"/>
    <p:sldId id="270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1" r:id="rId37"/>
    <p:sldId id="522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sldSz cx="9144000" cy="6858000" type="screen4x3"/>
  <p:notesSz cx="6858000" cy="9144000"/>
  <p:embeddedFontLst>
    <p:embeddedFont>
      <p:font typeface="Bodoni" panose="020B0604020202020204" charset="0"/>
      <p:bold r:id="rId63"/>
      <p:boldItalic r:id="rId64"/>
    </p:embeddedFont>
    <p:embeddedFont>
      <p:font typeface="Book Antiqua" panose="02040602050305030304" pitchFamily="18" charset="0"/>
      <p:regular r:id="rId65"/>
      <p:bold r:id="rId66"/>
      <p:italic r:id="rId67"/>
      <p:boldItalic r:id="rId68"/>
    </p:embeddedFont>
    <p:embeddedFont>
      <p:font typeface="Calibri" panose="020F0502020204030204" pitchFamily="34" charset="0"/>
      <p:regular r:id="rId69"/>
      <p:bold r:id="rId70"/>
      <p:italic r:id="rId71"/>
      <p:boldItalic r:id="rId72"/>
    </p:embeddedFont>
    <p:embeddedFont>
      <p:font typeface="Calibri Light" panose="020F0302020204030204" pitchFamily="34" charset="0"/>
      <p:regular r:id="rId73"/>
      <p:italic r:id="rId74"/>
    </p:embeddedFont>
    <p:embeddedFont>
      <p:font typeface="Helvetica Neue" panose="020B0604020202020204" charset="0"/>
      <p:regular r:id="rId75"/>
      <p:bold r:id="rId76"/>
      <p:italic r:id="rId77"/>
      <p:boldItalic r:id="rId78"/>
    </p:embeddedFont>
    <p:embeddedFont>
      <p:font typeface="Verdana" panose="020B0604030504040204" pitchFamily="34" charset="0"/>
      <p:regular r:id="rId79"/>
      <p:bold r:id="rId80"/>
      <p:italic r:id="rId81"/>
      <p:boldItalic r:id="rId8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97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3" roundtripDataSignature="AMtx7mhIcc2HWUHgp0457lMEskcJQkaP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79"/>
    <p:restoredTop sz="94662"/>
  </p:normalViewPr>
  <p:slideViewPr>
    <p:cSldViewPr snapToGrid="0">
      <p:cViewPr>
        <p:scale>
          <a:sx n="90" d="100"/>
          <a:sy n="90" d="100"/>
        </p:scale>
        <p:origin x="521" y="34"/>
      </p:cViewPr>
      <p:guideLst>
        <p:guide orient="horz" pos="4297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21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.fntdata"/><Relationship Id="rId68" Type="http://schemas.openxmlformats.org/officeDocument/2006/relationships/font" Target="fonts/font6.fntdata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12.fntdata"/><Relationship Id="rId79" Type="http://schemas.openxmlformats.org/officeDocument/2006/relationships/font" Target="fonts/font17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2.fntdata"/><Relationship Id="rId69" Type="http://schemas.openxmlformats.org/officeDocument/2006/relationships/font" Target="fonts/font7.fntdata"/><Relationship Id="rId77" Type="http://schemas.openxmlformats.org/officeDocument/2006/relationships/font" Target="fonts/font15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0.fntdata"/><Relationship Id="rId80" Type="http://schemas.openxmlformats.org/officeDocument/2006/relationships/font" Target="fonts/font18.fntdata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70" Type="http://schemas.openxmlformats.org/officeDocument/2006/relationships/font" Target="fonts/font8.fntdata"/><Relationship Id="rId75" Type="http://schemas.openxmlformats.org/officeDocument/2006/relationships/font" Target="fonts/font13.fntdata"/><Relationship Id="rId83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3.fntdata"/><Relationship Id="rId73" Type="http://schemas.openxmlformats.org/officeDocument/2006/relationships/font" Target="fonts/font11.fntdata"/><Relationship Id="rId78" Type="http://schemas.openxmlformats.org/officeDocument/2006/relationships/font" Target="fonts/font16.fntdata"/><Relationship Id="rId81" Type="http://schemas.openxmlformats.org/officeDocument/2006/relationships/font" Target="fonts/font19.fntdata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14.fntdata"/><Relationship Id="rId7" Type="http://schemas.openxmlformats.org/officeDocument/2006/relationships/slide" Target="slides/slide6.xml"/><Relationship Id="rId71" Type="http://schemas.openxmlformats.org/officeDocument/2006/relationships/font" Target="fonts/font9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font" Target="fonts/font4.fntdata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font" Target="fonts/font2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" name="Google Shape;63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2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" name="Google Shape;76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77;p5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" name="Google Shape;84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6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a3ade5464b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" name="Google Shape;171;ga3ade5464b_0_2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ga3ade5464b_0_27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476207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" name="Google Shape;147;p1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15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" name="Google Shape;100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7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9" name="Google Shape;109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8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" name="Google Shape;115;p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9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" name="Google Shape;122;p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10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a3ade5464b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4" name="Google Shape;164;ga3ade5464b_0_2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ga3ade5464b_0_21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a3ade5464b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0" name="Google Shape;180;ga3ade5464b_0_3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>
                <a:latin typeface="Times New Roman"/>
                <a:ea typeface="Times New Roman"/>
                <a:cs typeface="Times New Roman"/>
                <a:sym typeface="Times New Roman"/>
              </a:rPr>
              <a:t>Monkeys LGN has 6 layers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ga3ade5464b_0_35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a3ade5464b_0_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ga3ade5464b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8" name="Google Shape;238;p2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>
                <a:latin typeface="Times New Roman"/>
                <a:ea typeface="Times New Roman"/>
                <a:cs typeface="Times New Roman"/>
                <a:sym typeface="Times New Roman"/>
              </a:rPr>
              <a:t>IM:</a:t>
            </a:r>
            <a:r>
              <a:rPr lang="tr-TR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tr-TR" i="1">
                <a:latin typeface="Times New Roman"/>
                <a:ea typeface="Times New Roman"/>
                <a:cs typeface="Times New Roman"/>
                <a:sym typeface="Times New Roman"/>
              </a:rPr>
              <a:t>Activity Handout 5.1: Is It Top-Down or Bottom-Up?</a:t>
            </a:r>
            <a:r>
              <a:rPr lang="tr-TR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239" name="Google Shape;239;p23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6" name="Google Shape;276;p2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28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1" name="Google Shape;331;p3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2" name="Google Shape;332;p38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36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1" name="Google Shape;351;p4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2" name="Google Shape;352;p40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39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8" name="Google Shape;388;p4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9" name="Google Shape;389;p44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43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4" name="Google Shape;414;p4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5" name="Google Shape;415;p48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47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2" name="Google Shape;422;p4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3" name="Google Shape;423;p49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48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9" name="Google Shape;429;p5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0" name="Google Shape;430;p50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49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5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5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8" name="Google Shape;468;p5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9" name="Google Shape;469;p55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53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5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6" name="Google Shape;486;p6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7" name="Google Shape;487;p60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56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3" name="Google Shape;493;p6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4" name="Google Shape;494;p61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57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0" name="Google Shape;500;p6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1" name="Google Shape;501;p62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58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6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6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2155D-FC5D-4C8E-888C-74D0670D07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00BC66-9A3C-4259-9C51-6095EE316D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A525F0-E642-44E3-9DF0-86AA783CD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2E873-7F75-494F-BADB-CF1967884B70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BE26B5-C96F-487C-BD7F-A0EADBABB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C94D5-420B-4949-80EE-64CD69ABF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B3772-FB65-4A78-ADB7-175C152F6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644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3DC3E-C0CB-4A96-B066-33A61CC72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FC1F4-9111-47DA-9EC3-7E474696F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13E88-8323-46DE-BA09-CE3AFA2C0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2E873-7F75-494F-BADB-CF1967884B70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923FE-4EB7-45E2-A797-4E31DB5BA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2322B7-D58D-4268-AB56-8E5F91287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B3772-FB65-4A78-ADB7-175C152F6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776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A8896-3875-4B8A-926C-C333F5D54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160B6D-6E26-46A5-B236-972325E9C6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6B5647-C835-4A57-8029-5DD816C7A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2E873-7F75-494F-BADB-CF1967884B70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3DAAC-BBD4-477B-9A1F-C06D2486F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ECCF2-51B0-4609-BFFC-10A45F5AF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B3772-FB65-4A78-ADB7-175C152F6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626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8FB7A-515D-4648-A592-86FBDE688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09CE3-216E-4006-8D11-F6AEF0CE48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E6D8F9-6ACA-42A6-9A32-3BB69E5665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750F5D-2CC7-41EF-8332-53A6DBB38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2E873-7F75-494F-BADB-CF1967884B70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6678F9-C364-4002-8EA9-7394E7A32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87DF58-8D67-4BBC-8106-C712AC37C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B3772-FB65-4A78-ADB7-175C152F6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769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BF1F5-8B88-43A6-B354-8975971AA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BB112B-A676-45A6-8EAC-F5D6ABB1C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280CF2-53A5-436E-969A-4750D7740E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993D4-A19B-433B-8D2E-1136126460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58FD00-2670-4FBC-A243-39E662FE19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A9E86C-58AE-472E-BF72-28EC8D85C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2E873-7F75-494F-BADB-CF1967884B70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1946CC-0CF4-488E-BCAA-E1A01F58A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406C47-ABB4-47BC-AC59-699A468CB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B3772-FB65-4A78-ADB7-175C152F6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938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AC1FA-38BB-4770-A082-ED102DAFB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30C25D-4189-4DE3-934F-38E85226D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2E873-7F75-494F-BADB-CF1967884B70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26FEE5-24A3-4AAF-8E90-1CE49CD74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4B0882-829E-473E-A2E7-4869B3C51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B3772-FB65-4A78-ADB7-175C152F6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728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B9A221-350D-4834-950E-EC37A2512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2E873-7F75-494F-BADB-CF1967884B70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C81439-E2B7-44CC-8A45-7D0FB3459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E2A9E8-D9C1-47A5-A2A1-5DF7765EF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B3772-FB65-4A78-ADB7-175C152F6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49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8CFD3-E478-4B29-9FB6-A09A7CBD9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A36F8-4299-4BC4-892D-76BEA8266E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23B5EF-FAA7-4036-AE9C-D9B08D1791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3F92FB-A645-4792-B2C9-DAF42771A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2E873-7F75-494F-BADB-CF1967884B70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945BEC-BD73-483E-9D49-A263901BD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F51AA7-3FC4-4F24-B0A7-325D3A745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B3772-FB65-4A78-ADB7-175C152F6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837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35226-7580-4B0A-A79D-9C762DA4C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39C1C3-5913-45A1-BA03-5EFF0E5028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680E98-50EA-48DA-9AAC-693942B613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0336ED-802D-41DB-905A-4E2628D83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2E873-7F75-494F-BADB-CF1967884B70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19F4D5-28CF-429D-8890-950454D3F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0C17A8-45C1-4561-B5A7-634016C55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B3772-FB65-4A78-ADB7-175C152F6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11889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F4758-B02F-47BC-95C8-AE12EECD0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B1AF19-7A9F-431E-A903-7CF54649CF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AC5A4-AE1A-4241-B951-F4503C50B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2E873-7F75-494F-BADB-CF1967884B70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954B3D-6648-416F-A580-FB986321E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B00EF-E600-466D-A810-2C5E3FBAB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B3772-FB65-4A78-ADB7-175C152F6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719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07AAA0-B7F6-44A4-918F-2CE45E3A3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1FFE3F-6869-44C0-AF54-246509BC85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353B4-48B6-4017-9AF0-F404B846A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2E873-7F75-494F-BADB-CF1967884B70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A7CD6A-C122-485E-895D-16CE62361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990B90-51EB-4165-9CB1-3846C3DA7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B3772-FB65-4A78-ADB7-175C152F6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318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782759-D4C2-4E28-BDE9-96C0A5EF7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880B51-5565-485F-9C15-3C3F7F9D3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4AA93-F1BE-4513-9675-C5466F42D9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E2E873-7F75-494F-BADB-CF1967884B70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D2474C-B224-49F8-9FE1-3D26DCA723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5E4AAF-5B34-48D0-8BD7-29F8CF9610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0B3772-FB65-4A78-ADB7-175C152F6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861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upload.wikimedia.org/wikipedia/commons/8/84/1543,Vesalius'Fabrica,VisualSystem,V1.jpg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5" Type="http://schemas.openxmlformats.org/officeDocument/2006/relationships/hyperlink" Target="http://www.lottolab.org/Visual%20Demos/Demo%2015.html" TargetMode="External"/><Relationship Id="rId4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hcvypLIRmxg" TargetMode="External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"/>
          <p:cNvSpPr txBox="1">
            <a:spLocks noGrp="1"/>
          </p:cNvSpPr>
          <p:nvPr>
            <p:ph type="ctrTitle"/>
          </p:nvPr>
        </p:nvSpPr>
        <p:spPr>
          <a:xfrm>
            <a:off x="760342" y="1331843"/>
            <a:ext cx="7697857" cy="2882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dirty="0"/>
              <a:t>Ch</a:t>
            </a:r>
            <a:r>
              <a:rPr lang="tr-TR" dirty="0"/>
              <a:t> 2: Human Visual </a:t>
            </a:r>
            <a:r>
              <a:rPr lang="en-US" dirty="0"/>
              <a:t>System and Image Perception</a:t>
            </a:r>
            <a:br>
              <a:rPr lang="en-US" dirty="0"/>
            </a:br>
            <a:br>
              <a:rPr lang="tr-TR" dirty="0"/>
            </a:br>
            <a:r>
              <a:rPr lang="en-US" sz="3200" dirty="0"/>
              <a:t>From C</a:t>
            </a:r>
            <a:r>
              <a:rPr lang="en-US" sz="2800" dirty="0"/>
              <a:t>omputer</a:t>
            </a:r>
            <a:r>
              <a:rPr lang="en-US" sz="3200" dirty="0"/>
              <a:t> Science perspective...</a:t>
            </a:r>
            <a:br>
              <a:rPr lang="en-US" dirty="0"/>
            </a:br>
            <a:endParaRPr lang="en-US" dirty="0"/>
          </a:p>
        </p:txBody>
      </p:sp>
      <p:sp>
        <p:nvSpPr>
          <p:cNvPr id="60" name="Google Shape;60;p1"/>
          <p:cNvSpPr txBox="1">
            <a:spLocks noGrp="1"/>
          </p:cNvSpPr>
          <p:nvPr>
            <p:ph type="subTitle" idx="1"/>
          </p:nvPr>
        </p:nvSpPr>
        <p:spPr>
          <a:xfrm>
            <a:off x="1570383" y="4865205"/>
            <a:ext cx="6400800" cy="11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tr-TR" dirty="0"/>
              <a:t>Fatoş T. Yarman Vural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tr-TR" dirty="0"/>
              <a:t>Hazal Moğultay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"/>
          <p:cNvSpPr txBox="1">
            <a:spLocks noGrp="1"/>
          </p:cNvSpPr>
          <p:nvPr>
            <p:ph type="title"/>
          </p:nvPr>
        </p:nvSpPr>
        <p:spPr>
          <a:xfrm>
            <a:off x="457200" y="1316934"/>
            <a:ext cx="8274326" cy="715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How do we perceive the physical world?</a:t>
            </a:r>
            <a:endParaRPr dirty="0"/>
          </a:p>
        </p:txBody>
      </p:sp>
      <p:sp>
        <p:nvSpPr>
          <p:cNvPr id="67" name="Google Shape;67;p2"/>
          <p:cNvSpPr txBox="1">
            <a:spLocks noGrp="1"/>
          </p:cNvSpPr>
          <p:nvPr>
            <p:ph idx="1"/>
          </p:nvPr>
        </p:nvSpPr>
        <p:spPr>
          <a:xfrm>
            <a:off x="457200" y="3559589"/>
            <a:ext cx="8229600" cy="2602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tr-TR" dirty="0"/>
              <a:t>‘</a:t>
            </a:r>
            <a:r>
              <a:rPr lang="en-US" sz="2400" dirty="0"/>
              <a:t>Let there be light! 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"/>
          <p:cNvSpPr txBox="1"/>
          <p:nvPr/>
        </p:nvSpPr>
        <p:spPr>
          <a:xfrm>
            <a:off x="304800" y="294241"/>
            <a:ext cx="8839200" cy="1862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200" i="0" u="none" strike="noStrike" cap="none" dirty="0">
                <a:solidFill>
                  <a:schemeClr val="dk1"/>
                </a:solidFill>
              </a:rPr>
              <a:t>Image </a:t>
            </a:r>
            <a:r>
              <a:rPr lang="en-US" sz="3200" dirty="0">
                <a:solidFill>
                  <a:schemeClr val="dk1"/>
                </a:solidFill>
              </a:rPr>
              <a:t>P</a:t>
            </a:r>
            <a:r>
              <a:rPr lang="en-US" sz="3200" i="0" u="none" strike="noStrike" cap="none" dirty="0">
                <a:solidFill>
                  <a:schemeClr val="dk1"/>
                </a:solidFill>
              </a:rPr>
              <a:t>erception</a:t>
            </a:r>
            <a:endParaRPr lang="en-US" sz="3200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300" b="1" i="0" u="none" strike="noStrike" cap="none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800" b="1" i="0" u="none" strike="noStrike" cap="none" dirty="0">
                <a:solidFill>
                  <a:srgbClr val="2626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</a:t>
            </a:r>
            <a:r>
              <a:rPr lang="tr-TR" sz="2400" b="1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Let</a:t>
            </a:r>
            <a:r>
              <a:rPr lang="tr-TR" sz="24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Newton be! </a:t>
            </a:r>
            <a:r>
              <a:rPr lang="tr-TR" sz="2400" b="1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</a:t>
            </a:r>
            <a:r>
              <a:rPr lang="tr-TR" sz="24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tr-TR" sz="2400" b="1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tr-TR" sz="24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tr-TR" sz="2400" b="1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was</a:t>
            </a:r>
            <a:r>
              <a:rPr lang="tr-TR" sz="24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tr-TR" sz="2400" b="1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light</a:t>
            </a:r>
            <a:r>
              <a:rPr lang="tr-TR" sz="24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</a:t>
            </a:r>
            <a:r>
              <a:rPr lang="tr-TR" sz="4000" b="1" i="0" u="none" strike="noStrike" cap="none" dirty="0">
                <a:solidFill>
                  <a:srgbClr val="2626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” </a:t>
            </a:r>
            <a:r>
              <a:rPr lang="tr-TR" sz="2400" b="1" i="0" u="none" strike="noStrike" cap="none" dirty="0">
                <a:solidFill>
                  <a:srgbClr val="262699"/>
                </a:solidFill>
              </a:rPr>
              <a:t>Alexander </a:t>
            </a:r>
            <a:r>
              <a:rPr lang="tr-TR" sz="2400" b="1" i="0" u="none" strike="noStrike" cap="none" dirty="0" err="1">
                <a:solidFill>
                  <a:srgbClr val="262699"/>
                </a:solidFill>
              </a:rPr>
              <a:t>Pope</a:t>
            </a:r>
            <a:endParaRPr sz="2400" b="1" i="0" u="none" strike="noStrike" cap="none" dirty="0">
              <a:solidFill>
                <a:srgbClr val="262699"/>
              </a:solidFill>
            </a:endParaRPr>
          </a:p>
        </p:txBody>
      </p:sp>
      <p:pic>
        <p:nvPicPr>
          <p:cNvPr id="73" name="Google Shape;73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800" y="2487061"/>
            <a:ext cx="8839200" cy="359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"/>
          <p:cNvSpPr txBox="1"/>
          <p:nvPr/>
        </p:nvSpPr>
        <p:spPr>
          <a:xfrm>
            <a:off x="528638" y="455613"/>
            <a:ext cx="8148637" cy="457200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chemeClr val="folHlink">
                <a:alpha val="74901"/>
              </a:scheme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 b="0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ELECTROMAGNETIC SPECTRUM AND VISIBLE BAND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0" name="Google Shape;80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5313" y="3021013"/>
            <a:ext cx="8204200" cy="3367087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5"/>
          <p:cNvSpPr txBox="1"/>
          <p:nvPr/>
        </p:nvSpPr>
        <p:spPr>
          <a:xfrm>
            <a:off x="2968734" y="1202100"/>
            <a:ext cx="3991200" cy="13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perceive 7% of the entire electromagnetic spectrum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"/>
          <p:cNvSpPr txBox="1">
            <a:spLocks noGrp="1"/>
          </p:cNvSpPr>
          <p:nvPr>
            <p:ph type="ctrTitle"/>
          </p:nvPr>
        </p:nvSpPr>
        <p:spPr>
          <a:xfrm>
            <a:off x="738175" y="424372"/>
            <a:ext cx="7766100" cy="1043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800">
                <a:latin typeface="Arial"/>
                <a:ea typeface="Arial"/>
                <a:cs typeface="Arial"/>
                <a:sym typeface="Arial"/>
              </a:rPr>
              <a:t>Human Visual System:  Eye-Brain Channel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6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endParaRPr/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5003799" y="2105025"/>
            <a:ext cx="2178050" cy="914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brain</a:t>
            </a:r>
            <a:endParaRPr sz="3600" dirty="0"/>
          </a:p>
        </p:txBody>
      </p:sp>
      <p:sp>
        <p:nvSpPr>
          <p:cNvPr id="90" name="Google Shape;90;p6"/>
          <p:cNvSpPr/>
          <p:nvPr/>
        </p:nvSpPr>
        <p:spPr>
          <a:xfrm>
            <a:off x="2052638" y="2065338"/>
            <a:ext cx="2178050" cy="914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eye</a:t>
            </a:r>
            <a:endParaRPr sz="3600" dirty="0"/>
          </a:p>
        </p:txBody>
      </p:sp>
      <p:cxnSp>
        <p:nvCxnSpPr>
          <p:cNvPr id="91" name="Google Shape;91;p6"/>
          <p:cNvCxnSpPr/>
          <p:nvPr/>
        </p:nvCxnSpPr>
        <p:spPr>
          <a:xfrm>
            <a:off x="1565275" y="2525713"/>
            <a:ext cx="39687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2" name="Google Shape;92;p6"/>
          <p:cNvCxnSpPr/>
          <p:nvPr/>
        </p:nvCxnSpPr>
        <p:spPr>
          <a:xfrm>
            <a:off x="4332288" y="2538413"/>
            <a:ext cx="57785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3" name="Google Shape;93;p6"/>
          <p:cNvCxnSpPr/>
          <p:nvPr/>
        </p:nvCxnSpPr>
        <p:spPr>
          <a:xfrm>
            <a:off x="7256463" y="2549525"/>
            <a:ext cx="601662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4" name="Google Shape;94;p6"/>
          <p:cNvSpPr txBox="1"/>
          <p:nvPr/>
        </p:nvSpPr>
        <p:spPr>
          <a:xfrm>
            <a:off x="1816350" y="3209925"/>
            <a:ext cx="2325600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 i="0" u="sng" strike="noStrike" cap="none" dirty="0" err="1">
                <a:solidFill>
                  <a:schemeClr val="dk1"/>
                </a:solidFill>
              </a:rPr>
              <a:t>Low</a:t>
            </a:r>
            <a:r>
              <a:rPr lang="tr-TR" sz="2400" i="0" u="sng" strike="noStrike" cap="none" dirty="0">
                <a:solidFill>
                  <a:schemeClr val="dk1"/>
                </a:solidFill>
              </a:rPr>
              <a:t> </a:t>
            </a:r>
            <a:r>
              <a:rPr lang="tr-TR" sz="2400" i="0" u="sng" strike="noStrike" cap="none" dirty="0" err="1">
                <a:solidFill>
                  <a:schemeClr val="dk1"/>
                </a:solidFill>
              </a:rPr>
              <a:t>level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 i="0" u="none" strike="noStrike" cap="none" dirty="0" err="1">
                <a:solidFill>
                  <a:schemeClr val="dk1"/>
                </a:solidFill>
              </a:rPr>
              <a:t>Acquisition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 i="0" u="none" strike="noStrike" cap="none" dirty="0" err="1">
                <a:solidFill>
                  <a:schemeClr val="dk1"/>
                </a:solidFill>
              </a:rPr>
              <a:t>Sampling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 i="0" u="none" strike="noStrike" cap="none" dirty="0" err="1">
                <a:solidFill>
                  <a:schemeClr val="dk1"/>
                </a:solidFill>
              </a:rPr>
              <a:t>Quantization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 i="0" u="none" strike="noStrike" cap="none" dirty="0">
                <a:solidFill>
                  <a:schemeClr val="dk1"/>
                </a:solidFill>
              </a:rPr>
              <a:t>Enhancement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 i="0" u="none" strike="noStrike" cap="none" dirty="0" err="1">
                <a:solidFill>
                  <a:schemeClr val="dk1"/>
                </a:solidFill>
              </a:rPr>
              <a:t>Compression</a:t>
            </a:r>
            <a:endParaRPr dirty="0"/>
          </a:p>
        </p:txBody>
      </p:sp>
      <p:sp>
        <p:nvSpPr>
          <p:cNvPr id="95" name="Google Shape;95;p6"/>
          <p:cNvSpPr txBox="1"/>
          <p:nvPr/>
        </p:nvSpPr>
        <p:spPr>
          <a:xfrm>
            <a:off x="5003799" y="3255951"/>
            <a:ext cx="3126409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 i="0" u="sng" strike="noStrike" cap="none" dirty="0">
                <a:solidFill>
                  <a:schemeClr val="dk1"/>
                </a:solidFill>
              </a:rPr>
              <a:t>High Level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 i="0" u="none" strike="noStrike" cap="none" dirty="0">
                <a:solidFill>
                  <a:schemeClr val="dk1"/>
                </a:solidFill>
              </a:rPr>
              <a:t>Enhancement +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 i="0" u="none" strike="noStrike" cap="none" dirty="0" err="1">
                <a:solidFill>
                  <a:schemeClr val="dk1"/>
                </a:solidFill>
              </a:rPr>
              <a:t>Compression</a:t>
            </a:r>
            <a:r>
              <a:rPr lang="tr-TR" sz="2400" i="0" u="none" strike="noStrike" cap="none" dirty="0">
                <a:solidFill>
                  <a:schemeClr val="dk1"/>
                </a:solidFill>
              </a:rPr>
              <a:t>+</a:t>
            </a:r>
            <a:endParaRPr lang="en-US" sz="2400" i="0" u="none" strike="noStrike" cap="none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</a:rPr>
              <a:t>Segmentation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 i="0" u="none" strike="noStrike" cap="none" dirty="0" err="1">
                <a:solidFill>
                  <a:schemeClr val="dk1"/>
                </a:solidFill>
              </a:rPr>
              <a:t>Feature</a:t>
            </a:r>
            <a:r>
              <a:rPr lang="tr-TR" sz="2400" i="0" u="none" strike="noStrike" cap="none" dirty="0">
                <a:solidFill>
                  <a:schemeClr val="dk1"/>
                </a:solidFill>
              </a:rPr>
              <a:t> </a:t>
            </a:r>
            <a:r>
              <a:rPr lang="tr-TR" sz="2400" i="0" u="none" strike="noStrike" cap="none" dirty="0" err="1">
                <a:solidFill>
                  <a:schemeClr val="dk1"/>
                </a:solidFill>
              </a:rPr>
              <a:t>Extraction</a:t>
            </a:r>
            <a:endParaRPr lang="en-US" sz="2400" i="0" u="none" strike="noStrike" cap="none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</a:rPr>
              <a:t>Representation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 i="0" u="none" strike="noStrike" cap="none" dirty="0" err="1">
                <a:solidFill>
                  <a:srgbClr val="FF0000"/>
                </a:solidFill>
              </a:rPr>
              <a:t>Labeling</a:t>
            </a:r>
            <a:endParaRPr dirty="0">
              <a:solidFill>
                <a:srgbClr val="FF000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 i="0" u="none" strike="noStrike" cap="none" dirty="0" err="1">
                <a:solidFill>
                  <a:srgbClr val="FF0000"/>
                </a:solidFill>
              </a:rPr>
              <a:t>Understanding</a:t>
            </a:r>
            <a:endParaRPr dirty="0">
              <a:solidFill>
                <a:srgbClr val="FF000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i="0" u="none" strike="noStrike" cap="none" dirty="0">
              <a:solidFill>
                <a:schemeClr val="dk1"/>
              </a:solidFill>
            </a:endParaRPr>
          </a:p>
        </p:txBody>
      </p:sp>
      <p:sp>
        <p:nvSpPr>
          <p:cNvPr id="96" name="Google Shape;96;p6"/>
          <p:cNvSpPr txBox="1"/>
          <p:nvPr/>
        </p:nvSpPr>
        <p:spPr>
          <a:xfrm>
            <a:off x="254625" y="2190925"/>
            <a:ext cx="13107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/>
              <a:t>Visible light</a:t>
            </a:r>
            <a:endParaRPr sz="2400"/>
          </a:p>
        </p:txBody>
      </p:sp>
      <p:sp>
        <p:nvSpPr>
          <p:cNvPr id="97" name="Google Shape;97;p6"/>
          <p:cNvSpPr txBox="1"/>
          <p:nvPr/>
        </p:nvSpPr>
        <p:spPr>
          <a:xfrm>
            <a:off x="7858125" y="2105025"/>
            <a:ext cx="13107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/>
              <a:t>World model</a:t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FD037-DEA1-4C46-B272-4B5E8904F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Eye-brain channel</a:t>
            </a:r>
          </a:p>
        </p:txBody>
      </p:sp>
      <p:pic>
        <p:nvPicPr>
          <p:cNvPr id="2050" name="Picture 2" descr="https://camo.githubusercontent.com/23b37873d05a61f83478fd3e0584b37508d45c338ecfb63213e4f1a4498772df/68747470733a2f2f7261772e67697468756275736572636f6e74656e742e636f6d2f68617a616c6d6f67756c7461792f343636496d616765732f6d61737465722f57322f696d61676531312e706e67">
            <a:extLst>
              <a:ext uri="{FF2B5EF4-FFF2-40B4-BE49-F238E27FC236}">
                <a16:creationId xmlns:a16="http://schemas.microsoft.com/office/drawing/2014/main" id="{855A3406-35AB-426F-A499-E903CA9AC5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223" y="1559132"/>
            <a:ext cx="6709327" cy="4884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5960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ga3ade5464b_0_27" descr="Image:1543,Vesalius'Fabrica,VisualSystem,V1.jp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46299" y="1746250"/>
            <a:ext cx="5191919" cy="465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ga3ade5464b_0_27"/>
          <p:cNvSpPr txBox="1"/>
          <p:nvPr/>
        </p:nvSpPr>
        <p:spPr>
          <a:xfrm>
            <a:off x="4965700" y="3073400"/>
            <a:ext cx="3771900" cy="4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Lateral Geniculate Nucleus</a:t>
            </a:r>
            <a:endParaRPr/>
          </a:p>
        </p:txBody>
      </p:sp>
      <p:sp>
        <p:nvSpPr>
          <p:cNvPr id="176" name="Google Shape;176;ga3ade5464b_0_27"/>
          <p:cNvSpPr txBox="1"/>
          <p:nvPr/>
        </p:nvSpPr>
        <p:spPr>
          <a:xfrm>
            <a:off x="5194300" y="5943600"/>
            <a:ext cx="3174900" cy="4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Primary Visual Cortex</a:t>
            </a: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9C8B7F-9AF5-4D6C-926B-7B2F1A627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Eye-Brain Channel</a:t>
            </a:r>
          </a:p>
        </p:txBody>
      </p:sp>
    </p:spTree>
    <p:extLst>
      <p:ext uri="{BB962C8B-B14F-4D97-AF65-F5344CB8AC3E}">
        <p14:creationId xmlns:p14="http://schemas.microsoft.com/office/powerpoint/2010/main" val="3199264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6497"/>
            <a:ext cx="8229600" cy="951471"/>
          </a:xfrm>
        </p:spPr>
        <p:txBody>
          <a:bodyPr/>
          <a:lstStyle/>
          <a:p>
            <a:r>
              <a:rPr lang="en-US" dirty="0"/>
              <a:t>What and where pathways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How Does the Brain Work- - Human Cognition - PSYCHOLOGY &amp; BRAIN SCIENCE VIDEO (1)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86940" y="846138"/>
            <a:ext cx="7170119" cy="5377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236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 descr="http://upload.wikimedia.org/wikipedia/commons/7/70/Brodmann_areas_17_18_19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8500" y="715963"/>
            <a:ext cx="7840663" cy="6142037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/>
          <p:nvPr/>
        </p:nvSpPr>
        <p:spPr>
          <a:xfrm>
            <a:off x="1943100" y="6007100"/>
            <a:ext cx="6596063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the Brain (60-70% is for vision)</a:t>
            </a:r>
            <a:endParaRPr/>
          </a:p>
        </p:txBody>
      </p:sp>
      <p:sp>
        <p:nvSpPr>
          <p:cNvPr id="152" name="Google Shape;152;p15"/>
          <p:cNvSpPr/>
          <p:nvPr/>
        </p:nvSpPr>
        <p:spPr>
          <a:xfrm>
            <a:off x="698500" y="254000"/>
            <a:ext cx="7840663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http://neuro.ceng.metu.edu.tr/fmri_prj/animations.html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7399" y="1339850"/>
            <a:ext cx="8408194" cy="558627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  <a:t>Brain in a Supercomputer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70000" y="149225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/>
          </a:p>
        </p:txBody>
      </p:sp>
      <p:sp>
        <p:nvSpPr>
          <p:cNvPr id="6" name="TextBox 5"/>
          <p:cNvSpPr txBox="1"/>
          <p:nvPr/>
        </p:nvSpPr>
        <p:spPr>
          <a:xfrm>
            <a:off x="317500" y="136525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/>
          </a:p>
        </p:txBody>
      </p:sp>
      <p:pic>
        <p:nvPicPr>
          <p:cNvPr id="8" name="mute_down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25678" y="1734582"/>
            <a:ext cx="7747319" cy="435786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b="1" dirty="0" err="1"/>
              <a:t>In</a:t>
            </a:r>
            <a:r>
              <a:rPr lang="tr-TR" b="1" dirty="0"/>
              <a:t> </a:t>
            </a:r>
            <a:r>
              <a:rPr lang="tr-TR" b="1" dirty="0" err="1"/>
              <a:t>the</a:t>
            </a:r>
            <a:r>
              <a:rPr lang="tr-TR" b="1" dirty="0"/>
              <a:t> Brain:</a:t>
            </a:r>
            <a:r>
              <a:rPr lang="tr-TR" dirty="0"/>
              <a:t> </a:t>
            </a:r>
            <a:br>
              <a:rPr lang="tr-TR" dirty="0"/>
            </a:br>
            <a:r>
              <a:rPr lang="tr-TR" dirty="0" err="1"/>
              <a:t>We</a:t>
            </a:r>
            <a:r>
              <a:rPr lang="tr-TR" dirty="0"/>
              <a:t> </a:t>
            </a:r>
            <a:r>
              <a:rPr lang="tr-TR" dirty="0" err="1"/>
              <a:t>create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model of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object</a:t>
            </a:r>
            <a:r>
              <a:rPr lang="tr-T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37498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video>
              <p:cMediaNode vol="10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"/>
          <p:cNvSpPr txBox="1"/>
          <p:nvPr/>
        </p:nvSpPr>
        <p:spPr>
          <a:xfrm>
            <a:off x="750404" y="389364"/>
            <a:ext cx="7788379" cy="1015622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chemeClr val="folHlink">
                <a:alpha val="74901"/>
              </a:scheme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600" i="0" u="none" strike="noStrike" cap="none" dirty="0">
                <a:solidFill>
                  <a:srgbClr val="FF0000"/>
                </a:solidFill>
              </a:rPr>
              <a:t>EYE: </a:t>
            </a:r>
            <a:r>
              <a:rPr lang="tr-TR" sz="3600" dirty="0">
                <a:solidFill>
                  <a:srgbClr val="FF0000"/>
                </a:solidFill>
              </a:rPr>
              <a:t>A Feedback Control </a:t>
            </a:r>
            <a:r>
              <a:rPr lang="tr-TR" sz="3600" dirty="0" err="1">
                <a:solidFill>
                  <a:srgbClr val="FF0000"/>
                </a:solidFill>
              </a:rPr>
              <a:t>System</a:t>
            </a:r>
            <a:r>
              <a:rPr lang="tr-TR" sz="3600" dirty="0">
                <a:solidFill>
                  <a:srgbClr val="FF0000"/>
                </a:solidFill>
              </a:rPr>
              <a:t>:</a:t>
            </a:r>
            <a:endParaRPr sz="36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FF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4" name="Google Shape;104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08975" y="2082113"/>
            <a:ext cx="5181600" cy="4321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7"/>
          <p:cNvSpPr txBox="1"/>
          <p:nvPr/>
        </p:nvSpPr>
        <p:spPr>
          <a:xfrm>
            <a:off x="6299200" y="1581150"/>
            <a:ext cx="2844800" cy="155257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Diameter:20mm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Pupil 2mm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Fovea: Sensors,rodes and cones</a:t>
            </a:r>
            <a:endParaRPr/>
          </a:p>
        </p:txBody>
      </p:sp>
      <p:sp>
        <p:nvSpPr>
          <p:cNvPr id="106" name="Google Shape;106;p7"/>
          <p:cNvSpPr txBox="1"/>
          <p:nvPr/>
        </p:nvSpPr>
        <p:spPr>
          <a:xfrm>
            <a:off x="305550" y="1533525"/>
            <a:ext cx="3395100" cy="26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Adjusts the diameter of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tr-TR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Eye ball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tr-TR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Pupil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tr-TR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Lenz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4787" y="1297056"/>
            <a:ext cx="9144000" cy="52927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E64175-10DC-4245-BBC7-B16DAA85A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Eye Ball: Photo-receptors are Scattered on Retina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38;p12">
            <a:extLst>
              <a:ext uri="{FF2B5EF4-FFF2-40B4-BE49-F238E27FC236}">
                <a16:creationId xmlns:a16="http://schemas.microsoft.com/office/drawing/2014/main" id="{57DFBCD1-7D54-4208-892B-EBE39C17404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674" y="1889746"/>
            <a:ext cx="7687917" cy="452596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A3A6ED-D84A-4183-9FAE-9EB3D2A7A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Photoreceptors: On the retina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B90BFD-9644-4B68-A9F8-B96296F21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Rodes</a:t>
            </a:r>
            <a:endParaRPr lang="en-US" dirty="0"/>
          </a:p>
          <a:p>
            <a:r>
              <a:rPr lang="en-US" dirty="0"/>
              <a:t>Cones</a:t>
            </a:r>
          </a:p>
        </p:txBody>
      </p:sp>
    </p:spTree>
    <p:extLst>
      <p:ext uri="{BB962C8B-B14F-4D97-AF65-F5344CB8AC3E}">
        <p14:creationId xmlns:p14="http://schemas.microsoft.com/office/powerpoint/2010/main" val="18202624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"/>
          <p:cNvSpPr txBox="1">
            <a:spLocks noGrp="1"/>
          </p:cNvSpPr>
          <p:nvPr>
            <p:ph type="title"/>
          </p:nvPr>
        </p:nvSpPr>
        <p:spPr>
          <a:xfrm>
            <a:off x="496888" y="1079500"/>
            <a:ext cx="8189912" cy="1049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Sampling and Quantization Around the Fovea</a:t>
            </a:r>
          </a:p>
        </p:txBody>
      </p:sp>
      <p:sp>
        <p:nvSpPr>
          <p:cNvPr id="132" name="Google Shape;132;p11"/>
          <p:cNvSpPr txBox="1">
            <a:spLocks noGrp="1"/>
          </p:cNvSpPr>
          <p:nvPr>
            <p:ph idx="1"/>
          </p:nvPr>
        </p:nvSpPr>
        <p:spPr>
          <a:xfrm>
            <a:off x="477044" y="2338457"/>
            <a:ext cx="8229600" cy="337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sz="2800" dirty="0"/>
              <a:t>Cones: 6-7 million, located mostly on fovea, sensitive to color, each one is connected to a nerve cell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lang="en-US" sz="2800"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sz="2800" dirty="0"/>
              <a:t>Rodes:75-150 million, distributed over retina, sensitive to shape info, several of them are connected to the same nerve cell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9"/>
          <p:cNvSpPr txBox="1"/>
          <p:nvPr/>
        </p:nvSpPr>
        <p:spPr>
          <a:xfrm>
            <a:off x="293204" y="289961"/>
            <a:ext cx="8721587" cy="1077178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chemeClr val="folHlink">
                <a:alpha val="74901"/>
              </a:scheme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200" b="0" i="0" u="none" strike="noStrike" cap="none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RODES</a:t>
            </a:r>
            <a:r>
              <a:rPr lang="en-US" sz="3200" b="0" i="0" u="none" strike="noStrike" cap="none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200" b="0" i="0" u="none" strike="noStrike" cap="none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80-100 </a:t>
            </a:r>
            <a:r>
              <a:rPr lang="tr-TR" sz="3200" b="0" i="0" u="none" strike="noStrike" cap="none" dirty="0" err="1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Million</a:t>
            </a:r>
            <a:r>
              <a:rPr lang="tr-TR" sz="3200" b="0" i="0" u="none" strike="noStrike" cap="none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tr-TR" sz="3200" b="0" i="0" u="none" strike="noStrike" cap="none" dirty="0" err="1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for</a:t>
            </a:r>
            <a:r>
              <a:rPr lang="tr-TR" sz="3200" b="0" i="0" u="none" strike="noStrike" cap="none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tr-TR" sz="3200" b="0" i="0" u="none" strike="noStrike" cap="none" dirty="0" err="1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Shape</a:t>
            </a:r>
            <a:r>
              <a:rPr lang="tr-TR" sz="3200" b="0" i="0" u="none" strike="noStrike" cap="none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3200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P</a:t>
            </a:r>
            <a:r>
              <a:rPr lang="tr-TR" sz="3200" b="0" i="0" u="none" strike="noStrike" cap="none" dirty="0" err="1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erception</a:t>
            </a:r>
            <a:endParaRPr sz="3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9" name="Google Shape;119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4521" y="1719469"/>
            <a:ext cx="7802217" cy="4702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3750" y="2007703"/>
            <a:ext cx="7175608" cy="4346311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0"/>
          <p:cNvSpPr txBox="1"/>
          <p:nvPr/>
        </p:nvSpPr>
        <p:spPr>
          <a:xfrm>
            <a:off x="793750" y="321800"/>
            <a:ext cx="7286400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600" i="0" u="none" strike="noStrike" cap="none" dirty="0" err="1">
                <a:solidFill>
                  <a:srgbClr val="FF0000"/>
                </a:solidFill>
              </a:rPr>
              <a:t>Cones</a:t>
            </a:r>
            <a:r>
              <a:rPr lang="tr-TR" sz="3600" i="0" u="none" strike="noStrike" cap="none" dirty="0">
                <a:solidFill>
                  <a:srgbClr val="FF0000"/>
                </a:solidFill>
              </a:rPr>
              <a:t>:</a:t>
            </a:r>
            <a:endParaRPr lang="en-US" sz="3600" i="0" u="none" strike="noStrike" cap="none" dirty="0">
              <a:solidFill>
                <a:srgbClr val="FF0000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600" i="0" u="none" strike="noStrike" cap="none" dirty="0">
                <a:solidFill>
                  <a:srgbClr val="FF0000"/>
                </a:solidFill>
              </a:rPr>
              <a:t>6-7 </a:t>
            </a:r>
            <a:r>
              <a:rPr lang="tr-TR" sz="3600" dirty="0" err="1">
                <a:solidFill>
                  <a:srgbClr val="FF0000"/>
                </a:solidFill>
              </a:rPr>
              <a:t>Million</a:t>
            </a:r>
            <a:r>
              <a:rPr lang="tr-TR" sz="3600" dirty="0">
                <a:solidFill>
                  <a:srgbClr val="FF0000"/>
                </a:solidFill>
              </a:rPr>
              <a:t> </a:t>
            </a:r>
            <a:r>
              <a:rPr lang="tr-TR" sz="3600" dirty="0" err="1">
                <a:solidFill>
                  <a:srgbClr val="FF0000"/>
                </a:solidFill>
              </a:rPr>
              <a:t>for</a:t>
            </a:r>
            <a:r>
              <a:rPr lang="tr-TR" sz="3600" dirty="0">
                <a:solidFill>
                  <a:srgbClr val="FF0000"/>
                </a:solidFill>
              </a:rPr>
              <a:t> </a:t>
            </a:r>
            <a:r>
              <a:rPr lang="tr-TR" sz="3600" dirty="0" err="1">
                <a:solidFill>
                  <a:srgbClr val="FF0000"/>
                </a:solidFill>
              </a:rPr>
              <a:t>Color</a:t>
            </a:r>
            <a:r>
              <a:rPr lang="tr-TR" sz="3600" dirty="0">
                <a:solidFill>
                  <a:srgbClr val="FF0000"/>
                </a:solidFill>
              </a:rPr>
              <a:t> </a:t>
            </a:r>
            <a:r>
              <a:rPr lang="tr-TR" sz="3600" dirty="0" err="1">
                <a:solidFill>
                  <a:srgbClr val="FF0000"/>
                </a:solidFill>
              </a:rPr>
              <a:t>Perception</a:t>
            </a:r>
            <a:endParaRPr sz="3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a3ade5464b_0_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7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4000" dirty="0" err="1"/>
              <a:t>In</a:t>
            </a:r>
            <a:r>
              <a:rPr lang="tr-TR" sz="4000" dirty="0"/>
              <a:t> </a:t>
            </a:r>
            <a:r>
              <a:rPr lang="tr-TR" sz="4000" dirty="0" err="1"/>
              <a:t>the</a:t>
            </a:r>
            <a:r>
              <a:rPr lang="tr-TR" sz="4000" dirty="0"/>
              <a:t> Brain</a:t>
            </a:r>
            <a:br>
              <a:rPr lang="tr-TR" sz="4000" dirty="0"/>
            </a:br>
            <a:r>
              <a:rPr lang="en-US" sz="4000" dirty="0"/>
              <a:t>How do we create a world model?</a:t>
            </a:r>
            <a:endParaRPr sz="4000" dirty="0"/>
          </a:p>
        </p:txBody>
      </p:sp>
      <p:sp>
        <p:nvSpPr>
          <p:cNvPr id="168" name="Google Shape;168;ga3ade5464b_0_21"/>
          <p:cNvSpPr txBox="1">
            <a:spLocks noGrp="1"/>
          </p:cNvSpPr>
          <p:nvPr>
            <p:ph idx="1"/>
          </p:nvPr>
        </p:nvSpPr>
        <p:spPr>
          <a:xfrm>
            <a:off x="457200" y="1983962"/>
            <a:ext cx="8229600" cy="44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800" b="1" dirty="0"/>
              <a:t>LGN</a:t>
            </a:r>
            <a:r>
              <a:rPr lang="en-US" sz="2800" dirty="0"/>
              <a:t> extracts low level features, such as edges, boundaries, textures, colors, corners or lines.</a:t>
            </a:r>
          </a:p>
          <a:p>
            <a:endParaRPr lang="en-US" sz="2800" dirty="0"/>
          </a:p>
          <a:p>
            <a:r>
              <a:rPr lang="en-US" sz="2800" b="1" dirty="0"/>
              <a:t>Primary visual cortex, </a:t>
            </a:r>
            <a:r>
              <a:rPr lang="en-US" sz="2800" dirty="0"/>
              <a:t>called V1, </a:t>
            </a:r>
          </a:p>
          <a:p>
            <a:pPr lvl="1"/>
            <a:r>
              <a:rPr lang="en-US" sz="2500" dirty="0"/>
              <a:t>extracts a map of spatial information about the relative location of objects. </a:t>
            </a:r>
          </a:p>
          <a:p>
            <a:pPr lvl="1"/>
            <a:r>
              <a:rPr lang="en-US" sz="2500" dirty="0"/>
              <a:t> highlights what is important from visual inputs to guide the shifts of attention known as gaze shifts.</a:t>
            </a:r>
          </a:p>
          <a:p>
            <a:r>
              <a:rPr lang="en-US" sz="2800" dirty="0"/>
              <a:t> </a:t>
            </a:r>
            <a:r>
              <a:rPr lang="en-US" sz="2800" b="1" dirty="0"/>
              <a:t>V2, V3, V4, V5 </a:t>
            </a:r>
            <a:r>
              <a:rPr lang="en-US" sz="2800" dirty="0"/>
              <a:t>generates high level vision information</a:t>
            </a:r>
            <a:br>
              <a:rPr lang="en-US" sz="2800" dirty="0"/>
            </a:br>
            <a:endParaRPr lang="en-US" sz="2800" dirty="0"/>
          </a:p>
          <a:p>
            <a:pPr marL="742950" lvl="1" indent="-1079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ga3ade5464b_0_35"/>
          <p:cNvPicPr preferRelativeResize="0"/>
          <p:nvPr/>
        </p:nvPicPr>
        <p:blipFill rotWithShape="1">
          <a:blip r:embed="rId3">
            <a:alphaModFix/>
          </a:blip>
          <a:srcRect r="48646" b="17149"/>
          <a:stretch/>
        </p:blipFill>
        <p:spPr>
          <a:xfrm>
            <a:off x="2520780" y="1758232"/>
            <a:ext cx="4695569" cy="484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ga3ade5464b_0_35"/>
          <p:cNvSpPr txBox="1">
            <a:spLocks noGrp="1"/>
          </p:cNvSpPr>
          <p:nvPr>
            <p:ph type="title"/>
          </p:nvPr>
        </p:nvSpPr>
        <p:spPr>
          <a:xfrm>
            <a:off x="98854" y="274638"/>
            <a:ext cx="89463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Lateral Geniculate Nucleus of Monkeys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Vision Theories</a:t>
            </a:r>
            <a:endParaRPr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A6CE276-5A82-4E89-88C6-AE0FC7D9D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lvl="0" indent="-342900">
              <a:lnSpc>
                <a:spcPct val="80000"/>
              </a:lnSpc>
              <a:spcBef>
                <a:spcPts val="0"/>
              </a:spcBef>
              <a:buClr>
                <a:schemeClr val="dk1"/>
              </a:buClr>
              <a:buSzPts val="2480"/>
              <a:buFont typeface="Times New Roman"/>
              <a:buChar char="•"/>
            </a:pPr>
            <a:r>
              <a:rPr lang="en-US" sz="2400" dirty="0"/>
              <a:t>Emission Theory:  “Eye emits light and the light interacts with object” Euclid, Ptolemy</a:t>
            </a:r>
          </a:p>
          <a:p>
            <a:pPr marL="0" lvl="0" indent="0">
              <a:lnSpc>
                <a:spcPct val="80000"/>
              </a:lnSpc>
              <a:spcBef>
                <a:spcPts val="0"/>
              </a:spcBef>
              <a:buClr>
                <a:schemeClr val="dk1"/>
              </a:buClr>
              <a:buSzPts val="2480"/>
              <a:buNone/>
            </a:pPr>
            <a:endParaRPr lang="en-US" sz="2400" dirty="0"/>
          </a:p>
          <a:p>
            <a:pPr marL="342900" lvl="0" indent="-342900">
              <a:lnSpc>
                <a:spcPct val="80000"/>
              </a:lnSpc>
              <a:spcBef>
                <a:spcPts val="496"/>
              </a:spcBef>
              <a:buClr>
                <a:schemeClr val="dk1"/>
              </a:buClr>
              <a:buSzPts val="2480"/>
              <a:buFont typeface="Times New Roman"/>
              <a:buChar char="•"/>
            </a:pPr>
            <a:r>
              <a:rPr lang="en-US" sz="2400" dirty="0"/>
              <a:t>Intromission Theory: “Shape of the objects enter the eye” Aristo, Galen</a:t>
            </a:r>
          </a:p>
          <a:p>
            <a:pPr marL="0" lvl="0" indent="0">
              <a:lnSpc>
                <a:spcPct val="80000"/>
              </a:lnSpc>
              <a:spcBef>
                <a:spcPts val="496"/>
              </a:spcBef>
              <a:buClr>
                <a:schemeClr val="dk1"/>
              </a:buClr>
              <a:buSzPts val="2480"/>
              <a:buNone/>
            </a:pPr>
            <a:endParaRPr lang="en-US" sz="2400" dirty="0"/>
          </a:p>
          <a:p>
            <a:pPr marL="342900" lvl="0" indent="-342900">
              <a:lnSpc>
                <a:spcPct val="80000"/>
              </a:lnSpc>
              <a:spcBef>
                <a:spcPts val="496"/>
              </a:spcBef>
              <a:buClr>
                <a:schemeClr val="dk1"/>
              </a:buClr>
              <a:buSzPts val="2480"/>
              <a:buFont typeface="Times New Roman"/>
              <a:buChar char="•"/>
            </a:pPr>
            <a:r>
              <a:rPr lang="en-US" sz="2400" dirty="0"/>
              <a:t>Two eye Theory: “Light, reflected from the objects enters to the eye. This reflection enables us to see” El-Haytham</a:t>
            </a:r>
          </a:p>
          <a:p>
            <a:pPr marL="0" lvl="0" indent="0">
              <a:lnSpc>
                <a:spcPct val="80000"/>
              </a:lnSpc>
              <a:spcBef>
                <a:spcPts val="496"/>
              </a:spcBef>
              <a:buClr>
                <a:schemeClr val="dk1"/>
              </a:buClr>
              <a:buSzPts val="2480"/>
              <a:buNone/>
            </a:pPr>
            <a:endParaRPr lang="en-US" sz="2400" dirty="0"/>
          </a:p>
          <a:p>
            <a:pPr marL="342900" lvl="0" indent="-342900">
              <a:lnSpc>
                <a:spcPct val="80000"/>
              </a:lnSpc>
              <a:spcBef>
                <a:spcPts val="496"/>
              </a:spcBef>
              <a:buClr>
                <a:srgbClr val="C00000"/>
              </a:buClr>
              <a:buSzPts val="2480"/>
              <a:buFont typeface="Times New Roman"/>
              <a:buChar char="•"/>
            </a:pPr>
            <a:r>
              <a:rPr lang="en-US" sz="2400" b="1" dirty="0">
                <a:solidFill>
                  <a:srgbClr val="C00000"/>
                </a:solidFill>
              </a:rPr>
              <a:t>Marr Theory: D. Marr</a:t>
            </a:r>
          </a:p>
          <a:p>
            <a:pPr marL="0" lvl="0" indent="0">
              <a:lnSpc>
                <a:spcPct val="80000"/>
              </a:lnSpc>
              <a:spcBef>
                <a:spcPts val="496"/>
              </a:spcBef>
              <a:buClr>
                <a:srgbClr val="C00000"/>
              </a:buClr>
              <a:buSzPts val="2480"/>
              <a:buNone/>
            </a:pPr>
            <a:endParaRPr lang="en-US" sz="2400" b="1" dirty="0">
              <a:solidFill>
                <a:srgbClr val="C00000"/>
              </a:solidFill>
            </a:endParaRPr>
          </a:p>
          <a:p>
            <a:pPr marL="342900" lvl="0" indent="-342900">
              <a:lnSpc>
                <a:spcPct val="80000"/>
              </a:lnSpc>
              <a:spcBef>
                <a:spcPts val="496"/>
              </a:spcBef>
              <a:buClr>
                <a:srgbClr val="C00000"/>
              </a:buClr>
              <a:buSzPts val="2480"/>
              <a:buFont typeface="Times New Roman"/>
              <a:buChar char="•"/>
            </a:pPr>
            <a:r>
              <a:rPr lang="en-US" sz="2400" b="1" dirty="0">
                <a:solidFill>
                  <a:srgbClr val="C00000"/>
                </a:solidFill>
              </a:rPr>
              <a:t>Gestalt Theory: K. </a:t>
            </a:r>
            <a:r>
              <a:rPr lang="en-US" sz="2400" b="1" dirty="0" err="1">
                <a:solidFill>
                  <a:srgbClr val="C00000"/>
                </a:solidFill>
              </a:rPr>
              <a:t>Koffka</a:t>
            </a:r>
            <a:r>
              <a:rPr lang="en-US" sz="2400" b="1" dirty="0">
                <a:solidFill>
                  <a:srgbClr val="C00000"/>
                </a:solidFill>
              </a:rPr>
              <a:t>, </a:t>
            </a:r>
            <a:r>
              <a:rPr lang="en-US" sz="2400" b="1" dirty="0" err="1">
                <a:solidFill>
                  <a:srgbClr val="C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M.Wertheimer</a:t>
            </a:r>
            <a:r>
              <a:rPr lang="en-US" sz="2400" b="1" dirty="0">
                <a:solidFill>
                  <a:srgbClr val="C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K. Köhler</a:t>
            </a:r>
          </a:p>
          <a:p>
            <a:pPr marL="342900" lvl="0" indent="-342900">
              <a:lnSpc>
                <a:spcPct val="80000"/>
              </a:lnSpc>
              <a:spcBef>
                <a:spcPts val="496"/>
              </a:spcBef>
              <a:buClr>
                <a:srgbClr val="C00000"/>
              </a:buClr>
              <a:buSzPts val="2480"/>
              <a:buFont typeface="Times New Roman"/>
              <a:buChar char="•"/>
            </a:pPr>
            <a:endParaRPr lang="en-US" sz="2400" b="1" dirty="0">
              <a:solidFill>
                <a:srgbClr val="C00000"/>
              </a:solidFill>
            </a:endParaRPr>
          </a:p>
          <a:p>
            <a:pPr marL="342900" lvl="0" indent="-342900">
              <a:lnSpc>
                <a:spcPct val="80000"/>
              </a:lnSpc>
              <a:spcBef>
                <a:spcPts val="496"/>
              </a:spcBef>
              <a:buClr>
                <a:schemeClr val="dk1"/>
              </a:buClr>
              <a:buSzPts val="2480"/>
              <a:buFont typeface="Times New Roman"/>
              <a:buChar char="•"/>
            </a:pPr>
            <a:r>
              <a:rPr lang="en-US" sz="2400" dirty="0"/>
              <a:t>…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a3ade5464b_0_4"/>
          <p:cNvSpPr txBox="1">
            <a:spLocks noGrp="1"/>
          </p:cNvSpPr>
          <p:nvPr>
            <p:ph type="title"/>
          </p:nvPr>
        </p:nvSpPr>
        <p:spPr>
          <a:xfrm>
            <a:off x="628650" y="417689"/>
            <a:ext cx="6701100" cy="22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Marr Theory (1970): </a:t>
            </a:r>
            <a:br>
              <a:rPr lang="en-US" dirty="0"/>
            </a:br>
            <a:r>
              <a:rPr lang="en-US" sz="3100" dirty="0"/>
              <a:t>Visual System is a hierarchical, modular and decomposable computing system</a:t>
            </a:r>
            <a:endParaRPr lang="en-US" sz="2700" dirty="0"/>
          </a:p>
        </p:txBody>
      </p:sp>
      <p:pic>
        <p:nvPicPr>
          <p:cNvPr id="196" name="Google Shape;196;ga3ade5464b_0_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9750" y="2779700"/>
            <a:ext cx="6600000" cy="321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ga3ade5464b_0_4"/>
          <p:cNvPicPr preferRelativeResize="0"/>
          <p:nvPr/>
        </p:nvPicPr>
        <p:blipFill rotWithShape="1">
          <a:blip r:embed="rId4">
            <a:alphaModFix/>
          </a:blip>
          <a:srcRect r="72781" b="36499"/>
          <a:stretch/>
        </p:blipFill>
        <p:spPr>
          <a:xfrm>
            <a:off x="7567513" y="958223"/>
            <a:ext cx="1347888" cy="1499228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ga3ade5464b_0_4"/>
          <p:cNvSpPr/>
          <p:nvPr/>
        </p:nvSpPr>
        <p:spPr>
          <a:xfrm>
            <a:off x="7617024" y="3397918"/>
            <a:ext cx="1248900" cy="1990200"/>
          </a:xfrm>
          <a:prstGeom prst="rect">
            <a:avLst/>
          </a:prstGeom>
          <a:solidFill>
            <a:srgbClr val="FF0000"/>
          </a:solidFill>
          <a:ln w="25400" cap="flat" cmpd="sng">
            <a:solidFill>
              <a:srgbClr val="00946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(Poggio)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9"/>
          <p:cNvSpPr txBox="1">
            <a:spLocks noGrp="1"/>
          </p:cNvSpPr>
          <p:nvPr>
            <p:ph type="title"/>
          </p:nvPr>
        </p:nvSpPr>
        <p:spPr>
          <a:xfrm>
            <a:off x="457199" y="876300"/>
            <a:ext cx="8348133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First computational model for vision : </a:t>
            </a:r>
            <a:br>
              <a:rPr lang="en-US" dirty="0"/>
            </a:br>
            <a:r>
              <a:rPr lang="en-US" dirty="0"/>
              <a:t>Marr’s 3-D model output</a:t>
            </a:r>
          </a:p>
        </p:txBody>
      </p:sp>
      <p:pic>
        <p:nvPicPr>
          <p:cNvPr id="204" name="Google Shape;204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76945" y="2800350"/>
            <a:ext cx="42291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9"/>
          <p:cNvSpPr/>
          <p:nvPr/>
        </p:nvSpPr>
        <p:spPr>
          <a:xfrm>
            <a:off x="1428750" y="5657850"/>
            <a:ext cx="611505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http://homepages.inf.ed.ac.uk/rbf/CVonline/LOCAL_COPIES/GOMES1/marr.html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0"/>
          <p:cNvSpPr txBox="1">
            <a:spLocks noGrp="1"/>
          </p:cNvSpPr>
          <p:nvPr>
            <p:ph type="title"/>
          </p:nvPr>
        </p:nvSpPr>
        <p:spPr>
          <a:xfrm>
            <a:off x="622300" y="711200"/>
            <a:ext cx="7893050" cy="97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Problems with Marr Theory</a:t>
            </a:r>
          </a:p>
        </p:txBody>
      </p:sp>
      <p:sp>
        <p:nvSpPr>
          <p:cNvPr id="211" name="Google Shape;211;p20"/>
          <p:cNvSpPr txBox="1">
            <a:spLocks noGrp="1"/>
          </p:cNvSpPr>
          <p:nvPr>
            <p:ph idx="1"/>
          </p:nvPr>
        </p:nvSpPr>
        <p:spPr>
          <a:xfrm>
            <a:off x="305550" y="1697525"/>
            <a:ext cx="5270700" cy="4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960"/>
              <a:t>In reality</a:t>
            </a:r>
            <a:endParaRPr sz="2960"/>
          </a:p>
          <a:p>
            <a:pPr marL="34290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960"/>
          </a:p>
          <a:p>
            <a:pPr marL="3429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60"/>
              <a:buFont typeface="Times New Roman"/>
              <a:buChar char="•"/>
            </a:pPr>
            <a:r>
              <a:rPr lang="tr-TR" sz="2960"/>
              <a:t>Hierarchical modules are not independent of each other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Font typeface="Times New Roman"/>
              <a:buChar char="•"/>
            </a:pPr>
            <a:r>
              <a:rPr lang="tr-TR" sz="2960"/>
              <a:t>Vision is not a bottom up process.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Font typeface="Times New Roman"/>
              <a:buChar char="•"/>
            </a:pPr>
            <a:r>
              <a:rPr lang="tr-TR" sz="2960"/>
              <a:t>Vision is not independent of other cognitive processes, such as memory, reasoning etc.</a:t>
            </a:r>
            <a:endParaRPr/>
          </a:p>
        </p:txBody>
      </p:sp>
      <p:pic>
        <p:nvPicPr>
          <p:cNvPr id="212" name="Google Shape;212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76298" y="2377441"/>
            <a:ext cx="3207408" cy="23124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1"/>
          <p:cNvSpPr txBox="1">
            <a:spLocks noGrp="1"/>
          </p:cNvSpPr>
          <p:nvPr>
            <p:ph type="title"/>
          </p:nvPr>
        </p:nvSpPr>
        <p:spPr>
          <a:xfrm>
            <a:off x="704850" y="921661"/>
            <a:ext cx="8229600" cy="857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000" dirty="0" err="1"/>
              <a:t>Gestalt</a:t>
            </a:r>
            <a:r>
              <a:rPr lang="tr-TR" sz="3000" dirty="0"/>
              <a:t> (</a:t>
            </a:r>
            <a:r>
              <a:rPr lang="tr-TR" sz="3000" dirty="0" err="1"/>
              <a:t>shape</a:t>
            </a:r>
            <a:r>
              <a:rPr lang="tr-TR" sz="3000" dirty="0"/>
              <a:t>) </a:t>
            </a:r>
            <a:r>
              <a:rPr lang="tr-TR" sz="3000" dirty="0" err="1"/>
              <a:t>Theory</a:t>
            </a:r>
            <a:endParaRPr sz="3000" dirty="0"/>
          </a:p>
        </p:txBody>
      </p:sp>
      <p:sp>
        <p:nvSpPr>
          <p:cNvPr id="218" name="Google Shape;218;p21"/>
          <p:cNvSpPr/>
          <p:nvPr/>
        </p:nvSpPr>
        <p:spPr>
          <a:xfrm>
            <a:off x="6457951" y="5617370"/>
            <a:ext cx="1193201" cy="1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25" tIns="34250" rIns="68525" bIns="342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Stephen E. Palmer, 2002</a:t>
            </a:r>
            <a:endParaRPr/>
          </a:p>
        </p:txBody>
      </p:sp>
      <p:sp>
        <p:nvSpPr>
          <p:cNvPr id="219" name="Google Shape;219;p21"/>
          <p:cNvSpPr/>
          <p:nvPr/>
        </p:nvSpPr>
        <p:spPr>
          <a:xfrm>
            <a:off x="628650" y="2135982"/>
            <a:ext cx="7078385" cy="930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25" tIns="34250" rIns="68525" bIns="342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Vision is the product of the </a:t>
            </a:r>
            <a:r>
              <a:rPr lang="en-US" sz="28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interactions</a:t>
            </a:r>
            <a:r>
              <a:rPr lang="en-US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between output stimuli and human brain.</a:t>
            </a:r>
            <a:endParaRPr lang="en-US" sz="28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220" name="Google Shape;220;p21"/>
          <p:cNvGrpSpPr/>
          <p:nvPr/>
        </p:nvGrpSpPr>
        <p:grpSpPr>
          <a:xfrm>
            <a:off x="3404457" y="3993238"/>
            <a:ext cx="1327547" cy="2034779"/>
            <a:chOff x="1189" y="2352"/>
            <a:chExt cx="1115" cy="1709"/>
          </a:xfrm>
        </p:grpSpPr>
        <p:pic>
          <p:nvPicPr>
            <p:cNvPr id="221" name="Google Shape;221;p2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36" y="2352"/>
              <a:ext cx="810" cy="11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2" name="Google Shape;222;p21"/>
            <p:cNvSpPr txBox="1"/>
            <p:nvPr/>
          </p:nvSpPr>
          <p:spPr>
            <a:xfrm>
              <a:off x="1189" y="3538"/>
              <a:ext cx="1115" cy="5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25" tIns="34250" rIns="68525" bIns="3425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r-TR" sz="1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Max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r-TR" sz="1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Wertheimer</a:t>
              </a:r>
              <a:endParaRPr/>
            </a:p>
          </p:txBody>
        </p:sp>
      </p:grpSp>
      <p:grpSp>
        <p:nvGrpSpPr>
          <p:cNvPr id="223" name="Google Shape;223;p21"/>
          <p:cNvGrpSpPr/>
          <p:nvPr/>
        </p:nvGrpSpPr>
        <p:grpSpPr>
          <a:xfrm>
            <a:off x="4970975" y="3730592"/>
            <a:ext cx="1412082" cy="2051448"/>
            <a:chOff x="2734" y="2352"/>
            <a:chExt cx="1186" cy="1723"/>
          </a:xfrm>
        </p:grpSpPr>
        <p:pic>
          <p:nvPicPr>
            <p:cNvPr id="224" name="Google Shape;224;p2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790" y="2352"/>
              <a:ext cx="864" cy="11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5" name="Google Shape;225;p21"/>
            <p:cNvSpPr txBox="1"/>
            <p:nvPr/>
          </p:nvSpPr>
          <p:spPr>
            <a:xfrm>
              <a:off x="2734" y="3552"/>
              <a:ext cx="1186" cy="5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25" tIns="34250" rIns="68525" bIns="3425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r-TR" sz="1800" dirty="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Wolfgang</a:t>
              </a:r>
              <a:endParaRPr dirty="0"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r-TR" sz="1800" dirty="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Köhler</a:t>
              </a:r>
              <a:endParaRPr sz="18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26" name="Google Shape;226;p21"/>
          <p:cNvGrpSpPr/>
          <p:nvPr/>
        </p:nvGrpSpPr>
        <p:grpSpPr>
          <a:xfrm>
            <a:off x="6810148" y="3888667"/>
            <a:ext cx="1132294" cy="2143132"/>
            <a:chOff x="4328" y="2352"/>
            <a:chExt cx="951" cy="1800"/>
          </a:xfrm>
        </p:grpSpPr>
        <p:pic>
          <p:nvPicPr>
            <p:cNvPr id="227" name="Google Shape;227;p2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328" y="2352"/>
              <a:ext cx="704" cy="11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8" name="Google Shape;228;p21"/>
            <p:cNvSpPr txBox="1"/>
            <p:nvPr/>
          </p:nvSpPr>
          <p:spPr>
            <a:xfrm>
              <a:off x="4379" y="3552"/>
              <a:ext cx="900" cy="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25" tIns="34250" rIns="68525" bIns="3425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r-TR" sz="1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Kurt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r-TR" sz="1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Koffka</a:t>
              </a:r>
              <a:endPara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2"/>
          <p:cNvSpPr txBox="1">
            <a:spLocks noGrp="1"/>
          </p:cNvSpPr>
          <p:nvPr>
            <p:ph type="title"/>
          </p:nvPr>
        </p:nvSpPr>
        <p:spPr>
          <a:xfrm>
            <a:off x="628650" y="857250"/>
            <a:ext cx="7931150" cy="83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err="1"/>
              <a:t>Gestalt</a:t>
            </a:r>
            <a:r>
              <a:rPr lang="tr-TR" dirty="0"/>
              <a:t> </a:t>
            </a:r>
            <a:r>
              <a:rPr lang="tr-TR" dirty="0" err="1"/>
              <a:t>Theory</a:t>
            </a:r>
            <a:endParaRPr dirty="0"/>
          </a:p>
        </p:txBody>
      </p:sp>
      <p:sp>
        <p:nvSpPr>
          <p:cNvPr id="234" name="Google Shape;234;p2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sz="2800" dirty="0"/>
              <a:t>Whole is bigger than the sum of its parts. </a:t>
            </a: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sz="2800" dirty="0"/>
              <a:t>We unify and simplify the small parts. Therefore we perceive these simplified objects.  </a:t>
            </a:r>
          </a:p>
        </p:txBody>
      </p:sp>
      <p:pic>
        <p:nvPicPr>
          <p:cNvPr id="235" name="Google Shape;235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34590" y="3528307"/>
            <a:ext cx="3685223" cy="24724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 txBox="1">
            <a:spLocks noGrp="1"/>
          </p:cNvSpPr>
          <p:nvPr>
            <p:ph type="title" idx="4294967295"/>
          </p:nvPr>
        </p:nvSpPr>
        <p:spPr>
          <a:xfrm>
            <a:off x="0" y="790575"/>
            <a:ext cx="6831013" cy="1096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600" b="1" i="0" u="none" strike="noStrike" cap="none" dirty="0" err="1">
                <a:solidFill>
                  <a:schemeClr val="dk2"/>
                </a:solidFill>
                <a:ea typeface="Times New Roman"/>
                <a:cs typeface="Times New Roman"/>
                <a:sym typeface="Times New Roman"/>
              </a:rPr>
              <a:t>Vision</a:t>
            </a:r>
            <a:r>
              <a:rPr lang="tr-TR" sz="3600" b="1" i="0" u="none" strike="noStrike" cap="none" dirty="0">
                <a:solidFill>
                  <a:schemeClr val="dk2"/>
                </a:solidFill>
                <a:ea typeface="Times New Roman"/>
                <a:cs typeface="Times New Roman"/>
                <a:sym typeface="Times New Roman"/>
              </a:rPr>
              <a:t> </a:t>
            </a:r>
            <a:r>
              <a:rPr lang="tr-TR" sz="3600" b="1" i="0" u="none" strike="noStrike" cap="none" dirty="0" err="1">
                <a:solidFill>
                  <a:schemeClr val="dk2"/>
                </a:solidFill>
                <a:ea typeface="Times New Roman"/>
                <a:cs typeface="Times New Roman"/>
                <a:sym typeface="Times New Roman"/>
              </a:rPr>
              <a:t>Loop</a:t>
            </a:r>
            <a:endParaRPr sz="3600" dirty="0"/>
          </a:p>
        </p:txBody>
      </p:sp>
      <p:sp>
        <p:nvSpPr>
          <p:cNvPr id="242" name="Google Shape;242;p23"/>
          <p:cNvSpPr txBox="1">
            <a:spLocks noGrp="1"/>
          </p:cNvSpPr>
          <p:nvPr>
            <p:ph type="body" idx="4294967295"/>
          </p:nvPr>
        </p:nvSpPr>
        <p:spPr>
          <a:xfrm>
            <a:off x="865188" y="2444750"/>
            <a:ext cx="8278812" cy="391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CA6500"/>
              </a:buClr>
              <a:buSzPts val="2400"/>
              <a:buFont typeface="Noto Sans Symbols"/>
              <a:buNone/>
            </a:pPr>
            <a:r>
              <a:rPr lang="en-US" sz="2800" b="1" i="0" u="none" strike="noStrike" cap="none" dirty="0">
                <a:solidFill>
                  <a:srgbClr val="CA65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Bottom-up</a:t>
            </a:r>
            <a:endParaRPr lang="en-US" sz="2800" dirty="0"/>
          </a:p>
          <a:p>
            <a:pPr marL="742950" marR="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Times New Roman"/>
              <a:buChar char="–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Vision start by the reflection of light from the</a:t>
            </a:r>
            <a:r>
              <a:rPr lang="en-US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environment</a:t>
            </a:r>
            <a:endParaRPr lang="en-US" sz="2800" dirty="0"/>
          </a:p>
          <a:p>
            <a:pPr marL="742950" marR="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Times New Roman"/>
              <a:buChar char="–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Ends by meaning</a:t>
            </a:r>
            <a:endParaRPr lang="en-US" sz="2800" dirty="0"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rgbClr val="CA6500"/>
              </a:buClr>
              <a:buSzPts val="2400"/>
              <a:buFont typeface="Noto Sans Symbols"/>
              <a:buNone/>
            </a:pPr>
            <a:r>
              <a:rPr lang="en-US" sz="2800" b="1" i="0" u="none" strike="noStrike" cap="none" dirty="0">
                <a:solidFill>
                  <a:srgbClr val="CA65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Top-down</a:t>
            </a:r>
            <a:endParaRPr lang="en-US" sz="2800" dirty="0"/>
          </a:p>
          <a:p>
            <a:pPr marL="742950" marR="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Vision stars by a cognitive process in the brain</a:t>
            </a:r>
            <a:endParaRPr lang="en-US" sz="2800" dirty="0"/>
          </a:p>
          <a:p>
            <a:pPr marL="742950" marR="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Perception comes from the expectations and priori information in memory</a:t>
            </a:r>
          </a:p>
        </p:txBody>
      </p:sp>
      <p:sp>
        <p:nvSpPr>
          <p:cNvPr id="243" name="Google Shape;243;p23"/>
          <p:cNvSpPr/>
          <p:nvPr/>
        </p:nvSpPr>
        <p:spPr>
          <a:xfrm>
            <a:off x="128379" y="2985700"/>
            <a:ext cx="720090" cy="2743199"/>
          </a:xfrm>
          <a:prstGeom prst="curvedRight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accent1"/>
          </a:solidFill>
          <a:ln w="25400" cap="flat" cmpd="sng">
            <a:solidFill>
              <a:srgbClr val="00946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p23"/>
          <p:cNvSpPr/>
          <p:nvPr/>
        </p:nvSpPr>
        <p:spPr>
          <a:xfrm rot="10800000">
            <a:off x="8166224" y="3172940"/>
            <a:ext cx="698420" cy="2631989"/>
          </a:xfrm>
          <a:prstGeom prst="curvedRight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accent1"/>
          </a:solidFill>
          <a:ln w="25400" cap="flat" cmpd="sng">
            <a:solidFill>
              <a:srgbClr val="00946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4"/>
          <p:cNvSpPr txBox="1">
            <a:spLocks noGrp="1"/>
          </p:cNvSpPr>
          <p:nvPr>
            <p:ph type="title"/>
          </p:nvPr>
        </p:nvSpPr>
        <p:spPr>
          <a:xfrm>
            <a:off x="114300" y="815977"/>
            <a:ext cx="7886700" cy="96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err="1"/>
              <a:t>Gestalt</a:t>
            </a:r>
            <a:r>
              <a:rPr lang="tr-TR" dirty="0"/>
              <a:t> Rules</a:t>
            </a:r>
            <a:endParaRPr dirty="0"/>
          </a:p>
        </p:txBody>
      </p:sp>
      <p:sp>
        <p:nvSpPr>
          <p:cNvPr id="250" name="Google Shape;250;p24"/>
          <p:cNvSpPr txBox="1">
            <a:spLocks noGrp="1"/>
          </p:cNvSpPr>
          <p:nvPr>
            <p:ph idx="1"/>
          </p:nvPr>
        </p:nvSpPr>
        <p:spPr>
          <a:xfrm>
            <a:off x="742950" y="2238715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57213" lvl="0" indent="-55721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AutoNum type="arabicPeriod"/>
            </a:pPr>
            <a:r>
              <a:rPr lang="en-US" sz="3000" dirty="0">
                <a:latin typeface="Times New Roman"/>
                <a:ea typeface="Times New Roman"/>
                <a:cs typeface="Times New Roman"/>
                <a:sym typeface="Times New Roman"/>
              </a:rPr>
              <a:t>Relationship between object and background</a:t>
            </a:r>
            <a:endParaRPr lang="en-US" dirty="0"/>
          </a:p>
          <a:p>
            <a:pPr marL="557213" lvl="0" indent="-557213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AutoNum type="arabicPeriod"/>
            </a:pPr>
            <a:r>
              <a:rPr lang="en-US" sz="3000" dirty="0">
                <a:latin typeface="Times New Roman"/>
                <a:ea typeface="Times New Roman"/>
                <a:cs typeface="Times New Roman"/>
                <a:sym typeface="Times New Roman"/>
              </a:rPr>
              <a:t>Proximity</a:t>
            </a:r>
            <a:endParaRPr lang="en-US" dirty="0"/>
          </a:p>
          <a:p>
            <a:pPr marL="557213" lvl="0" indent="-557213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AutoNum type="arabicPeriod"/>
            </a:pPr>
            <a:r>
              <a:rPr lang="en-US" sz="3000" dirty="0">
                <a:latin typeface="Times New Roman"/>
                <a:ea typeface="Times New Roman"/>
                <a:cs typeface="Times New Roman"/>
                <a:sym typeface="Times New Roman"/>
              </a:rPr>
              <a:t>Similarity</a:t>
            </a:r>
            <a:endParaRPr lang="en-US" dirty="0"/>
          </a:p>
          <a:p>
            <a:pPr marL="557213" lvl="0" indent="-557213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AutoNum type="arabicPeriod"/>
            </a:pPr>
            <a:r>
              <a:rPr lang="en-US" sz="3000" dirty="0">
                <a:latin typeface="Times New Roman"/>
                <a:ea typeface="Times New Roman"/>
                <a:cs typeface="Times New Roman"/>
                <a:sym typeface="Times New Roman"/>
              </a:rPr>
              <a:t>Closure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5"/>
          <p:cNvSpPr txBox="1">
            <a:spLocks noGrp="1"/>
          </p:cNvSpPr>
          <p:nvPr>
            <p:ph type="title"/>
          </p:nvPr>
        </p:nvSpPr>
        <p:spPr>
          <a:xfrm>
            <a:off x="1174044" y="349956"/>
            <a:ext cx="6484057" cy="1458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307"/>
              <a:t>Rule 1: </a:t>
            </a:r>
            <a:r>
              <a:rPr lang="tr-TR" sz="3600"/>
              <a:t>Relationship between object and background</a:t>
            </a:r>
            <a:br>
              <a:rPr lang="tr-TR" sz="3600"/>
            </a:br>
            <a:endParaRPr sz="3307"/>
          </a:p>
        </p:txBody>
      </p:sp>
      <p:pic>
        <p:nvPicPr>
          <p:cNvPr id="257" name="Google Shape;257;p25" descr="vase"/>
          <p:cNvPicPr preferRelativeResize="0">
            <a:picLocks noGrp="1"/>
          </p:cNvPicPr>
          <p:nvPr>
            <p:ph sz="half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385888" y="2132411"/>
            <a:ext cx="2543175" cy="2793206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5"/>
          <p:cNvSpPr txBox="1">
            <a:spLocks noGrp="1"/>
          </p:cNvSpPr>
          <p:nvPr>
            <p:ph sz="half" idx="2"/>
          </p:nvPr>
        </p:nvSpPr>
        <p:spPr>
          <a:xfrm>
            <a:off x="4576189" y="2226250"/>
            <a:ext cx="3680222" cy="4192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Object is important. Background is just to see the object</a:t>
            </a:r>
            <a:endParaRPr lang="en-US" dirty="0"/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We draw imaginary boundaries between object and background</a:t>
            </a:r>
            <a:endParaRPr lang="en-US" dirty="0"/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This imaginary boundary belongs to the object</a:t>
            </a:r>
            <a:endParaRPr lang="en-US" dirty="0"/>
          </a:p>
          <a:p>
            <a:pPr marL="342900" lvl="0" indent="-1905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6"/>
          <p:cNvSpPr txBox="1">
            <a:spLocks noGrp="1"/>
          </p:cNvSpPr>
          <p:nvPr>
            <p:ph type="title"/>
          </p:nvPr>
        </p:nvSpPr>
        <p:spPr>
          <a:xfrm>
            <a:off x="214489" y="274638"/>
            <a:ext cx="8929511" cy="196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Discrimination of the object and background is a serious cognitive task</a:t>
            </a:r>
            <a:endParaRPr/>
          </a:p>
        </p:txBody>
      </p:sp>
      <p:pic>
        <p:nvPicPr>
          <p:cNvPr id="263" name="Google Shape;263;p26"/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28650" y="2419827"/>
            <a:ext cx="2131651" cy="3013834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6"/>
          <p:cNvSpPr txBox="1"/>
          <p:nvPr/>
        </p:nvSpPr>
        <p:spPr>
          <a:xfrm>
            <a:off x="845820" y="5612130"/>
            <a:ext cx="19992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Aşk mı? Ölüm mü?</a:t>
            </a:r>
            <a:endParaRPr/>
          </a:p>
        </p:txBody>
      </p:sp>
      <p:pic>
        <p:nvPicPr>
          <p:cNvPr id="265" name="Google Shape;265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2503170"/>
            <a:ext cx="3227070" cy="2514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6"/>
          <p:cNvSpPr txBox="1"/>
          <p:nvPr/>
        </p:nvSpPr>
        <p:spPr>
          <a:xfrm>
            <a:off x="5052061" y="5433660"/>
            <a:ext cx="225574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mu? öğrenme mi?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7"/>
          <p:cNvSpPr/>
          <p:nvPr/>
        </p:nvSpPr>
        <p:spPr>
          <a:xfrm>
            <a:off x="3017520" y="2811780"/>
            <a:ext cx="2331720" cy="2045970"/>
          </a:xfrm>
          <a:prstGeom prst="rect">
            <a:avLst/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2" name="Google Shape;272;p27"/>
          <p:cNvSpPr/>
          <p:nvPr/>
        </p:nvSpPr>
        <p:spPr>
          <a:xfrm>
            <a:off x="3251835" y="3017520"/>
            <a:ext cx="1863090" cy="1634490"/>
          </a:xfrm>
          <a:prstGeom prst="hear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3" name="Google Shape;273;p27"/>
          <p:cNvSpPr txBox="1">
            <a:spLocks noGrp="1"/>
          </p:cNvSpPr>
          <p:nvPr>
            <p:ph type="title"/>
          </p:nvPr>
        </p:nvSpPr>
        <p:spPr>
          <a:xfrm>
            <a:off x="632178" y="274638"/>
            <a:ext cx="8054622" cy="2125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We do not see the object, we just see the difference between the object and the background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8"/>
          <p:cNvSpPr txBox="1">
            <a:spLocks noGrp="1"/>
          </p:cNvSpPr>
          <p:nvPr>
            <p:ph type="title"/>
          </p:nvPr>
        </p:nvSpPr>
        <p:spPr>
          <a:xfrm>
            <a:off x="383822" y="135467"/>
            <a:ext cx="8613422" cy="2150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We do not see the colors, </a:t>
            </a:r>
            <a:br>
              <a:rPr lang="tr-TR"/>
            </a:br>
            <a:r>
              <a:rPr lang="tr-TR"/>
              <a:t>we just see the difference between the adjacent ones</a:t>
            </a:r>
            <a:endParaRPr/>
          </a:p>
        </p:txBody>
      </p:sp>
      <p:pic>
        <p:nvPicPr>
          <p:cNvPr id="280" name="Google Shape;280;p28"/>
          <p:cNvPicPr preferRelativeResize="0"/>
          <p:nvPr/>
        </p:nvPicPr>
        <p:blipFill rotWithShape="1">
          <a:blip r:embed="rId3">
            <a:alphaModFix/>
          </a:blip>
          <a:srcRect l="7185" t="46059" r="9170" b="12004"/>
          <a:stretch/>
        </p:blipFill>
        <p:spPr>
          <a:xfrm>
            <a:off x="1888331" y="2296716"/>
            <a:ext cx="5363766" cy="3042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8"/>
          <p:cNvPicPr preferRelativeResize="0"/>
          <p:nvPr/>
        </p:nvPicPr>
        <p:blipFill rotWithShape="1">
          <a:blip r:embed="rId4">
            <a:alphaModFix/>
          </a:blip>
          <a:srcRect l="7085" t="45842" r="8954" b="12080"/>
          <a:stretch/>
        </p:blipFill>
        <p:spPr>
          <a:xfrm>
            <a:off x="1866901" y="2296716"/>
            <a:ext cx="5385197" cy="3052763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8"/>
          <p:cNvSpPr/>
          <p:nvPr/>
        </p:nvSpPr>
        <p:spPr>
          <a:xfrm>
            <a:off x="1143000" y="5666186"/>
            <a:ext cx="6858000" cy="334565"/>
          </a:xfrm>
          <a:prstGeom prst="rect">
            <a:avLst/>
          </a:prstGeom>
          <a:solidFill>
            <a:srgbClr val="00008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3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r-TR" sz="135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http://www.lottolab.org/Visual%20Demos/Demo%2015.html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9"/>
          <p:cNvSpPr txBox="1">
            <a:spLocks noGrp="1"/>
          </p:cNvSpPr>
          <p:nvPr>
            <p:ph type="title"/>
          </p:nvPr>
        </p:nvSpPr>
        <p:spPr>
          <a:xfrm>
            <a:off x="933450" y="818753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err="1"/>
              <a:t>Rule</a:t>
            </a:r>
            <a:r>
              <a:rPr lang="tr-TR" dirty="0"/>
              <a:t> 2: </a:t>
            </a:r>
            <a:r>
              <a:rPr lang="tr-TR" dirty="0" err="1"/>
              <a:t>Proximity</a:t>
            </a:r>
            <a:endParaRPr dirty="0"/>
          </a:p>
        </p:txBody>
      </p:sp>
      <p:pic>
        <p:nvPicPr>
          <p:cNvPr id="288" name="Google Shape;288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50281" y="2294336"/>
            <a:ext cx="1485900" cy="1440656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</p:pic>
      <p:pic>
        <p:nvPicPr>
          <p:cNvPr id="289" name="Google Shape;289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9974" y="2294335"/>
            <a:ext cx="1364456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9"/>
          <p:cNvSpPr txBox="1"/>
          <p:nvPr/>
        </p:nvSpPr>
        <p:spPr>
          <a:xfrm>
            <a:off x="1601392" y="4023123"/>
            <a:ext cx="5941219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Close objects has a tendency to be a part of a whole.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Rule 3: Similarity</a:t>
            </a:r>
          </a:p>
        </p:txBody>
      </p:sp>
      <p:pic>
        <p:nvPicPr>
          <p:cNvPr id="296" name="Google Shape;296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57775" y="1447438"/>
            <a:ext cx="2709117" cy="2555444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30"/>
          <p:cNvSpPr txBox="1"/>
          <p:nvPr/>
        </p:nvSpPr>
        <p:spPr>
          <a:xfrm>
            <a:off x="1547812" y="4185048"/>
            <a:ext cx="610195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Similar objects are likely to be a part of a whole</a:t>
            </a:r>
            <a:endParaRPr/>
          </a:p>
        </p:txBody>
      </p:sp>
      <p:pic>
        <p:nvPicPr>
          <p:cNvPr id="298" name="Google Shape;298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93336" y="1511177"/>
            <a:ext cx="2671040" cy="24821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1"/>
          <p:cNvSpPr txBox="1">
            <a:spLocks noGrp="1"/>
          </p:cNvSpPr>
          <p:nvPr>
            <p:ph type="title"/>
          </p:nvPr>
        </p:nvSpPr>
        <p:spPr>
          <a:xfrm>
            <a:off x="602457" y="957859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err="1">
                <a:latin typeface="+mn-lt"/>
                <a:ea typeface="Bodoni"/>
                <a:cs typeface="Bodoni"/>
                <a:sym typeface="Bodoni"/>
              </a:rPr>
              <a:t>Rule</a:t>
            </a:r>
            <a:r>
              <a:rPr lang="tr-TR" dirty="0">
                <a:latin typeface="+mn-lt"/>
                <a:ea typeface="Bodoni"/>
                <a:cs typeface="Bodoni"/>
                <a:sym typeface="Bodoni"/>
              </a:rPr>
              <a:t> 4: </a:t>
            </a:r>
            <a:r>
              <a:rPr lang="tr-TR" dirty="0" err="1">
                <a:latin typeface="+mn-lt"/>
                <a:ea typeface="Bodoni"/>
                <a:cs typeface="Bodoni"/>
                <a:sym typeface="Bodoni"/>
              </a:rPr>
              <a:t>Closure</a:t>
            </a:r>
            <a:endParaRPr dirty="0">
              <a:latin typeface="+mn-lt"/>
            </a:endParaRPr>
          </a:p>
        </p:txBody>
      </p:sp>
      <p:pic>
        <p:nvPicPr>
          <p:cNvPr id="304" name="Google Shape;304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77878" y="2010967"/>
            <a:ext cx="1565672" cy="15406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80011" y="2511028"/>
            <a:ext cx="892969" cy="957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61447" y="2111022"/>
            <a:ext cx="1136249" cy="1145339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1"/>
          <p:cNvSpPr txBox="1"/>
          <p:nvPr/>
        </p:nvSpPr>
        <p:spPr>
          <a:xfrm>
            <a:off x="1494236" y="3861198"/>
            <a:ext cx="6103144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 if it is incomplete or broken our brain makes it  whole </a:t>
            </a:r>
            <a:endParaRPr/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tr-T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try to reach the whole in our mind by completing the missing parts.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3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Problems with Gestalt Theory </a:t>
            </a:r>
            <a:endParaRPr/>
          </a:p>
        </p:txBody>
      </p:sp>
      <p:sp>
        <p:nvSpPr>
          <p:cNvPr id="313" name="Google Shape;313;p3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tr-TR"/>
              <a:t>It is not a complete theory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tr-TR"/>
              <a:t>It is based on our partial observations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tr-TR"/>
              <a:t>There is no computational model for Gestalt Theory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Which one of these theories are correct? </a:t>
            </a:r>
            <a:endParaRPr/>
          </a:p>
        </p:txBody>
      </p:sp>
      <p:sp>
        <p:nvSpPr>
          <p:cNvPr id="319" name="Google Shape;319;p33"/>
          <p:cNvSpPr txBox="1">
            <a:spLocks noGrp="1"/>
          </p:cNvSpPr>
          <p:nvPr>
            <p:ph idx="1"/>
          </p:nvPr>
        </p:nvSpPr>
        <p:spPr>
          <a:xfrm>
            <a:off x="628650" y="2226469"/>
            <a:ext cx="5625394" cy="625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tr-TR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Why</a:t>
            </a:r>
            <a:r>
              <a:rPr lang="tr-TR" sz="2400" dirty="0">
                <a:latin typeface="Times New Roman"/>
                <a:ea typeface="Times New Roman"/>
                <a:cs typeface="Times New Roman"/>
                <a:sym typeface="Times New Roman"/>
              </a:rPr>
              <a:t> do </a:t>
            </a:r>
            <a:r>
              <a:rPr lang="tr-TR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we</a:t>
            </a:r>
            <a:r>
              <a:rPr lang="tr-TR" sz="2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tr-TR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have</a:t>
            </a:r>
            <a:r>
              <a:rPr lang="tr-TR" sz="2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tr-TR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to</a:t>
            </a:r>
            <a:r>
              <a:rPr lang="tr-TR" sz="2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tr-TR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know</a:t>
            </a:r>
            <a:r>
              <a:rPr lang="tr-TR" sz="2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tr-TR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these</a:t>
            </a:r>
            <a:r>
              <a:rPr lang="tr-TR" sz="2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tr-TR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theories</a:t>
            </a:r>
            <a:r>
              <a:rPr lang="tr-TR" sz="2400" dirty="0"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endParaRPr dirty="0"/>
          </a:p>
        </p:txBody>
      </p:sp>
      <p:pic>
        <p:nvPicPr>
          <p:cNvPr id="320" name="Google Shape;320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67300" y="2689622"/>
            <a:ext cx="3810000" cy="280035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3"/>
          <p:cNvSpPr txBox="1"/>
          <p:nvPr/>
        </p:nvSpPr>
        <p:spPr>
          <a:xfrm>
            <a:off x="6806086" y="1521971"/>
            <a:ext cx="1101584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None</a:t>
            </a:r>
            <a:endParaRPr sz="3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2" name="Google Shape;322;p33"/>
          <p:cNvSpPr txBox="1"/>
          <p:nvPr/>
        </p:nvSpPr>
        <p:spPr>
          <a:xfrm>
            <a:off x="737067" y="2967819"/>
            <a:ext cx="4083290" cy="1338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order to develop image processing and computer vision models.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9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8"/>
          <p:cNvSpPr txBox="1">
            <a:spLocks noGrp="1"/>
          </p:cNvSpPr>
          <p:nvPr>
            <p:ph type="title"/>
          </p:nvPr>
        </p:nvSpPr>
        <p:spPr>
          <a:xfrm>
            <a:off x="628650" y="800100"/>
            <a:ext cx="7886700" cy="890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CHARACTERISTICS OF HVS</a:t>
            </a:r>
            <a:endParaRPr dirty="0"/>
          </a:p>
        </p:txBody>
      </p:sp>
      <p:sp>
        <p:nvSpPr>
          <p:cNvPr id="335" name="Google Shape;335;p38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sz="2400" dirty="0"/>
              <a:t>RESOLUTION: Ability to separate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lang="en-US" sz="2400" dirty="0"/>
          </a:p>
          <a:p>
            <a:pPr marL="971550" lvl="1" indent="-5143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AutoNum type="arabicPeriod"/>
            </a:pPr>
            <a:r>
              <a:rPr lang="en-US" sz="2400" dirty="0"/>
              <a:t>Two adjacent pixels: Spatial Resolution</a:t>
            </a:r>
          </a:p>
          <a:p>
            <a:pPr marL="971550" lvl="1" indent="-5143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AutoNum type="arabicPeriod"/>
            </a:pPr>
            <a:r>
              <a:rPr lang="en-US" sz="2400" dirty="0"/>
              <a:t>Two colors: Radiometric resolution</a:t>
            </a:r>
          </a:p>
          <a:p>
            <a:pPr marL="971550" lvl="1" indent="-5143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AutoNum type="arabicPeriod"/>
            </a:pPr>
            <a:r>
              <a:rPr lang="en-US" sz="2400" dirty="0"/>
              <a:t>Two frames: Time resolution</a:t>
            </a:r>
          </a:p>
          <a:p>
            <a:pPr marL="457200" lvl="1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7CB39-8479-4C00-8642-1C3767301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342900" lvl="0" indent="-342900">
              <a:spcBef>
                <a:spcPts val="640"/>
              </a:spcBef>
            </a:pPr>
            <a:r>
              <a:rPr lang="en-US" sz="3600" dirty="0"/>
              <a:t>Response of HVS to resolution depends on various factors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F4C65-A6FC-448E-92DD-236ABAE36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</a:t>
            </a:r>
            <a:r>
              <a:rPr lang="en-US" sz="2800" dirty="0"/>
              <a:t>the amount of luminance </a:t>
            </a:r>
          </a:p>
          <a:p>
            <a:pPr marL="0" indent="0">
              <a:buNone/>
            </a:pPr>
            <a:r>
              <a:rPr lang="en-US" sz="2800" dirty="0"/>
              <a:t>(measured in Lambert, 1 L= 1/</a:t>
            </a:r>
            <a:r>
              <a:rPr lang="en-US" sz="2800" dirty="0">
                <a:latin typeface="Symbol" panose="05050102010706020507" pitchFamily="18" charset="2"/>
              </a:rPr>
              <a:t>p</a:t>
            </a:r>
            <a:r>
              <a:rPr lang="en-US" sz="2800" dirty="0"/>
              <a:t>  candela/cm2),</a:t>
            </a:r>
          </a:p>
          <a:p>
            <a:r>
              <a:rPr lang="en-US" sz="2800" dirty="0"/>
              <a:t>distance of an object from the eye,</a:t>
            </a:r>
          </a:p>
          <a:p>
            <a:r>
              <a:rPr lang="en-US" sz="2800" dirty="0"/>
              <a:t>the current brain states,</a:t>
            </a:r>
          </a:p>
          <a:p>
            <a:r>
              <a:rPr lang="en-US" sz="2800" dirty="0"/>
              <a:t>health conditions,</a:t>
            </a:r>
          </a:p>
          <a:p>
            <a:r>
              <a:rPr lang="en-US" sz="2800" dirty="0"/>
              <a:t>the genetic properties of a person,</a:t>
            </a:r>
          </a:p>
          <a:p>
            <a:r>
              <a:rPr lang="en-US" sz="2800" dirty="0"/>
              <a:t>etc.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5" name="AutoShape 3" descr="{\frac {1}{\pi }}">
            <a:extLst>
              <a:ext uri="{FF2B5EF4-FFF2-40B4-BE49-F238E27FC236}">
                <a16:creationId xmlns:a16="http://schemas.microsoft.com/office/drawing/2014/main" id="{5FCC1801-B98E-4097-8205-BA2FF5D83C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890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0765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9"/>
          <p:cNvSpPr txBox="1">
            <a:spLocks noGrp="1"/>
          </p:cNvSpPr>
          <p:nvPr>
            <p:ph idx="1"/>
          </p:nvPr>
        </p:nvSpPr>
        <p:spPr>
          <a:xfrm>
            <a:off x="478367" y="1838324"/>
            <a:ext cx="8036983" cy="472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tr-TR" dirty="0" err="1"/>
              <a:t>Low</a:t>
            </a:r>
            <a:r>
              <a:rPr lang="tr-TR" dirty="0"/>
              <a:t> </a:t>
            </a:r>
            <a:r>
              <a:rPr lang="tr-TR" dirty="0" err="1"/>
              <a:t>frequency</a:t>
            </a:r>
            <a:r>
              <a:rPr lang="tr-TR" dirty="0"/>
              <a:t>             High </a:t>
            </a:r>
            <a:r>
              <a:rPr lang="tr-TR" dirty="0" err="1"/>
              <a:t>frequency</a:t>
            </a:r>
            <a:r>
              <a:rPr lang="en-US" dirty="0"/>
              <a:t>                   Very High frequency</a:t>
            </a:r>
            <a:endParaRPr dirty="0"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endParaRPr dirty="0"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endParaRPr dirty="0"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tr-TR" dirty="0"/>
              <a:t>f=2                              f= 4       </a:t>
            </a: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tr-TR" dirty="0"/>
              <a:t>                    </a:t>
            </a:r>
            <a:endParaRPr dirty="0"/>
          </a:p>
          <a:p>
            <a:pPr marL="342900" lvl="0" indent="-342900">
              <a:spcBef>
                <a:spcPts val="640"/>
              </a:spcBef>
              <a:buClr>
                <a:schemeClr val="dk1"/>
              </a:buClr>
              <a:buSzPts val="3200"/>
              <a:buNone/>
            </a:pPr>
            <a:r>
              <a:rPr lang="tr-TR" dirty="0"/>
              <a:t>       x </a:t>
            </a:r>
            <a:r>
              <a:rPr lang="tr-TR" dirty="0" err="1"/>
              <a:t>direction</a:t>
            </a:r>
            <a:endParaRPr dirty="0"/>
          </a:p>
        </p:txBody>
      </p:sp>
      <p:sp>
        <p:nvSpPr>
          <p:cNvPr id="341" name="Google Shape;341;p3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1.Spatial resolution</a:t>
            </a:r>
            <a:endParaRPr/>
          </a:p>
        </p:txBody>
      </p:sp>
      <p:sp>
        <p:nvSpPr>
          <p:cNvPr id="342" name="Google Shape;342;p39"/>
          <p:cNvSpPr/>
          <p:nvPr/>
        </p:nvSpPr>
        <p:spPr>
          <a:xfrm>
            <a:off x="1044575" y="2338388"/>
            <a:ext cx="444500" cy="1868487"/>
          </a:xfrm>
          <a:prstGeom prst="rect">
            <a:avLst/>
          </a:prstGeom>
          <a:solidFill>
            <a:schemeClr val="accent1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3" name="Google Shape;343;p39"/>
          <p:cNvSpPr/>
          <p:nvPr/>
        </p:nvSpPr>
        <p:spPr>
          <a:xfrm>
            <a:off x="1485901" y="2333625"/>
            <a:ext cx="444500" cy="1868487"/>
          </a:xfrm>
          <a:prstGeom prst="rect">
            <a:avLst/>
          </a:prstGeom>
          <a:solidFill>
            <a:schemeClr val="accent2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4" name="Google Shape;344;p39"/>
          <p:cNvSpPr/>
          <p:nvPr/>
        </p:nvSpPr>
        <p:spPr>
          <a:xfrm flipH="1">
            <a:off x="3617383" y="2288893"/>
            <a:ext cx="200025" cy="1868488"/>
          </a:xfrm>
          <a:prstGeom prst="rect">
            <a:avLst/>
          </a:prstGeom>
          <a:solidFill>
            <a:schemeClr val="accent1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5" name="Google Shape;345;p39"/>
          <p:cNvSpPr/>
          <p:nvPr/>
        </p:nvSpPr>
        <p:spPr>
          <a:xfrm flipH="1">
            <a:off x="3817408" y="2295243"/>
            <a:ext cx="200025" cy="1868488"/>
          </a:xfrm>
          <a:prstGeom prst="rect">
            <a:avLst/>
          </a:prstGeom>
          <a:solidFill>
            <a:schemeClr val="accent2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6" name="Google Shape;346;p39"/>
          <p:cNvSpPr/>
          <p:nvPr/>
        </p:nvSpPr>
        <p:spPr>
          <a:xfrm flipH="1">
            <a:off x="4017433" y="2295243"/>
            <a:ext cx="200025" cy="1868488"/>
          </a:xfrm>
          <a:prstGeom prst="rect">
            <a:avLst/>
          </a:prstGeom>
          <a:solidFill>
            <a:schemeClr val="accent1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7" name="Google Shape;347;p39"/>
          <p:cNvSpPr/>
          <p:nvPr/>
        </p:nvSpPr>
        <p:spPr>
          <a:xfrm flipH="1">
            <a:off x="4198937" y="2295243"/>
            <a:ext cx="200025" cy="1868488"/>
          </a:xfrm>
          <a:prstGeom prst="rect">
            <a:avLst/>
          </a:prstGeom>
          <a:solidFill>
            <a:schemeClr val="accent2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48" name="Google Shape;348;p39"/>
          <p:cNvCxnSpPr/>
          <p:nvPr/>
        </p:nvCxnSpPr>
        <p:spPr>
          <a:xfrm>
            <a:off x="750888" y="4748213"/>
            <a:ext cx="1684337" cy="2698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D29EF951-6DA1-4E38-A212-6A18C17EF2E6}"/>
              </a:ext>
            </a:extLst>
          </p:cNvPr>
          <p:cNvSpPr/>
          <p:nvPr/>
        </p:nvSpPr>
        <p:spPr>
          <a:xfrm>
            <a:off x="478367" y="5171792"/>
            <a:ext cx="78867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Spatial Resolution is restricted by physical size of 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rodes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cones, which is an important factor to determine the 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sampling rate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image</a:t>
            </a:r>
            <a:endParaRPr lang="en-US" sz="2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E61AF0-BBF1-44FE-BB1D-326F2AA7B08D}"/>
              </a:ext>
            </a:extLst>
          </p:cNvPr>
          <p:cNvSpPr/>
          <p:nvPr/>
        </p:nvSpPr>
        <p:spPr>
          <a:xfrm>
            <a:off x="6087533" y="2362200"/>
            <a:ext cx="1625600" cy="1839911"/>
          </a:xfrm>
          <a:prstGeom prst="rect">
            <a:avLst/>
          </a:prstGeom>
          <a:pattFill prst="narVert">
            <a:fgClr>
              <a:schemeClr val="accent1"/>
            </a:fgClr>
            <a:bgClr>
              <a:schemeClr val="accent2">
                <a:lumMod val="60000"/>
                <a:lumOff val="4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0775" y="2076450"/>
            <a:ext cx="6454775" cy="36449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40"/>
          <p:cNvSpPr txBox="1"/>
          <p:nvPr/>
        </p:nvSpPr>
        <p:spPr>
          <a:xfrm>
            <a:off x="3814763" y="3409950"/>
            <a:ext cx="1755775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Field of viev</a:t>
            </a: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14A04C-1174-4499-AEB9-FB44C2830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Spatial resolution depends on the distance of the object from the eye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2. Radiometric resolution: Response to intensity and color</a:t>
            </a:r>
            <a:endParaRPr/>
          </a:p>
        </p:txBody>
      </p:sp>
      <p:sp>
        <p:nvSpPr>
          <p:cNvPr id="363" name="Google Shape;363;p41"/>
          <p:cNvSpPr txBox="1">
            <a:spLocks noGrp="1"/>
          </p:cNvSpPr>
          <p:nvPr>
            <p:ph idx="1"/>
          </p:nvPr>
        </p:nvSpPr>
        <p:spPr>
          <a:xfrm>
            <a:off x="457200" y="2220913"/>
            <a:ext cx="8229600" cy="3905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sz="2800" dirty="0"/>
              <a:t>Pupil changes size according to the </a:t>
            </a:r>
            <a:r>
              <a:rPr lang="en-US" sz="2800" dirty="0" err="1"/>
              <a:t>brightnes</a:t>
            </a:r>
            <a:r>
              <a:rPr lang="en-US" sz="2800" dirty="0"/>
              <a:t> level</a:t>
            </a: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sz="2800" dirty="0"/>
              <a:t>What you see is different than what it is</a:t>
            </a: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endParaRPr dirty="0"/>
          </a:p>
        </p:txBody>
      </p:sp>
      <p:cxnSp>
        <p:nvCxnSpPr>
          <p:cNvPr id="364" name="Google Shape;364;p41"/>
          <p:cNvCxnSpPr/>
          <p:nvPr/>
        </p:nvCxnSpPr>
        <p:spPr>
          <a:xfrm>
            <a:off x="1331913" y="4676775"/>
            <a:ext cx="4062412" cy="1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365" name="Google Shape;365;p41"/>
          <p:cNvSpPr txBox="1"/>
          <p:nvPr/>
        </p:nvSpPr>
        <p:spPr>
          <a:xfrm>
            <a:off x="1346200" y="5029200"/>
            <a:ext cx="730250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dark</a:t>
            </a:r>
            <a:endParaRPr/>
          </a:p>
        </p:txBody>
      </p:sp>
      <p:sp>
        <p:nvSpPr>
          <p:cNvPr id="366" name="Google Shape;366;p41"/>
          <p:cNvSpPr txBox="1"/>
          <p:nvPr/>
        </p:nvSpPr>
        <p:spPr>
          <a:xfrm>
            <a:off x="4114800" y="4937125"/>
            <a:ext cx="1522413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Glare limit</a:t>
            </a:r>
            <a:endParaRPr/>
          </a:p>
        </p:txBody>
      </p:sp>
      <p:sp>
        <p:nvSpPr>
          <p:cNvPr id="367" name="Google Shape;367;p41"/>
          <p:cNvSpPr/>
          <p:nvPr/>
        </p:nvSpPr>
        <p:spPr>
          <a:xfrm>
            <a:off x="1227138" y="4219575"/>
            <a:ext cx="914400" cy="914400"/>
          </a:xfrm>
          <a:prstGeom prst="mathMultiply">
            <a:avLst>
              <a:gd name="adj1" fmla="val 23520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8" name="Google Shape;368;p41"/>
          <p:cNvSpPr/>
          <p:nvPr/>
        </p:nvSpPr>
        <p:spPr>
          <a:xfrm>
            <a:off x="4319588" y="4214813"/>
            <a:ext cx="914400" cy="914400"/>
          </a:xfrm>
          <a:prstGeom prst="mathMultiply">
            <a:avLst>
              <a:gd name="adj1" fmla="val 23520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9" name="Google Shape;369;p41"/>
          <p:cNvSpPr/>
          <p:nvPr/>
        </p:nvSpPr>
        <p:spPr>
          <a:xfrm>
            <a:off x="3317875" y="5918200"/>
            <a:ext cx="1593850" cy="312738"/>
          </a:xfrm>
          <a:prstGeom prst="rightArrow">
            <a:avLst>
              <a:gd name="adj1" fmla="val 50000"/>
              <a:gd name="adj2" fmla="val 50139"/>
            </a:avLst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0" name="Google Shape;370;p41"/>
          <p:cNvSpPr txBox="1"/>
          <p:nvPr/>
        </p:nvSpPr>
        <p:spPr>
          <a:xfrm>
            <a:off x="5499100" y="5761038"/>
            <a:ext cx="1703388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quantization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2"/>
          <p:cNvSpPr txBox="1"/>
          <p:nvPr/>
        </p:nvSpPr>
        <p:spPr>
          <a:xfrm>
            <a:off x="169863" y="565150"/>
            <a:ext cx="8974137" cy="461963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chemeClr val="folHlink">
                <a:alpha val="74901"/>
              </a:scheme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Brightness adaptation is logarithmic function of intensity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76" name="Google Shape;376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9275" y="1473200"/>
            <a:ext cx="7223125" cy="4183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3"/>
          <p:cNvSpPr txBox="1"/>
          <p:nvPr/>
        </p:nvSpPr>
        <p:spPr>
          <a:xfrm>
            <a:off x="1404938" y="722313"/>
            <a:ext cx="7367587" cy="830262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chemeClr val="folHlink">
                <a:alpha val="74901"/>
              </a:scheme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Weber’s law: weber ratio = </a:t>
            </a:r>
            <a:r>
              <a:rPr lang="tr-TR" sz="2400">
                <a:solidFill>
                  <a:srgbClr val="FF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Δ</a:t>
            </a:r>
            <a:r>
              <a:rPr lang="tr-TR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I/I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I: intensity, </a:t>
            </a:r>
            <a:r>
              <a:rPr lang="tr-TR" sz="2400">
                <a:solidFill>
                  <a:srgbClr val="FF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Δ</a:t>
            </a:r>
            <a:r>
              <a:rPr lang="tr-TR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I: increment of discriminable illumination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82" name="Google Shape;382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1825" y="1706563"/>
            <a:ext cx="6013450" cy="168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4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92250" y="3736632"/>
            <a:ext cx="5426075" cy="2577671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43"/>
          <p:cNvSpPr txBox="1"/>
          <p:nvPr/>
        </p:nvSpPr>
        <p:spPr>
          <a:xfrm>
            <a:off x="4924425" y="4022725"/>
            <a:ext cx="852488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rodes</a:t>
            </a:r>
            <a:endParaRPr/>
          </a:p>
        </p:txBody>
      </p:sp>
      <p:sp>
        <p:nvSpPr>
          <p:cNvPr id="385" name="Google Shape;385;p43"/>
          <p:cNvSpPr txBox="1"/>
          <p:nvPr/>
        </p:nvSpPr>
        <p:spPr>
          <a:xfrm>
            <a:off x="5761038" y="4819650"/>
            <a:ext cx="884237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cones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4"/>
          <p:cNvSpPr txBox="1"/>
          <p:nvPr/>
        </p:nvSpPr>
        <p:spPr>
          <a:xfrm>
            <a:off x="1404938" y="728663"/>
            <a:ext cx="5059362" cy="461962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chemeClr val="folHlink">
                <a:alpha val="74901"/>
              </a:scheme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tr-T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 BAND EFFECT (Ernst Mach)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92" name="Google Shape;392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19313" y="1614488"/>
            <a:ext cx="5516562" cy="489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8" name="Google Shape;398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7600" y="2444750"/>
            <a:ext cx="6832599" cy="328771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2B3B58-BF15-4684-A334-5DAF3D524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Simultaneous Contrast: </a:t>
            </a:r>
            <a:b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Background  effect the color of the object</a:t>
            </a:r>
            <a:b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600" dirty="0"/>
              <a:t>3. </a:t>
            </a:r>
            <a:r>
              <a:rPr lang="tr-TR" sz="3600" dirty="0" err="1"/>
              <a:t>Temporal</a:t>
            </a:r>
            <a:r>
              <a:rPr lang="tr-TR" sz="3600" dirty="0"/>
              <a:t> </a:t>
            </a:r>
            <a:r>
              <a:rPr lang="tr-TR" sz="3600" dirty="0" err="1"/>
              <a:t>resolution</a:t>
            </a:r>
            <a:r>
              <a:rPr lang="tr-TR" sz="3600" dirty="0"/>
              <a:t>:</a:t>
            </a:r>
            <a:br>
              <a:rPr lang="tr-TR" sz="3600" dirty="0"/>
            </a:br>
            <a:r>
              <a:rPr lang="tr-TR" sz="3600" dirty="0" err="1"/>
              <a:t>Response</a:t>
            </a:r>
            <a:r>
              <a:rPr lang="tr-TR" sz="3600" dirty="0"/>
              <a:t> of HVS  as a </a:t>
            </a:r>
            <a:r>
              <a:rPr lang="tr-TR" sz="3600" dirty="0" err="1"/>
              <a:t>function</a:t>
            </a:r>
            <a:r>
              <a:rPr lang="tr-TR" sz="3600" dirty="0"/>
              <a:t> of time</a:t>
            </a:r>
            <a:endParaRPr dirty="0"/>
          </a:p>
        </p:txBody>
      </p:sp>
      <p:sp>
        <p:nvSpPr>
          <p:cNvPr id="404" name="Google Shape;404;p46"/>
          <p:cNvSpPr txBox="1">
            <a:spLocks noGrp="1"/>
          </p:cNvSpPr>
          <p:nvPr>
            <p:ph sz="half" idx="1"/>
          </p:nvPr>
        </p:nvSpPr>
        <p:spPr>
          <a:xfrm>
            <a:off x="628650" y="1825625"/>
            <a:ext cx="771525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tr-TR" sz="2800" dirty="0" err="1"/>
              <a:t>Flicker</a:t>
            </a:r>
            <a:r>
              <a:rPr lang="tr-TR" sz="2800" dirty="0"/>
              <a:t> </a:t>
            </a:r>
            <a:r>
              <a:rPr lang="tr-TR" sz="2800" dirty="0" err="1"/>
              <a:t>frequency</a:t>
            </a:r>
            <a:r>
              <a:rPr lang="tr-TR" sz="2800" dirty="0"/>
              <a:t>: </a:t>
            </a:r>
            <a:r>
              <a:rPr lang="tr-TR" sz="2800" dirty="0" err="1"/>
              <a:t>ability</a:t>
            </a:r>
            <a:r>
              <a:rPr lang="tr-TR" sz="2800" dirty="0"/>
              <a:t> </a:t>
            </a:r>
            <a:r>
              <a:rPr lang="tr-TR" sz="2800" dirty="0" err="1"/>
              <a:t>to</a:t>
            </a:r>
            <a:r>
              <a:rPr lang="tr-TR" sz="2800" dirty="0"/>
              <a:t> </a:t>
            </a:r>
            <a:r>
              <a:rPr lang="tr-TR" sz="2800" dirty="0" err="1"/>
              <a:t>observe</a:t>
            </a:r>
            <a:r>
              <a:rPr lang="tr-TR" sz="2800" dirty="0"/>
              <a:t> a </a:t>
            </a:r>
            <a:r>
              <a:rPr lang="tr-TR" sz="2800" dirty="0" err="1"/>
              <a:t>flicker</a:t>
            </a:r>
            <a:endParaRPr sz="2800" dirty="0"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tr-TR" sz="2800" dirty="0" err="1"/>
              <a:t>Depends</a:t>
            </a:r>
            <a:r>
              <a:rPr lang="tr-TR" sz="2800" dirty="0"/>
              <a:t> on </a:t>
            </a:r>
            <a:r>
              <a:rPr lang="tr-TR" sz="2800" dirty="0" err="1"/>
              <a:t>the</a:t>
            </a:r>
            <a:r>
              <a:rPr lang="tr-TR" sz="2800" dirty="0"/>
              <a:t> </a:t>
            </a:r>
            <a:r>
              <a:rPr lang="tr-TR" sz="2800" dirty="0" err="1"/>
              <a:t>brightness</a:t>
            </a:r>
            <a:r>
              <a:rPr lang="tr-TR" sz="2800" dirty="0"/>
              <a:t>: 50 hertz</a:t>
            </a:r>
            <a:endParaRPr sz="2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65288" y="1601788"/>
            <a:ext cx="6394450" cy="510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3115F7E-5565-4F73-973A-F66CA9CC0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3600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Visual </a:t>
            </a:r>
            <a:r>
              <a:rPr lang="tr-TR" sz="3600" dirty="0" err="1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Perception</a:t>
            </a:r>
            <a:r>
              <a:rPr lang="tr-TR" sz="3600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- </a:t>
            </a:r>
            <a:r>
              <a:rPr lang="tr-TR" sz="3600" dirty="0" err="1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Illusions</a:t>
            </a:r>
            <a:br>
              <a:rPr lang="tr-TR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8"/>
          <p:cNvSpPr txBox="1"/>
          <p:nvPr/>
        </p:nvSpPr>
        <p:spPr>
          <a:xfrm>
            <a:off x="2962275" y="685800"/>
            <a:ext cx="3055938" cy="457200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chemeClr val="folHlink">
                <a:alpha val="74901"/>
              </a:scheme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tr-T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Simultaneous Contrast</a:t>
            </a:r>
            <a:endParaRPr/>
          </a:p>
        </p:txBody>
      </p:sp>
      <p:pic>
        <p:nvPicPr>
          <p:cNvPr id="418" name="Google Shape;418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84375" y="1836738"/>
            <a:ext cx="5173663" cy="249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4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0100" y="514350"/>
            <a:ext cx="7543800" cy="582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5" name="Google Shape;425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0100" y="514350"/>
            <a:ext cx="7543800" cy="582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4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0100" y="514350"/>
            <a:ext cx="7543800" cy="582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Google Shape;432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3899" y="564022"/>
            <a:ext cx="7890261" cy="57923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7" name="Google Shape;437;p51"/>
          <p:cNvPicPr preferRelativeResize="0">
            <a:picLocks noGrp="1"/>
          </p:cNvPicPr>
          <p:nvPr>
            <p:ph type="body" idx="4294967295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276600" y="1066800"/>
            <a:ext cx="5867400" cy="51054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51"/>
          <p:cNvSpPr txBox="1"/>
          <p:nvPr/>
        </p:nvSpPr>
        <p:spPr>
          <a:xfrm>
            <a:off x="2844800" y="319088"/>
            <a:ext cx="3327400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800" b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HVS: Visual Illusion</a:t>
            </a:r>
            <a:endParaRPr/>
          </a:p>
        </p:txBody>
      </p:sp>
      <p:sp>
        <p:nvSpPr>
          <p:cNvPr id="439" name="Google Shape;439;p51"/>
          <p:cNvSpPr txBox="1"/>
          <p:nvPr/>
        </p:nvSpPr>
        <p:spPr>
          <a:xfrm>
            <a:off x="2362200" y="6461125"/>
            <a:ext cx="42672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0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From Prof. E. H. Adelson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Google Shape;444;p52"/>
          <p:cNvPicPr preferRelativeResize="0">
            <a:picLocks noGrp="1"/>
          </p:cNvPicPr>
          <p:nvPr>
            <p:ph type="body" idx="4294967295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276600" y="1066800"/>
            <a:ext cx="5867400" cy="5105400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52"/>
          <p:cNvSpPr txBox="1"/>
          <p:nvPr/>
        </p:nvSpPr>
        <p:spPr>
          <a:xfrm>
            <a:off x="2844800" y="319088"/>
            <a:ext cx="3327400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800" b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HVS: Visual Illusion</a:t>
            </a:r>
            <a:endParaRPr/>
          </a:p>
        </p:txBody>
      </p:sp>
      <p:sp>
        <p:nvSpPr>
          <p:cNvPr id="446" name="Google Shape;446;p52"/>
          <p:cNvSpPr txBox="1"/>
          <p:nvPr/>
        </p:nvSpPr>
        <p:spPr>
          <a:xfrm>
            <a:off x="2362200" y="6461125"/>
            <a:ext cx="42672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0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From Prof. E. H. Adelson</a:t>
            </a:r>
            <a:endParaRPr/>
          </a:p>
        </p:txBody>
      </p:sp>
      <p:sp>
        <p:nvSpPr>
          <p:cNvPr id="447" name="Google Shape;447;p52"/>
          <p:cNvSpPr/>
          <p:nvPr/>
        </p:nvSpPr>
        <p:spPr>
          <a:xfrm>
            <a:off x="6124236" y="2162822"/>
            <a:ext cx="419100" cy="23907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8" name="Google Shape;448;p52"/>
          <p:cNvSpPr/>
          <p:nvPr/>
        </p:nvSpPr>
        <p:spPr>
          <a:xfrm>
            <a:off x="5482886" y="2162822"/>
            <a:ext cx="457200" cy="26765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9" name="Google Shape;449;p52"/>
          <p:cNvSpPr/>
          <p:nvPr/>
        </p:nvSpPr>
        <p:spPr>
          <a:xfrm>
            <a:off x="5701961" y="2324747"/>
            <a:ext cx="841375" cy="428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0" name="Google Shape;450;p52"/>
          <p:cNvSpPr/>
          <p:nvPr/>
        </p:nvSpPr>
        <p:spPr>
          <a:xfrm>
            <a:off x="5711486" y="3001022"/>
            <a:ext cx="831850" cy="790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1" name="Google Shape;451;p52"/>
          <p:cNvSpPr/>
          <p:nvPr/>
        </p:nvSpPr>
        <p:spPr>
          <a:xfrm>
            <a:off x="5606711" y="4020197"/>
            <a:ext cx="936625" cy="7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3" name="Google Shape;463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5800" y="1463675"/>
            <a:ext cx="7772400" cy="4556125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54"/>
          <p:cNvSpPr txBox="1"/>
          <p:nvPr/>
        </p:nvSpPr>
        <p:spPr>
          <a:xfrm>
            <a:off x="2819400" y="5791200"/>
            <a:ext cx="351948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>
                <a:solidFill>
                  <a:srgbClr val="FFFFFF"/>
                </a:solidFill>
                <a:latin typeface="Book Antiqua"/>
                <a:ea typeface="Book Antiqua"/>
                <a:cs typeface="Book Antiqua"/>
                <a:sym typeface="Book Antiqua"/>
              </a:rPr>
              <a:t>Which lines are straight?</a:t>
            </a:r>
            <a:endParaRPr/>
          </a:p>
        </p:txBody>
      </p:sp>
      <p:sp>
        <p:nvSpPr>
          <p:cNvPr id="465" name="Google Shape;465;p54"/>
          <p:cNvSpPr txBox="1"/>
          <p:nvPr/>
        </p:nvSpPr>
        <p:spPr>
          <a:xfrm>
            <a:off x="2844800" y="319088"/>
            <a:ext cx="3327400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800" b="1" dirty="0">
                <a:latin typeface="Times New Roman"/>
                <a:ea typeface="Times New Roman"/>
                <a:cs typeface="Times New Roman"/>
                <a:sym typeface="Times New Roman"/>
              </a:rPr>
              <a:t>HVS: Visual </a:t>
            </a:r>
            <a:r>
              <a:rPr lang="tr-TR" sz="2800" b="1" dirty="0" err="1">
                <a:latin typeface="Times New Roman"/>
                <a:ea typeface="Times New Roman"/>
                <a:cs typeface="Times New Roman"/>
                <a:sym typeface="Times New Roman"/>
              </a:rPr>
              <a:t>Illusion</a:t>
            </a:r>
            <a:endParaRPr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" name="Google Shape;471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0100" y="514350"/>
            <a:ext cx="7543800" cy="582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38338" y="1878013"/>
            <a:ext cx="5265737" cy="31019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08B358-06C4-4915-90FE-39E541242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Moire</a:t>
            </a:r>
            <a:r>
              <a:rPr lang="en-US" dirty="0"/>
              <a:t> Patters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Image acquisition devices (Obtional)</a:t>
            </a:r>
            <a:endParaRPr/>
          </a:p>
        </p:txBody>
      </p:sp>
      <p:sp>
        <p:nvSpPr>
          <p:cNvPr id="483" name="Google Shape;483;p59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tr-TR"/>
              <a:t>Three types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tr-TR"/>
              <a:t>Single sensor (scanners)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tr-TR"/>
              <a:t>Sensor stripes (xerox, tomography), circular sensor stripes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tr-TR"/>
              <a:t>Sensor arrays (cameras)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60"/>
          <p:cNvSpPr txBox="1"/>
          <p:nvPr/>
        </p:nvSpPr>
        <p:spPr>
          <a:xfrm>
            <a:off x="465825" y="549319"/>
            <a:ext cx="8206798" cy="461665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chemeClr val="folHlink">
                <a:alpha val="74901"/>
              </a:scheme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İmage acquisition: convert light to electrical signals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90" name="Google Shape;490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33588" y="1604963"/>
            <a:ext cx="5926137" cy="5160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61"/>
          <p:cNvSpPr txBox="1"/>
          <p:nvPr/>
        </p:nvSpPr>
        <p:spPr>
          <a:xfrm>
            <a:off x="1404938" y="722313"/>
            <a:ext cx="6272212" cy="457200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chemeClr val="folHlink">
                <a:alpha val="74901"/>
              </a:scheme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Chapter 2: Digital Image Fundamentals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97" name="Google Shape;497;p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76438" y="2297113"/>
            <a:ext cx="5189537" cy="226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62"/>
          <p:cNvSpPr txBox="1"/>
          <p:nvPr/>
        </p:nvSpPr>
        <p:spPr>
          <a:xfrm>
            <a:off x="1404938" y="722313"/>
            <a:ext cx="6272212" cy="457200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chemeClr val="folHlink">
                <a:alpha val="74901"/>
              </a:scheme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Chapter 2: Digital Image Fundamentals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04" name="Google Shape;504;p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22388" y="1751013"/>
            <a:ext cx="6499225" cy="4694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6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Emerging technology: Single pixel camera</a:t>
            </a:r>
            <a:endParaRPr/>
          </a:p>
        </p:txBody>
      </p:sp>
      <p:sp>
        <p:nvSpPr>
          <p:cNvPr id="510" name="Google Shape;510;p6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tr-TR"/>
              <a:t>Compressive sensing</a:t>
            </a:r>
            <a:endParaRPr/>
          </a:p>
        </p:txBody>
      </p:sp>
      <p:pic>
        <p:nvPicPr>
          <p:cNvPr id="511" name="Google Shape;511;p63" descr="C:\Users\fatos\Desktop\single-pixel_camera_2007_01_29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6725" y="2338388"/>
            <a:ext cx="5619750" cy="421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6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64"/>
          <p:cNvSpPr/>
          <p:nvPr/>
        </p:nvSpPr>
        <p:spPr>
          <a:xfrm>
            <a:off x="1346886" y="2049675"/>
            <a:ext cx="666029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https://www.youtube.com/watch?v=hcvypLIRmxg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8" name="Google Shape;518;p64"/>
          <p:cNvSpPr/>
          <p:nvPr/>
        </p:nvSpPr>
        <p:spPr>
          <a:xfrm>
            <a:off x="617838" y="3013502"/>
            <a:ext cx="725341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https://www.youtube.com/watch?v=auJJrHgG9Mc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243</TotalTime>
  <Words>1277</Words>
  <Application>Microsoft Office PowerPoint</Application>
  <PresentationFormat>On-screen Show (4:3)</PresentationFormat>
  <Paragraphs>227</Paragraphs>
  <Slides>60</Slides>
  <Notes>55</Notes>
  <HiddenSlides>0</HiddenSlides>
  <MMClips>2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71" baseType="lpstr">
      <vt:lpstr>Calibri</vt:lpstr>
      <vt:lpstr>Arial</vt:lpstr>
      <vt:lpstr>Helvetica Neue</vt:lpstr>
      <vt:lpstr>Noto Sans Symbols</vt:lpstr>
      <vt:lpstr>Verdana</vt:lpstr>
      <vt:lpstr>Times New Roman</vt:lpstr>
      <vt:lpstr>Calibri Light</vt:lpstr>
      <vt:lpstr>Book Antiqua</vt:lpstr>
      <vt:lpstr>Bodoni</vt:lpstr>
      <vt:lpstr>Symbol</vt:lpstr>
      <vt:lpstr>Office Theme</vt:lpstr>
      <vt:lpstr>Ch 2: Human Visual System and Image Perception  From Computer Science perspective... </vt:lpstr>
      <vt:lpstr>How do we perceive the physical world?</vt:lpstr>
      <vt:lpstr>PowerPoint Presentation</vt:lpstr>
      <vt:lpstr>PowerPoint Presentation</vt:lpstr>
      <vt:lpstr>Human Visual System:  Eye-Brain Channel</vt:lpstr>
      <vt:lpstr>Eye-brain channel</vt:lpstr>
      <vt:lpstr>Eye-Brain Channel</vt:lpstr>
      <vt:lpstr>What and where pathways</vt:lpstr>
      <vt:lpstr>PowerPoint Presentation</vt:lpstr>
      <vt:lpstr>In the Brain:  We create the model of the object </vt:lpstr>
      <vt:lpstr>PowerPoint Presentation</vt:lpstr>
      <vt:lpstr>The Eye Ball: Photo-receptors are Scattered on Retina</vt:lpstr>
      <vt:lpstr>Photoreceptors: On the retina</vt:lpstr>
      <vt:lpstr>Sampling and Quantization Around the Fovea</vt:lpstr>
      <vt:lpstr>PowerPoint Presentation</vt:lpstr>
      <vt:lpstr>PowerPoint Presentation</vt:lpstr>
      <vt:lpstr>In the Brain How do we create a world model?</vt:lpstr>
      <vt:lpstr>Lateral Geniculate Nucleus of Monkeys</vt:lpstr>
      <vt:lpstr>Vision Theories</vt:lpstr>
      <vt:lpstr>Marr Theory (1970):  Visual System is a hierarchical, modular and decomposable computing system</vt:lpstr>
      <vt:lpstr>First computational model for vision :  Marr’s 3-D model output</vt:lpstr>
      <vt:lpstr>Problems with Marr Theory</vt:lpstr>
      <vt:lpstr>Gestalt (shape) Theory</vt:lpstr>
      <vt:lpstr>Gestalt Theory</vt:lpstr>
      <vt:lpstr>Vision Loop</vt:lpstr>
      <vt:lpstr>Gestalt Rules</vt:lpstr>
      <vt:lpstr>Rule 1: Relationship between object and background </vt:lpstr>
      <vt:lpstr>Discrimination of the object and background is a serious cognitive task</vt:lpstr>
      <vt:lpstr>We do not see the object, we just see the difference between the object and the background</vt:lpstr>
      <vt:lpstr>We do not see the colors,  we just see the difference between the adjacent ones</vt:lpstr>
      <vt:lpstr>Rule 2: Proximity</vt:lpstr>
      <vt:lpstr>Rule 3: Similarity</vt:lpstr>
      <vt:lpstr>Rule 4: Closure</vt:lpstr>
      <vt:lpstr>Problems with Gestalt Theory </vt:lpstr>
      <vt:lpstr>Which one of these theories are correct? </vt:lpstr>
      <vt:lpstr>CHARACTERISTICS OF HVS</vt:lpstr>
      <vt:lpstr>Response of HVS to resolution depends on various factors</vt:lpstr>
      <vt:lpstr>1.Spatial resolution</vt:lpstr>
      <vt:lpstr>Spatial resolution depends on the distance of the object from the eye</vt:lpstr>
      <vt:lpstr>2. Radiometric resolution: Response to intensity and color</vt:lpstr>
      <vt:lpstr>PowerPoint Presentation</vt:lpstr>
      <vt:lpstr>PowerPoint Presentation</vt:lpstr>
      <vt:lpstr>PowerPoint Presentation</vt:lpstr>
      <vt:lpstr>Simultaneous Contrast:  Background  effect the color of the object </vt:lpstr>
      <vt:lpstr>3. Temporal resolution: Response of HVS  as a function of time</vt:lpstr>
      <vt:lpstr>Visual Perception- Illusions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Moire Patters</vt:lpstr>
      <vt:lpstr>Image acquisition devices (Obtional)</vt:lpstr>
      <vt:lpstr>PowerPoint Presentation</vt:lpstr>
      <vt:lpstr>PowerPoint Presentation</vt:lpstr>
      <vt:lpstr>PowerPoint Presentation</vt:lpstr>
      <vt:lpstr>Emerging technology: Single pixel camera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2: Human Visual System</dc:title>
  <dc:creator>Gonzalez</dc:creator>
  <cp:lastModifiedBy>Fatos</cp:lastModifiedBy>
  <cp:revision>26</cp:revision>
  <dcterms:created xsi:type="dcterms:W3CDTF">2001-12-06T17:51:11Z</dcterms:created>
  <dcterms:modified xsi:type="dcterms:W3CDTF">2022-10-09T08:05:08Z</dcterms:modified>
</cp:coreProperties>
</file>